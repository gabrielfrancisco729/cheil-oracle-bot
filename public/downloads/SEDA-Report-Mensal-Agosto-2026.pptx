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2" r:id="rId5"/>
  </p:sldMasterIdLst>
  <p:notesMasterIdLst>
    <p:notesMasterId r:id="rId31"/>
  </p:notesMasterIdLst>
  <p:sldIdLst>
    <p:sldId id="2147482017" r:id="rId6"/>
    <p:sldId id="2147483065" r:id="rId7"/>
    <p:sldId id="2147483075" r:id="rId8"/>
    <p:sldId id="2147483145" r:id="rId9"/>
    <p:sldId id="2147483146" r:id="rId10"/>
    <p:sldId id="2147483147" r:id="rId11"/>
    <p:sldId id="2147483158" r:id="rId12"/>
    <p:sldId id="2147483207" r:id="rId13"/>
    <p:sldId id="2147483208" r:id="rId14"/>
    <p:sldId id="2147483093" r:id="rId15"/>
    <p:sldId id="2147483210" r:id="rId16"/>
    <p:sldId id="2147483211" r:id="rId17"/>
    <p:sldId id="2147481334" r:id="rId18"/>
    <p:sldId id="2147483126" r:id="rId19"/>
    <p:sldId id="2147483091" r:id="rId20"/>
    <p:sldId id="2147483074" r:id="rId21"/>
    <p:sldId id="2147483214" r:id="rId22"/>
    <p:sldId id="2147483151" r:id="rId23"/>
    <p:sldId id="2147483150" r:id="rId24"/>
    <p:sldId id="2147483215" r:id="rId25"/>
    <p:sldId id="2147483080" r:id="rId26"/>
    <p:sldId id="2147483213" r:id="rId27"/>
    <p:sldId id="2147483101" r:id="rId28"/>
    <p:sldId id="2147483131" r:id="rId29"/>
    <p:sldId id="2147483088" r:id="rId30"/>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oreny Ielpo" initials="LI" lastIdx="1" clrIdx="0">
    <p:extLst>
      <p:ext uri="{19B8F6BF-5375-455C-9EA6-DF929625EA0E}">
        <p15:presenceInfo xmlns:p15="http://schemas.microsoft.com/office/powerpoint/2012/main" userId="S::loreny.i@cheil.com::a33e6c2e-3c55-4025-b1e5-4dc61b3aa22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A3DDB3"/>
    <a:srgbClr val="1428A0"/>
    <a:srgbClr val="118DFF"/>
    <a:srgbClr val="FFFFFF"/>
    <a:srgbClr val="F6F6F6"/>
    <a:srgbClr val="8BC7F7"/>
    <a:srgbClr val="F2F2F2"/>
    <a:srgbClr val="E1E0DF"/>
    <a:srgbClr val="203764"/>
    <a:srgbClr val="41A4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3058F4-C1DF-4709-C730-82CC307F2E28}" v="4" dt="2026-10-02T19:34:46.819"/>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commentAuthors" Target="commentAuthors.xml"/><Relationship Id="rId37"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theme" Target="theme/theme1.xml"/><Relationship Id="rId8" Type="http://schemas.openxmlformats.org/officeDocument/2006/relationships/slide" Target="slides/slide3.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ina Rampazzo" userId="S::c.rampazzo_cheil.com#ext#@samsung.onmicrosoft.com::7990b83d-4c78-4da3-88a1-8c3d064875dd" providerId="AD" clId="Web-{DB3058F4-C1DF-4709-C730-82CC307F2E28}"/>
    <pc:docChg chg="modSld">
      <pc:chgData name="Carina Rampazzo" userId="S::c.rampazzo_cheil.com#ext#@samsung.onmicrosoft.com::7990b83d-4c78-4da3-88a1-8c3d064875dd" providerId="AD" clId="Web-{DB3058F4-C1DF-4709-C730-82CC307F2E28}" dt="2026-10-02T19:34:42.241" v="1" actId="1076"/>
      <pc:docMkLst>
        <pc:docMk/>
      </pc:docMkLst>
      <pc:sldChg chg="modSp">
        <pc:chgData name="Carina Rampazzo" userId="S::c.rampazzo_cheil.com#ext#@samsung.onmicrosoft.com::7990b83d-4c78-4da3-88a1-8c3d064875dd" providerId="AD" clId="Web-{DB3058F4-C1DF-4709-C730-82CC307F2E28}" dt="2026-10-02T19:34:42.241" v="1" actId="1076"/>
        <pc:sldMkLst>
          <pc:docMk/>
          <pc:sldMk cId="3231021938" sldId="2147483215"/>
        </pc:sldMkLst>
        <pc:picChg chg="mod">
          <ac:chgData name="Carina Rampazzo" userId="S::c.rampazzo_cheil.com#ext#@samsung.onmicrosoft.com::7990b83d-4c78-4da3-88a1-8c3d064875dd" providerId="AD" clId="Web-{DB3058F4-C1DF-4709-C730-82CC307F2E28}" dt="2026-10-02T19:34:42.241" v="1" actId="1076"/>
          <ac:picMkLst>
            <pc:docMk/>
            <pc:sldMk cId="3231021938" sldId="2147483215"/>
            <ac:picMk id="3" creationId="{D252104D-1078-4EC8-87E9-E1C03F98178E}"/>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_7FFFFE4B_2740A96A.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_7FFFFDD3_B049D5BF.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5687915163375771E-2"/>
          <c:y val="2.2603817375394231E-2"/>
          <c:w val="0.86862416967324851"/>
          <c:h val="0.74975279400266748"/>
        </c:manualLayout>
      </c:layout>
      <c:barChart>
        <c:barDir val="col"/>
        <c:grouping val="percentStacked"/>
        <c:varyColors val="0"/>
        <c:ser>
          <c:idx val="0"/>
          <c:order val="0"/>
          <c:tx>
            <c:strRef>
              <c:f>Planilha1!$B$1</c:f>
              <c:strCache>
                <c:ptCount val="1"/>
                <c:pt idx="0">
                  <c:v>Browser Ab.</c:v>
                </c:pt>
              </c:strCache>
            </c:strRef>
          </c:tx>
          <c:spPr>
            <a:solidFill>
              <a:srgbClr val="0D6AB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700" b="0" i="0" u="none" strike="noStrike" kern="1200" baseline="0">
                    <a:solidFill>
                      <a:schemeClr val="bg1"/>
                    </a:solidFill>
                    <a:latin typeface="+mn-lt"/>
                    <a:ea typeface="+mn-ea"/>
                    <a:cs typeface="+mn-cs"/>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Planilha1!$A$2:$A$7</c:f>
              <c:strCache>
                <c:ptCount val="6"/>
                <c:pt idx="0">
                  <c:v> W31 </c:v>
                </c:pt>
                <c:pt idx="1">
                  <c:v> W32 </c:v>
                </c:pt>
                <c:pt idx="2">
                  <c:v> W33 </c:v>
                </c:pt>
                <c:pt idx="3">
                  <c:v> W34 </c:v>
                </c:pt>
                <c:pt idx="4">
                  <c:v> W35 </c:v>
                </c:pt>
                <c:pt idx="5">
                  <c:v>W36</c:v>
                </c:pt>
              </c:strCache>
            </c:strRef>
          </c:cat>
          <c:val>
            <c:numRef>
              <c:f>Planilha1!$B$2:$B$7</c:f>
              <c:numCache>
                <c:formatCode>[&gt;999999]"R$"##.0,,"M";[&gt;999]"R$"##.0,"K";"R$"##</c:formatCode>
                <c:ptCount val="6"/>
                <c:pt idx="0">
                  <c:v>11033</c:v>
                </c:pt>
                <c:pt idx="1">
                  <c:v>121655</c:v>
                </c:pt>
                <c:pt idx="2">
                  <c:v>36471</c:v>
                </c:pt>
                <c:pt idx="3">
                  <c:v>90658</c:v>
                </c:pt>
                <c:pt idx="4">
                  <c:v>40674</c:v>
                </c:pt>
                <c:pt idx="5">
                  <c:v>119</c:v>
                </c:pt>
              </c:numCache>
            </c:numRef>
          </c:val>
          <c:extLst>
            <c:ext xmlns:c16="http://schemas.microsoft.com/office/drawing/2014/chart" uri="{C3380CC4-5D6E-409C-BE32-E72D297353CC}">
              <c16:uniqueId val="{00000000-BB67-49E9-8475-3B66FA96B5D4}"/>
            </c:ext>
          </c:extLst>
        </c:ser>
        <c:ser>
          <c:idx val="1"/>
          <c:order val="1"/>
          <c:tx>
            <c:strRef>
              <c:f>Planilha1!$C$1</c:f>
              <c:strCache>
                <c:ptCount val="1"/>
                <c:pt idx="0">
                  <c:v>Transac.</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rtl="0">
                  <a:defRPr lang="en-US" sz="700" b="0" i="0" u="none" strike="noStrike" kern="1200" baseline="0">
                    <a:solidFill>
                      <a:prstClr val="black"/>
                    </a:solidFill>
                    <a:latin typeface="+mn-lt"/>
                    <a:ea typeface="+mn-ea"/>
                    <a:cs typeface="+mn-cs"/>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Planilha1!$A$2:$A$7</c:f>
              <c:strCache>
                <c:ptCount val="6"/>
                <c:pt idx="0">
                  <c:v> W31 </c:v>
                </c:pt>
                <c:pt idx="1">
                  <c:v> W32 </c:v>
                </c:pt>
                <c:pt idx="2">
                  <c:v> W33 </c:v>
                </c:pt>
                <c:pt idx="3">
                  <c:v> W34 </c:v>
                </c:pt>
                <c:pt idx="4">
                  <c:v> W35 </c:v>
                </c:pt>
                <c:pt idx="5">
                  <c:v>W36</c:v>
                </c:pt>
              </c:strCache>
            </c:strRef>
          </c:cat>
          <c:val>
            <c:numRef>
              <c:f>Planilha1!$C$2:$C$7</c:f>
              <c:numCache>
                <c:formatCode>[&gt;999999]"R$"##.0,,"M";[&gt;999]"R$"##.0,"K";"R$"##</c:formatCode>
                <c:ptCount val="6"/>
                <c:pt idx="0">
                  <c:v>8491</c:v>
                </c:pt>
                <c:pt idx="1">
                  <c:v>127888</c:v>
                </c:pt>
                <c:pt idx="2">
                  <c:v>34500</c:v>
                </c:pt>
                <c:pt idx="3">
                  <c:v>125571</c:v>
                </c:pt>
                <c:pt idx="4">
                  <c:v>66497</c:v>
                </c:pt>
                <c:pt idx="5">
                  <c:v>21427</c:v>
                </c:pt>
              </c:numCache>
            </c:numRef>
          </c:val>
          <c:extLst>
            <c:ext xmlns:c16="http://schemas.microsoft.com/office/drawing/2014/chart" uri="{C3380CC4-5D6E-409C-BE32-E72D297353CC}">
              <c16:uniqueId val="{00000001-BB67-49E9-8475-3B66FA96B5D4}"/>
            </c:ext>
          </c:extLst>
        </c:ser>
        <c:ser>
          <c:idx val="2"/>
          <c:order val="2"/>
          <c:tx>
            <c:strRef>
              <c:f>Planilha1!$D$1</c:f>
              <c:strCache>
                <c:ptCount val="1"/>
                <c:pt idx="0">
                  <c:v>1st Purchase</c:v>
                </c:pt>
              </c:strCache>
            </c:strRef>
          </c:tx>
          <c:spPr>
            <a:solidFill>
              <a:schemeClr val="accent3"/>
            </a:solidFill>
            <a:ln>
              <a:noFill/>
            </a:ln>
            <a:effectLst/>
          </c:spPr>
          <c:invertIfNegative val="0"/>
          <c:dLbls>
            <c:dLbl>
              <c:idx val="1"/>
              <c:layout>
                <c:manualLayout>
                  <c:x val="-5.9068240881936558E-17"/>
                  <c:y val="2.920480154532493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68C-4E1F-BF92-B46F6A6604A8}"/>
                </c:ext>
              </c:extLst>
            </c:dLbl>
            <c:spPr>
              <a:noFill/>
              <a:ln>
                <a:noFill/>
              </a:ln>
              <a:effectLst/>
            </c:spPr>
            <c:txPr>
              <a:bodyPr rot="0" spcFirstLastPara="1" vertOverflow="ellipsis" vert="horz" wrap="square" lIns="38100" tIns="19050" rIns="38100" bIns="19050" anchor="ctr" anchorCtr="0">
                <a:spAutoFit/>
              </a:bodyPr>
              <a:lstStyle/>
              <a:p>
                <a:pPr algn="ctr">
                  <a:defRPr lang="en-US" sz="700" b="0" i="0" u="none" strike="noStrike" kern="1200" baseline="0">
                    <a:solidFill>
                      <a:schemeClr val="bg1"/>
                    </a:solidFill>
                    <a:latin typeface="+mn-lt"/>
                    <a:ea typeface="+mn-ea"/>
                    <a:cs typeface="+mn-cs"/>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Planilha1!$A$2:$A$7</c:f>
              <c:strCache>
                <c:ptCount val="6"/>
                <c:pt idx="0">
                  <c:v> W31 </c:v>
                </c:pt>
                <c:pt idx="1">
                  <c:v> W32 </c:v>
                </c:pt>
                <c:pt idx="2">
                  <c:v> W33 </c:v>
                </c:pt>
                <c:pt idx="3">
                  <c:v> W34 </c:v>
                </c:pt>
                <c:pt idx="4">
                  <c:v> W35 </c:v>
                </c:pt>
                <c:pt idx="5">
                  <c:v>W36</c:v>
                </c:pt>
              </c:strCache>
            </c:strRef>
          </c:cat>
          <c:val>
            <c:numRef>
              <c:f>Planilha1!$D$2:$D$7</c:f>
              <c:numCache>
                <c:formatCode>[&gt;999999]"R$"##.0,,"M";[&gt;999]"R$"##.0,"K";"R$"##</c:formatCode>
                <c:ptCount val="6"/>
                <c:pt idx="0">
                  <c:v>0</c:v>
                </c:pt>
                <c:pt idx="1">
                  <c:v>38784</c:v>
                </c:pt>
                <c:pt idx="2">
                  <c:v>13384</c:v>
                </c:pt>
                <c:pt idx="3">
                  <c:v>7715</c:v>
                </c:pt>
                <c:pt idx="4">
                  <c:v>20399</c:v>
                </c:pt>
                <c:pt idx="5">
                  <c:v>5966</c:v>
                </c:pt>
              </c:numCache>
            </c:numRef>
          </c:val>
          <c:extLst>
            <c:ext xmlns:c16="http://schemas.microsoft.com/office/drawing/2014/chart" uri="{C3380CC4-5D6E-409C-BE32-E72D297353CC}">
              <c16:uniqueId val="{00000002-BB67-49E9-8475-3B66FA96B5D4}"/>
            </c:ext>
          </c:extLst>
        </c:ser>
        <c:ser>
          <c:idx val="3"/>
          <c:order val="3"/>
          <c:tx>
            <c:strRef>
              <c:f>Planilha1!$E$1</c:f>
              <c:strCache>
                <c:ptCount val="1"/>
                <c:pt idx="0">
                  <c:v>Price Drop</c:v>
                </c:pt>
              </c:strCache>
            </c:strRef>
          </c:tx>
          <c:spPr>
            <a:solidFill>
              <a:schemeClr val="accent6">
                <a:lumMod val="20000"/>
                <a:lumOff val="80000"/>
              </a:schemeClr>
            </a:solidFill>
            <a:ln>
              <a:noFill/>
            </a:ln>
            <a:effectLst/>
          </c:spPr>
          <c:invertIfNegative val="0"/>
          <c:dLbls>
            <c:dLbl>
              <c:idx val="1"/>
              <c:layout>
                <c:manualLayout>
                  <c:x val="-5.9068240881936558E-17"/>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B67-49E9-8475-3B66FA96B5D4}"/>
                </c:ext>
              </c:extLst>
            </c:dLbl>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accent6">
                        <a:lumMod val="75000"/>
                      </a:schemeClr>
                    </a:solidFill>
                    <a:latin typeface="+mn-lt"/>
                    <a:ea typeface="+mn-ea"/>
                    <a:cs typeface="+mn-cs"/>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Planilha1!$A$2:$A$7</c:f>
              <c:strCache>
                <c:ptCount val="6"/>
                <c:pt idx="0">
                  <c:v> W31 </c:v>
                </c:pt>
                <c:pt idx="1">
                  <c:v> W32 </c:v>
                </c:pt>
                <c:pt idx="2">
                  <c:v> W33 </c:v>
                </c:pt>
                <c:pt idx="3">
                  <c:v> W34 </c:v>
                </c:pt>
                <c:pt idx="4">
                  <c:v> W35 </c:v>
                </c:pt>
                <c:pt idx="5">
                  <c:v>W36</c:v>
                </c:pt>
              </c:strCache>
            </c:strRef>
          </c:cat>
          <c:val>
            <c:numRef>
              <c:f>Planilha1!$E$2:$E$7</c:f>
              <c:numCache>
                <c:formatCode>[&gt;999999]"R$"##.0,,"M";[&gt;999]"R$"##.0,"K";"R$"##</c:formatCode>
                <c:ptCount val="6"/>
                <c:pt idx="0">
                  <c:v>0</c:v>
                </c:pt>
                <c:pt idx="1">
                  <c:v>19305</c:v>
                </c:pt>
                <c:pt idx="2">
                  <c:v>7340</c:v>
                </c:pt>
                <c:pt idx="3">
                  <c:v>299</c:v>
                </c:pt>
                <c:pt idx="4">
                  <c:v>2177</c:v>
                </c:pt>
                <c:pt idx="5">
                  <c:v>10495</c:v>
                </c:pt>
              </c:numCache>
            </c:numRef>
          </c:val>
          <c:extLst>
            <c:ext xmlns:c16="http://schemas.microsoft.com/office/drawing/2014/chart" uri="{C3380CC4-5D6E-409C-BE32-E72D297353CC}">
              <c16:uniqueId val="{00000004-BB67-49E9-8475-3B66FA96B5D4}"/>
            </c:ext>
          </c:extLst>
        </c:ser>
        <c:ser>
          <c:idx val="4"/>
          <c:order val="4"/>
          <c:tx>
            <c:strRef>
              <c:f>Planilha1!$F$1</c:f>
              <c:strCache>
                <c:ptCount val="1"/>
                <c:pt idx="0">
                  <c:v>Weather</c:v>
                </c:pt>
              </c:strCache>
            </c:strRef>
          </c:tx>
          <c:spPr>
            <a:solidFill>
              <a:schemeClr val="accent5">
                <a:lumMod val="20000"/>
                <a:lumOff val="80000"/>
              </a:schemeClr>
            </a:solidFill>
            <a:ln>
              <a:noFill/>
            </a:ln>
            <a:effectLst/>
          </c:spPr>
          <c:invertIfNegative val="0"/>
          <c:dLbls>
            <c:dLbl>
              <c:idx val="2"/>
              <c:delete val="1"/>
              <c:extLst>
                <c:ext xmlns:c15="http://schemas.microsoft.com/office/drawing/2012/chart" uri="{CE6537A1-D6FC-4f65-9D91-7224C49458BB}"/>
                <c:ext xmlns:c16="http://schemas.microsoft.com/office/drawing/2014/chart" uri="{C3380CC4-5D6E-409C-BE32-E72D297353CC}">
                  <c16:uniqueId val="{00000000-CB09-4A0B-B668-6CCE995CCB95}"/>
                </c:ext>
              </c:extLst>
            </c:dLbl>
            <c:dLbl>
              <c:idx val="3"/>
              <c:delete val="1"/>
              <c:extLst>
                <c:ext xmlns:c15="http://schemas.microsoft.com/office/drawing/2012/chart" uri="{CE6537A1-D6FC-4f65-9D91-7224C49458BB}"/>
                <c:ext xmlns:c16="http://schemas.microsoft.com/office/drawing/2014/chart" uri="{C3380CC4-5D6E-409C-BE32-E72D297353CC}">
                  <c16:uniqueId val="{00000001-CB09-4A0B-B668-6CCE995CCB95}"/>
                </c:ext>
              </c:extLst>
            </c:dLbl>
            <c:spPr>
              <a:noFill/>
              <a:ln>
                <a:noFill/>
              </a:ln>
              <a:effectLst/>
            </c:spPr>
            <c:txPr>
              <a:bodyPr rot="0" spcFirstLastPara="1" vertOverflow="ellipsis" vert="horz" wrap="square" lIns="38100" tIns="19050" rIns="38100" bIns="19050" anchor="ctr" anchorCtr="0">
                <a:spAutoFit/>
              </a:bodyPr>
              <a:lstStyle/>
              <a:p>
                <a:pPr algn="ctr" rtl="0">
                  <a:defRPr lang="en-US" sz="700" b="0" i="0" u="none" strike="noStrike" kern="1200" baseline="0">
                    <a:solidFill>
                      <a:prstClr val="black"/>
                    </a:solidFill>
                    <a:latin typeface="+mn-lt"/>
                    <a:ea typeface="+mn-ea"/>
                    <a:cs typeface="+mn-cs"/>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Planilha1!$A$2:$A$7</c:f>
              <c:strCache>
                <c:ptCount val="6"/>
                <c:pt idx="0">
                  <c:v> W31 </c:v>
                </c:pt>
                <c:pt idx="1">
                  <c:v> W32 </c:v>
                </c:pt>
                <c:pt idx="2">
                  <c:v> W33 </c:v>
                </c:pt>
                <c:pt idx="3">
                  <c:v> W34 </c:v>
                </c:pt>
                <c:pt idx="4">
                  <c:v> W35 </c:v>
                </c:pt>
                <c:pt idx="5">
                  <c:v>W36</c:v>
                </c:pt>
              </c:strCache>
            </c:strRef>
          </c:cat>
          <c:val>
            <c:numRef>
              <c:f>Planilha1!$F$2:$F$7</c:f>
              <c:numCache>
                <c:formatCode>[&gt;999999]"R$"##.0,,"M";[&gt;999]"R$"##.0,"K";"R$"##</c:formatCode>
                <c:ptCount val="6"/>
                <c:pt idx="0">
                  <c:v>6389</c:v>
                </c:pt>
                <c:pt idx="1">
                  <c:v>10829</c:v>
                </c:pt>
                <c:pt idx="2">
                  <c:v>4299</c:v>
                </c:pt>
                <c:pt idx="3">
                  <c:v>11014</c:v>
                </c:pt>
                <c:pt idx="4">
                  <c:v>0</c:v>
                </c:pt>
                <c:pt idx="5">
                  <c:v>4145</c:v>
                </c:pt>
              </c:numCache>
            </c:numRef>
          </c:val>
          <c:extLst>
            <c:ext xmlns:c16="http://schemas.microsoft.com/office/drawing/2014/chart" uri="{C3380CC4-5D6E-409C-BE32-E72D297353CC}">
              <c16:uniqueId val="{00000006-BB67-49E9-8475-3B66FA96B5D4}"/>
            </c:ext>
          </c:extLst>
        </c:ser>
        <c:ser>
          <c:idx val="5"/>
          <c:order val="5"/>
          <c:tx>
            <c:strRef>
              <c:f>Planilha1!$G$1</c:f>
              <c:strCache>
                <c:ptCount val="1"/>
                <c:pt idx="0">
                  <c:v>Back in Stock</c:v>
                </c:pt>
              </c:strCache>
            </c:strRef>
          </c:tx>
          <c:spPr>
            <a:solidFill>
              <a:schemeClr val="accent5">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700" b="0" i="0" u="none" strike="noStrike" kern="1200" baseline="0">
                    <a:solidFill>
                      <a:schemeClr val="bg1"/>
                    </a:solidFill>
                    <a:latin typeface="+mn-lt"/>
                    <a:ea typeface="+mn-ea"/>
                    <a:cs typeface="+mn-cs"/>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Planilha1!$A$2:$A$7</c:f>
              <c:strCache>
                <c:ptCount val="6"/>
                <c:pt idx="0">
                  <c:v> W31 </c:v>
                </c:pt>
                <c:pt idx="1">
                  <c:v> W32 </c:v>
                </c:pt>
                <c:pt idx="2">
                  <c:v> W33 </c:v>
                </c:pt>
                <c:pt idx="3">
                  <c:v> W34 </c:v>
                </c:pt>
                <c:pt idx="4">
                  <c:v> W35 </c:v>
                </c:pt>
                <c:pt idx="5">
                  <c:v>W36</c:v>
                </c:pt>
              </c:strCache>
            </c:strRef>
          </c:cat>
          <c:val>
            <c:numRef>
              <c:f>Planilha1!$G$2:$G$7</c:f>
              <c:numCache>
                <c:formatCode>[&gt;999999]"R$"##.0,,"M";[&gt;999]"R$"##.0,"K";"R$"##</c:formatCode>
                <c:ptCount val="6"/>
                <c:pt idx="0">
                  <c:v>0</c:v>
                </c:pt>
                <c:pt idx="1">
                  <c:v>4218</c:v>
                </c:pt>
                <c:pt idx="2">
                  <c:v>8842</c:v>
                </c:pt>
                <c:pt idx="3">
                  <c:v>0</c:v>
                </c:pt>
                <c:pt idx="4">
                  <c:v>0</c:v>
                </c:pt>
                <c:pt idx="5">
                  <c:v>0</c:v>
                </c:pt>
              </c:numCache>
            </c:numRef>
          </c:val>
          <c:extLst>
            <c:ext xmlns:c16="http://schemas.microsoft.com/office/drawing/2014/chart" uri="{C3380CC4-5D6E-409C-BE32-E72D297353CC}">
              <c16:uniqueId val="{00000008-BB67-49E9-8475-3B66FA96B5D4}"/>
            </c:ext>
          </c:extLst>
        </c:ser>
        <c:ser>
          <c:idx val="6"/>
          <c:order val="6"/>
          <c:tx>
            <c:strRef>
              <c:f>Planilha1!$H$1</c:f>
              <c:strCache>
                <c:ptCount val="1"/>
                <c:pt idx="0">
                  <c:v>PPX Onb.</c:v>
                </c:pt>
              </c:strCache>
            </c:strRef>
          </c:tx>
          <c:spPr>
            <a:solidFill>
              <a:schemeClr val="accent1">
                <a:lumMod val="60000"/>
              </a:schemeClr>
            </a:solidFill>
            <a:ln>
              <a:noFill/>
            </a:ln>
            <a:effectLst/>
          </c:spPr>
          <c:invertIfNegative val="0"/>
          <c:cat>
            <c:strRef>
              <c:f>Planilha1!$A$2:$A$7</c:f>
              <c:strCache>
                <c:ptCount val="6"/>
                <c:pt idx="0">
                  <c:v> W31 </c:v>
                </c:pt>
                <c:pt idx="1">
                  <c:v> W32 </c:v>
                </c:pt>
                <c:pt idx="2">
                  <c:v> W33 </c:v>
                </c:pt>
                <c:pt idx="3">
                  <c:v> W34 </c:v>
                </c:pt>
                <c:pt idx="4">
                  <c:v> W35 </c:v>
                </c:pt>
                <c:pt idx="5">
                  <c:v>W36</c:v>
                </c:pt>
              </c:strCache>
            </c:strRef>
          </c:cat>
          <c:val>
            <c:numRef>
              <c:f>Planilha1!$H$2:$H$7</c:f>
              <c:numCache>
                <c:formatCode>[&gt;999999]"R$"##.0,,"M";[&gt;999]"R$"##.0,"K";"R$"##</c:formatCode>
                <c:ptCount val="6"/>
                <c:pt idx="0">
                  <c:v>0</c:v>
                </c:pt>
                <c:pt idx="1">
                  <c:v>138769</c:v>
                </c:pt>
                <c:pt idx="2">
                  <c:v>5797</c:v>
                </c:pt>
                <c:pt idx="3">
                  <c:v>2136</c:v>
                </c:pt>
                <c:pt idx="4">
                  <c:v>44540</c:v>
                </c:pt>
                <c:pt idx="5">
                  <c:v>8058</c:v>
                </c:pt>
              </c:numCache>
            </c:numRef>
          </c:val>
          <c:extLst>
            <c:ext xmlns:c16="http://schemas.microsoft.com/office/drawing/2014/chart" uri="{C3380CC4-5D6E-409C-BE32-E72D297353CC}">
              <c16:uniqueId val="{00000009-BB67-49E9-8475-3B66FA96B5D4}"/>
            </c:ext>
          </c:extLst>
        </c:ser>
        <c:ser>
          <c:idx val="7"/>
          <c:order val="7"/>
          <c:tx>
            <c:strRef>
              <c:f>Planilha1!$I$1</c:f>
              <c:strCache>
                <c:ptCount val="1"/>
                <c:pt idx="0">
                  <c:v>Dormants</c:v>
                </c:pt>
              </c:strCache>
            </c:strRef>
          </c:tx>
          <c:spPr>
            <a:solidFill>
              <a:schemeClr val="accent2">
                <a:lumMod val="60000"/>
              </a:schemeClr>
            </a:solidFill>
            <a:ln>
              <a:noFill/>
            </a:ln>
            <a:effectLst/>
          </c:spPr>
          <c:invertIfNegative val="0"/>
          <c:cat>
            <c:strRef>
              <c:f>Planilha1!$A$2:$A$7</c:f>
              <c:strCache>
                <c:ptCount val="6"/>
                <c:pt idx="0">
                  <c:v> W31 </c:v>
                </c:pt>
                <c:pt idx="1">
                  <c:v> W32 </c:v>
                </c:pt>
                <c:pt idx="2">
                  <c:v> W33 </c:v>
                </c:pt>
                <c:pt idx="3">
                  <c:v> W34 </c:v>
                </c:pt>
                <c:pt idx="4">
                  <c:v> W35 </c:v>
                </c:pt>
                <c:pt idx="5">
                  <c:v>W36</c:v>
                </c:pt>
              </c:strCache>
            </c:strRef>
          </c:cat>
          <c:val>
            <c:numRef>
              <c:f>Planilha1!$I$2:$I$7</c:f>
              <c:numCache>
                <c:formatCode>[&gt;999999]"R$"##.0,,"M";[&gt;999]"R$"##.0,"K";"R$"##</c:formatCode>
                <c:ptCount val="6"/>
                <c:pt idx="0">
                  <c:v>0</c:v>
                </c:pt>
                <c:pt idx="1">
                  <c:v>11386</c:v>
                </c:pt>
                <c:pt idx="2">
                  <c:v>0</c:v>
                </c:pt>
                <c:pt idx="3">
                  <c:v>0</c:v>
                </c:pt>
                <c:pt idx="4">
                  <c:v>0</c:v>
                </c:pt>
                <c:pt idx="5">
                  <c:v>0</c:v>
                </c:pt>
              </c:numCache>
            </c:numRef>
          </c:val>
          <c:extLst>
            <c:ext xmlns:c16="http://schemas.microsoft.com/office/drawing/2014/chart" uri="{C3380CC4-5D6E-409C-BE32-E72D297353CC}">
              <c16:uniqueId val="{0000000A-BB67-49E9-8475-3B66FA96B5D4}"/>
            </c:ext>
          </c:extLst>
        </c:ser>
        <c:ser>
          <c:idx val="8"/>
          <c:order val="8"/>
          <c:tx>
            <c:strRef>
              <c:f>Planilha1!$J$1</c:f>
              <c:strCache>
                <c:ptCount val="1"/>
                <c:pt idx="0">
                  <c:v>Inactive user</c:v>
                </c:pt>
              </c:strCache>
            </c:strRef>
          </c:tx>
          <c:spPr>
            <a:solidFill>
              <a:schemeClr val="accent5">
                <a:lumMod val="75000"/>
              </a:schemeClr>
            </a:solidFill>
            <a:ln>
              <a:noFill/>
            </a:ln>
            <a:effectLst/>
          </c:spPr>
          <c:invertIfNegative val="0"/>
          <c:cat>
            <c:strRef>
              <c:f>Planilha1!$A$2:$A$7</c:f>
              <c:strCache>
                <c:ptCount val="6"/>
                <c:pt idx="0">
                  <c:v> W31 </c:v>
                </c:pt>
                <c:pt idx="1">
                  <c:v> W32 </c:v>
                </c:pt>
                <c:pt idx="2">
                  <c:v> W33 </c:v>
                </c:pt>
                <c:pt idx="3">
                  <c:v> W34 </c:v>
                </c:pt>
                <c:pt idx="4">
                  <c:v> W35 </c:v>
                </c:pt>
                <c:pt idx="5">
                  <c:v>W36</c:v>
                </c:pt>
              </c:strCache>
            </c:strRef>
          </c:cat>
          <c:val>
            <c:numRef>
              <c:f>Planilha1!$J$2:$J$7</c:f>
              <c:numCache>
                <c:formatCode>[&gt;999999]"R$"##.0,,"M";[&gt;999]"R$"##.0,"K";"R$"##</c:formatCode>
                <c:ptCount val="6"/>
                <c:pt idx="0">
                  <c:v>0</c:v>
                </c:pt>
                <c:pt idx="1">
                  <c:v>299</c:v>
                </c:pt>
                <c:pt idx="2">
                  <c:v>2978</c:v>
                </c:pt>
                <c:pt idx="3">
                  <c:v>8883</c:v>
                </c:pt>
                <c:pt idx="4">
                  <c:v>0</c:v>
                </c:pt>
                <c:pt idx="5">
                  <c:v>0</c:v>
                </c:pt>
              </c:numCache>
            </c:numRef>
          </c:val>
          <c:extLst>
            <c:ext xmlns:c16="http://schemas.microsoft.com/office/drawing/2014/chart" uri="{C3380CC4-5D6E-409C-BE32-E72D297353CC}">
              <c16:uniqueId val="{0000000B-BB67-49E9-8475-3B66FA96B5D4}"/>
            </c:ext>
          </c:extLst>
        </c:ser>
        <c:ser>
          <c:idx val="9"/>
          <c:order val="9"/>
          <c:tx>
            <c:strRef>
              <c:f>Planilha1!$K$1</c:f>
              <c:strCache>
                <c:ptCount val="1"/>
                <c:pt idx="0">
                  <c:v>Wishlist</c:v>
                </c:pt>
              </c:strCache>
            </c:strRef>
          </c:tx>
          <c:spPr>
            <a:solidFill>
              <a:schemeClr val="accent4">
                <a:lumMod val="60000"/>
              </a:schemeClr>
            </a:solidFill>
            <a:ln>
              <a:noFill/>
            </a:ln>
            <a:effectLst/>
          </c:spPr>
          <c:invertIfNegative val="0"/>
          <c:cat>
            <c:strRef>
              <c:f>Planilha1!$A$2:$A$7</c:f>
              <c:strCache>
                <c:ptCount val="6"/>
                <c:pt idx="0">
                  <c:v> W31 </c:v>
                </c:pt>
                <c:pt idx="1">
                  <c:v> W32 </c:v>
                </c:pt>
                <c:pt idx="2">
                  <c:v> W33 </c:v>
                </c:pt>
                <c:pt idx="3">
                  <c:v> W34 </c:v>
                </c:pt>
                <c:pt idx="4">
                  <c:v> W35 </c:v>
                </c:pt>
                <c:pt idx="5">
                  <c:v>W36</c:v>
                </c:pt>
              </c:strCache>
            </c:strRef>
          </c:cat>
          <c:val>
            <c:numRef>
              <c:f>Planilha1!$K$2:$K$7</c:f>
              <c:numCache>
                <c:formatCode>[&gt;999999]"R$"##.0,,"M";[&gt;999]"R$"##.0,"K";"R$"##</c:formatCode>
                <c:ptCount val="6"/>
                <c:pt idx="1">
                  <c:v>299</c:v>
                </c:pt>
                <c:pt idx="2">
                  <c:v>0</c:v>
                </c:pt>
                <c:pt idx="3">
                  <c:v>0</c:v>
                </c:pt>
                <c:pt idx="4">
                  <c:v>0</c:v>
                </c:pt>
                <c:pt idx="5">
                  <c:v>0</c:v>
                </c:pt>
              </c:numCache>
            </c:numRef>
          </c:val>
          <c:extLst>
            <c:ext xmlns:c16="http://schemas.microsoft.com/office/drawing/2014/chart" uri="{C3380CC4-5D6E-409C-BE32-E72D297353CC}">
              <c16:uniqueId val="{00000001-4438-4532-AC1C-2711FB367DEB}"/>
            </c:ext>
          </c:extLst>
        </c:ser>
        <c:dLbls>
          <c:showLegendKey val="0"/>
          <c:showVal val="0"/>
          <c:showCatName val="0"/>
          <c:showSerName val="0"/>
          <c:showPercent val="0"/>
          <c:showBubbleSize val="0"/>
        </c:dLbls>
        <c:gapWidth val="36"/>
        <c:overlap val="100"/>
        <c:axId val="1149983295"/>
        <c:axId val="1149983711"/>
      </c:barChart>
      <c:catAx>
        <c:axId val="11499832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t" anchorCtr="1"/>
          <a:lstStyle/>
          <a:p>
            <a:pPr marL="0" marR="0" indent="0" algn="l" defTabSz="914400" rtl="0" eaLnBrk="1" fontAlgn="auto" latinLnBrk="0" hangingPunct="1">
              <a:lnSpc>
                <a:spcPct val="100000"/>
              </a:lnSpc>
              <a:spcBef>
                <a:spcPts val="0"/>
              </a:spcBef>
              <a:spcAft>
                <a:spcPts val="0"/>
              </a:spcAft>
              <a:buClrTx/>
              <a:buSzTx/>
              <a:buFontTx/>
              <a:buNone/>
              <a:tabLst/>
              <a:defRPr kumimoji="0" lang="en-US" sz="900" b="0" i="0" u="none" strike="noStrike" kern="1200" cap="none" spc="0" normalizeH="0" baseline="0">
                <a:ln>
                  <a:noFill/>
                </a:ln>
                <a:solidFill>
                  <a:prstClr val="black"/>
                </a:solidFill>
                <a:effectLst/>
                <a:uLnTx/>
                <a:uFillTx/>
                <a:latin typeface="Roboto" panose="02000000000000000000" pitchFamily="2" charset="0"/>
                <a:ea typeface="Roboto" panose="02000000000000000000" pitchFamily="2" charset="0"/>
                <a:cs typeface="+mn-cs"/>
              </a:defRPr>
            </a:pPr>
            <a:endParaRPr lang="pt-BR"/>
          </a:p>
        </c:txPr>
        <c:crossAx val="1149983711"/>
        <c:crosses val="autoZero"/>
        <c:auto val="1"/>
        <c:lblAlgn val="ctr"/>
        <c:lblOffset val="100"/>
        <c:noMultiLvlLbl val="0"/>
      </c:catAx>
      <c:valAx>
        <c:axId val="1149983711"/>
        <c:scaling>
          <c:orientation val="minMax"/>
        </c:scaling>
        <c:delete val="1"/>
        <c:axPos val="l"/>
        <c:numFmt formatCode="0%" sourceLinked="1"/>
        <c:majorTickMark val="none"/>
        <c:minorTickMark val="none"/>
        <c:tickLblPos val="nextTo"/>
        <c:crossAx val="1149983295"/>
        <c:crosses val="autoZero"/>
        <c:crossBetween val="between"/>
      </c:valAx>
      <c:spPr>
        <a:noFill/>
        <a:ln>
          <a:noFill/>
        </a:ln>
        <a:effectLst/>
      </c:spPr>
    </c:plotArea>
    <c:legend>
      <c:legendPos val="b"/>
      <c:layout>
        <c:manualLayout>
          <c:xMode val="edge"/>
          <c:yMode val="edge"/>
          <c:x val="0.11576023462039574"/>
          <c:y val="0.90259968725566853"/>
          <c:w val="0.88423976537960425"/>
          <c:h val="8.7935197534838805E-2"/>
        </c:manualLayout>
      </c:layout>
      <c:overlay val="0"/>
      <c:spPr>
        <a:noFill/>
        <a:ln>
          <a:noFill/>
        </a:ln>
        <a:effectLst/>
      </c:spPr>
      <c:txPr>
        <a:bodyPr rot="0" spcFirstLastPara="1" vertOverflow="ellipsis" vert="horz" wrap="square" anchor="ctr" anchorCtr="1"/>
        <a:lstStyle/>
        <a:p>
          <a:pPr>
            <a:defRPr sz="500" b="0" i="0" u="none" strike="noStrike" kern="1200" baseline="0">
              <a:solidFill>
                <a:schemeClr val="tx1">
                  <a:lumMod val="65000"/>
                  <a:lumOff val="35000"/>
                </a:schemeClr>
              </a:solidFill>
              <a:latin typeface="+mn-lt"/>
              <a:ea typeface="+mn-ea"/>
              <a:cs typeface="+mn-cs"/>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pt-B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5688025262049102E-2"/>
          <c:y val="2.9905026905210876E-2"/>
          <c:w val="0.86862416967324851"/>
          <c:h val="0.74975279400266748"/>
        </c:manualLayout>
      </c:layout>
      <c:barChart>
        <c:barDir val="col"/>
        <c:grouping val="percentStacked"/>
        <c:varyColors val="0"/>
        <c:ser>
          <c:idx val="0"/>
          <c:order val="0"/>
          <c:tx>
            <c:strRef>
              <c:f>Planilha1!$B$1</c:f>
              <c:strCache>
                <c:ptCount val="1"/>
                <c:pt idx="0">
                  <c:v>FATHERS</c:v>
                </c:pt>
              </c:strCache>
            </c:strRef>
          </c:tx>
          <c:spPr>
            <a:solidFill>
              <a:srgbClr val="09478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bg1"/>
                    </a:solidFill>
                    <a:latin typeface="+mn-lt"/>
                    <a:ea typeface="+mn-ea"/>
                    <a:cs typeface="+mn-cs"/>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Planilha1!$A$2:$A$7</c:f>
              <c:strCache>
                <c:ptCount val="6"/>
                <c:pt idx="0">
                  <c:v> W31 </c:v>
                </c:pt>
                <c:pt idx="1">
                  <c:v> W32 </c:v>
                </c:pt>
                <c:pt idx="2">
                  <c:v> W33 </c:v>
                </c:pt>
                <c:pt idx="3">
                  <c:v> W34 </c:v>
                </c:pt>
                <c:pt idx="4">
                  <c:v> W35 </c:v>
                </c:pt>
                <c:pt idx="5">
                  <c:v>W36</c:v>
                </c:pt>
              </c:strCache>
            </c:strRef>
          </c:cat>
          <c:val>
            <c:numRef>
              <c:f>Planilha1!$B$2:$B$7</c:f>
              <c:numCache>
                <c:formatCode>[&gt;999999]"R$"##.0,,"M";[&gt;999]"R$"##.0,"K";"R$"##</c:formatCode>
                <c:ptCount val="6"/>
                <c:pt idx="0">
                  <c:v>108124</c:v>
                </c:pt>
                <c:pt idx="1">
                  <c:v>358426</c:v>
                </c:pt>
                <c:pt idx="2">
                  <c:v>53696</c:v>
                </c:pt>
                <c:pt idx="4">
                  <c:v>28132</c:v>
                </c:pt>
              </c:numCache>
            </c:numRef>
          </c:val>
          <c:extLst>
            <c:ext xmlns:c16="http://schemas.microsoft.com/office/drawing/2014/chart" uri="{C3380CC4-5D6E-409C-BE32-E72D297353CC}">
              <c16:uniqueId val="{00000000-3742-4DA7-A573-94FDE12C6543}"/>
            </c:ext>
          </c:extLst>
        </c:ser>
        <c:ser>
          <c:idx val="1"/>
          <c:order val="1"/>
          <c:tx>
            <c:strRef>
              <c:f>Planilha1!$C$1</c:f>
              <c:strCache>
                <c:ptCount val="1"/>
                <c:pt idx="0">
                  <c:v>LIVESHOP</c:v>
                </c:pt>
              </c:strCache>
            </c:strRef>
          </c:tx>
          <c:spPr>
            <a:solidFill>
              <a:srgbClr val="0D6ABF"/>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1-233D-437C-BEC5-0768EF6A2330}"/>
                </c:ext>
              </c:extLst>
            </c:dLbl>
            <c:spPr>
              <a:noFill/>
              <a:ln>
                <a:noFill/>
              </a:ln>
              <a:effectLst/>
            </c:spPr>
            <c:txPr>
              <a:bodyPr rot="0" spcFirstLastPara="1" vertOverflow="ellipsis" vert="horz" wrap="square" lIns="38100" tIns="19050" rIns="38100" bIns="19050" anchor="ctr" anchorCtr="0">
                <a:spAutoFit/>
              </a:bodyPr>
              <a:lstStyle/>
              <a:p>
                <a:pPr algn="ctr">
                  <a:defRPr lang="en-US" sz="700" b="0" i="0" u="none" strike="noStrike" kern="1200" baseline="0">
                    <a:solidFill>
                      <a:schemeClr val="bg1"/>
                    </a:solidFill>
                    <a:latin typeface="+mn-lt"/>
                    <a:ea typeface="+mn-ea"/>
                    <a:cs typeface="+mn-cs"/>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Planilha1!$A$2:$A$7</c:f>
              <c:strCache>
                <c:ptCount val="6"/>
                <c:pt idx="0">
                  <c:v> W31 </c:v>
                </c:pt>
                <c:pt idx="1">
                  <c:v> W32 </c:v>
                </c:pt>
                <c:pt idx="2">
                  <c:v> W33 </c:v>
                </c:pt>
                <c:pt idx="3">
                  <c:v> W34 </c:v>
                </c:pt>
                <c:pt idx="4">
                  <c:v> W35 </c:v>
                </c:pt>
                <c:pt idx="5">
                  <c:v>W36</c:v>
                </c:pt>
              </c:strCache>
            </c:strRef>
          </c:cat>
          <c:val>
            <c:numRef>
              <c:f>Planilha1!$C$2:$C$7</c:f>
              <c:numCache>
                <c:formatCode>[&gt;999999]"R$"##.0,,"M";[&gt;999]"R$"##.0,"K";"R$"##</c:formatCode>
                <c:ptCount val="6"/>
                <c:pt idx="0">
                  <c:v>98499</c:v>
                </c:pt>
                <c:pt idx="1">
                  <c:v>307783</c:v>
                </c:pt>
                <c:pt idx="2">
                  <c:v>215634</c:v>
                </c:pt>
                <c:pt idx="3">
                  <c:v>417072</c:v>
                </c:pt>
                <c:pt idx="4">
                  <c:v>317826</c:v>
                </c:pt>
                <c:pt idx="5">
                  <c:v>20370</c:v>
                </c:pt>
              </c:numCache>
            </c:numRef>
          </c:val>
          <c:extLst>
            <c:ext xmlns:c16="http://schemas.microsoft.com/office/drawing/2014/chart" uri="{C3380CC4-5D6E-409C-BE32-E72D297353CC}">
              <c16:uniqueId val="{00000003-3742-4DA7-A573-94FDE12C6543}"/>
            </c:ext>
          </c:extLst>
        </c:ser>
        <c:ser>
          <c:idx val="2"/>
          <c:order val="2"/>
          <c:tx>
            <c:strRef>
              <c:f>Planilha1!$D$1</c:f>
              <c:strCache>
                <c:ptCount val="1"/>
                <c:pt idx="0">
                  <c:v>MUSIC</c:v>
                </c:pt>
              </c:strCache>
            </c:strRef>
          </c:tx>
          <c:spPr>
            <a:solidFill>
              <a:srgbClr val="41A4F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700" b="0" i="0" u="none" strike="noStrike" kern="1200" baseline="0">
                    <a:solidFill>
                      <a:schemeClr val="tx1"/>
                    </a:solidFill>
                    <a:latin typeface="+mn-lt"/>
                    <a:ea typeface="+mn-ea"/>
                    <a:cs typeface="+mn-cs"/>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Planilha1!$A$2:$A$7</c:f>
              <c:strCache>
                <c:ptCount val="6"/>
                <c:pt idx="0">
                  <c:v> W31 </c:v>
                </c:pt>
                <c:pt idx="1">
                  <c:v> W32 </c:v>
                </c:pt>
                <c:pt idx="2">
                  <c:v> W33 </c:v>
                </c:pt>
                <c:pt idx="3">
                  <c:v> W34 </c:v>
                </c:pt>
                <c:pt idx="4">
                  <c:v> W35 </c:v>
                </c:pt>
                <c:pt idx="5">
                  <c:v>W36</c:v>
                </c:pt>
              </c:strCache>
            </c:strRef>
          </c:cat>
          <c:val>
            <c:numRef>
              <c:f>Planilha1!$D$2:$D$7</c:f>
              <c:numCache>
                <c:formatCode>General</c:formatCode>
                <c:ptCount val="6"/>
                <c:pt idx="3" formatCode="[&gt;999999]&quot;R$&quot;##.0,,&quot;M&quot;;[&gt;999]&quot;R$&quot;##.0,&quot;K&quot;;&quot;R$&quot;##">
                  <c:v>26667</c:v>
                </c:pt>
              </c:numCache>
            </c:numRef>
          </c:val>
          <c:extLst>
            <c:ext xmlns:c16="http://schemas.microsoft.com/office/drawing/2014/chart" uri="{C3380CC4-5D6E-409C-BE32-E72D297353CC}">
              <c16:uniqueId val="{00000005-3742-4DA7-A573-94FDE12C6543}"/>
            </c:ext>
          </c:extLst>
        </c:ser>
        <c:ser>
          <c:idx val="3"/>
          <c:order val="3"/>
          <c:tx>
            <c:strRef>
              <c:f>Planilha1!$E$1</c:f>
              <c:strCache>
                <c:ptCount val="1"/>
                <c:pt idx="0">
                  <c:v>Q8H8B8</c:v>
                </c:pt>
              </c:strCache>
            </c:strRef>
          </c:tx>
          <c:spPr>
            <a:solidFill>
              <a:schemeClr val="accent5">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700" b="0" i="0" u="none" strike="noStrike" kern="1200" baseline="0">
                    <a:solidFill>
                      <a:schemeClr val="bg1"/>
                    </a:solidFill>
                    <a:latin typeface="+mn-lt"/>
                    <a:ea typeface="+mn-ea"/>
                    <a:cs typeface="+mn-cs"/>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Planilha1!$A$2:$A$7</c:f>
              <c:strCache>
                <c:ptCount val="6"/>
                <c:pt idx="0">
                  <c:v> W31 </c:v>
                </c:pt>
                <c:pt idx="1">
                  <c:v> W32 </c:v>
                </c:pt>
                <c:pt idx="2">
                  <c:v> W33 </c:v>
                </c:pt>
                <c:pt idx="3">
                  <c:v> W34 </c:v>
                </c:pt>
                <c:pt idx="4">
                  <c:v> W35 </c:v>
                </c:pt>
                <c:pt idx="5">
                  <c:v>W36</c:v>
                </c:pt>
              </c:strCache>
            </c:strRef>
          </c:cat>
          <c:val>
            <c:numRef>
              <c:f>Planilha1!$E$2:$E$7</c:f>
              <c:numCache>
                <c:formatCode>[&gt;999999]"R$"##.0,,"M";[&gt;999]"R$"##.0,"K";"R$"##</c:formatCode>
                <c:ptCount val="6"/>
                <c:pt idx="1">
                  <c:v>8946</c:v>
                </c:pt>
                <c:pt idx="2">
                  <c:v>12320</c:v>
                </c:pt>
                <c:pt idx="5">
                  <c:v>10389</c:v>
                </c:pt>
              </c:numCache>
            </c:numRef>
          </c:val>
          <c:extLst>
            <c:ext xmlns:c16="http://schemas.microsoft.com/office/drawing/2014/chart" uri="{C3380CC4-5D6E-409C-BE32-E72D297353CC}">
              <c16:uniqueId val="{00000006-3742-4DA7-A573-94FDE12C6543}"/>
            </c:ext>
          </c:extLst>
        </c:ser>
        <c:ser>
          <c:idx val="4"/>
          <c:order val="4"/>
          <c:tx>
            <c:strRef>
              <c:f>Planilha1!$F$1</c:f>
              <c:strCache>
                <c:ptCount val="1"/>
                <c:pt idx="0">
                  <c:v>WHY SHOP</c:v>
                </c:pt>
              </c:strCache>
            </c:strRef>
          </c:tx>
          <c:spPr>
            <a:solidFill>
              <a:srgbClr val="A0D1F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700" b="0" i="0" u="none" strike="noStrike" kern="1200" baseline="0">
                    <a:solidFill>
                      <a:schemeClr val="tx1"/>
                    </a:solidFill>
                    <a:latin typeface="+mn-lt"/>
                    <a:ea typeface="+mn-ea"/>
                    <a:cs typeface="+mn-cs"/>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Planilha1!$A$2:$A$7</c:f>
              <c:strCache>
                <c:ptCount val="6"/>
                <c:pt idx="0">
                  <c:v> W31 </c:v>
                </c:pt>
                <c:pt idx="1">
                  <c:v> W32 </c:v>
                </c:pt>
                <c:pt idx="2">
                  <c:v> W33 </c:v>
                </c:pt>
                <c:pt idx="3">
                  <c:v> W34 </c:v>
                </c:pt>
                <c:pt idx="4">
                  <c:v> W35 </c:v>
                </c:pt>
                <c:pt idx="5">
                  <c:v>W36</c:v>
                </c:pt>
              </c:strCache>
            </c:strRef>
          </c:cat>
          <c:val>
            <c:numRef>
              <c:f>Planilha1!$F$2:$F$7</c:f>
              <c:numCache>
                <c:formatCode>[&gt;999999]"R$"##.0,,"M";[&gt;999]"R$"##.0,"K";"R$"##</c:formatCode>
                <c:ptCount val="6"/>
                <c:pt idx="1">
                  <c:v>98499</c:v>
                </c:pt>
                <c:pt idx="4">
                  <c:v>18690</c:v>
                </c:pt>
              </c:numCache>
            </c:numRef>
          </c:val>
          <c:extLst>
            <c:ext xmlns:c16="http://schemas.microsoft.com/office/drawing/2014/chart" uri="{C3380CC4-5D6E-409C-BE32-E72D297353CC}">
              <c16:uniqueId val="{00000007-3742-4DA7-A573-94FDE12C6543}"/>
            </c:ext>
          </c:extLst>
        </c:ser>
        <c:dLbls>
          <c:showLegendKey val="0"/>
          <c:showVal val="0"/>
          <c:showCatName val="0"/>
          <c:showSerName val="0"/>
          <c:showPercent val="0"/>
          <c:showBubbleSize val="0"/>
        </c:dLbls>
        <c:gapWidth val="36"/>
        <c:overlap val="100"/>
        <c:axId val="1149983295"/>
        <c:axId val="1149983711"/>
      </c:barChart>
      <c:catAx>
        <c:axId val="11499832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t" anchorCtr="1"/>
          <a:lstStyle/>
          <a:p>
            <a:pPr marL="0" marR="0" indent="0" algn="l" defTabSz="914400" rtl="0" eaLnBrk="1" fontAlgn="auto" latinLnBrk="0" hangingPunct="1">
              <a:lnSpc>
                <a:spcPct val="100000"/>
              </a:lnSpc>
              <a:spcBef>
                <a:spcPts val="0"/>
              </a:spcBef>
              <a:spcAft>
                <a:spcPts val="0"/>
              </a:spcAft>
              <a:buClrTx/>
              <a:buSzTx/>
              <a:buFontTx/>
              <a:buNone/>
              <a:tabLst/>
              <a:defRPr kumimoji="0" lang="en-US" sz="900" b="0" i="0" u="none" strike="noStrike" kern="1200" cap="none" spc="0" normalizeH="0" baseline="0">
                <a:ln>
                  <a:noFill/>
                </a:ln>
                <a:solidFill>
                  <a:prstClr val="black"/>
                </a:solidFill>
                <a:effectLst/>
                <a:uLnTx/>
                <a:uFillTx/>
                <a:latin typeface="Roboto" panose="02000000000000000000" pitchFamily="2" charset="0"/>
                <a:ea typeface="Roboto" panose="02000000000000000000" pitchFamily="2" charset="0"/>
                <a:cs typeface="+mn-cs"/>
              </a:defRPr>
            </a:pPr>
            <a:endParaRPr lang="pt-BR"/>
          </a:p>
        </c:txPr>
        <c:crossAx val="1149983711"/>
        <c:crosses val="autoZero"/>
        <c:auto val="1"/>
        <c:lblAlgn val="ctr"/>
        <c:lblOffset val="100"/>
        <c:noMultiLvlLbl val="0"/>
      </c:catAx>
      <c:valAx>
        <c:axId val="1149983711"/>
        <c:scaling>
          <c:orientation val="minMax"/>
        </c:scaling>
        <c:delete val="1"/>
        <c:axPos val="l"/>
        <c:numFmt formatCode="0%" sourceLinked="1"/>
        <c:majorTickMark val="none"/>
        <c:minorTickMark val="none"/>
        <c:tickLblPos val="nextTo"/>
        <c:crossAx val="1149983295"/>
        <c:crosses val="autoZero"/>
        <c:crossBetween val="between"/>
      </c:valAx>
      <c:spPr>
        <a:noFill/>
        <a:ln>
          <a:noFill/>
        </a:ln>
        <a:effectLst/>
      </c:spPr>
    </c:plotArea>
    <c:legend>
      <c:legendPos val="b"/>
      <c:legendEntry>
        <c:idx val="1"/>
        <c:txPr>
          <a:bodyPr rot="0" spcFirstLastPara="1" vertOverflow="ellipsis" vert="horz" wrap="square" anchor="ctr" anchorCtr="1"/>
          <a:lstStyle/>
          <a:p>
            <a:pPr>
              <a:defRPr sz="500" b="0" i="0" u="none" strike="noStrike" kern="1200" baseline="0">
                <a:solidFill>
                  <a:schemeClr val="tx1"/>
                </a:solidFill>
                <a:latin typeface="+mn-lt"/>
                <a:ea typeface="+mn-ea"/>
                <a:cs typeface="+mn-cs"/>
              </a:defRPr>
            </a:pPr>
            <a:endParaRPr lang="pt-BR"/>
          </a:p>
        </c:txPr>
      </c:legendEntry>
      <c:layout>
        <c:manualLayout>
          <c:xMode val="edge"/>
          <c:yMode val="edge"/>
          <c:x val="0.18220077869500215"/>
          <c:y val="0.90259972992639947"/>
          <c:w val="0.60930943143391858"/>
          <c:h val="8.7935197534838805E-2"/>
        </c:manualLayout>
      </c:layout>
      <c:overlay val="0"/>
      <c:spPr>
        <a:noFill/>
        <a:ln>
          <a:noFill/>
        </a:ln>
        <a:effectLst/>
      </c:spPr>
      <c:txPr>
        <a:bodyPr rot="0" spcFirstLastPara="1" vertOverflow="ellipsis" vert="horz" wrap="square" anchor="ctr" anchorCtr="1"/>
        <a:lstStyle/>
        <a:p>
          <a:pPr>
            <a:defRPr sz="500" b="0" i="0" u="none" strike="noStrike" kern="1200" baseline="0">
              <a:solidFill>
                <a:schemeClr val="tx1"/>
              </a:solidFill>
              <a:latin typeface="+mn-lt"/>
              <a:ea typeface="+mn-ea"/>
              <a:cs typeface="+mn-cs"/>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pt-B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1C93FB-5A05-43A5-9CE7-5532A681ABBD}" type="datetimeFigureOut">
              <a:t>02/10/2026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BC95A4-D0B9-4A8C-A484-9A333FAFF7D8}" type="slidenum">
              <a:t>‹nº›</a:t>
            </a:fld>
            <a:endParaRPr lang="pt-BR"/>
          </a:p>
        </p:txBody>
      </p:sp>
    </p:spTree>
    <p:extLst>
      <p:ext uri="{BB962C8B-B14F-4D97-AF65-F5344CB8AC3E}">
        <p14:creationId xmlns:p14="http://schemas.microsoft.com/office/powerpoint/2010/main" val="13136682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Arial" panose="020B0604020202020204" pitchFamily="34" charset="0"/>
                <a:ea typeface="MS Mincho" panose="02020609040205080304" pitchFamily="49" charset="-128"/>
                <a:cs typeface="Times New Roman" panose="02020603050405020304" pitchFamily="18" charset="0"/>
              </a:rPr>
              <a:t>W27–W28 concentrated the strongest revenue contribution, supported by Double Date and Why Shop. Performance softened in W29–W30 as commercial pressure shifted toward Q8H8B8 demand generation, before Growth recovered in W31 through Father’s Day and Live Commerce.</a:t>
            </a:r>
            <a:endParaRPr lang="pt-BR" sz="1800">
              <a:effectLst/>
              <a:latin typeface="Arial" panose="020B0604020202020204" pitchFamily="34" charset="0"/>
              <a:ea typeface="MS Mincho" panose="02020609040205080304" pitchFamily="49" charset="-128"/>
              <a:cs typeface="Times New Roman" panose="02020603050405020304" pitchFamily="18" charset="0"/>
            </a:endParaRPr>
          </a:p>
          <a:p>
            <a:endParaRPr lang="pt-BR"/>
          </a:p>
        </p:txBody>
      </p:sp>
      <p:sp>
        <p:nvSpPr>
          <p:cNvPr id="4" name="Espaço Reservado para Número de Slid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BC95A4-D0B9-4A8C-A484-9A333FAFF7D8}"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064910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685800" y="1143000"/>
            <a:ext cx="5486400" cy="3086100"/>
          </a:xfrm>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791953-CCE8-4A98-B8D8-381A75E5D270}"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88209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fld id="{99BC95A4-D0B9-4A8C-A484-9A333FAFF7D8}" type="slidenum">
              <a:rPr lang="pt-BR" smtClean="0"/>
              <a:t>8</a:t>
            </a:fld>
            <a:endParaRPr lang="pt-BR"/>
          </a:p>
        </p:txBody>
      </p:sp>
    </p:spTree>
    <p:extLst>
      <p:ext uri="{BB962C8B-B14F-4D97-AF65-F5344CB8AC3E}">
        <p14:creationId xmlns:p14="http://schemas.microsoft.com/office/powerpoint/2010/main" val="17734370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685800" y="1143000"/>
            <a:ext cx="5486400" cy="3086100"/>
          </a:xfrm>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791953-CCE8-4A98-B8D8-381A75E5D270}"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73965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685800" y="1143000"/>
            <a:ext cx="5486400" cy="3086100"/>
          </a:xfrm>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791953-CCE8-4A98-B8D8-381A75E5D270}"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91365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685800" y="1143000"/>
            <a:ext cx="5486400" cy="3086100"/>
          </a:xfrm>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791953-CCE8-4A98-B8D8-381A75E5D270}"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17905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685800" y="1143000"/>
            <a:ext cx="5486400" cy="3086100"/>
          </a:xfrm>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791953-CCE8-4A98-B8D8-381A75E5D270}"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322941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87CDA-B600-FBFB-C22F-6A026E09D77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CB8496F-FBF0-1912-FAED-1A130BF44CD0}"/>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6DE590DE-C1FF-1C1B-38D1-52E1812DFC83}"/>
              </a:ext>
            </a:extLst>
          </p:cNvPr>
          <p:cNvSpPr>
            <a:spLocks noGrp="1"/>
          </p:cNvSpPr>
          <p:nvPr>
            <p:ph type="body" idx="1"/>
          </p:nvPr>
        </p:nvSpPr>
        <p:spPr/>
        <p:txBody>
          <a:bodyPr/>
          <a:lstStyle/>
          <a:p>
            <a:endParaRPr lang="pt-BR" b="1">
              <a:ea typeface="Calibri"/>
              <a:cs typeface="Calibri"/>
            </a:endParaRPr>
          </a:p>
        </p:txBody>
      </p:sp>
      <p:sp>
        <p:nvSpPr>
          <p:cNvPr id="4" name="Espaço Reservado para Número de Slide 3">
            <a:extLst>
              <a:ext uri="{FF2B5EF4-FFF2-40B4-BE49-F238E27FC236}">
                <a16:creationId xmlns:a16="http://schemas.microsoft.com/office/drawing/2014/main" id="{94DC0566-D25E-D7C5-44D8-E5F6EEC94A9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08604F-EA12-45DD-A6C3-98269066A6AD}"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01294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endParaRPr lang="de-DE"/>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de-DE"/>
          </a:p>
        </p:txBody>
      </p:sp>
      <p:sp>
        <p:nvSpPr>
          <p:cNvPr id="4" name="Espaço Reservado para Data 3"/>
          <p:cNvSpPr>
            <a:spLocks noGrp="1"/>
          </p:cNvSpPr>
          <p:nvPr>
            <p:ph type="dt" sz="half" idx="10"/>
          </p:nvPr>
        </p:nvSpPr>
        <p:spPr/>
        <p:txBody>
          <a:bodyPr/>
          <a:lstStyle/>
          <a:p>
            <a:fld id="{F0E51C7C-CEA3-4CAA-BE4B-344879E7C377}" type="datetimeFigureOut">
              <a:rPr lang="de-DE" smtClean="0"/>
              <a:t>02.10.2026</a:t>
            </a:fld>
            <a:endParaRPr lang="de-DE"/>
          </a:p>
        </p:txBody>
      </p:sp>
      <p:sp>
        <p:nvSpPr>
          <p:cNvPr id="5" name="Espaço Reservado para Rodapé 4"/>
          <p:cNvSpPr>
            <a:spLocks noGrp="1"/>
          </p:cNvSpPr>
          <p:nvPr>
            <p:ph type="ftr" sz="quarter" idx="11"/>
          </p:nvPr>
        </p:nvSpPr>
        <p:spPr/>
        <p:txBody>
          <a:bodyPr/>
          <a:lstStyle/>
          <a:p>
            <a:endParaRPr lang="de-DE"/>
          </a:p>
        </p:txBody>
      </p:sp>
      <p:sp>
        <p:nvSpPr>
          <p:cNvPr id="6" name="Espaço Reservado para Número de Slide 5"/>
          <p:cNvSpPr>
            <a:spLocks noGrp="1"/>
          </p:cNvSpPr>
          <p:nvPr>
            <p:ph type="sldNum" sz="quarter" idx="12"/>
          </p:nvPr>
        </p:nvSpPr>
        <p:spPr/>
        <p:txBody>
          <a:bodyPr/>
          <a:lstStyle/>
          <a:p>
            <a:fld id="{754FE2FE-B55E-4328-8F5C-2CEB8781A47B}" type="slidenum">
              <a:rPr lang="de-DE" smtClean="0"/>
              <a:t>‹nº›</a:t>
            </a:fld>
            <a:endParaRPr lang="de-DE"/>
          </a:p>
        </p:txBody>
      </p:sp>
    </p:spTree>
    <p:extLst>
      <p:ext uri="{BB962C8B-B14F-4D97-AF65-F5344CB8AC3E}">
        <p14:creationId xmlns:p14="http://schemas.microsoft.com/office/powerpoint/2010/main" val="877683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de-DE"/>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de-DE"/>
          </a:p>
        </p:txBody>
      </p:sp>
      <p:sp>
        <p:nvSpPr>
          <p:cNvPr id="4" name="Espaço Reservado para Data 3"/>
          <p:cNvSpPr>
            <a:spLocks noGrp="1"/>
          </p:cNvSpPr>
          <p:nvPr>
            <p:ph type="dt" sz="half" idx="10"/>
          </p:nvPr>
        </p:nvSpPr>
        <p:spPr/>
        <p:txBody>
          <a:bodyPr/>
          <a:lstStyle/>
          <a:p>
            <a:fld id="{F0E51C7C-CEA3-4CAA-BE4B-344879E7C377}" type="datetimeFigureOut">
              <a:rPr lang="de-DE" smtClean="0"/>
              <a:t>02.10.2026</a:t>
            </a:fld>
            <a:endParaRPr lang="de-DE"/>
          </a:p>
        </p:txBody>
      </p:sp>
      <p:sp>
        <p:nvSpPr>
          <p:cNvPr id="5" name="Espaço Reservado para Rodapé 4"/>
          <p:cNvSpPr>
            <a:spLocks noGrp="1"/>
          </p:cNvSpPr>
          <p:nvPr>
            <p:ph type="ftr" sz="quarter" idx="11"/>
          </p:nvPr>
        </p:nvSpPr>
        <p:spPr/>
        <p:txBody>
          <a:bodyPr/>
          <a:lstStyle/>
          <a:p>
            <a:endParaRPr lang="de-DE"/>
          </a:p>
        </p:txBody>
      </p:sp>
      <p:sp>
        <p:nvSpPr>
          <p:cNvPr id="6" name="Espaço Reservado para Número de Slide 5"/>
          <p:cNvSpPr>
            <a:spLocks noGrp="1"/>
          </p:cNvSpPr>
          <p:nvPr>
            <p:ph type="sldNum" sz="quarter" idx="12"/>
          </p:nvPr>
        </p:nvSpPr>
        <p:spPr/>
        <p:txBody>
          <a:bodyPr/>
          <a:lstStyle/>
          <a:p>
            <a:fld id="{754FE2FE-B55E-4328-8F5C-2CEB8781A47B}" type="slidenum">
              <a:rPr lang="de-DE" smtClean="0"/>
              <a:t>‹nº›</a:t>
            </a:fld>
            <a:endParaRPr lang="de-DE"/>
          </a:p>
        </p:txBody>
      </p:sp>
    </p:spTree>
    <p:extLst>
      <p:ext uri="{BB962C8B-B14F-4D97-AF65-F5344CB8AC3E}">
        <p14:creationId xmlns:p14="http://schemas.microsoft.com/office/powerpoint/2010/main" val="3140052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endParaRPr lang="de-DE"/>
          </a:p>
        </p:txBody>
      </p:sp>
      <p:sp>
        <p:nvSpPr>
          <p:cNvPr id="3" name="Espaço Reservado para Texto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BR"/>
              <a:t>Clique para editar o texto mestre</a:t>
            </a:r>
          </a:p>
        </p:txBody>
      </p:sp>
      <p:sp>
        <p:nvSpPr>
          <p:cNvPr id="4" name="Espaço Reservado para Data 3"/>
          <p:cNvSpPr>
            <a:spLocks noGrp="1"/>
          </p:cNvSpPr>
          <p:nvPr>
            <p:ph type="dt" sz="half" idx="10"/>
          </p:nvPr>
        </p:nvSpPr>
        <p:spPr/>
        <p:txBody>
          <a:bodyPr/>
          <a:lstStyle/>
          <a:p>
            <a:fld id="{F0E51C7C-CEA3-4CAA-BE4B-344879E7C377}" type="datetimeFigureOut">
              <a:rPr lang="de-DE" smtClean="0"/>
              <a:t>02.10.2026</a:t>
            </a:fld>
            <a:endParaRPr lang="de-DE"/>
          </a:p>
        </p:txBody>
      </p:sp>
      <p:sp>
        <p:nvSpPr>
          <p:cNvPr id="5" name="Espaço Reservado para Rodapé 4"/>
          <p:cNvSpPr>
            <a:spLocks noGrp="1"/>
          </p:cNvSpPr>
          <p:nvPr>
            <p:ph type="ftr" sz="quarter" idx="11"/>
          </p:nvPr>
        </p:nvSpPr>
        <p:spPr/>
        <p:txBody>
          <a:bodyPr/>
          <a:lstStyle/>
          <a:p>
            <a:endParaRPr lang="de-DE"/>
          </a:p>
        </p:txBody>
      </p:sp>
      <p:sp>
        <p:nvSpPr>
          <p:cNvPr id="6" name="Espaço Reservado para Número de Slide 5"/>
          <p:cNvSpPr>
            <a:spLocks noGrp="1"/>
          </p:cNvSpPr>
          <p:nvPr>
            <p:ph type="sldNum" sz="quarter" idx="12"/>
          </p:nvPr>
        </p:nvSpPr>
        <p:spPr/>
        <p:txBody>
          <a:bodyPr/>
          <a:lstStyle/>
          <a:p>
            <a:fld id="{754FE2FE-B55E-4328-8F5C-2CEB8781A47B}" type="slidenum">
              <a:rPr lang="de-DE" smtClean="0"/>
              <a:t>‹nº›</a:t>
            </a:fld>
            <a:endParaRPr lang="de-DE"/>
          </a:p>
        </p:txBody>
      </p:sp>
    </p:spTree>
    <p:extLst>
      <p:ext uri="{BB962C8B-B14F-4D97-AF65-F5344CB8AC3E}">
        <p14:creationId xmlns:p14="http://schemas.microsoft.com/office/powerpoint/2010/main" val="3781375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de-DE"/>
          </a:p>
        </p:txBody>
      </p:sp>
      <p:sp>
        <p:nvSpPr>
          <p:cNvPr id="3" name="Espaço Reservado para Conteúdo 2"/>
          <p:cNvSpPr>
            <a:spLocks noGrp="1"/>
          </p:cNvSpPr>
          <p:nvPr>
            <p:ph sz="half" idx="1"/>
          </p:nvPr>
        </p:nvSpPr>
        <p:spPr>
          <a:xfrm>
            <a:off x="838200" y="1825625"/>
            <a:ext cx="5181600" cy="435133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de-DE"/>
          </a:p>
        </p:txBody>
      </p:sp>
      <p:sp>
        <p:nvSpPr>
          <p:cNvPr id="4" name="Espaço Reservado para Conteúdo 3"/>
          <p:cNvSpPr>
            <a:spLocks noGrp="1"/>
          </p:cNvSpPr>
          <p:nvPr>
            <p:ph sz="half" idx="2"/>
          </p:nvPr>
        </p:nvSpPr>
        <p:spPr>
          <a:xfrm>
            <a:off x="6172200" y="1825625"/>
            <a:ext cx="5181600" cy="435133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de-DE"/>
          </a:p>
        </p:txBody>
      </p:sp>
      <p:sp>
        <p:nvSpPr>
          <p:cNvPr id="5" name="Espaço Reservado para Data 4"/>
          <p:cNvSpPr>
            <a:spLocks noGrp="1"/>
          </p:cNvSpPr>
          <p:nvPr>
            <p:ph type="dt" sz="half" idx="10"/>
          </p:nvPr>
        </p:nvSpPr>
        <p:spPr/>
        <p:txBody>
          <a:bodyPr/>
          <a:lstStyle/>
          <a:p>
            <a:fld id="{F0E51C7C-CEA3-4CAA-BE4B-344879E7C377}" type="datetimeFigureOut">
              <a:rPr lang="de-DE" smtClean="0"/>
              <a:t>02.10.2026</a:t>
            </a:fld>
            <a:endParaRPr lang="de-DE"/>
          </a:p>
        </p:txBody>
      </p:sp>
      <p:sp>
        <p:nvSpPr>
          <p:cNvPr id="6" name="Espaço Reservado para Rodapé 5"/>
          <p:cNvSpPr>
            <a:spLocks noGrp="1"/>
          </p:cNvSpPr>
          <p:nvPr>
            <p:ph type="ftr" sz="quarter" idx="11"/>
          </p:nvPr>
        </p:nvSpPr>
        <p:spPr/>
        <p:txBody>
          <a:bodyPr/>
          <a:lstStyle/>
          <a:p>
            <a:endParaRPr lang="de-DE"/>
          </a:p>
        </p:txBody>
      </p:sp>
      <p:sp>
        <p:nvSpPr>
          <p:cNvPr id="7" name="Espaço Reservado para Número de Slide 6"/>
          <p:cNvSpPr>
            <a:spLocks noGrp="1"/>
          </p:cNvSpPr>
          <p:nvPr>
            <p:ph type="sldNum" sz="quarter" idx="12"/>
          </p:nvPr>
        </p:nvSpPr>
        <p:spPr/>
        <p:txBody>
          <a:bodyPr/>
          <a:lstStyle/>
          <a:p>
            <a:fld id="{754FE2FE-B55E-4328-8F5C-2CEB8781A47B}" type="slidenum">
              <a:rPr lang="de-DE" smtClean="0"/>
              <a:t>‹nº›</a:t>
            </a:fld>
            <a:endParaRPr lang="de-DE"/>
          </a:p>
        </p:txBody>
      </p:sp>
    </p:spTree>
    <p:extLst>
      <p:ext uri="{BB962C8B-B14F-4D97-AF65-F5344CB8AC3E}">
        <p14:creationId xmlns:p14="http://schemas.microsoft.com/office/powerpoint/2010/main" val="2124613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pt-BR"/>
              <a:t>Clique para editar o título mestre</a:t>
            </a:r>
            <a:endParaRPr lang="de-DE"/>
          </a:p>
        </p:txBody>
      </p:sp>
      <p:sp>
        <p:nvSpPr>
          <p:cNvPr id="3" name="Espaço Reservado para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Espaço Reservado para Conteúdo 3"/>
          <p:cNvSpPr>
            <a:spLocks noGrp="1"/>
          </p:cNvSpPr>
          <p:nvPr>
            <p:ph sz="half" idx="2"/>
          </p:nvPr>
        </p:nvSpPr>
        <p:spPr>
          <a:xfrm>
            <a:off x="839788" y="2505075"/>
            <a:ext cx="5157787" cy="368458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de-DE"/>
          </a:p>
        </p:txBody>
      </p:sp>
      <p:sp>
        <p:nvSpPr>
          <p:cNvPr id="5" name="Espaço Reservado para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Espaço Reservado para Conteúdo 5"/>
          <p:cNvSpPr>
            <a:spLocks noGrp="1"/>
          </p:cNvSpPr>
          <p:nvPr>
            <p:ph sz="quarter" idx="4"/>
          </p:nvPr>
        </p:nvSpPr>
        <p:spPr>
          <a:xfrm>
            <a:off x="6172200" y="2505075"/>
            <a:ext cx="5183188" cy="368458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de-DE"/>
          </a:p>
        </p:txBody>
      </p:sp>
      <p:sp>
        <p:nvSpPr>
          <p:cNvPr id="7" name="Espaço Reservado para Data 6"/>
          <p:cNvSpPr>
            <a:spLocks noGrp="1"/>
          </p:cNvSpPr>
          <p:nvPr>
            <p:ph type="dt" sz="half" idx="10"/>
          </p:nvPr>
        </p:nvSpPr>
        <p:spPr/>
        <p:txBody>
          <a:bodyPr/>
          <a:lstStyle/>
          <a:p>
            <a:fld id="{F0E51C7C-CEA3-4CAA-BE4B-344879E7C377}" type="datetimeFigureOut">
              <a:rPr lang="de-DE" smtClean="0"/>
              <a:t>02.10.2026</a:t>
            </a:fld>
            <a:endParaRPr lang="de-DE"/>
          </a:p>
        </p:txBody>
      </p:sp>
      <p:sp>
        <p:nvSpPr>
          <p:cNvPr id="8" name="Espaço Reservado para Rodapé 7"/>
          <p:cNvSpPr>
            <a:spLocks noGrp="1"/>
          </p:cNvSpPr>
          <p:nvPr>
            <p:ph type="ftr" sz="quarter" idx="11"/>
          </p:nvPr>
        </p:nvSpPr>
        <p:spPr/>
        <p:txBody>
          <a:bodyPr/>
          <a:lstStyle/>
          <a:p>
            <a:endParaRPr lang="de-DE"/>
          </a:p>
        </p:txBody>
      </p:sp>
      <p:sp>
        <p:nvSpPr>
          <p:cNvPr id="9" name="Espaço Reservado para Número de Slide 8"/>
          <p:cNvSpPr>
            <a:spLocks noGrp="1"/>
          </p:cNvSpPr>
          <p:nvPr>
            <p:ph type="sldNum" sz="quarter" idx="12"/>
          </p:nvPr>
        </p:nvSpPr>
        <p:spPr/>
        <p:txBody>
          <a:bodyPr/>
          <a:lstStyle/>
          <a:p>
            <a:fld id="{754FE2FE-B55E-4328-8F5C-2CEB8781A47B}" type="slidenum">
              <a:rPr lang="de-DE" smtClean="0"/>
              <a:t>‹nº›</a:t>
            </a:fld>
            <a:endParaRPr lang="de-DE"/>
          </a:p>
        </p:txBody>
      </p:sp>
    </p:spTree>
    <p:extLst>
      <p:ext uri="{BB962C8B-B14F-4D97-AF65-F5344CB8AC3E}">
        <p14:creationId xmlns:p14="http://schemas.microsoft.com/office/powerpoint/2010/main" val="3694421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de-DE"/>
          </a:p>
        </p:txBody>
      </p:sp>
      <p:sp>
        <p:nvSpPr>
          <p:cNvPr id="3" name="Espaço Reservado para Data 2"/>
          <p:cNvSpPr>
            <a:spLocks noGrp="1"/>
          </p:cNvSpPr>
          <p:nvPr>
            <p:ph type="dt" sz="half" idx="10"/>
          </p:nvPr>
        </p:nvSpPr>
        <p:spPr/>
        <p:txBody>
          <a:bodyPr/>
          <a:lstStyle/>
          <a:p>
            <a:fld id="{F0E51C7C-CEA3-4CAA-BE4B-344879E7C377}" type="datetimeFigureOut">
              <a:rPr lang="de-DE" smtClean="0"/>
              <a:t>02.10.2026</a:t>
            </a:fld>
            <a:endParaRPr lang="de-DE"/>
          </a:p>
        </p:txBody>
      </p:sp>
      <p:sp>
        <p:nvSpPr>
          <p:cNvPr id="4" name="Espaço Reservado para Rodapé 3"/>
          <p:cNvSpPr>
            <a:spLocks noGrp="1"/>
          </p:cNvSpPr>
          <p:nvPr>
            <p:ph type="ftr" sz="quarter" idx="11"/>
          </p:nvPr>
        </p:nvSpPr>
        <p:spPr/>
        <p:txBody>
          <a:bodyPr/>
          <a:lstStyle/>
          <a:p>
            <a:endParaRPr lang="de-DE"/>
          </a:p>
        </p:txBody>
      </p:sp>
      <p:sp>
        <p:nvSpPr>
          <p:cNvPr id="5" name="Espaço Reservado para Número de Slide 4"/>
          <p:cNvSpPr>
            <a:spLocks noGrp="1"/>
          </p:cNvSpPr>
          <p:nvPr>
            <p:ph type="sldNum" sz="quarter" idx="12"/>
          </p:nvPr>
        </p:nvSpPr>
        <p:spPr/>
        <p:txBody>
          <a:bodyPr/>
          <a:lstStyle/>
          <a:p>
            <a:fld id="{754FE2FE-B55E-4328-8F5C-2CEB8781A47B}" type="slidenum">
              <a:rPr lang="de-DE" smtClean="0"/>
              <a:t>‹nº›</a:t>
            </a:fld>
            <a:endParaRPr lang="de-DE"/>
          </a:p>
        </p:txBody>
      </p:sp>
    </p:spTree>
    <p:extLst>
      <p:ext uri="{BB962C8B-B14F-4D97-AF65-F5344CB8AC3E}">
        <p14:creationId xmlns:p14="http://schemas.microsoft.com/office/powerpoint/2010/main" val="3108533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F0E51C7C-CEA3-4CAA-BE4B-344879E7C377}" type="datetimeFigureOut">
              <a:rPr lang="de-DE" smtClean="0"/>
              <a:t>02.10.2026</a:t>
            </a:fld>
            <a:endParaRPr lang="de-DE"/>
          </a:p>
        </p:txBody>
      </p:sp>
      <p:sp>
        <p:nvSpPr>
          <p:cNvPr id="3" name="Espaço Reservado para Rodapé 2"/>
          <p:cNvSpPr>
            <a:spLocks noGrp="1"/>
          </p:cNvSpPr>
          <p:nvPr>
            <p:ph type="ftr" sz="quarter" idx="11"/>
          </p:nvPr>
        </p:nvSpPr>
        <p:spPr/>
        <p:txBody>
          <a:bodyPr/>
          <a:lstStyle/>
          <a:p>
            <a:endParaRPr lang="de-DE"/>
          </a:p>
        </p:txBody>
      </p:sp>
      <p:sp>
        <p:nvSpPr>
          <p:cNvPr id="4" name="Espaço Reservado para Número de Slide 3"/>
          <p:cNvSpPr>
            <a:spLocks noGrp="1"/>
          </p:cNvSpPr>
          <p:nvPr>
            <p:ph type="sldNum" sz="quarter" idx="12"/>
          </p:nvPr>
        </p:nvSpPr>
        <p:spPr/>
        <p:txBody>
          <a:bodyPr/>
          <a:lstStyle/>
          <a:p>
            <a:fld id="{754FE2FE-B55E-4328-8F5C-2CEB8781A47B}" type="slidenum">
              <a:rPr lang="de-DE" smtClean="0"/>
              <a:t>‹nº›</a:t>
            </a:fld>
            <a:endParaRPr lang="de-DE"/>
          </a:p>
        </p:txBody>
      </p:sp>
    </p:spTree>
    <p:extLst>
      <p:ext uri="{BB962C8B-B14F-4D97-AF65-F5344CB8AC3E}">
        <p14:creationId xmlns:p14="http://schemas.microsoft.com/office/powerpoint/2010/main" val="5782815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endParaRPr lang="de-DE"/>
          </a:p>
        </p:txBody>
      </p:sp>
      <p:sp>
        <p:nvSpPr>
          <p:cNvPr id="3" name="Espaço Reservado para Conteú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de-DE"/>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F0E51C7C-CEA3-4CAA-BE4B-344879E7C377}" type="datetimeFigureOut">
              <a:rPr lang="de-DE" smtClean="0"/>
              <a:t>02.10.2026</a:t>
            </a:fld>
            <a:endParaRPr lang="de-DE"/>
          </a:p>
        </p:txBody>
      </p:sp>
      <p:sp>
        <p:nvSpPr>
          <p:cNvPr id="6" name="Espaço Reservado para Rodapé 5"/>
          <p:cNvSpPr>
            <a:spLocks noGrp="1"/>
          </p:cNvSpPr>
          <p:nvPr>
            <p:ph type="ftr" sz="quarter" idx="11"/>
          </p:nvPr>
        </p:nvSpPr>
        <p:spPr/>
        <p:txBody>
          <a:bodyPr/>
          <a:lstStyle/>
          <a:p>
            <a:endParaRPr lang="de-DE"/>
          </a:p>
        </p:txBody>
      </p:sp>
      <p:sp>
        <p:nvSpPr>
          <p:cNvPr id="7" name="Espaço Reservado para Número de Slide 6"/>
          <p:cNvSpPr>
            <a:spLocks noGrp="1"/>
          </p:cNvSpPr>
          <p:nvPr>
            <p:ph type="sldNum" sz="quarter" idx="12"/>
          </p:nvPr>
        </p:nvSpPr>
        <p:spPr/>
        <p:txBody>
          <a:bodyPr/>
          <a:lstStyle/>
          <a:p>
            <a:fld id="{754FE2FE-B55E-4328-8F5C-2CEB8781A47B}" type="slidenum">
              <a:rPr lang="de-DE" smtClean="0"/>
              <a:t>‹nº›</a:t>
            </a:fld>
            <a:endParaRPr lang="de-DE"/>
          </a:p>
        </p:txBody>
      </p:sp>
    </p:spTree>
    <p:extLst>
      <p:ext uri="{BB962C8B-B14F-4D97-AF65-F5344CB8AC3E}">
        <p14:creationId xmlns:p14="http://schemas.microsoft.com/office/powerpoint/2010/main" val="2217836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endParaRPr lang="de-DE"/>
          </a:p>
        </p:txBody>
      </p:sp>
      <p:sp>
        <p:nvSpPr>
          <p:cNvPr id="3" name="Espaço Reservado para Imagem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F0E51C7C-CEA3-4CAA-BE4B-344879E7C377}" type="datetimeFigureOut">
              <a:rPr lang="de-DE" smtClean="0"/>
              <a:t>02.10.2026</a:t>
            </a:fld>
            <a:endParaRPr lang="de-DE"/>
          </a:p>
        </p:txBody>
      </p:sp>
      <p:sp>
        <p:nvSpPr>
          <p:cNvPr id="6" name="Espaço Reservado para Rodapé 5"/>
          <p:cNvSpPr>
            <a:spLocks noGrp="1"/>
          </p:cNvSpPr>
          <p:nvPr>
            <p:ph type="ftr" sz="quarter" idx="11"/>
          </p:nvPr>
        </p:nvSpPr>
        <p:spPr/>
        <p:txBody>
          <a:bodyPr/>
          <a:lstStyle/>
          <a:p>
            <a:endParaRPr lang="de-DE"/>
          </a:p>
        </p:txBody>
      </p:sp>
      <p:sp>
        <p:nvSpPr>
          <p:cNvPr id="7" name="Espaço Reservado para Número de Slide 6"/>
          <p:cNvSpPr>
            <a:spLocks noGrp="1"/>
          </p:cNvSpPr>
          <p:nvPr>
            <p:ph type="sldNum" sz="quarter" idx="12"/>
          </p:nvPr>
        </p:nvSpPr>
        <p:spPr/>
        <p:txBody>
          <a:bodyPr/>
          <a:lstStyle/>
          <a:p>
            <a:fld id="{754FE2FE-B55E-4328-8F5C-2CEB8781A47B}" type="slidenum">
              <a:rPr lang="de-DE" smtClean="0"/>
              <a:t>‹nº›</a:t>
            </a:fld>
            <a:endParaRPr lang="de-DE"/>
          </a:p>
        </p:txBody>
      </p:sp>
    </p:spTree>
    <p:extLst>
      <p:ext uri="{BB962C8B-B14F-4D97-AF65-F5344CB8AC3E}">
        <p14:creationId xmlns:p14="http://schemas.microsoft.com/office/powerpoint/2010/main" val="2245566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de-DE"/>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de-DE"/>
          </a:p>
        </p:txBody>
      </p:sp>
      <p:sp>
        <p:nvSpPr>
          <p:cNvPr id="4" name="Espaço Reservado para Data 3"/>
          <p:cNvSpPr>
            <a:spLocks noGrp="1"/>
          </p:cNvSpPr>
          <p:nvPr>
            <p:ph type="dt" sz="half" idx="10"/>
          </p:nvPr>
        </p:nvSpPr>
        <p:spPr/>
        <p:txBody>
          <a:bodyPr/>
          <a:lstStyle/>
          <a:p>
            <a:fld id="{F0E51C7C-CEA3-4CAA-BE4B-344879E7C377}" type="datetimeFigureOut">
              <a:rPr lang="de-DE" smtClean="0"/>
              <a:t>02.10.2026</a:t>
            </a:fld>
            <a:endParaRPr lang="de-DE"/>
          </a:p>
        </p:txBody>
      </p:sp>
      <p:sp>
        <p:nvSpPr>
          <p:cNvPr id="5" name="Espaço Reservado para Rodapé 4"/>
          <p:cNvSpPr>
            <a:spLocks noGrp="1"/>
          </p:cNvSpPr>
          <p:nvPr>
            <p:ph type="ftr" sz="quarter" idx="11"/>
          </p:nvPr>
        </p:nvSpPr>
        <p:spPr/>
        <p:txBody>
          <a:bodyPr/>
          <a:lstStyle/>
          <a:p>
            <a:endParaRPr lang="de-DE"/>
          </a:p>
        </p:txBody>
      </p:sp>
      <p:sp>
        <p:nvSpPr>
          <p:cNvPr id="6" name="Espaço Reservado para Número de Slide 5"/>
          <p:cNvSpPr>
            <a:spLocks noGrp="1"/>
          </p:cNvSpPr>
          <p:nvPr>
            <p:ph type="sldNum" sz="quarter" idx="12"/>
          </p:nvPr>
        </p:nvSpPr>
        <p:spPr/>
        <p:txBody>
          <a:bodyPr/>
          <a:lstStyle/>
          <a:p>
            <a:fld id="{754FE2FE-B55E-4328-8F5C-2CEB8781A47B}" type="slidenum">
              <a:rPr lang="de-DE" smtClean="0"/>
              <a:t>‹nº›</a:t>
            </a:fld>
            <a:endParaRPr lang="de-DE"/>
          </a:p>
        </p:txBody>
      </p:sp>
    </p:spTree>
    <p:extLst>
      <p:ext uri="{BB962C8B-B14F-4D97-AF65-F5344CB8AC3E}">
        <p14:creationId xmlns:p14="http://schemas.microsoft.com/office/powerpoint/2010/main" val="746588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pt-BR"/>
              <a:t>Clique para editar o título mestre</a:t>
            </a:r>
            <a:endParaRPr lang="de-DE"/>
          </a:p>
        </p:txBody>
      </p:sp>
      <p:sp>
        <p:nvSpPr>
          <p:cNvPr id="3" name="Espaço Reservado para Texto Vertical 2"/>
          <p:cNvSpPr>
            <a:spLocks noGrp="1"/>
          </p:cNvSpPr>
          <p:nvPr>
            <p:ph type="body" orient="vert" idx="1"/>
          </p:nvPr>
        </p:nvSpPr>
        <p:spPr>
          <a:xfrm>
            <a:off x="838200" y="365125"/>
            <a:ext cx="7734300" cy="5811838"/>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de-DE"/>
          </a:p>
        </p:txBody>
      </p:sp>
      <p:sp>
        <p:nvSpPr>
          <p:cNvPr id="4" name="Espaço Reservado para Data 3"/>
          <p:cNvSpPr>
            <a:spLocks noGrp="1"/>
          </p:cNvSpPr>
          <p:nvPr>
            <p:ph type="dt" sz="half" idx="10"/>
          </p:nvPr>
        </p:nvSpPr>
        <p:spPr/>
        <p:txBody>
          <a:bodyPr/>
          <a:lstStyle/>
          <a:p>
            <a:fld id="{F0E51C7C-CEA3-4CAA-BE4B-344879E7C377}" type="datetimeFigureOut">
              <a:rPr lang="de-DE" smtClean="0"/>
              <a:t>02.10.2026</a:t>
            </a:fld>
            <a:endParaRPr lang="de-DE"/>
          </a:p>
        </p:txBody>
      </p:sp>
      <p:sp>
        <p:nvSpPr>
          <p:cNvPr id="5" name="Espaço Reservado para Rodapé 4"/>
          <p:cNvSpPr>
            <a:spLocks noGrp="1"/>
          </p:cNvSpPr>
          <p:nvPr>
            <p:ph type="ftr" sz="quarter" idx="11"/>
          </p:nvPr>
        </p:nvSpPr>
        <p:spPr/>
        <p:txBody>
          <a:bodyPr/>
          <a:lstStyle/>
          <a:p>
            <a:endParaRPr lang="de-DE"/>
          </a:p>
        </p:txBody>
      </p:sp>
      <p:sp>
        <p:nvSpPr>
          <p:cNvPr id="6" name="Espaço Reservado para Número de Slide 5"/>
          <p:cNvSpPr>
            <a:spLocks noGrp="1"/>
          </p:cNvSpPr>
          <p:nvPr>
            <p:ph type="sldNum" sz="quarter" idx="12"/>
          </p:nvPr>
        </p:nvSpPr>
        <p:spPr/>
        <p:txBody>
          <a:bodyPr/>
          <a:lstStyle/>
          <a:p>
            <a:fld id="{754FE2FE-B55E-4328-8F5C-2CEB8781A47B}" type="slidenum">
              <a:rPr lang="de-DE" smtClean="0"/>
              <a:t>‹nº›</a:t>
            </a:fld>
            <a:endParaRPr lang="de-DE"/>
          </a:p>
        </p:txBody>
      </p:sp>
    </p:spTree>
    <p:extLst>
      <p:ext uri="{BB962C8B-B14F-4D97-AF65-F5344CB8AC3E}">
        <p14:creationId xmlns:p14="http://schemas.microsoft.com/office/powerpoint/2010/main" val="13063975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빈 화면">
    <p:spTree>
      <p:nvGrpSpPr>
        <p:cNvPr id="1" name=""/>
        <p:cNvGrpSpPr/>
        <p:nvPr/>
      </p:nvGrpSpPr>
      <p:grpSpPr>
        <a:xfrm>
          <a:off x="0" y="0"/>
          <a:ext cx="0" cy="0"/>
          <a:chOff x="0" y="0"/>
          <a:chExt cx="0" cy="0"/>
        </a:xfrm>
      </p:grpSpPr>
      <p:sp>
        <p:nvSpPr>
          <p:cNvPr id="2" name="Rectangle 1"/>
          <p:cNvSpPr/>
          <p:nvPr userDrawn="1"/>
        </p:nvSpPr>
        <p:spPr>
          <a:xfrm>
            <a:off x="0" y="0"/>
            <a:ext cx="77638" cy="117319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Tree>
    <p:extLst>
      <p:ext uri="{BB962C8B-B14F-4D97-AF65-F5344CB8AC3E}">
        <p14:creationId xmlns:p14="http://schemas.microsoft.com/office/powerpoint/2010/main" val="3972719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Slide de Título">
    <p:bg>
      <p:bgPr>
        <a:solidFill>
          <a:schemeClr val="tx1"/>
        </a:solidFill>
        <a:effectLst/>
      </p:bgPr>
    </p:bg>
    <p:spTree>
      <p:nvGrpSpPr>
        <p:cNvPr id="1" name=""/>
        <p:cNvGrpSpPr/>
        <p:nvPr/>
      </p:nvGrpSpPr>
      <p:grpSpPr>
        <a:xfrm>
          <a:off x="0" y="0"/>
          <a:ext cx="0" cy="0"/>
          <a:chOff x="0" y="0"/>
          <a:chExt cx="0" cy="0"/>
        </a:xfrm>
      </p:grpSpPr>
      <p:sp>
        <p:nvSpPr>
          <p:cNvPr id="8" name="Retângulo 7">
            <a:extLst>
              <a:ext uri="{FF2B5EF4-FFF2-40B4-BE49-F238E27FC236}">
                <a16:creationId xmlns:a16="http://schemas.microsoft.com/office/drawing/2014/main" id="{7F261BE7-44BD-484B-841A-8DABF0788830}"/>
              </a:ext>
            </a:extLst>
          </p:cNvPr>
          <p:cNvSpPr/>
          <p:nvPr userDrawn="1"/>
        </p:nvSpPr>
        <p:spPr>
          <a:xfrm>
            <a:off x="453206" y="-7575"/>
            <a:ext cx="7629249" cy="6858000"/>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tângulo 8">
            <a:extLst>
              <a:ext uri="{FF2B5EF4-FFF2-40B4-BE49-F238E27FC236}">
                <a16:creationId xmlns:a16="http://schemas.microsoft.com/office/drawing/2014/main" id="{DC0A662F-7B92-4010-8B11-B2425E4474BF}"/>
              </a:ext>
            </a:extLst>
          </p:cNvPr>
          <p:cNvSpPr/>
          <p:nvPr userDrawn="1"/>
        </p:nvSpPr>
        <p:spPr>
          <a:xfrm>
            <a:off x="0" y="-7575"/>
            <a:ext cx="6727853" cy="6858000"/>
          </a:xfrm>
          <a:prstGeom prst="rect">
            <a:avLst/>
          </a:prstGeom>
          <a:gradFill>
            <a:gsLst>
              <a:gs pos="31000">
                <a:schemeClr val="tx1"/>
              </a:gs>
              <a:gs pos="100000">
                <a:schemeClr val="tx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6" name="Espaço Reservado para Texto 24">
            <a:extLst>
              <a:ext uri="{FF2B5EF4-FFF2-40B4-BE49-F238E27FC236}">
                <a16:creationId xmlns:a16="http://schemas.microsoft.com/office/drawing/2014/main" id="{7A83DEED-C83C-4EEE-AE4C-CDB40D5EA796}"/>
              </a:ext>
            </a:extLst>
          </p:cNvPr>
          <p:cNvSpPr>
            <a:spLocks noGrp="1"/>
          </p:cNvSpPr>
          <p:nvPr>
            <p:ph type="body" sz="quarter" idx="10" hasCustomPrompt="1"/>
          </p:nvPr>
        </p:nvSpPr>
        <p:spPr>
          <a:xfrm>
            <a:off x="625413" y="1132847"/>
            <a:ext cx="10003329" cy="2036518"/>
          </a:xfrm>
        </p:spPr>
        <p:txBody>
          <a:bodyPr/>
          <a:lstStyle>
            <a:lvl1pPr>
              <a:defRPr lang="pt-BR" sz="8800" b="1" dirty="0">
                <a:solidFill>
                  <a:schemeClr val="bg1"/>
                </a:solidFill>
                <a:latin typeface="Samsung Sharp Sans Medium"/>
              </a:defRPr>
            </a:lvl1pPr>
          </a:lstStyle>
          <a:p>
            <a:pPr lvl="0"/>
            <a:r>
              <a:rPr lang="pt-BR"/>
              <a:t>Editar estilos de texto mestre</a:t>
            </a:r>
          </a:p>
        </p:txBody>
      </p:sp>
      <p:sp>
        <p:nvSpPr>
          <p:cNvPr id="28" name="Espaço Reservado para Texto 27">
            <a:extLst>
              <a:ext uri="{FF2B5EF4-FFF2-40B4-BE49-F238E27FC236}">
                <a16:creationId xmlns:a16="http://schemas.microsoft.com/office/drawing/2014/main" id="{48CB1218-9BCA-47E2-87D1-038C3B3EA051}"/>
              </a:ext>
            </a:extLst>
          </p:cNvPr>
          <p:cNvSpPr>
            <a:spLocks noGrp="1"/>
          </p:cNvSpPr>
          <p:nvPr>
            <p:ph type="body" sz="quarter" idx="11" hasCustomPrompt="1"/>
          </p:nvPr>
        </p:nvSpPr>
        <p:spPr>
          <a:xfrm>
            <a:off x="603312" y="4015842"/>
            <a:ext cx="9240754" cy="914400"/>
          </a:xfrm>
        </p:spPr>
        <p:txBody>
          <a:bodyPr>
            <a:normAutofit/>
          </a:bodyPr>
          <a:lstStyle>
            <a:lvl1pPr>
              <a:defRPr lang="pt-BR" sz="240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pt-BR"/>
              <a:t>EDITAR ESTILOS DE TEXTO MESTRE</a:t>
            </a:r>
          </a:p>
        </p:txBody>
      </p:sp>
      <p:sp>
        <p:nvSpPr>
          <p:cNvPr id="30" name="CaixaDeTexto 29">
            <a:extLst>
              <a:ext uri="{FF2B5EF4-FFF2-40B4-BE49-F238E27FC236}">
                <a16:creationId xmlns:a16="http://schemas.microsoft.com/office/drawing/2014/main" id="{51FADF5D-465B-4402-8A90-C78871EFB887}"/>
              </a:ext>
            </a:extLst>
          </p:cNvPr>
          <p:cNvSpPr txBox="1"/>
          <p:nvPr userDrawn="1"/>
        </p:nvSpPr>
        <p:spPr>
          <a:xfrm>
            <a:off x="632519" y="4439573"/>
            <a:ext cx="1307523"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1000">
                <a:solidFill>
                  <a:srgbClr val="FF0000"/>
                </a:solidFill>
                <a:latin typeface="Calibri" panose="020F0502020204030204" pitchFamily="34" charset="0"/>
                <a:ea typeface="Calibri" panose="020F0502020204030204" pitchFamily="34" charset="0"/>
                <a:cs typeface="Calibri" panose="020F0502020204030204" pitchFamily="34" charset="0"/>
              </a:rPr>
              <a:t>Material confidencial</a:t>
            </a:r>
            <a:r>
              <a:rPr lang="pt-BR" sz="1000">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2494634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C1580C-652B-4E1B-8191-01339CAB246E}"/>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97CF6A20-6E46-418A-BA80-55856FC65B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77198D36-8CA3-4021-BAB4-6AA0736E5A3B}"/>
              </a:ext>
            </a:extLst>
          </p:cNvPr>
          <p:cNvSpPr>
            <a:spLocks noGrp="1"/>
          </p:cNvSpPr>
          <p:nvPr>
            <p:ph type="dt" sz="half" idx="10"/>
          </p:nvPr>
        </p:nvSpPr>
        <p:spPr/>
        <p:txBody>
          <a:bodyPr/>
          <a:lstStyle/>
          <a:p>
            <a:fld id="{E7F6F257-95C5-4B14-B85D-E1A7842AA8D3}" type="datetimeFigureOut">
              <a:rPr lang="pt-BR" smtClean="0"/>
              <a:t>02/10/2026</a:t>
            </a:fld>
            <a:endParaRPr lang="pt-BR"/>
          </a:p>
        </p:txBody>
      </p:sp>
      <p:sp>
        <p:nvSpPr>
          <p:cNvPr id="5" name="Espaço Reservado para Rodapé 4">
            <a:extLst>
              <a:ext uri="{FF2B5EF4-FFF2-40B4-BE49-F238E27FC236}">
                <a16:creationId xmlns:a16="http://schemas.microsoft.com/office/drawing/2014/main" id="{5374D461-A43E-41BD-9324-53B4B88E2FBC}"/>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DB75D8F2-B4E5-40BE-91EE-73E6DCAFECEC}"/>
              </a:ext>
            </a:extLst>
          </p:cNvPr>
          <p:cNvSpPr>
            <a:spLocks noGrp="1"/>
          </p:cNvSpPr>
          <p:nvPr>
            <p:ph type="sldNum" sz="quarter" idx="12"/>
          </p:nvPr>
        </p:nvSpPr>
        <p:spPr/>
        <p:txBody>
          <a:bodyPr/>
          <a:lstStyle/>
          <a:p>
            <a:fld id="{C419EA21-EB7F-40EF-99E1-55F67308761C}" type="slidenum">
              <a:rPr lang="pt-BR" smtClean="0"/>
              <a:t>‹nº›</a:t>
            </a:fld>
            <a:endParaRPr lang="pt-BR"/>
          </a:p>
        </p:txBody>
      </p:sp>
    </p:spTree>
    <p:extLst>
      <p:ext uri="{BB962C8B-B14F-4D97-AF65-F5344CB8AC3E}">
        <p14:creationId xmlns:p14="http://schemas.microsoft.com/office/powerpoint/2010/main" val="23548109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94F9AD-321E-46B8-8DF7-30708C482F5F}"/>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D2F5417B-0DA6-4159-977E-7D26A2B5F6D7}"/>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7E78B031-C624-40E3-B916-BD199C66E992}"/>
              </a:ext>
            </a:extLst>
          </p:cNvPr>
          <p:cNvSpPr>
            <a:spLocks noGrp="1"/>
          </p:cNvSpPr>
          <p:nvPr>
            <p:ph type="dt" sz="half" idx="10"/>
          </p:nvPr>
        </p:nvSpPr>
        <p:spPr/>
        <p:txBody>
          <a:bodyPr/>
          <a:lstStyle/>
          <a:p>
            <a:fld id="{E7F6F257-95C5-4B14-B85D-E1A7842AA8D3}" type="datetimeFigureOut">
              <a:rPr lang="pt-BR" smtClean="0"/>
              <a:t>02/10/2026</a:t>
            </a:fld>
            <a:endParaRPr lang="pt-BR"/>
          </a:p>
        </p:txBody>
      </p:sp>
      <p:sp>
        <p:nvSpPr>
          <p:cNvPr id="5" name="Espaço Reservado para Rodapé 4">
            <a:extLst>
              <a:ext uri="{FF2B5EF4-FFF2-40B4-BE49-F238E27FC236}">
                <a16:creationId xmlns:a16="http://schemas.microsoft.com/office/drawing/2014/main" id="{42A27ADB-1229-4C37-BF3D-DCA71F932B88}"/>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A9CEE40F-9D0C-4EA9-A282-A22650ADB752}"/>
              </a:ext>
            </a:extLst>
          </p:cNvPr>
          <p:cNvSpPr>
            <a:spLocks noGrp="1"/>
          </p:cNvSpPr>
          <p:nvPr>
            <p:ph type="sldNum" sz="quarter" idx="12"/>
          </p:nvPr>
        </p:nvSpPr>
        <p:spPr/>
        <p:txBody>
          <a:bodyPr/>
          <a:lstStyle/>
          <a:p>
            <a:fld id="{C419EA21-EB7F-40EF-99E1-55F67308761C}" type="slidenum">
              <a:rPr lang="pt-BR" smtClean="0"/>
              <a:t>‹nº›</a:t>
            </a:fld>
            <a:endParaRPr lang="pt-BR"/>
          </a:p>
        </p:txBody>
      </p:sp>
    </p:spTree>
    <p:extLst>
      <p:ext uri="{BB962C8B-B14F-4D97-AF65-F5344CB8AC3E}">
        <p14:creationId xmlns:p14="http://schemas.microsoft.com/office/powerpoint/2010/main" val="39965394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8D9272-DE18-48F8-9B76-7D2663B6DDBD}"/>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83E53C6F-D3A6-4EFF-9220-05E1EAACB3D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4D76A3A0-7670-45D3-AF13-CD7980C33529}"/>
              </a:ext>
            </a:extLst>
          </p:cNvPr>
          <p:cNvSpPr>
            <a:spLocks noGrp="1"/>
          </p:cNvSpPr>
          <p:nvPr>
            <p:ph type="dt" sz="half" idx="10"/>
          </p:nvPr>
        </p:nvSpPr>
        <p:spPr/>
        <p:txBody>
          <a:bodyPr/>
          <a:lstStyle/>
          <a:p>
            <a:fld id="{E7F6F257-95C5-4B14-B85D-E1A7842AA8D3}" type="datetimeFigureOut">
              <a:rPr lang="pt-BR" smtClean="0"/>
              <a:t>02/10/2026</a:t>
            </a:fld>
            <a:endParaRPr lang="pt-BR"/>
          </a:p>
        </p:txBody>
      </p:sp>
      <p:sp>
        <p:nvSpPr>
          <p:cNvPr id="5" name="Espaço Reservado para Rodapé 4">
            <a:extLst>
              <a:ext uri="{FF2B5EF4-FFF2-40B4-BE49-F238E27FC236}">
                <a16:creationId xmlns:a16="http://schemas.microsoft.com/office/drawing/2014/main" id="{C9974016-E5D8-45C5-800C-844C83C069E7}"/>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F0435720-052B-4518-A108-37A5BD92D51E}"/>
              </a:ext>
            </a:extLst>
          </p:cNvPr>
          <p:cNvSpPr>
            <a:spLocks noGrp="1"/>
          </p:cNvSpPr>
          <p:nvPr>
            <p:ph type="sldNum" sz="quarter" idx="12"/>
          </p:nvPr>
        </p:nvSpPr>
        <p:spPr/>
        <p:txBody>
          <a:bodyPr/>
          <a:lstStyle/>
          <a:p>
            <a:fld id="{C419EA21-EB7F-40EF-99E1-55F67308761C}" type="slidenum">
              <a:rPr lang="pt-BR" smtClean="0"/>
              <a:t>‹nº›</a:t>
            </a:fld>
            <a:endParaRPr lang="pt-BR"/>
          </a:p>
        </p:txBody>
      </p:sp>
    </p:spTree>
    <p:extLst>
      <p:ext uri="{BB962C8B-B14F-4D97-AF65-F5344CB8AC3E}">
        <p14:creationId xmlns:p14="http://schemas.microsoft.com/office/powerpoint/2010/main" val="35467990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8427F4-8828-4D2C-A168-B14FBF145E8E}"/>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3E3D6D30-8D2A-40C5-9AE5-842765456CF8}"/>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F8E1CDD5-9989-4BA6-A06A-37F607291838}"/>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57605BB1-6331-4BED-B2A0-B473F10CAB49}"/>
              </a:ext>
            </a:extLst>
          </p:cNvPr>
          <p:cNvSpPr>
            <a:spLocks noGrp="1"/>
          </p:cNvSpPr>
          <p:nvPr>
            <p:ph type="dt" sz="half" idx="10"/>
          </p:nvPr>
        </p:nvSpPr>
        <p:spPr/>
        <p:txBody>
          <a:bodyPr/>
          <a:lstStyle/>
          <a:p>
            <a:fld id="{E7F6F257-95C5-4B14-B85D-E1A7842AA8D3}" type="datetimeFigureOut">
              <a:rPr lang="pt-BR" smtClean="0"/>
              <a:t>02/10/2026</a:t>
            </a:fld>
            <a:endParaRPr lang="pt-BR"/>
          </a:p>
        </p:txBody>
      </p:sp>
      <p:sp>
        <p:nvSpPr>
          <p:cNvPr id="6" name="Espaço Reservado para Rodapé 5">
            <a:extLst>
              <a:ext uri="{FF2B5EF4-FFF2-40B4-BE49-F238E27FC236}">
                <a16:creationId xmlns:a16="http://schemas.microsoft.com/office/drawing/2014/main" id="{A3D0E0D7-6B4F-4163-91FE-0D181282F1AC}"/>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DFA1D331-8DB2-49C5-972C-B22EEB352D66}"/>
              </a:ext>
            </a:extLst>
          </p:cNvPr>
          <p:cNvSpPr>
            <a:spLocks noGrp="1"/>
          </p:cNvSpPr>
          <p:nvPr>
            <p:ph type="sldNum" sz="quarter" idx="12"/>
          </p:nvPr>
        </p:nvSpPr>
        <p:spPr/>
        <p:txBody>
          <a:bodyPr/>
          <a:lstStyle/>
          <a:p>
            <a:fld id="{C419EA21-EB7F-40EF-99E1-55F67308761C}" type="slidenum">
              <a:rPr lang="pt-BR" smtClean="0"/>
              <a:t>‹nº›</a:t>
            </a:fld>
            <a:endParaRPr lang="pt-BR"/>
          </a:p>
        </p:txBody>
      </p:sp>
    </p:spTree>
    <p:extLst>
      <p:ext uri="{BB962C8B-B14F-4D97-AF65-F5344CB8AC3E}">
        <p14:creationId xmlns:p14="http://schemas.microsoft.com/office/powerpoint/2010/main" val="4260944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314CAB-6B1C-405F-AF69-95B7B6C785F3}"/>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54180604-C41B-4940-B1D0-00A63A48D1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C16327FD-510C-4F9D-84DE-3672BFD7425B}"/>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0CD64D57-20E3-4DF3-A47F-47BDF9E399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AB0AE4A1-3226-469D-823E-A2D36ED5F225}"/>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9913CCEB-AD35-4450-8196-E5BD8794217A}"/>
              </a:ext>
            </a:extLst>
          </p:cNvPr>
          <p:cNvSpPr>
            <a:spLocks noGrp="1"/>
          </p:cNvSpPr>
          <p:nvPr>
            <p:ph type="dt" sz="half" idx="10"/>
          </p:nvPr>
        </p:nvSpPr>
        <p:spPr/>
        <p:txBody>
          <a:bodyPr/>
          <a:lstStyle/>
          <a:p>
            <a:fld id="{E7F6F257-95C5-4B14-B85D-E1A7842AA8D3}" type="datetimeFigureOut">
              <a:rPr lang="pt-BR" smtClean="0"/>
              <a:t>02/10/2026</a:t>
            </a:fld>
            <a:endParaRPr lang="pt-BR"/>
          </a:p>
        </p:txBody>
      </p:sp>
      <p:sp>
        <p:nvSpPr>
          <p:cNvPr id="8" name="Espaço Reservado para Rodapé 7">
            <a:extLst>
              <a:ext uri="{FF2B5EF4-FFF2-40B4-BE49-F238E27FC236}">
                <a16:creationId xmlns:a16="http://schemas.microsoft.com/office/drawing/2014/main" id="{0F0CFA23-C524-4EC9-A074-8FE731427513}"/>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9E965954-88CE-40A9-B4B1-2FE42FE22609}"/>
              </a:ext>
            </a:extLst>
          </p:cNvPr>
          <p:cNvSpPr>
            <a:spLocks noGrp="1"/>
          </p:cNvSpPr>
          <p:nvPr>
            <p:ph type="sldNum" sz="quarter" idx="12"/>
          </p:nvPr>
        </p:nvSpPr>
        <p:spPr/>
        <p:txBody>
          <a:bodyPr/>
          <a:lstStyle/>
          <a:p>
            <a:fld id="{C419EA21-EB7F-40EF-99E1-55F67308761C}" type="slidenum">
              <a:rPr lang="pt-BR" smtClean="0"/>
              <a:t>‹nº›</a:t>
            </a:fld>
            <a:endParaRPr lang="pt-BR"/>
          </a:p>
        </p:txBody>
      </p:sp>
    </p:spTree>
    <p:extLst>
      <p:ext uri="{BB962C8B-B14F-4D97-AF65-F5344CB8AC3E}">
        <p14:creationId xmlns:p14="http://schemas.microsoft.com/office/powerpoint/2010/main" val="22979675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D7186-DB99-4ECE-A262-85F49DC97FD3}"/>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35C69EC8-3A9E-4BA9-B63E-E17D39D650DD}"/>
              </a:ext>
            </a:extLst>
          </p:cNvPr>
          <p:cNvSpPr>
            <a:spLocks noGrp="1"/>
          </p:cNvSpPr>
          <p:nvPr>
            <p:ph type="dt" sz="half" idx="10"/>
          </p:nvPr>
        </p:nvSpPr>
        <p:spPr/>
        <p:txBody>
          <a:bodyPr/>
          <a:lstStyle/>
          <a:p>
            <a:fld id="{E7F6F257-95C5-4B14-B85D-E1A7842AA8D3}" type="datetimeFigureOut">
              <a:rPr lang="pt-BR" smtClean="0"/>
              <a:t>02/10/2026</a:t>
            </a:fld>
            <a:endParaRPr lang="pt-BR"/>
          </a:p>
        </p:txBody>
      </p:sp>
      <p:sp>
        <p:nvSpPr>
          <p:cNvPr id="4" name="Espaço Reservado para Rodapé 3">
            <a:extLst>
              <a:ext uri="{FF2B5EF4-FFF2-40B4-BE49-F238E27FC236}">
                <a16:creationId xmlns:a16="http://schemas.microsoft.com/office/drawing/2014/main" id="{45D206EB-2595-4BD9-AA14-21A21EC17954}"/>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121A3C14-416C-48D9-8BB8-D5BF46195267}"/>
              </a:ext>
            </a:extLst>
          </p:cNvPr>
          <p:cNvSpPr>
            <a:spLocks noGrp="1"/>
          </p:cNvSpPr>
          <p:nvPr>
            <p:ph type="sldNum" sz="quarter" idx="12"/>
          </p:nvPr>
        </p:nvSpPr>
        <p:spPr/>
        <p:txBody>
          <a:bodyPr/>
          <a:lstStyle/>
          <a:p>
            <a:fld id="{C419EA21-EB7F-40EF-99E1-55F67308761C}" type="slidenum">
              <a:rPr lang="pt-BR" smtClean="0"/>
              <a:t>‹nº›</a:t>
            </a:fld>
            <a:endParaRPr lang="pt-BR"/>
          </a:p>
        </p:txBody>
      </p:sp>
    </p:spTree>
    <p:extLst>
      <p:ext uri="{BB962C8B-B14F-4D97-AF65-F5344CB8AC3E}">
        <p14:creationId xmlns:p14="http://schemas.microsoft.com/office/powerpoint/2010/main" val="34183593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08ED1BA5-5C5D-4862-AAA9-DE8C9A8EFAD6}"/>
              </a:ext>
            </a:extLst>
          </p:cNvPr>
          <p:cNvSpPr>
            <a:spLocks noGrp="1"/>
          </p:cNvSpPr>
          <p:nvPr>
            <p:ph type="dt" sz="half" idx="10"/>
          </p:nvPr>
        </p:nvSpPr>
        <p:spPr/>
        <p:txBody>
          <a:bodyPr/>
          <a:lstStyle/>
          <a:p>
            <a:fld id="{E7F6F257-95C5-4B14-B85D-E1A7842AA8D3}" type="datetimeFigureOut">
              <a:rPr lang="pt-BR" smtClean="0"/>
              <a:t>02/10/2026</a:t>
            </a:fld>
            <a:endParaRPr lang="pt-BR"/>
          </a:p>
        </p:txBody>
      </p:sp>
      <p:sp>
        <p:nvSpPr>
          <p:cNvPr id="3" name="Espaço Reservado para Rodapé 2">
            <a:extLst>
              <a:ext uri="{FF2B5EF4-FFF2-40B4-BE49-F238E27FC236}">
                <a16:creationId xmlns:a16="http://schemas.microsoft.com/office/drawing/2014/main" id="{CA767976-E804-4E74-AA50-0AE29553B931}"/>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D7AED641-BD4E-4FCA-BD8B-F2FA0DF96ED7}"/>
              </a:ext>
            </a:extLst>
          </p:cNvPr>
          <p:cNvSpPr>
            <a:spLocks noGrp="1"/>
          </p:cNvSpPr>
          <p:nvPr>
            <p:ph type="sldNum" sz="quarter" idx="12"/>
          </p:nvPr>
        </p:nvSpPr>
        <p:spPr/>
        <p:txBody>
          <a:bodyPr/>
          <a:lstStyle/>
          <a:p>
            <a:fld id="{C419EA21-EB7F-40EF-99E1-55F67308761C}" type="slidenum">
              <a:rPr lang="pt-BR" smtClean="0"/>
              <a:t>‹nº›</a:t>
            </a:fld>
            <a:endParaRPr lang="pt-BR"/>
          </a:p>
        </p:txBody>
      </p:sp>
    </p:spTree>
    <p:extLst>
      <p:ext uri="{BB962C8B-B14F-4D97-AF65-F5344CB8AC3E}">
        <p14:creationId xmlns:p14="http://schemas.microsoft.com/office/powerpoint/2010/main" val="24699978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229399-F7CF-4188-A2F8-BC91CB0D7BA8}"/>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6625C401-AE5E-4919-9F5D-E172F0B0A0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A1C9AF5A-1858-476E-B488-812435BCCD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0948F116-D202-4D72-A38D-AC25908F4463}"/>
              </a:ext>
            </a:extLst>
          </p:cNvPr>
          <p:cNvSpPr>
            <a:spLocks noGrp="1"/>
          </p:cNvSpPr>
          <p:nvPr>
            <p:ph type="dt" sz="half" idx="10"/>
          </p:nvPr>
        </p:nvSpPr>
        <p:spPr/>
        <p:txBody>
          <a:bodyPr/>
          <a:lstStyle/>
          <a:p>
            <a:fld id="{E7F6F257-95C5-4B14-B85D-E1A7842AA8D3}" type="datetimeFigureOut">
              <a:rPr lang="pt-BR" smtClean="0"/>
              <a:t>02/10/2026</a:t>
            </a:fld>
            <a:endParaRPr lang="pt-BR"/>
          </a:p>
        </p:txBody>
      </p:sp>
      <p:sp>
        <p:nvSpPr>
          <p:cNvPr id="6" name="Espaço Reservado para Rodapé 5">
            <a:extLst>
              <a:ext uri="{FF2B5EF4-FFF2-40B4-BE49-F238E27FC236}">
                <a16:creationId xmlns:a16="http://schemas.microsoft.com/office/drawing/2014/main" id="{A73F7E4C-2E8B-403E-8691-318AC115EC6A}"/>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518CDBCF-684A-4BDF-9AEB-382A5C91A06F}"/>
              </a:ext>
            </a:extLst>
          </p:cNvPr>
          <p:cNvSpPr>
            <a:spLocks noGrp="1"/>
          </p:cNvSpPr>
          <p:nvPr>
            <p:ph type="sldNum" sz="quarter" idx="12"/>
          </p:nvPr>
        </p:nvSpPr>
        <p:spPr/>
        <p:txBody>
          <a:bodyPr/>
          <a:lstStyle/>
          <a:p>
            <a:fld id="{C419EA21-EB7F-40EF-99E1-55F67308761C}" type="slidenum">
              <a:rPr lang="pt-BR" smtClean="0"/>
              <a:t>‹nº›</a:t>
            </a:fld>
            <a:endParaRPr lang="pt-BR"/>
          </a:p>
        </p:txBody>
      </p:sp>
    </p:spTree>
    <p:extLst>
      <p:ext uri="{BB962C8B-B14F-4D97-AF65-F5344CB8AC3E}">
        <p14:creationId xmlns:p14="http://schemas.microsoft.com/office/powerpoint/2010/main" val="37979819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C77769-1C37-40CF-9363-7CE14284519E}"/>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89A7E206-4B18-4CB6-A182-F72F606AC6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1D2A3624-D510-4137-AA32-EA4EE120AB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C7F3E2CB-6AAD-460C-A1A6-2D04FF24F92B}"/>
              </a:ext>
            </a:extLst>
          </p:cNvPr>
          <p:cNvSpPr>
            <a:spLocks noGrp="1"/>
          </p:cNvSpPr>
          <p:nvPr>
            <p:ph type="dt" sz="half" idx="10"/>
          </p:nvPr>
        </p:nvSpPr>
        <p:spPr/>
        <p:txBody>
          <a:bodyPr/>
          <a:lstStyle/>
          <a:p>
            <a:fld id="{E7F6F257-95C5-4B14-B85D-E1A7842AA8D3}" type="datetimeFigureOut">
              <a:rPr lang="pt-BR" smtClean="0"/>
              <a:t>02/10/2026</a:t>
            </a:fld>
            <a:endParaRPr lang="pt-BR"/>
          </a:p>
        </p:txBody>
      </p:sp>
      <p:sp>
        <p:nvSpPr>
          <p:cNvPr id="6" name="Espaço Reservado para Rodapé 5">
            <a:extLst>
              <a:ext uri="{FF2B5EF4-FFF2-40B4-BE49-F238E27FC236}">
                <a16:creationId xmlns:a16="http://schemas.microsoft.com/office/drawing/2014/main" id="{F298E318-B857-4594-8652-1FDE3D9548FA}"/>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98A1E202-B1A3-4315-A6CD-4A559213817E}"/>
              </a:ext>
            </a:extLst>
          </p:cNvPr>
          <p:cNvSpPr>
            <a:spLocks noGrp="1"/>
          </p:cNvSpPr>
          <p:nvPr>
            <p:ph type="sldNum" sz="quarter" idx="12"/>
          </p:nvPr>
        </p:nvSpPr>
        <p:spPr/>
        <p:txBody>
          <a:bodyPr/>
          <a:lstStyle/>
          <a:p>
            <a:fld id="{C419EA21-EB7F-40EF-99E1-55F67308761C}" type="slidenum">
              <a:rPr lang="pt-BR" smtClean="0"/>
              <a:t>‹nº›</a:t>
            </a:fld>
            <a:endParaRPr lang="pt-BR"/>
          </a:p>
        </p:txBody>
      </p:sp>
    </p:spTree>
    <p:extLst>
      <p:ext uri="{BB962C8B-B14F-4D97-AF65-F5344CB8AC3E}">
        <p14:creationId xmlns:p14="http://schemas.microsoft.com/office/powerpoint/2010/main" val="411547620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D52715-8311-4B8A-A3BE-E4E3B3557569}"/>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D7E0DC03-0905-4EB3-84B6-DCE9C5BB546B}"/>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26F530A8-B248-4D67-BCD6-C8328F1EBC2B}"/>
              </a:ext>
            </a:extLst>
          </p:cNvPr>
          <p:cNvSpPr>
            <a:spLocks noGrp="1"/>
          </p:cNvSpPr>
          <p:nvPr>
            <p:ph type="dt" sz="half" idx="10"/>
          </p:nvPr>
        </p:nvSpPr>
        <p:spPr/>
        <p:txBody>
          <a:bodyPr/>
          <a:lstStyle/>
          <a:p>
            <a:fld id="{E7F6F257-95C5-4B14-B85D-E1A7842AA8D3}" type="datetimeFigureOut">
              <a:rPr lang="pt-BR" smtClean="0"/>
              <a:t>02/10/2026</a:t>
            </a:fld>
            <a:endParaRPr lang="pt-BR"/>
          </a:p>
        </p:txBody>
      </p:sp>
      <p:sp>
        <p:nvSpPr>
          <p:cNvPr id="5" name="Espaço Reservado para Rodapé 4">
            <a:extLst>
              <a:ext uri="{FF2B5EF4-FFF2-40B4-BE49-F238E27FC236}">
                <a16:creationId xmlns:a16="http://schemas.microsoft.com/office/drawing/2014/main" id="{89C027D7-29BE-4494-800E-0DB6DF2CDFBF}"/>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39A7BFD0-F8EE-464E-8BC8-74549142F743}"/>
              </a:ext>
            </a:extLst>
          </p:cNvPr>
          <p:cNvSpPr>
            <a:spLocks noGrp="1"/>
          </p:cNvSpPr>
          <p:nvPr>
            <p:ph type="sldNum" sz="quarter" idx="12"/>
          </p:nvPr>
        </p:nvSpPr>
        <p:spPr/>
        <p:txBody>
          <a:bodyPr/>
          <a:lstStyle/>
          <a:p>
            <a:fld id="{C419EA21-EB7F-40EF-99E1-55F67308761C}" type="slidenum">
              <a:rPr lang="pt-BR" smtClean="0"/>
              <a:t>‹nº›</a:t>
            </a:fld>
            <a:endParaRPr lang="pt-BR"/>
          </a:p>
        </p:txBody>
      </p:sp>
    </p:spTree>
    <p:extLst>
      <p:ext uri="{BB962C8B-B14F-4D97-AF65-F5344CB8AC3E}">
        <p14:creationId xmlns:p14="http://schemas.microsoft.com/office/powerpoint/2010/main" val="114529295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DFA920E-537E-4830-A14F-BDD366B5E61F}"/>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EF614335-6EAF-4F41-AD77-44AFF4C6F827}"/>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7C33318F-154B-411C-B4C1-A591AB817564}"/>
              </a:ext>
            </a:extLst>
          </p:cNvPr>
          <p:cNvSpPr>
            <a:spLocks noGrp="1"/>
          </p:cNvSpPr>
          <p:nvPr>
            <p:ph type="dt" sz="half" idx="10"/>
          </p:nvPr>
        </p:nvSpPr>
        <p:spPr/>
        <p:txBody>
          <a:bodyPr/>
          <a:lstStyle/>
          <a:p>
            <a:fld id="{E7F6F257-95C5-4B14-B85D-E1A7842AA8D3}" type="datetimeFigureOut">
              <a:rPr lang="pt-BR" smtClean="0"/>
              <a:t>02/10/2026</a:t>
            </a:fld>
            <a:endParaRPr lang="pt-BR"/>
          </a:p>
        </p:txBody>
      </p:sp>
      <p:sp>
        <p:nvSpPr>
          <p:cNvPr id="5" name="Espaço Reservado para Rodapé 4">
            <a:extLst>
              <a:ext uri="{FF2B5EF4-FFF2-40B4-BE49-F238E27FC236}">
                <a16:creationId xmlns:a16="http://schemas.microsoft.com/office/drawing/2014/main" id="{DDD5253D-13E5-4E7B-8390-4306C4B7490C}"/>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C1C9E96B-6483-4E12-86CB-DE514A634DF2}"/>
              </a:ext>
            </a:extLst>
          </p:cNvPr>
          <p:cNvSpPr>
            <a:spLocks noGrp="1"/>
          </p:cNvSpPr>
          <p:nvPr>
            <p:ph type="sldNum" sz="quarter" idx="12"/>
          </p:nvPr>
        </p:nvSpPr>
        <p:spPr/>
        <p:txBody>
          <a:bodyPr/>
          <a:lstStyle/>
          <a:p>
            <a:fld id="{C419EA21-EB7F-40EF-99E1-55F67308761C}" type="slidenum">
              <a:rPr lang="pt-BR" smtClean="0"/>
              <a:t>‹nº›</a:t>
            </a:fld>
            <a:endParaRPr lang="pt-BR"/>
          </a:p>
        </p:txBody>
      </p:sp>
    </p:spTree>
    <p:extLst>
      <p:ext uri="{BB962C8B-B14F-4D97-AF65-F5344CB8AC3E}">
        <p14:creationId xmlns:p14="http://schemas.microsoft.com/office/powerpoint/2010/main" val="10139719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빈 화면">
    <p:spTree>
      <p:nvGrpSpPr>
        <p:cNvPr id="1" name=""/>
        <p:cNvGrpSpPr/>
        <p:nvPr/>
      </p:nvGrpSpPr>
      <p:grpSpPr>
        <a:xfrm>
          <a:off x="0" y="0"/>
          <a:ext cx="0" cy="0"/>
          <a:chOff x="0" y="0"/>
          <a:chExt cx="0" cy="0"/>
        </a:xfrm>
      </p:grpSpPr>
      <p:sp>
        <p:nvSpPr>
          <p:cNvPr id="2" name="Rectangle 1"/>
          <p:cNvSpPr/>
          <p:nvPr userDrawn="1"/>
        </p:nvSpPr>
        <p:spPr>
          <a:xfrm>
            <a:off x="0" y="0"/>
            <a:ext cx="77638" cy="117319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Tree>
    <p:extLst>
      <p:ext uri="{BB962C8B-B14F-4D97-AF65-F5344CB8AC3E}">
        <p14:creationId xmlns:p14="http://schemas.microsoft.com/office/powerpoint/2010/main" val="19365070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_Slide de Título">
    <p:bg>
      <p:bgPr>
        <a:solidFill>
          <a:schemeClr val="tx1"/>
        </a:solidFill>
        <a:effectLst/>
      </p:bgPr>
    </p:bg>
    <p:spTree>
      <p:nvGrpSpPr>
        <p:cNvPr id="1" name=""/>
        <p:cNvGrpSpPr/>
        <p:nvPr/>
      </p:nvGrpSpPr>
      <p:grpSpPr>
        <a:xfrm>
          <a:off x="0" y="0"/>
          <a:ext cx="0" cy="0"/>
          <a:chOff x="0" y="0"/>
          <a:chExt cx="0" cy="0"/>
        </a:xfrm>
      </p:grpSpPr>
      <p:sp>
        <p:nvSpPr>
          <p:cNvPr id="8" name="Retângulo 7">
            <a:extLst>
              <a:ext uri="{FF2B5EF4-FFF2-40B4-BE49-F238E27FC236}">
                <a16:creationId xmlns:a16="http://schemas.microsoft.com/office/drawing/2014/main" id="{7F261BE7-44BD-484B-841A-8DABF0788830}"/>
              </a:ext>
            </a:extLst>
          </p:cNvPr>
          <p:cNvSpPr/>
          <p:nvPr userDrawn="1"/>
        </p:nvSpPr>
        <p:spPr>
          <a:xfrm>
            <a:off x="453206" y="-7575"/>
            <a:ext cx="7629249" cy="6858000"/>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tângulo 8">
            <a:extLst>
              <a:ext uri="{FF2B5EF4-FFF2-40B4-BE49-F238E27FC236}">
                <a16:creationId xmlns:a16="http://schemas.microsoft.com/office/drawing/2014/main" id="{DC0A662F-7B92-4010-8B11-B2425E4474BF}"/>
              </a:ext>
            </a:extLst>
          </p:cNvPr>
          <p:cNvSpPr/>
          <p:nvPr userDrawn="1"/>
        </p:nvSpPr>
        <p:spPr>
          <a:xfrm>
            <a:off x="0" y="-7575"/>
            <a:ext cx="6727853" cy="6858000"/>
          </a:xfrm>
          <a:prstGeom prst="rect">
            <a:avLst/>
          </a:prstGeom>
          <a:gradFill>
            <a:gsLst>
              <a:gs pos="31000">
                <a:schemeClr val="tx1"/>
              </a:gs>
              <a:gs pos="100000">
                <a:schemeClr val="tx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6" name="Espaço Reservado para Texto 24">
            <a:extLst>
              <a:ext uri="{FF2B5EF4-FFF2-40B4-BE49-F238E27FC236}">
                <a16:creationId xmlns:a16="http://schemas.microsoft.com/office/drawing/2014/main" id="{7A83DEED-C83C-4EEE-AE4C-CDB40D5EA796}"/>
              </a:ext>
            </a:extLst>
          </p:cNvPr>
          <p:cNvSpPr>
            <a:spLocks noGrp="1"/>
          </p:cNvSpPr>
          <p:nvPr>
            <p:ph type="body" sz="quarter" idx="10" hasCustomPrompt="1"/>
          </p:nvPr>
        </p:nvSpPr>
        <p:spPr>
          <a:xfrm>
            <a:off x="625413" y="1132847"/>
            <a:ext cx="10003329" cy="2036518"/>
          </a:xfrm>
        </p:spPr>
        <p:txBody>
          <a:bodyPr/>
          <a:lstStyle>
            <a:lvl1pPr>
              <a:defRPr lang="pt-BR" sz="8800" b="1" dirty="0">
                <a:solidFill>
                  <a:schemeClr val="bg1"/>
                </a:solidFill>
                <a:latin typeface="Samsung Sharp Sans Medium"/>
              </a:defRPr>
            </a:lvl1pPr>
          </a:lstStyle>
          <a:p>
            <a:pPr lvl="0"/>
            <a:r>
              <a:rPr lang="pt-BR"/>
              <a:t>Editar estilos de texto mestre</a:t>
            </a:r>
          </a:p>
        </p:txBody>
      </p:sp>
      <p:sp>
        <p:nvSpPr>
          <p:cNvPr id="28" name="Espaço Reservado para Texto 27">
            <a:extLst>
              <a:ext uri="{FF2B5EF4-FFF2-40B4-BE49-F238E27FC236}">
                <a16:creationId xmlns:a16="http://schemas.microsoft.com/office/drawing/2014/main" id="{48CB1218-9BCA-47E2-87D1-038C3B3EA051}"/>
              </a:ext>
            </a:extLst>
          </p:cNvPr>
          <p:cNvSpPr>
            <a:spLocks noGrp="1"/>
          </p:cNvSpPr>
          <p:nvPr>
            <p:ph type="body" sz="quarter" idx="11" hasCustomPrompt="1"/>
          </p:nvPr>
        </p:nvSpPr>
        <p:spPr>
          <a:xfrm>
            <a:off x="603312" y="4015842"/>
            <a:ext cx="9240754" cy="914400"/>
          </a:xfrm>
        </p:spPr>
        <p:txBody>
          <a:bodyPr>
            <a:normAutofit/>
          </a:bodyPr>
          <a:lstStyle>
            <a:lvl1pPr>
              <a:defRPr lang="pt-BR" sz="240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pt-BR"/>
              <a:t>EDITAR ESTILOS DE TEXTO MESTRE</a:t>
            </a:r>
          </a:p>
        </p:txBody>
      </p:sp>
      <p:sp>
        <p:nvSpPr>
          <p:cNvPr id="30" name="CaixaDeTexto 29">
            <a:extLst>
              <a:ext uri="{FF2B5EF4-FFF2-40B4-BE49-F238E27FC236}">
                <a16:creationId xmlns:a16="http://schemas.microsoft.com/office/drawing/2014/main" id="{51FADF5D-465B-4402-8A90-C78871EFB887}"/>
              </a:ext>
            </a:extLst>
          </p:cNvPr>
          <p:cNvSpPr txBox="1"/>
          <p:nvPr userDrawn="1"/>
        </p:nvSpPr>
        <p:spPr>
          <a:xfrm>
            <a:off x="632519" y="4439573"/>
            <a:ext cx="1307523"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1000">
                <a:solidFill>
                  <a:srgbClr val="FF0000"/>
                </a:solidFill>
                <a:latin typeface="Calibri" panose="020F0502020204030204" pitchFamily="34" charset="0"/>
                <a:ea typeface="Calibri" panose="020F0502020204030204" pitchFamily="34" charset="0"/>
                <a:cs typeface="Calibri" panose="020F0502020204030204" pitchFamily="34" charset="0"/>
              </a:rPr>
              <a:t>Material confidencial</a:t>
            </a:r>
            <a:r>
              <a:rPr lang="pt-BR" sz="1000">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55702128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Título e Conteúdo">
    <p:spTree>
      <p:nvGrpSpPr>
        <p:cNvPr id="1" name=""/>
        <p:cNvGrpSpPr/>
        <p:nvPr/>
      </p:nvGrpSpPr>
      <p:grpSpPr>
        <a:xfrm>
          <a:off x="0" y="0"/>
          <a:ext cx="0" cy="0"/>
          <a:chOff x="0" y="0"/>
          <a:chExt cx="0" cy="0"/>
        </a:xfrm>
      </p:grpSpPr>
    </p:spTree>
    <p:extLst>
      <p:ext uri="{BB962C8B-B14F-4D97-AF65-F5344CB8AC3E}">
        <p14:creationId xmlns:p14="http://schemas.microsoft.com/office/powerpoint/2010/main" val="945694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endParaRPr lang="de-DE"/>
          </a:p>
        </p:txBody>
      </p:sp>
      <p:sp>
        <p:nvSpPr>
          <p:cNvPr id="3" name="Espaço Reservado para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de-DE"/>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E51C7C-CEA3-4CAA-BE4B-344879E7C377}" type="datetimeFigureOut">
              <a:rPr lang="de-DE" smtClean="0"/>
              <a:t>02.10.2026</a:t>
            </a:fld>
            <a:endParaRPr lang="de-DE"/>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4FE2FE-B55E-4328-8F5C-2CEB8781A47B}" type="slidenum">
              <a:rPr lang="de-DE" smtClean="0"/>
              <a:t>‹nº›</a:t>
            </a:fld>
            <a:endParaRPr lang="de-DE"/>
          </a:p>
        </p:txBody>
      </p:sp>
    </p:spTree>
    <p:extLst>
      <p:ext uri="{BB962C8B-B14F-4D97-AF65-F5344CB8AC3E}">
        <p14:creationId xmlns:p14="http://schemas.microsoft.com/office/powerpoint/2010/main" val="26757469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F2B59B54-D7B7-4B01-917F-F18EB591E9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BED61331-5C18-4435-8672-62DEB0720A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B8938C24-C6D0-4E46-A48C-9A89FAC44D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F6F257-95C5-4B14-B85D-E1A7842AA8D3}" type="datetimeFigureOut">
              <a:rPr lang="pt-BR" smtClean="0"/>
              <a:t>02/10/2026</a:t>
            </a:fld>
            <a:endParaRPr lang="pt-BR"/>
          </a:p>
        </p:txBody>
      </p:sp>
      <p:sp>
        <p:nvSpPr>
          <p:cNvPr id="5" name="Espaço Reservado para Rodapé 4">
            <a:extLst>
              <a:ext uri="{FF2B5EF4-FFF2-40B4-BE49-F238E27FC236}">
                <a16:creationId xmlns:a16="http://schemas.microsoft.com/office/drawing/2014/main" id="{884C1CE2-3324-4551-9D75-39415B72BD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51F41E39-B5B5-45F1-9430-0E3A662EEC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19EA21-EB7F-40EF-99E1-55F67308761C}" type="slidenum">
              <a:rPr lang="pt-BR" smtClean="0"/>
              <a:t>‹nº›</a:t>
            </a:fld>
            <a:endParaRPr lang="pt-BR"/>
          </a:p>
        </p:txBody>
      </p:sp>
    </p:spTree>
    <p:extLst>
      <p:ext uri="{BB962C8B-B14F-4D97-AF65-F5344CB8AC3E}">
        <p14:creationId xmlns:p14="http://schemas.microsoft.com/office/powerpoint/2010/main" val="961777434"/>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5.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25.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jpe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jpeg"/><Relationship Id="rId2" Type="http://schemas.openxmlformats.org/officeDocument/2006/relationships/image" Target="../media/image24.png"/><Relationship Id="rId1" Type="http://schemas.openxmlformats.org/officeDocument/2006/relationships/slideLayout" Target="../slideLayouts/slideLayout25.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chart" Target="../charts/chart1.xml"/><Relationship Id="rId1" Type="http://schemas.openxmlformats.org/officeDocument/2006/relationships/slideLayout" Target="../slideLayouts/slideLayout12.xml"/><Relationship Id="rId6" Type="http://schemas.openxmlformats.org/officeDocument/2006/relationships/image" Target="../media/image34.jpeg"/><Relationship Id="rId5" Type="http://schemas.openxmlformats.org/officeDocument/2006/relationships/image" Target="../media/image33.jpe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36.png"/><Relationship Id="rId1" Type="http://schemas.openxmlformats.org/officeDocument/2006/relationships/slideLayout" Target="../slideLayouts/slideLayout12.xml"/><Relationship Id="rId5" Type="http://schemas.openxmlformats.org/officeDocument/2006/relationships/image" Target="../media/image13.png"/><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40.gif"/></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43.svg"/></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2.xml"/><Relationship Id="rId5" Type="http://schemas.openxmlformats.org/officeDocument/2006/relationships/image" Target="../media/image47.png"/><Relationship Id="rId4" Type="http://schemas.openxmlformats.org/officeDocument/2006/relationships/image" Target="../media/image46.png"/></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a:extLst>
              <a:ext uri="{FF2B5EF4-FFF2-40B4-BE49-F238E27FC236}">
                <a16:creationId xmlns:a16="http://schemas.microsoft.com/office/drawing/2014/main" id="{F97F56BF-1E10-42CB-8E26-71198C7562AF}"/>
              </a:ext>
            </a:extLst>
          </p:cNvPr>
          <p:cNvSpPr>
            <a:spLocks noGrp="1"/>
          </p:cNvSpPr>
          <p:nvPr>
            <p:ph type="body" sz="quarter" idx="4294967295"/>
          </p:nvPr>
        </p:nvSpPr>
        <p:spPr>
          <a:xfrm>
            <a:off x="632520" y="3050603"/>
            <a:ext cx="5848962" cy="864920"/>
          </a:xfrm>
        </p:spPr>
        <p:txBody>
          <a:bodyPr lIns="91440" tIns="45720" rIns="91440" bIns="45720" anchor="t"/>
          <a:lstStyle/>
          <a:p>
            <a:pPr marL="0" indent="0">
              <a:buNone/>
            </a:pPr>
            <a:r>
              <a:rPr lang="pt-BR" sz="4800">
                <a:solidFill>
                  <a:schemeClr val="bg1"/>
                </a:solidFill>
                <a:latin typeface="Samsung Sharp Sans Medium"/>
              </a:rPr>
              <a:t>SEDA Agosto/2026</a:t>
            </a:r>
          </a:p>
        </p:txBody>
      </p:sp>
      <p:sp>
        <p:nvSpPr>
          <p:cNvPr id="3" name="Espaço Reservado para Texto 2">
            <a:extLst>
              <a:ext uri="{FF2B5EF4-FFF2-40B4-BE49-F238E27FC236}">
                <a16:creationId xmlns:a16="http://schemas.microsoft.com/office/drawing/2014/main" id="{5FB1FE3E-3AA3-45C3-863D-ABAD6168477B}"/>
              </a:ext>
            </a:extLst>
          </p:cNvPr>
          <p:cNvSpPr>
            <a:spLocks noGrp="1"/>
          </p:cNvSpPr>
          <p:nvPr>
            <p:ph type="body" sz="quarter" idx="4294967295"/>
          </p:nvPr>
        </p:nvSpPr>
        <p:spPr>
          <a:xfrm>
            <a:off x="632519" y="4007113"/>
            <a:ext cx="3318995" cy="864920"/>
          </a:xfrm>
        </p:spPr>
        <p:txBody>
          <a:bodyPr>
            <a:normAutofit/>
          </a:bodyPr>
          <a:lstStyle/>
          <a:p>
            <a:pPr marL="0" indent="0">
              <a:buNone/>
            </a:pPr>
            <a:r>
              <a:rPr lang="pt-BR" sz="2400" err="1">
                <a:solidFill>
                  <a:schemeClr val="bg1"/>
                </a:solidFill>
                <a:latin typeface="Samsung Sharp Sans Medium"/>
              </a:rPr>
              <a:t>Report</a:t>
            </a:r>
            <a:r>
              <a:rPr lang="pt-BR" sz="2400">
                <a:solidFill>
                  <a:schemeClr val="bg1"/>
                </a:solidFill>
                <a:latin typeface="Samsung Sharp Sans Medium"/>
              </a:rPr>
              <a:t> Mensal</a:t>
            </a:r>
            <a:endParaRPr lang="pt-BR" sz="240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0" name="CaixaDeTexto 9">
            <a:extLst>
              <a:ext uri="{FF2B5EF4-FFF2-40B4-BE49-F238E27FC236}">
                <a16:creationId xmlns:a16="http://schemas.microsoft.com/office/drawing/2014/main" id="{F37388A1-457D-4EC0-8553-8D6997039A94}"/>
              </a:ext>
            </a:extLst>
          </p:cNvPr>
          <p:cNvSpPr txBox="1"/>
          <p:nvPr/>
        </p:nvSpPr>
        <p:spPr>
          <a:xfrm>
            <a:off x="632519" y="4439573"/>
            <a:ext cx="1307523" cy="246221"/>
          </a:xfrm>
          <a:prstGeom prst="rect">
            <a:avLst/>
          </a:prstGeom>
          <a:solidFill>
            <a:schemeClr val="tx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1000" err="1">
                <a:solidFill>
                  <a:srgbClr val="FF0000"/>
                </a:solidFill>
                <a:latin typeface="Calibri" panose="020F0502020204030204" pitchFamily="34" charset="0"/>
                <a:ea typeface="Calibri" panose="020F0502020204030204" pitchFamily="34" charset="0"/>
                <a:cs typeface="Calibri" panose="020F0502020204030204" pitchFamily="34" charset="0"/>
              </a:rPr>
              <a:t>Confidential</a:t>
            </a:r>
            <a:r>
              <a:rPr lang="pt-BR" sz="1000">
                <a:solidFill>
                  <a:srgbClr val="FF0000"/>
                </a:solidFill>
                <a:latin typeface="Calibri" panose="020F0502020204030204" pitchFamily="34" charset="0"/>
                <a:ea typeface="Calibri" panose="020F0502020204030204" pitchFamily="34" charset="0"/>
                <a:cs typeface="Calibri" panose="020F0502020204030204" pitchFamily="34" charset="0"/>
              </a:rPr>
              <a:t> material</a:t>
            </a:r>
            <a:endParaRPr lang="pt-BR" sz="100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984565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2E8EC-C447-9E87-E5B9-FCB512D3B0C5}"/>
            </a:ext>
          </a:extLst>
        </p:cNvPr>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D8FFAB82-DE0A-7F3E-898B-51F759FBBD9A}"/>
              </a:ext>
            </a:extLst>
          </p:cNvPr>
          <p:cNvSpPr>
            <a:spLocks noGrp="1"/>
          </p:cNvSpPr>
          <p:nvPr>
            <p:ph type="body" sz="quarter" idx="4294967295"/>
          </p:nvPr>
        </p:nvSpPr>
        <p:spPr>
          <a:xfrm>
            <a:off x="463186" y="3122649"/>
            <a:ext cx="3318995" cy="864920"/>
          </a:xfrm>
        </p:spPr>
        <p:txBody>
          <a:bodyPr lIns="91440" tIns="45720" rIns="91440" bIns="45720" anchor="t">
            <a:normAutofit/>
          </a:bodyPr>
          <a:lstStyle/>
          <a:p>
            <a:pPr marL="0" indent="0">
              <a:buNone/>
            </a:pPr>
            <a:r>
              <a:rPr lang="pt-BR" sz="2400">
                <a:solidFill>
                  <a:schemeClr val="bg1"/>
                </a:solidFill>
                <a:latin typeface="Samsung Sharp Sans Medium"/>
              </a:rPr>
              <a:t>SUMÁRIO</a:t>
            </a:r>
            <a:endParaRPr lang="pt-BR"/>
          </a:p>
        </p:txBody>
      </p:sp>
      <p:sp>
        <p:nvSpPr>
          <p:cNvPr id="4" name="Retângulo 3">
            <a:extLst>
              <a:ext uri="{FF2B5EF4-FFF2-40B4-BE49-F238E27FC236}">
                <a16:creationId xmlns:a16="http://schemas.microsoft.com/office/drawing/2014/main" id="{F335C486-4E81-B495-88CE-7913F45B2ED4}"/>
              </a:ext>
            </a:extLst>
          </p:cNvPr>
          <p:cNvSpPr/>
          <p:nvPr/>
        </p:nvSpPr>
        <p:spPr>
          <a:xfrm>
            <a:off x="685800" y="4151085"/>
            <a:ext cx="1186541" cy="9143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pt-BR"/>
          </a:p>
        </p:txBody>
      </p:sp>
      <p:cxnSp>
        <p:nvCxnSpPr>
          <p:cNvPr id="5" name="Conector de Seta Reta 4">
            <a:extLst>
              <a:ext uri="{FF2B5EF4-FFF2-40B4-BE49-F238E27FC236}">
                <a16:creationId xmlns:a16="http://schemas.microsoft.com/office/drawing/2014/main" id="{1C73323E-B19D-2813-3490-287DABF2393A}"/>
              </a:ext>
            </a:extLst>
          </p:cNvPr>
          <p:cNvCxnSpPr/>
          <p:nvPr/>
        </p:nvCxnSpPr>
        <p:spPr>
          <a:xfrm>
            <a:off x="2174939" y="1338985"/>
            <a:ext cx="16328" cy="4443184"/>
          </a:xfrm>
          <a:prstGeom prst="straightConnector1">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CaixaDeTexto 8">
            <a:extLst>
              <a:ext uri="{FF2B5EF4-FFF2-40B4-BE49-F238E27FC236}">
                <a16:creationId xmlns:a16="http://schemas.microsoft.com/office/drawing/2014/main" id="{4C2B3914-012E-E473-0152-6DD4F1861EAF}"/>
              </a:ext>
            </a:extLst>
          </p:cNvPr>
          <p:cNvSpPr txBox="1"/>
          <p:nvPr/>
        </p:nvSpPr>
        <p:spPr>
          <a:xfrm>
            <a:off x="2369813" y="1389596"/>
            <a:ext cx="10128791" cy="4050771"/>
          </a:xfrm>
          <a:prstGeom prst="rect">
            <a:avLst/>
          </a:prstGeom>
        </p:spPr>
        <p:txBody>
          <a:bodyPr vert="horz" lIns="75733" tIns="37866" rIns="75733" bIns="37866" rtlCol="0" anchor="t">
            <a:noAutofit/>
          </a:bodyPr>
          <a:lstStyle>
            <a:defPPr>
              <a:defRPr lang="de-DE"/>
            </a:defPPr>
            <a:lvl1pPr defTabSz="912114">
              <a:lnSpc>
                <a:spcPct val="90000"/>
              </a:lnSpc>
              <a:spcBef>
                <a:spcPct val="0"/>
              </a:spcBef>
              <a:defRPr b="1">
                <a:solidFill>
                  <a:srgbClr val="000000"/>
                </a:solidFill>
                <a:ea typeface="Roboto Black"/>
                <a:cs typeface="SamsungSharpSans-Bold" pitchFamily="2" charset="0"/>
              </a:defRPr>
            </a:lvl1pPr>
            <a:lvl2pPr marL="273395"/>
            <a:lvl3pPr marL="546791"/>
            <a:lvl4pPr marL="820186"/>
            <a:lvl5pPr marL="1093583"/>
            <a:lvl6pPr marL="1366978"/>
            <a:lvl7pPr marL="1640371"/>
            <a:lvl8pPr marL="1913769"/>
            <a:lvl9pPr marL="2187164"/>
          </a:lstStyle>
          <a:p>
            <a:pPr>
              <a:lnSpc>
                <a:spcPct val="250000"/>
              </a:lnSpc>
              <a:defRPr/>
            </a:pPr>
            <a:r>
              <a:rPr lang="pt-BR" b="0" kern="0">
                <a:solidFill>
                  <a:srgbClr val="FFFFFF"/>
                </a:solidFill>
              </a:rPr>
              <a:t>OVERALL</a:t>
            </a:r>
          </a:p>
          <a:p>
            <a:pPr>
              <a:lnSpc>
                <a:spcPct val="250000"/>
              </a:lnSpc>
              <a:defRPr/>
            </a:pPr>
            <a:r>
              <a:rPr lang="pt-BR" b="0" kern="0">
                <a:solidFill>
                  <a:srgbClr val="FFFFFF"/>
                </a:solidFill>
              </a:rPr>
              <a:t>GROWTH </a:t>
            </a:r>
            <a:endParaRPr lang="pt-BR"/>
          </a:p>
          <a:p>
            <a:pPr>
              <a:lnSpc>
                <a:spcPct val="250000"/>
              </a:lnSpc>
              <a:defRPr/>
            </a:pPr>
            <a:r>
              <a:rPr lang="pt-BR" b="0" kern="0">
                <a:solidFill>
                  <a:srgbClr val="FFFFFF"/>
                </a:solidFill>
              </a:rPr>
              <a:t>GTM</a:t>
            </a:r>
          </a:p>
          <a:p>
            <a:pPr>
              <a:lnSpc>
                <a:spcPct val="250000"/>
              </a:lnSpc>
              <a:defRPr/>
            </a:pPr>
            <a:r>
              <a:rPr lang="pt-BR" b="0" kern="0">
                <a:solidFill>
                  <a:srgbClr val="FFFFFF"/>
                </a:solidFill>
              </a:rPr>
              <a:t>TRIGGERS</a:t>
            </a:r>
          </a:p>
          <a:p>
            <a:pPr>
              <a:lnSpc>
                <a:spcPct val="250000"/>
              </a:lnSpc>
              <a:defRPr/>
            </a:pPr>
            <a:r>
              <a:rPr lang="pt-BR" b="0" kern="0">
                <a:solidFill>
                  <a:srgbClr val="FFFFFF"/>
                </a:solidFill>
              </a:rPr>
              <a:t>EPP</a:t>
            </a:r>
          </a:p>
          <a:p>
            <a:pPr>
              <a:lnSpc>
                <a:spcPct val="250000"/>
              </a:lnSpc>
              <a:defRPr/>
            </a:pPr>
            <a:r>
              <a:rPr lang="pt-BR" b="0" kern="0">
                <a:solidFill>
                  <a:srgbClr val="FFFFFF"/>
                </a:solidFill>
              </a:rPr>
              <a:t>HIGHLIGHTS &amp; NEXT STEPS</a:t>
            </a:r>
          </a:p>
        </p:txBody>
      </p:sp>
    </p:spTree>
    <p:extLst>
      <p:ext uri="{BB962C8B-B14F-4D97-AF65-F5344CB8AC3E}">
        <p14:creationId xmlns:p14="http://schemas.microsoft.com/office/powerpoint/2010/main" val="338337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heil-Logo(black).png" descr="Cheil-Logo(black).png">
            <a:extLst>
              <a:ext uri="{FF2B5EF4-FFF2-40B4-BE49-F238E27FC236}">
                <a16:creationId xmlns:a16="http://schemas.microsoft.com/office/drawing/2014/main" id="{DF344D88-4EA9-4E92-ADF7-61B55EE4B848}"/>
              </a:ext>
            </a:extLst>
          </p:cNvPr>
          <p:cNvPicPr>
            <a:picLocks noChangeAspect="1"/>
          </p:cNvPicPr>
          <p:nvPr/>
        </p:nvPicPr>
        <p:blipFill>
          <a:blip r:embed="rId2"/>
          <a:stretch>
            <a:fillRect/>
          </a:stretch>
        </p:blipFill>
        <p:spPr>
          <a:xfrm>
            <a:off x="254148" y="6329579"/>
            <a:ext cx="655342" cy="290146"/>
          </a:xfrm>
          <a:prstGeom prst="rect">
            <a:avLst/>
          </a:prstGeom>
          <a:ln w="12700">
            <a:miter lim="400000"/>
          </a:ln>
        </p:spPr>
      </p:pic>
      <p:sp>
        <p:nvSpPr>
          <p:cNvPr id="5" name="Galaxy A06…">
            <a:extLst>
              <a:ext uri="{FF2B5EF4-FFF2-40B4-BE49-F238E27FC236}">
                <a16:creationId xmlns:a16="http://schemas.microsoft.com/office/drawing/2014/main" id="{3C75C3A0-FAE2-4BE8-B90C-87B911D7AE60}"/>
              </a:ext>
            </a:extLst>
          </p:cNvPr>
          <p:cNvSpPr txBox="1"/>
          <p:nvPr/>
        </p:nvSpPr>
        <p:spPr>
          <a:xfrm>
            <a:off x="1061304" y="3079994"/>
            <a:ext cx="7392413" cy="69801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45719" tIns="45719" rIns="45719" bIns="45719" anchor="ctr">
            <a:spAutoFit/>
          </a:bodyPr>
          <a:lstStyle>
            <a:lvl1pPr defTabSz="1828800">
              <a:lnSpc>
                <a:spcPct val="80000"/>
              </a:lnSpc>
              <a:spcBef>
                <a:spcPts val="0"/>
              </a:spcBef>
              <a:defRPr sz="15000" spc="-450">
                <a:solidFill>
                  <a:srgbClr val="FFFFFF"/>
                </a:solidFill>
                <a:latin typeface="SamsungSharpSans-Medium"/>
                <a:ea typeface="SamsungSharpSans-Medium"/>
                <a:cs typeface="SamsungSharpSans-Medium"/>
                <a:sym typeface="SamsungSharpSans-Medium"/>
              </a:defRPr>
            </a:lvl1pPr>
          </a:lstStyle>
          <a:p>
            <a:pPr marL="0" marR="0" lvl="0" indent="0" defTabSz="1828800" eaLnBrk="1" fontAlgn="auto" latinLnBrk="0" hangingPunct="0">
              <a:lnSpc>
                <a:spcPct val="80000"/>
              </a:lnSpc>
              <a:spcBef>
                <a:spcPts val="0"/>
              </a:spcBef>
              <a:spcAft>
                <a:spcPts val="0"/>
              </a:spcAft>
              <a:buClrTx/>
              <a:buSzTx/>
              <a:buFontTx/>
              <a:buNone/>
              <a:tabLst/>
              <a:defRPr/>
            </a:pPr>
            <a:r>
              <a:rPr kumimoji="0" lang="pt-BR" sz="4800" b="0" i="0" u="none" strike="noStrike" kern="0" cap="none" spc="0" normalizeH="0" baseline="0" noProof="0">
                <a:ln>
                  <a:noFill/>
                </a:ln>
                <a:solidFill>
                  <a:srgbClr val="FFFFFF"/>
                </a:solidFill>
                <a:effectLst/>
                <a:uLnTx/>
                <a:uFillTx/>
                <a:latin typeface="SamsungSharpSans-Medium"/>
                <a:ea typeface="SamsungSharpSans-Medium"/>
                <a:cs typeface="SamsungSharpSans-Medium"/>
                <a:sym typeface="SamsungSharpSans-Medium"/>
              </a:rPr>
              <a:t>GENERAL</a:t>
            </a:r>
          </a:p>
        </p:txBody>
      </p:sp>
    </p:spTree>
    <p:extLst>
      <p:ext uri="{BB962C8B-B14F-4D97-AF65-F5344CB8AC3E}">
        <p14:creationId xmlns:p14="http://schemas.microsoft.com/office/powerpoint/2010/main" val="7993587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333;p27">
            <a:extLst>
              <a:ext uri="{FF2B5EF4-FFF2-40B4-BE49-F238E27FC236}">
                <a16:creationId xmlns:a16="http://schemas.microsoft.com/office/drawing/2014/main" id="{992F8D9B-669F-495B-B688-5D5CE1F7AB01}"/>
              </a:ext>
            </a:extLst>
          </p:cNvPr>
          <p:cNvSpPr/>
          <p:nvPr/>
        </p:nvSpPr>
        <p:spPr>
          <a:xfrm>
            <a:off x="207355" y="556402"/>
            <a:ext cx="11912938" cy="444743"/>
          </a:xfrm>
          <a:prstGeom prst="roundRect">
            <a:avLst>
              <a:gd name="adj" fmla="val 0"/>
            </a:avLst>
          </a:prstGeom>
          <a:noFill/>
          <a:ln w="9525" cap="flat" cmpd="sng">
            <a:noFill/>
            <a:prstDash val="solid"/>
            <a:round/>
            <a:headEnd type="none" w="sm" len="sm"/>
            <a:tailEnd type="none" w="sm" len="sm"/>
          </a:ln>
        </p:spPr>
        <p:txBody>
          <a:bodyPr spcFirstLastPara="1" wrap="square" lIns="72000" tIns="36000" rIns="72000" bIns="36000" anchor="t" anchorCtr="0">
            <a:noAutofit/>
          </a:bodyPr>
          <a:lstStyle>
            <a:defPPr marL="0" marR="0" indent="0" algn="l" defTabSz="914400" rtl="0" fontAlgn="auto" latinLnBrk="1" hangingPunct="0">
              <a:lnSpc>
                <a:spcPct val="100000"/>
              </a:lnSpc>
              <a:spcBef>
                <a:spcPts val="0"/>
              </a:spcBef>
              <a:spcAft>
                <a:spcPts val="0"/>
              </a:spcAft>
              <a:buClrTx/>
              <a:buSzTx/>
              <a:buFontTx/>
              <a:buNone/>
              <a:tabLst/>
              <a:defRPr kumimoji="0" lang="de-DE" sz="1800" b="0" i="0" u="none" strike="noStrike" cap="none" spc="0" normalizeH="0" baseline="0">
                <a:ln>
                  <a:noFill/>
                </a:ln>
                <a:solidFill>
                  <a:srgbClr val="000000"/>
                </a:solidFill>
                <a:effectLst/>
                <a:uFillTx/>
              </a:defRPr>
            </a:defPPr>
            <a:lvl1pPr marL="0" marR="0" indent="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1pPr>
            <a:lvl2pPr marL="0" marR="0" indent="4572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2pPr>
            <a:lvl3pPr marL="0" marR="0" indent="9144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3pPr>
            <a:lvl4pPr marL="0" marR="0" indent="13716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4pPr>
            <a:lvl5pPr marL="0" marR="0" indent="18288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5pPr>
            <a:lvl6pPr marL="0" marR="0" indent="22860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6pPr>
            <a:lvl7pPr marL="0" marR="0" indent="27432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7pPr>
            <a:lvl8pPr marL="0" marR="0" indent="32004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8pPr>
            <a:lvl9pPr marL="0" marR="0" indent="36576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9pPr>
          </a:lstStyle>
          <a:p>
            <a:pPr marL="0" marR="0" lvl="0" indent="0" defTabSz="912114" rtl="0" eaLnBrk="1" fontAlgn="auto" latinLnBrk="0" hangingPunct="1">
              <a:lnSpc>
                <a:spcPct val="100000"/>
              </a:lnSpc>
              <a:spcBef>
                <a:spcPts val="0"/>
              </a:spcBef>
              <a:spcAft>
                <a:spcPts val="0"/>
              </a:spcAft>
              <a:buClrTx/>
              <a:buSzTx/>
              <a:buFontTx/>
              <a:buNone/>
              <a:tabLst/>
              <a:defRPr/>
            </a:pPr>
            <a:r>
              <a:rPr lang="en-US" sz="1100">
                <a:latin typeface="Roboto" panose="02000000000000000000" pitchFamily="2" charset="0"/>
                <a:ea typeface="Roboto" panose="02000000000000000000" pitchFamily="2" charset="0"/>
              </a:rPr>
              <a:t>August</a:t>
            </a:r>
            <a:r>
              <a:rPr kumimoji="0" lang="en-US" sz="11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sym typeface="SamsungOne 400"/>
              </a:rPr>
              <a:t> reached R$</a:t>
            </a:r>
            <a:r>
              <a:rPr lang="en-US" sz="1100">
                <a:latin typeface="Roboto" panose="02000000000000000000" pitchFamily="2" charset="0"/>
                <a:ea typeface="Roboto" panose="02000000000000000000" pitchFamily="2" charset="0"/>
              </a:rPr>
              <a:t>7.8</a:t>
            </a:r>
            <a:r>
              <a:rPr kumimoji="0" lang="en-US" sz="11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sym typeface="SamsungOne 400"/>
              </a:rPr>
              <a:t>M and </a:t>
            </a:r>
            <a:r>
              <a:rPr lang="en-US" sz="1100">
                <a:latin typeface="Roboto" panose="02000000000000000000" pitchFamily="2" charset="0"/>
                <a:ea typeface="Roboto" panose="02000000000000000000" pitchFamily="2" charset="0"/>
              </a:rPr>
              <a:t>2.01</a:t>
            </a:r>
            <a:r>
              <a:rPr kumimoji="0" lang="en-US" sz="11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sym typeface="SamsungOne 400"/>
              </a:rPr>
              <a:t> G/R, driven by Growth at </a:t>
            </a:r>
            <a:r>
              <a:rPr lang="en-US" sz="1100">
                <a:latin typeface="Roboto" panose="02000000000000000000" pitchFamily="2" charset="0"/>
                <a:ea typeface="Roboto" panose="02000000000000000000" pitchFamily="2" charset="0"/>
              </a:rPr>
              <a:t>2</a:t>
            </a:r>
            <a:r>
              <a:rPr kumimoji="0" lang="en-US" sz="11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sym typeface="SamsungOne 400"/>
              </a:rPr>
              <a:t>.85 G/R and supported by Triggers at 1.63 G/R, while GTM remained in Q8H8B8’s demand-building phase.</a:t>
            </a:r>
            <a:br>
              <a:rPr kumimoji="0" lang="en-US" sz="11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sym typeface="SamsungOne 400"/>
              </a:rPr>
            </a:br>
            <a:r>
              <a:rPr kumimoji="0" lang="en-US" sz="11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sym typeface="SamsungOne 400"/>
              </a:rPr>
              <a:t>Monthly context: W32 peaked with </a:t>
            </a:r>
            <a:r>
              <a:rPr lang="en-US" sz="1100">
                <a:latin typeface="Roboto" panose="02000000000000000000" pitchFamily="2" charset="0"/>
                <a:ea typeface="Roboto" panose="02000000000000000000" pitchFamily="2" charset="0"/>
              </a:rPr>
              <a:t>Father’s Day</a:t>
            </a:r>
            <a:r>
              <a:rPr kumimoji="0" lang="en-US" sz="11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sym typeface="SamsungOne 400"/>
              </a:rPr>
              <a:t> and W34 with Live Commerce; other weeks were softer, but deliveries showed some growth.</a:t>
            </a:r>
            <a:endParaRPr kumimoji="0" lang="en-US" sz="10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a:sym typeface="SamsungOne 400"/>
            </a:endParaRPr>
          </a:p>
        </p:txBody>
      </p:sp>
      <p:sp>
        <p:nvSpPr>
          <p:cNvPr id="8" name="Título 1">
            <a:extLst>
              <a:ext uri="{FF2B5EF4-FFF2-40B4-BE49-F238E27FC236}">
                <a16:creationId xmlns:a16="http://schemas.microsoft.com/office/drawing/2014/main" id="{73E27C1D-2941-45C9-A11E-FBEC3CA2B6F2}"/>
              </a:ext>
            </a:extLst>
          </p:cNvPr>
          <p:cNvSpPr txBox="1"/>
          <p:nvPr/>
        </p:nvSpPr>
        <p:spPr>
          <a:xfrm>
            <a:off x="207355" y="48818"/>
            <a:ext cx="8453563" cy="483772"/>
          </a:xfrm>
          <a:prstGeom prst="rect">
            <a:avLst/>
          </a:prstGeom>
          <a:noFill/>
          <a:ln cap="flat">
            <a:noFill/>
          </a:ln>
        </p:spPr>
        <p:txBody>
          <a:bodyPr vert="horz" wrap="square" lIns="75730" tIns="37865" rIns="75730" bIns="37865" anchor="ctr" anchorCtr="0" compatLnSpc="1">
            <a:noAutofit/>
          </a:bodyPr>
          <a:lstStyle/>
          <a:p>
            <a:pPr marL="0" marR="0" lvl="0" indent="0" algn="l" defTabSz="914400" rtl="0" eaLnBrk="1" fontAlgn="auto" latinLnBrk="0" hangingPunct="1">
              <a:lnSpc>
                <a:spcPct val="90000"/>
              </a:lnSpc>
              <a:spcBef>
                <a:spcPts val="0"/>
              </a:spcBef>
              <a:spcAft>
                <a:spcPts val="0"/>
              </a:spcAft>
              <a:buClrTx/>
              <a:buSzTx/>
              <a:buFontTx/>
              <a:buNone/>
              <a:tabLst/>
              <a:defRPr sz="1800" b="0" i="0" u="none" strike="noStrike" kern="0" cap="none" spc="0" baseline="0">
                <a:solidFill>
                  <a:srgbClr val="000000"/>
                </a:solidFill>
                <a:uFillTx/>
              </a:defRPr>
            </a:pPr>
            <a:r>
              <a:rPr kumimoji="0" lang="en-GB" sz="2000" b="1" i="0" u="none" strike="noStrike" kern="0" cap="none" spc="0" normalizeH="0" baseline="0" noProof="0">
                <a:ln>
                  <a:noFill/>
                </a:ln>
                <a:solidFill>
                  <a:srgbClr val="000000"/>
                </a:solidFill>
                <a:effectLst/>
                <a:uLnTx/>
                <a:uFillTx/>
                <a:latin typeface="Roboto"/>
                <a:ea typeface="Roboto"/>
                <a:cs typeface="Samsung Sharp Sans Bold" pitchFamily="2"/>
              </a:rPr>
              <a:t>BIG NUMBERS</a:t>
            </a:r>
            <a:r>
              <a:rPr kumimoji="0" lang="en-GB" sz="2000" b="1" i="0" u="none" strike="noStrike" kern="1200" cap="none" spc="0" normalizeH="0" baseline="0" noProof="0">
                <a:ln>
                  <a:noFill/>
                </a:ln>
                <a:solidFill>
                  <a:srgbClr val="000000"/>
                </a:solidFill>
                <a:effectLst/>
                <a:uLnTx/>
                <a:uFillTx/>
                <a:latin typeface="Roboto"/>
                <a:ea typeface="Roboto"/>
                <a:cs typeface="Samsung Sharp Sans Bold" pitchFamily="2"/>
              </a:rPr>
              <a:t> | </a:t>
            </a:r>
            <a:r>
              <a:rPr kumimoji="0" lang="en-GB" sz="2000" b="1" i="0" u="none" strike="noStrike" kern="0" cap="none" spc="0" normalizeH="0" baseline="0" noProof="0">
                <a:ln>
                  <a:noFill/>
                </a:ln>
                <a:solidFill>
                  <a:srgbClr val="1428A0"/>
                </a:solidFill>
                <a:effectLst/>
                <a:uLnTx/>
                <a:uFillTx/>
                <a:latin typeface="Roboto"/>
                <a:ea typeface="Roboto"/>
                <a:cs typeface="Samsung Sharp Sans Bold" pitchFamily="2"/>
              </a:rPr>
              <a:t>Overview</a:t>
            </a:r>
            <a:r>
              <a:rPr kumimoji="0" lang="en-GB" sz="2000" b="1" i="0" u="none" strike="noStrike" kern="1200" cap="none" spc="0" normalizeH="0" baseline="0" noProof="0">
                <a:ln>
                  <a:noFill/>
                </a:ln>
                <a:solidFill>
                  <a:srgbClr val="1428A0"/>
                </a:solidFill>
                <a:effectLst/>
                <a:uLnTx/>
                <a:uFillTx/>
                <a:latin typeface="Roboto"/>
                <a:ea typeface="Roboto"/>
                <a:cs typeface="Samsung Sharp Sans Bold" pitchFamily="2"/>
              </a:rPr>
              <a:t> 2026</a:t>
            </a:r>
          </a:p>
        </p:txBody>
      </p:sp>
      <p:grpSp>
        <p:nvGrpSpPr>
          <p:cNvPr id="3" name="Agrupar 2">
            <a:extLst>
              <a:ext uri="{FF2B5EF4-FFF2-40B4-BE49-F238E27FC236}">
                <a16:creationId xmlns:a16="http://schemas.microsoft.com/office/drawing/2014/main" id="{6AC5C21F-E273-456C-881E-52F8364B2630}"/>
              </a:ext>
            </a:extLst>
          </p:cNvPr>
          <p:cNvGrpSpPr/>
          <p:nvPr/>
        </p:nvGrpSpPr>
        <p:grpSpPr>
          <a:xfrm>
            <a:off x="71129" y="992549"/>
            <a:ext cx="1394659" cy="4532865"/>
            <a:chOff x="71129" y="992549"/>
            <a:chExt cx="1394659" cy="4532865"/>
          </a:xfrm>
        </p:grpSpPr>
        <p:sp>
          <p:nvSpPr>
            <p:cNvPr id="12" name="Retângulo 11">
              <a:extLst>
                <a:ext uri="{FF2B5EF4-FFF2-40B4-BE49-F238E27FC236}">
                  <a16:creationId xmlns:a16="http://schemas.microsoft.com/office/drawing/2014/main" id="{E829A6C2-ACCB-4ECD-9042-B1C806E1AA10}"/>
                </a:ext>
              </a:extLst>
            </p:cNvPr>
            <p:cNvSpPr/>
            <p:nvPr/>
          </p:nvSpPr>
          <p:spPr>
            <a:xfrm>
              <a:off x="71129" y="1111174"/>
              <a:ext cx="1394659" cy="441424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CaixaDeTexto 12">
              <a:extLst>
                <a:ext uri="{FF2B5EF4-FFF2-40B4-BE49-F238E27FC236}">
                  <a16:creationId xmlns:a16="http://schemas.microsoft.com/office/drawing/2014/main" id="{8B97897A-FCCF-466B-A534-1AF5C4ADA16A}"/>
                </a:ext>
              </a:extLst>
            </p:cNvPr>
            <p:cNvSpPr txBox="1"/>
            <p:nvPr/>
          </p:nvSpPr>
          <p:spPr>
            <a:xfrm>
              <a:off x="146536" y="992549"/>
              <a:ext cx="1243843" cy="238318"/>
            </a:xfrm>
            <a:prstGeom prst="rect">
              <a:avLst/>
            </a:prstGeom>
            <a:solidFill>
              <a:sysClr val="window" lastClr="FFFFFF"/>
            </a:solidFill>
          </p:spPr>
          <p:txBody>
            <a:bodyPr wrap="square" lIns="91440" tIns="45720" rIns="91440" bIns="4572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kern="0">
                  <a:solidFill>
                    <a:srgbClr val="002060"/>
                  </a:solidFill>
                  <a:latin typeface="Samsung Sharp Sans Bold" panose="02000503000000020004"/>
                </a:rPr>
                <a:t>Aug’25</a:t>
              </a:r>
              <a:r>
                <a:rPr kumimoji="0" lang="en-US" sz="1400" b="1" i="0" u="none" strike="noStrike" kern="0" cap="none" spc="0" normalizeH="0" baseline="0" noProof="0">
                  <a:ln>
                    <a:noFill/>
                  </a:ln>
                  <a:solidFill>
                    <a:srgbClr val="002060"/>
                  </a:solidFill>
                  <a:effectLst/>
                  <a:uLnTx/>
                  <a:uFillTx/>
                  <a:latin typeface="Samsung Sharp Sans Bold" panose="02000503000000020004"/>
                  <a:ea typeface="+mn-ea"/>
                  <a:cs typeface="+mn-cs"/>
                </a:rPr>
                <a:t> x ’26</a:t>
              </a:r>
            </a:p>
          </p:txBody>
        </p:sp>
        <p:sp>
          <p:nvSpPr>
            <p:cNvPr id="2" name="Retângulo: Cantos Arredondados 1">
              <a:extLst>
                <a:ext uri="{FF2B5EF4-FFF2-40B4-BE49-F238E27FC236}">
                  <a16:creationId xmlns:a16="http://schemas.microsoft.com/office/drawing/2014/main" id="{9A246FAD-33F0-42BF-9FD0-F9711A670FCC}"/>
                </a:ext>
              </a:extLst>
            </p:cNvPr>
            <p:cNvSpPr/>
            <p:nvPr/>
          </p:nvSpPr>
          <p:spPr>
            <a:xfrm>
              <a:off x="226848" y="1322129"/>
              <a:ext cx="1083218" cy="913045"/>
            </a:xfrm>
            <a:prstGeom prst="roundRect">
              <a:avLst>
                <a:gd name="adj" fmla="val 9708"/>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Revenue</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61799"/>
                  </a:solidFill>
                  <a:effectLst/>
                  <a:uLnTx/>
                  <a:uFillTx/>
                  <a:latin typeface="Roboto"/>
                  <a:ea typeface="Roboto"/>
                  <a:cs typeface="Roboto"/>
                </a:rPr>
                <a:t>R$ </a:t>
              </a:r>
              <a:r>
                <a:rPr lang="en-US" sz="1600" b="1">
                  <a:solidFill>
                    <a:srgbClr val="061799"/>
                  </a:solidFill>
                  <a:latin typeface="Roboto"/>
                  <a:ea typeface="Roboto"/>
                  <a:cs typeface="Roboto"/>
                </a:rPr>
                <a:t>7,8M</a:t>
              </a:r>
              <a:endParaRPr lang="en-US" sz="160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Roboto"/>
              </a:endParaRPr>
            </a:p>
            <a:p>
              <a:pPr marL="0" marR="0" lvl="0" indent="0" algn="ctr" defTabSz="914400" rtl="0" eaLnBrk="1" fontAlgn="auto" latinLnBrk="0" hangingPunct="1">
                <a:lnSpc>
                  <a:spcPct val="100000"/>
                </a:lnSpc>
                <a:spcBef>
                  <a:spcPts val="600"/>
                </a:spcBef>
                <a:spcAft>
                  <a:spcPts val="0"/>
                </a:spcAft>
                <a:buClrTx/>
                <a:buSzTx/>
                <a:buFontTx/>
                <a:buNone/>
                <a:tabLst/>
                <a:defRPr/>
              </a:pPr>
              <a:r>
                <a:rPr lang="en-US" sz="1100" b="1">
                  <a:solidFill>
                    <a:prstClr val="black"/>
                  </a:solidFill>
                  <a:latin typeface="Roboto"/>
                  <a:ea typeface="Roboto"/>
                  <a:cs typeface="Roboto"/>
                </a:rPr>
                <a:t>2.01</a:t>
              </a:r>
              <a:r>
                <a:rPr kumimoji="0" lang="en-US" sz="1100" b="1" i="0" u="none" strike="noStrike" kern="1200" cap="none" spc="0" normalizeH="0" baseline="0" noProof="0">
                  <a:ln>
                    <a:noFill/>
                  </a:ln>
                  <a:solidFill>
                    <a:prstClr val="black"/>
                  </a:solidFill>
                  <a:effectLst/>
                  <a:uLnTx/>
                  <a:uFillTx/>
                  <a:latin typeface="Roboto"/>
                  <a:ea typeface="Roboto"/>
                  <a:cs typeface="Roboto"/>
                </a:rPr>
                <a:t> G/R</a:t>
              </a:r>
              <a:endParaRPr lang="en-US" sz="1100" b="1" i="0" u="none" strike="noStrike" kern="1200" cap="none" spc="0" normalizeH="0" baseline="0" noProof="0">
                <a:ln>
                  <a:noFill/>
                </a:ln>
                <a:solidFill>
                  <a:prstClr val="black"/>
                </a:solidFill>
                <a:effectLst/>
                <a:uLnTx/>
                <a:uFillTx/>
                <a:latin typeface="Roboto"/>
                <a:ea typeface="Roboto"/>
                <a:cs typeface="Roboto"/>
              </a:endParaRPr>
            </a:p>
          </p:txBody>
        </p:sp>
        <p:sp>
          <p:nvSpPr>
            <p:cNvPr id="20" name="Retângulo: Cantos Arredondados 19">
              <a:extLst>
                <a:ext uri="{FF2B5EF4-FFF2-40B4-BE49-F238E27FC236}">
                  <a16:creationId xmlns:a16="http://schemas.microsoft.com/office/drawing/2014/main" id="{0A374B48-0A21-4ACB-A5D6-9BA0D850D1CD}"/>
                </a:ext>
              </a:extLst>
            </p:cNvPr>
            <p:cNvSpPr/>
            <p:nvPr/>
          </p:nvSpPr>
          <p:spPr>
            <a:xfrm>
              <a:off x="226848" y="2304755"/>
              <a:ext cx="1083218" cy="3095920"/>
            </a:xfrm>
            <a:prstGeom prst="roundRect">
              <a:avLst>
                <a:gd name="adj" fmla="val 9708"/>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45720" rIns="36000" bIns="45720"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Pillars</a:t>
              </a:r>
            </a:p>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05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GROWTH</a:t>
              </a: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600" b="1" i="0" u="none" strike="noStrike" kern="1200" cap="none" spc="0" normalizeH="0" baseline="0" noProof="0">
                  <a:ln>
                    <a:noFill/>
                  </a:ln>
                  <a:solidFill>
                    <a:srgbClr val="061799"/>
                  </a:solidFill>
                  <a:effectLst/>
                  <a:uLnTx/>
                  <a:uFillTx/>
                  <a:latin typeface="Roboto"/>
                  <a:ea typeface="Roboto"/>
                  <a:cs typeface="Roboto"/>
                </a:rPr>
                <a:t>R$ </a:t>
              </a:r>
              <a:r>
                <a:rPr lang="en-US" sz="1600" b="1">
                  <a:solidFill>
                    <a:srgbClr val="061799"/>
                  </a:solidFill>
                  <a:latin typeface="Roboto"/>
                  <a:ea typeface="Roboto"/>
                  <a:cs typeface="Roboto"/>
                </a:rPr>
                <a:t>2,85M</a:t>
              </a:r>
              <a:endParaRPr lang="en-US" sz="160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Roboto"/>
              </a:endParaRPr>
            </a:p>
            <a:p>
              <a:pPr marL="0" marR="0" lvl="0" indent="0" algn="ctr" defTabSz="914400" rtl="0" eaLnBrk="1" fontAlgn="auto" latinLnBrk="0" hangingPunct="1">
                <a:lnSpc>
                  <a:spcPct val="100000"/>
                </a:lnSpc>
                <a:spcBef>
                  <a:spcPts val="200"/>
                </a:spcBef>
                <a:spcAft>
                  <a:spcPts val="0"/>
                </a:spcAft>
                <a:buClrTx/>
                <a:buSzTx/>
                <a:buFontTx/>
                <a:buNone/>
                <a:tabLst/>
                <a:defRPr/>
              </a:pPr>
              <a:r>
                <a:rPr lang="en-US" sz="1100" b="1">
                  <a:solidFill>
                    <a:prstClr val="black"/>
                  </a:solidFill>
                  <a:latin typeface="Roboto"/>
                  <a:ea typeface="Roboto"/>
                  <a:cs typeface="Roboto"/>
                </a:rPr>
                <a:t>2.85</a:t>
              </a:r>
              <a:r>
                <a:rPr kumimoji="0" lang="en-US" sz="1100" b="1" i="0" u="none" strike="noStrike" kern="1200" cap="none" spc="0" normalizeH="0" baseline="0" noProof="0">
                  <a:ln>
                    <a:noFill/>
                  </a:ln>
                  <a:solidFill>
                    <a:prstClr val="black"/>
                  </a:solidFill>
                  <a:effectLst/>
                  <a:uLnTx/>
                  <a:uFillTx/>
                  <a:latin typeface="Roboto"/>
                  <a:ea typeface="Roboto"/>
                  <a:cs typeface="Roboto"/>
                </a:rPr>
                <a:t> G/R</a:t>
              </a:r>
              <a:endParaRPr lang="en-US" sz="1100" b="1" i="0" u="none" strike="noStrike" kern="1200" cap="none" spc="0" normalizeH="0" baseline="0" noProof="0">
                <a:ln>
                  <a:noFill/>
                </a:ln>
                <a:solidFill>
                  <a:prstClr val="black"/>
                </a:solidFill>
                <a:effectLst/>
                <a:uLnTx/>
                <a:uFillTx/>
                <a:latin typeface="Roboto"/>
                <a:ea typeface="Roboto"/>
                <a:cs typeface="Roboto"/>
              </a:endParaRPr>
            </a:p>
            <a:p>
              <a:pPr marL="0" marR="0" lvl="0" indent="0" algn="ctr" defTabSz="914400" rtl="0" eaLnBrk="1" fontAlgn="auto" latinLnBrk="0" hangingPunct="1">
                <a:lnSpc>
                  <a:spcPct val="100000"/>
                </a:lnSpc>
                <a:spcBef>
                  <a:spcPts val="200"/>
                </a:spcBef>
                <a:spcAft>
                  <a:spcPts val="0"/>
                </a:spcAft>
                <a:buClrTx/>
                <a:buSzTx/>
                <a:buFontTx/>
                <a:buNone/>
                <a:tabLst/>
                <a:defRPr/>
              </a:pPr>
              <a:endParaRPr kumimoji="0" lang="en-US" sz="11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05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GTM</a:t>
              </a: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600" b="1" i="0" u="none" strike="noStrike" kern="1200" cap="none" spc="0" normalizeH="0" baseline="0" noProof="0">
                  <a:ln>
                    <a:noFill/>
                  </a:ln>
                  <a:solidFill>
                    <a:srgbClr val="061799"/>
                  </a:solidFill>
                  <a:effectLst/>
                  <a:uLnTx/>
                  <a:uFillTx/>
                  <a:latin typeface="Roboto"/>
                  <a:ea typeface="Roboto"/>
                  <a:cs typeface="Roboto"/>
                </a:rPr>
                <a:t>R$ </a:t>
              </a:r>
              <a:r>
                <a:rPr lang="en-US" sz="1600" b="1">
                  <a:solidFill>
                    <a:srgbClr val="061799"/>
                  </a:solidFill>
                  <a:latin typeface="Roboto"/>
                  <a:ea typeface="Roboto"/>
                  <a:cs typeface="Roboto"/>
                </a:rPr>
                <a:t>1,22M</a:t>
              </a:r>
              <a:endParaRPr lang="en-US" sz="160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Roboto"/>
              </a:endParaRPr>
            </a:p>
            <a:p>
              <a:pPr algn="ctr">
                <a:spcBef>
                  <a:spcPts val="200"/>
                </a:spcBef>
                <a:defRPr/>
              </a:pPr>
              <a:r>
                <a:rPr lang="en-US" sz="1100" b="1">
                  <a:solidFill>
                    <a:prstClr val="black"/>
                  </a:solidFill>
                  <a:latin typeface="Roboto"/>
                  <a:ea typeface="Roboto"/>
                  <a:cs typeface="Roboto"/>
                </a:rPr>
                <a:t>1.63 G</a:t>
              </a:r>
              <a:r>
                <a:rPr kumimoji="0" lang="en-US" sz="1100" b="1" i="0" u="none" strike="noStrike" kern="1200" cap="none" spc="0" normalizeH="0" baseline="0" noProof="0">
                  <a:ln>
                    <a:noFill/>
                  </a:ln>
                  <a:solidFill>
                    <a:prstClr val="black"/>
                  </a:solidFill>
                  <a:effectLst/>
                  <a:uLnTx/>
                  <a:uFillTx/>
                  <a:latin typeface="Roboto"/>
                  <a:ea typeface="Roboto"/>
                  <a:cs typeface="Roboto"/>
                </a:rPr>
                <a:t>/R</a:t>
              </a:r>
              <a:endParaRPr lang="en-US" sz="1100" b="1" i="0" u="none" strike="noStrike" kern="1200" cap="none" spc="0" normalizeH="0" baseline="0" noProof="0">
                <a:ln>
                  <a:noFill/>
                </a:ln>
                <a:solidFill>
                  <a:prstClr val="black"/>
                </a:solidFill>
                <a:effectLst/>
                <a:uLnTx/>
                <a:uFillTx/>
                <a:latin typeface="Roboto"/>
                <a:ea typeface="Roboto"/>
                <a:cs typeface="Roboto"/>
              </a:endParaRPr>
            </a:p>
            <a:p>
              <a:pPr marL="0" marR="0" lvl="0" indent="0" algn="ctr" defTabSz="914400" rtl="0" eaLnBrk="1" fontAlgn="auto" latinLnBrk="0" hangingPunct="1">
                <a:lnSpc>
                  <a:spcPct val="100000"/>
                </a:lnSpc>
                <a:spcBef>
                  <a:spcPts val="200"/>
                </a:spcBef>
                <a:spcAft>
                  <a:spcPts val="0"/>
                </a:spcAft>
                <a:buClrTx/>
                <a:buSzTx/>
                <a:buFontTx/>
                <a:buNone/>
                <a:tabLst/>
                <a:defRPr/>
              </a:pPr>
              <a:endParaRPr kumimoji="0" lang="en-US" sz="11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05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TRIGGERS</a:t>
              </a: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600" b="1" i="0" u="none" strike="noStrike" kern="1200" cap="none" spc="0" normalizeH="0" baseline="0" noProof="0">
                  <a:ln>
                    <a:noFill/>
                  </a:ln>
                  <a:solidFill>
                    <a:srgbClr val="061799"/>
                  </a:solidFill>
                  <a:effectLst/>
                  <a:uLnTx/>
                  <a:uFillTx/>
                  <a:latin typeface="Roboto"/>
                  <a:ea typeface="Roboto"/>
                  <a:cs typeface="Roboto"/>
                </a:rPr>
                <a:t>R$ </a:t>
              </a:r>
              <a:r>
                <a:rPr lang="en-US" sz="1600" b="1">
                  <a:solidFill>
                    <a:srgbClr val="061799"/>
                  </a:solidFill>
                  <a:latin typeface="Roboto"/>
                  <a:ea typeface="Roboto"/>
                  <a:cs typeface="Roboto"/>
                </a:rPr>
                <a:t>3,64M</a:t>
              </a:r>
              <a:endParaRPr lang="en-US" sz="160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Roboto"/>
              </a:endParaRPr>
            </a:p>
            <a:p>
              <a:pPr marL="0" marR="0" lvl="0" indent="0" algn="ctr" defTabSz="914400" rtl="0" eaLnBrk="1" fontAlgn="auto" latinLnBrk="0" hangingPunct="1">
                <a:lnSpc>
                  <a:spcPct val="100000"/>
                </a:lnSpc>
                <a:spcBef>
                  <a:spcPts val="200"/>
                </a:spcBef>
                <a:spcAft>
                  <a:spcPts val="0"/>
                </a:spcAft>
                <a:buClrTx/>
                <a:buSzTx/>
                <a:buFontTx/>
                <a:buNone/>
                <a:tabLst/>
                <a:defRPr/>
              </a:pPr>
              <a:r>
                <a:rPr lang="en-US" sz="1100" b="1">
                  <a:solidFill>
                    <a:prstClr val="black"/>
                  </a:solidFill>
                  <a:latin typeface="Roboto"/>
                  <a:ea typeface="Roboto"/>
                  <a:cs typeface="Roboto"/>
                </a:rPr>
                <a:t>1.73</a:t>
              </a:r>
              <a:r>
                <a:rPr kumimoji="0" lang="en-US" sz="1100" b="1" i="0" u="none" strike="noStrike" kern="1200" cap="none" spc="0" normalizeH="0" baseline="0" noProof="0">
                  <a:ln>
                    <a:noFill/>
                  </a:ln>
                  <a:solidFill>
                    <a:prstClr val="black"/>
                  </a:solidFill>
                  <a:effectLst/>
                  <a:uLnTx/>
                  <a:uFillTx/>
                  <a:latin typeface="Roboto"/>
                  <a:ea typeface="Roboto"/>
                  <a:cs typeface="Roboto"/>
                </a:rPr>
                <a:t> G/R</a:t>
              </a:r>
              <a:endParaRPr lang="en-US" sz="1100" b="1" i="0" u="none" strike="noStrike" kern="1200" cap="none" spc="0" normalizeH="0" baseline="0" noProof="0">
                <a:ln>
                  <a:noFill/>
                </a:ln>
                <a:solidFill>
                  <a:prstClr val="black"/>
                </a:solidFill>
                <a:effectLst/>
                <a:uLnTx/>
                <a:uFillTx/>
                <a:latin typeface="Roboto"/>
                <a:ea typeface="Roboto"/>
                <a:cs typeface="Roboto"/>
              </a:endParaRPr>
            </a:p>
          </p:txBody>
        </p:sp>
        <p:sp>
          <p:nvSpPr>
            <p:cNvPr id="23" name="CaixaDeTexto 22">
              <a:extLst>
                <a:ext uri="{FF2B5EF4-FFF2-40B4-BE49-F238E27FC236}">
                  <a16:creationId xmlns:a16="http://schemas.microsoft.com/office/drawing/2014/main" id="{6ED5C04D-358C-4508-8784-DBEA1B4C2094}"/>
                </a:ext>
              </a:extLst>
            </p:cNvPr>
            <p:cNvSpPr txBox="1"/>
            <p:nvPr/>
          </p:nvSpPr>
          <p:spPr>
            <a:xfrm>
              <a:off x="142709" y="3721910"/>
              <a:ext cx="381000"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100" b="0" i="0" u="none" strike="noStrike" kern="1200" cap="none" spc="0" normalizeH="0" baseline="0" noProof="0">
                  <a:ln>
                    <a:noFill/>
                  </a:ln>
                  <a:solidFill>
                    <a:srgbClr val="000000"/>
                  </a:solidFill>
                  <a:effectLst/>
                  <a:highlight>
                    <a:srgbClr val="FFFF00"/>
                  </a:highlight>
                  <a:uLnTx/>
                  <a:uFillTx/>
                  <a:latin typeface="Roboto" panose="02000000000000000000" pitchFamily="2" charset="0"/>
                  <a:ea typeface="Roboto" panose="02000000000000000000" pitchFamily="2" charset="0"/>
                  <a:cs typeface="+mn-cs"/>
                  <a:sym typeface="SamsungOne 400"/>
                </a:rPr>
                <a:t>②</a:t>
              </a:r>
            </a:p>
          </p:txBody>
        </p:sp>
      </p:grpSp>
      <p:grpSp>
        <p:nvGrpSpPr>
          <p:cNvPr id="32" name="Agrupar 31">
            <a:extLst>
              <a:ext uri="{FF2B5EF4-FFF2-40B4-BE49-F238E27FC236}">
                <a16:creationId xmlns:a16="http://schemas.microsoft.com/office/drawing/2014/main" id="{58902181-9AF8-4D62-B498-0960AB698C72}"/>
              </a:ext>
            </a:extLst>
          </p:cNvPr>
          <p:cNvGrpSpPr/>
          <p:nvPr/>
        </p:nvGrpSpPr>
        <p:grpSpPr>
          <a:xfrm>
            <a:off x="71418" y="5648926"/>
            <a:ext cx="12049164" cy="1109064"/>
            <a:chOff x="71129" y="5662600"/>
            <a:chExt cx="11707977" cy="913045"/>
          </a:xfrm>
        </p:grpSpPr>
        <p:sp>
          <p:nvSpPr>
            <p:cNvPr id="30" name="Retângulo: Cantos Arredondados 29">
              <a:extLst>
                <a:ext uri="{FF2B5EF4-FFF2-40B4-BE49-F238E27FC236}">
                  <a16:creationId xmlns:a16="http://schemas.microsoft.com/office/drawing/2014/main" id="{811DFC10-8606-4724-B936-B6D43130576D}"/>
                </a:ext>
              </a:extLst>
            </p:cNvPr>
            <p:cNvSpPr/>
            <p:nvPr/>
          </p:nvSpPr>
          <p:spPr>
            <a:xfrm>
              <a:off x="71129" y="5662600"/>
              <a:ext cx="5853989" cy="913045"/>
            </a:xfrm>
            <a:prstGeom prst="roundRect">
              <a:avLst>
                <a:gd name="adj" fmla="val 9708"/>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rPr>
                <a:t>HIGHLIGHT</a:t>
              </a:r>
              <a:endParaRPr kumimoji="0" lang="en-US" sz="1050"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Revenue reached </a:t>
              </a:r>
              <a:r>
                <a:rPr kumimoji="0" lang="en-US" sz="10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R$7.75M at </a:t>
              </a:r>
              <a:r>
                <a:rPr lang="en-US" sz="1000" b="1">
                  <a:solidFill>
                    <a:prstClr val="black"/>
                  </a:solidFill>
                  <a:latin typeface="Roboto" panose="02000000000000000000" pitchFamily="2" charset="0"/>
                  <a:ea typeface="Roboto" panose="02000000000000000000" pitchFamily="2" charset="0"/>
                </a:rPr>
                <a:t>2.01</a:t>
              </a:r>
              <a:r>
                <a:rPr kumimoji="0" lang="en-US" sz="10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G/R</a:t>
              </a:r>
              <a:r>
                <a:rPr kumimoji="0" lang="en-US" sz="10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with </a:t>
              </a:r>
              <a:r>
                <a:rPr kumimoji="0" lang="en-US" sz="10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all pillars growing YoY</a:t>
              </a:r>
              <a:r>
                <a:rPr kumimoji="0" lang="en-US" sz="10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Growth was the main </a:t>
              </a:r>
              <a:r>
                <a:rPr kumimoji="0" lang="en-US" sz="10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incremental driver</a:t>
              </a:r>
              <a:r>
                <a:rPr kumimoji="0" lang="en-US" sz="10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reaching R$2.85M and 2.82 G/R.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Triggers: R$</a:t>
              </a:r>
              <a:r>
                <a:rPr lang="en-US" sz="1000">
                  <a:solidFill>
                    <a:prstClr val="black"/>
                  </a:solidFill>
                  <a:latin typeface="Roboto" panose="02000000000000000000" pitchFamily="2" charset="0"/>
                  <a:ea typeface="Roboto" panose="02000000000000000000" pitchFamily="2" charset="0"/>
                </a:rPr>
                <a:t>3,64</a:t>
              </a:r>
              <a:r>
                <a:rPr kumimoji="0" lang="en-US" sz="10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M, performance increased week by week, supported by Transactional.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W32 was the strongest week</a:t>
              </a:r>
              <a:r>
                <a:rPr kumimoji="0" lang="en-US" sz="10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supported by</a:t>
              </a:r>
              <a:r>
                <a:rPr kumimoji="0" lang="en-US" sz="10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Live Commerce </a:t>
              </a:r>
              <a:r>
                <a:rPr kumimoji="0" lang="en-US" sz="10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and </a:t>
              </a:r>
              <a:r>
                <a:rPr kumimoji="0" lang="en-US" sz="10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Father’s Day, </a:t>
              </a:r>
              <a:r>
                <a:rPr kumimoji="0" lang="pt-BR" sz="10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G/R 3,07 </a:t>
              </a:r>
              <a:r>
                <a:rPr kumimoji="0" lang="pt-BR" sz="1000" b="1" i="0" u="none" strike="noStrike" kern="1200" cap="none" spc="0" normalizeH="0" baseline="0" noProof="0" err="1">
                  <a:ln>
                    <a:noFill/>
                  </a:ln>
                  <a:solidFill>
                    <a:prstClr val="black"/>
                  </a:solidFill>
                  <a:effectLst/>
                  <a:uLnTx/>
                  <a:uFillTx/>
                  <a:latin typeface="Roboto" panose="02000000000000000000" pitchFamily="2" charset="0"/>
                  <a:ea typeface="Roboto" panose="02000000000000000000" pitchFamily="2" charset="0"/>
                  <a:cs typeface="+mn-cs"/>
                </a:rPr>
                <a:t>and</a:t>
              </a:r>
              <a:r>
                <a:rPr kumimoji="0" lang="pt-BR" sz="10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A/R 1,88</a:t>
              </a:r>
              <a:r>
                <a:rPr kumimoji="0" lang="en-US" sz="10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All BUs grew above YOY: MX </a:t>
              </a:r>
              <a:r>
                <a:rPr lang="en-US" sz="1000">
                  <a:solidFill>
                    <a:prstClr val="black"/>
                  </a:solidFill>
                  <a:latin typeface="Roboto" panose="02000000000000000000" pitchFamily="2" charset="0"/>
                  <a:ea typeface="Roboto" panose="02000000000000000000" pitchFamily="2" charset="0"/>
                </a:rPr>
                <a:t>2.33</a:t>
              </a:r>
              <a:r>
                <a:rPr kumimoji="0" lang="en-US" sz="10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G/R, DA 1.09 and VD 1.64.</a:t>
              </a:r>
            </a:p>
          </p:txBody>
        </p:sp>
        <p:sp>
          <p:nvSpPr>
            <p:cNvPr id="31" name="Retângulo: Cantos Arredondados 30">
              <a:extLst>
                <a:ext uri="{FF2B5EF4-FFF2-40B4-BE49-F238E27FC236}">
                  <a16:creationId xmlns:a16="http://schemas.microsoft.com/office/drawing/2014/main" id="{3A4556C2-EB97-4FFA-98D7-B8597A2681B1}"/>
                </a:ext>
              </a:extLst>
            </p:cNvPr>
            <p:cNvSpPr/>
            <p:nvPr/>
          </p:nvSpPr>
          <p:spPr>
            <a:xfrm>
              <a:off x="5992360" y="5662600"/>
              <a:ext cx="5786746" cy="913045"/>
            </a:xfrm>
            <a:prstGeom prst="roundRect">
              <a:avLst>
                <a:gd name="adj" fmla="val 9708"/>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rPr>
                <a:t>LOWLIGHT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a:solidFill>
                    <a:prstClr val="black"/>
                  </a:solidFill>
                  <a:latin typeface="Roboto" panose="02000000000000000000" pitchFamily="2" charset="0"/>
                  <a:ea typeface="Roboto" panose="02000000000000000000" pitchFamily="2" charset="0"/>
                </a:rPr>
                <a:t>35% of revenue came from W32, efforts need to be better divided along month. There is a performance variation almost ~50% between weeks.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5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Visits got only A/R 0.6 motivated by the CTOR fallen.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a:solidFill>
                    <a:prstClr val="black"/>
                  </a:solidFill>
                  <a:latin typeface="Roboto" panose="02000000000000000000" pitchFamily="2" charset="0"/>
                  <a:ea typeface="Roboto" panose="02000000000000000000" pitchFamily="2" charset="0"/>
                </a:rPr>
                <a:t>GTM was supported by W32 and W33, other weeks delivered above-average revenue. </a:t>
              </a:r>
              <a:endParaRPr kumimoji="0" lang="en-US" sz="95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a:solidFill>
                    <a:prstClr val="black"/>
                  </a:solidFill>
                  <a:latin typeface="Roboto" panose="02000000000000000000" pitchFamily="2" charset="0"/>
                  <a:ea typeface="Roboto" panose="02000000000000000000" pitchFamily="2" charset="0"/>
                </a:rPr>
                <a:t>W31 and W36 only one or two days, this caused the decline in A/R, even though the goals were reached.</a:t>
              </a:r>
              <a:endParaRPr kumimoji="0" lang="en-US" sz="95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50" i="0" u="none" strike="noStrike" kern="1200" cap="none" spc="0" normalizeH="0" baseline="0" noProof="0">
                <a:ln>
                  <a:noFill/>
                </a:ln>
                <a:solidFill>
                  <a:prstClr val="black"/>
                </a:solidFill>
                <a:effectLst/>
                <a:highlight>
                  <a:srgbClr val="FFFF00"/>
                </a:highlight>
                <a:uLnTx/>
                <a:uFillTx/>
                <a:latin typeface="Roboto" panose="02000000000000000000" pitchFamily="2" charset="0"/>
                <a:ea typeface="Roboto" panose="02000000000000000000" pitchFamily="2" charset="0"/>
                <a:cs typeface="+mn-cs"/>
              </a:endParaRPr>
            </a:p>
          </p:txBody>
        </p:sp>
      </p:grpSp>
      <p:sp>
        <p:nvSpPr>
          <p:cNvPr id="17" name="Retângulo 16">
            <a:extLst>
              <a:ext uri="{FF2B5EF4-FFF2-40B4-BE49-F238E27FC236}">
                <a16:creationId xmlns:a16="http://schemas.microsoft.com/office/drawing/2014/main" id="{10F2B165-C6F0-48D1-95FB-21A5D05BCBE4}"/>
              </a:ext>
            </a:extLst>
          </p:cNvPr>
          <p:cNvSpPr/>
          <p:nvPr/>
        </p:nvSpPr>
        <p:spPr>
          <a:xfrm>
            <a:off x="1549927" y="1111174"/>
            <a:ext cx="10584000" cy="441424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CaixaDeTexto 18">
            <a:extLst>
              <a:ext uri="{FF2B5EF4-FFF2-40B4-BE49-F238E27FC236}">
                <a16:creationId xmlns:a16="http://schemas.microsoft.com/office/drawing/2014/main" id="{971D6D45-A709-4F3D-84F4-70C1BDE42D45}"/>
              </a:ext>
            </a:extLst>
          </p:cNvPr>
          <p:cNvSpPr txBox="1"/>
          <p:nvPr/>
        </p:nvSpPr>
        <p:spPr>
          <a:xfrm>
            <a:off x="1658471" y="992549"/>
            <a:ext cx="1701448" cy="238318"/>
          </a:xfrm>
          <a:prstGeom prst="rect">
            <a:avLst/>
          </a:prstGeom>
          <a:solidFill>
            <a:sysClr val="window" lastClr="FFFFFF"/>
          </a:solidFill>
        </p:spPr>
        <p:txBody>
          <a:bodyPr wrap="square" lIns="91440" tIns="45720" rIns="91440" bIns="4572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kern="0">
                <a:solidFill>
                  <a:srgbClr val="002060"/>
                </a:solidFill>
                <a:latin typeface="Samsung Sharp Sans Bold" panose="02000503000000020004"/>
              </a:rPr>
              <a:t>Aug’26</a:t>
            </a:r>
            <a:r>
              <a:rPr kumimoji="0" lang="en-US" sz="1400" b="1" i="0" u="none" strike="noStrike" kern="0" cap="none" spc="0" normalizeH="0" baseline="0" noProof="0">
                <a:ln>
                  <a:noFill/>
                </a:ln>
                <a:solidFill>
                  <a:srgbClr val="002060"/>
                </a:solidFill>
                <a:effectLst/>
                <a:uLnTx/>
                <a:uFillTx/>
                <a:latin typeface="Samsung Sharp Sans Bold" panose="02000503000000020004"/>
                <a:ea typeface="+mn-ea"/>
                <a:cs typeface="+mn-cs"/>
              </a:rPr>
              <a:t> Overview</a:t>
            </a:r>
          </a:p>
        </p:txBody>
      </p:sp>
      <p:sp>
        <p:nvSpPr>
          <p:cNvPr id="34" name="CaixaDeTexto 33">
            <a:extLst>
              <a:ext uri="{FF2B5EF4-FFF2-40B4-BE49-F238E27FC236}">
                <a16:creationId xmlns:a16="http://schemas.microsoft.com/office/drawing/2014/main" id="{F237B50E-A962-4775-9411-346222697A40}"/>
              </a:ext>
            </a:extLst>
          </p:cNvPr>
          <p:cNvSpPr txBox="1"/>
          <p:nvPr/>
        </p:nvSpPr>
        <p:spPr>
          <a:xfrm>
            <a:off x="11371286" y="2186685"/>
            <a:ext cx="381000"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00" b="0" i="0" u="none" strike="noStrike" kern="1200" cap="none" spc="0" normalizeH="0" baseline="0" noProof="0">
                <a:ln>
                  <a:noFill/>
                </a:ln>
                <a:solidFill>
                  <a:srgbClr val="000000"/>
                </a:solidFill>
                <a:effectLst/>
                <a:highlight>
                  <a:srgbClr val="FFFF00"/>
                </a:highlight>
                <a:uLnTx/>
                <a:uFillTx/>
                <a:latin typeface="Roboto" panose="02000000000000000000" pitchFamily="2" charset="0"/>
                <a:ea typeface="Roboto" panose="02000000000000000000" pitchFamily="2" charset="0"/>
                <a:cs typeface="+mn-cs"/>
                <a:sym typeface="SamsungOne 400"/>
              </a:rPr>
              <a:t>②</a:t>
            </a:r>
          </a:p>
        </p:txBody>
      </p:sp>
      <p:sp>
        <p:nvSpPr>
          <p:cNvPr id="26" name="CaixaDeTexto 25">
            <a:extLst>
              <a:ext uri="{FF2B5EF4-FFF2-40B4-BE49-F238E27FC236}">
                <a16:creationId xmlns:a16="http://schemas.microsoft.com/office/drawing/2014/main" id="{4E988FCE-CEE4-4661-9785-B98319FB0CF2}"/>
              </a:ext>
            </a:extLst>
          </p:cNvPr>
          <p:cNvSpPr txBox="1"/>
          <p:nvPr/>
        </p:nvSpPr>
        <p:spPr>
          <a:xfrm>
            <a:off x="11405778" y="2454080"/>
            <a:ext cx="312016"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00" b="0" i="0" u="none" strike="noStrike" kern="1200" cap="none" spc="0" normalizeH="0" baseline="0" noProof="0">
                <a:ln>
                  <a:noFill/>
                </a:ln>
                <a:solidFill>
                  <a:srgbClr val="000000"/>
                </a:solidFill>
                <a:effectLst/>
                <a:highlight>
                  <a:srgbClr val="FFFF00"/>
                </a:highlight>
                <a:uLnTx/>
                <a:uFillTx/>
                <a:latin typeface="Roboto" panose="02000000000000000000" pitchFamily="2" charset="0"/>
                <a:ea typeface="Roboto" panose="02000000000000000000" pitchFamily="2" charset="0"/>
                <a:cs typeface="+mn-cs"/>
                <a:sym typeface="SamsungOne 400"/>
              </a:rPr>
              <a:t>①</a:t>
            </a:r>
          </a:p>
        </p:txBody>
      </p:sp>
      <p:sp>
        <p:nvSpPr>
          <p:cNvPr id="28" name="CaixaDeTexto 27">
            <a:extLst>
              <a:ext uri="{FF2B5EF4-FFF2-40B4-BE49-F238E27FC236}">
                <a16:creationId xmlns:a16="http://schemas.microsoft.com/office/drawing/2014/main" id="{7E04E191-815F-491A-BBC2-6FFE34892149}"/>
              </a:ext>
            </a:extLst>
          </p:cNvPr>
          <p:cNvSpPr txBox="1"/>
          <p:nvPr/>
        </p:nvSpPr>
        <p:spPr>
          <a:xfrm>
            <a:off x="146536" y="2864537"/>
            <a:ext cx="312016"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00" b="0" i="0" u="none" strike="noStrike" kern="1200" cap="none" spc="0" normalizeH="0" baseline="0" noProof="0">
                <a:ln>
                  <a:noFill/>
                </a:ln>
                <a:solidFill>
                  <a:srgbClr val="000000"/>
                </a:solidFill>
                <a:effectLst/>
                <a:highlight>
                  <a:srgbClr val="FFFF00"/>
                </a:highlight>
                <a:uLnTx/>
                <a:uFillTx/>
                <a:latin typeface="Roboto" panose="02000000000000000000" pitchFamily="2" charset="0"/>
                <a:ea typeface="Roboto" panose="02000000000000000000" pitchFamily="2" charset="0"/>
                <a:cs typeface="+mn-cs"/>
                <a:sym typeface="SamsungOne 400"/>
              </a:rPr>
              <a:t>①</a:t>
            </a:r>
          </a:p>
        </p:txBody>
      </p:sp>
      <p:pic>
        <p:nvPicPr>
          <p:cNvPr id="4" name="Imagem 3">
            <a:extLst>
              <a:ext uri="{FF2B5EF4-FFF2-40B4-BE49-F238E27FC236}">
                <a16:creationId xmlns:a16="http://schemas.microsoft.com/office/drawing/2014/main" id="{F38DB7E4-02ED-47FE-F229-E66F4F2ECDF1}"/>
              </a:ext>
            </a:extLst>
          </p:cNvPr>
          <p:cNvPicPr>
            <a:picLocks noChangeAspect="1"/>
          </p:cNvPicPr>
          <p:nvPr/>
        </p:nvPicPr>
        <p:blipFill>
          <a:blip r:embed="rId3"/>
          <a:stretch>
            <a:fillRect/>
          </a:stretch>
        </p:blipFill>
        <p:spPr>
          <a:xfrm>
            <a:off x="1658471" y="1382423"/>
            <a:ext cx="10208559" cy="4093154"/>
          </a:xfrm>
          <a:prstGeom prst="rect">
            <a:avLst/>
          </a:prstGeom>
        </p:spPr>
      </p:pic>
    </p:spTree>
    <p:extLst>
      <p:ext uri="{BB962C8B-B14F-4D97-AF65-F5344CB8AC3E}">
        <p14:creationId xmlns:p14="http://schemas.microsoft.com/office/powerpoint/2010/main" val="16239301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m 5">
            <a:extLst>
              <a:ext uri="{FF2B5EF4-FFF2-40B4-BE49-F238E27FC236}">
                <a16:creationId xmlns:a16="http://schemas.microsoft.com/office/drawing/2014/main" id="{AC522109-BCAE-46EB-9EAA-5C1552C63DE0}"/>
              </a:ext>
            </a:extLst>
          </p:cNvPr>
          <p:cNvPicPr>
            <a:picLocks noChangeAspect="1"/>
          </p:cNvPicPr>
          <p:nvPr/>
        </p:nvPicPr>
        <p:blipFill>
          <a:blip r:embed="rId3"/>
          <a:stretch>
            <a:fillRect/>
          </a:stretch>
        </p:blipFill>
        <p:spPr>
          <a:xfrm>
            <a:off x="2616088" y="2923011"/>
            <a:ext cx="6239010" cy="3548437"/>
          </a:xfrm>
          <a:prstGeom prst="rect">
            <a:avLst/>
          </a:prstGeom>
        </p:spPr>
      </p:pic>
      <p:sp>
        <p:nvSpPr>
          <p:cNvPr id="77" name="Retângulo: Cantos Arredondados 76">
            <a:extLst>
              <a:ext uri="{FF2B5EF4-FFF2-40B4-BE49-F238E27FC236}">
                <a16:creationId xmlns:a16="http://schemas.microsoft.com/office/drawing/2014/main" id="{57AC8193-24B8-4458-B649-59BCB7DB8C0F}"/>
              </a:ext>
            </a:extLst>
          </p:cNvPr>
          <p:cNvSpPr/>
          <p:nvPr/>
        </p:nvSpPr>
        <p:spPr>
          <a:xfrm>
            <a:off x="9105205" y="2242224"/>
            <a:ext cx="2984587" cy="4553892"/>
          </a:xfrm>
          <a:prstGeom prst="roundRect">
            <a:avLst>
              <a:gd name="adj" fmla="val 4184"/>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200"/>
              </a:spcBef>
              <a:spcAft>
                <a:spcPts val="0"/>
              </a:spcAft>
              <a:buClrTx/>
              <a:buSzTx/>
              <a:buFontTx/>
              <a:buNone/>
              <a:tabLst/>
              <a:defRPr/>
            </a:pPr>
            <a:r>
              <a:rPr kumimoji="0" lang="en-US" sz="105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rPr>
              <a:t>HIGHLIGHT</a:t>
            </a:r>
          </a:p>
          <a:p>
            <a:pPr marL="171450" marR="0" lvl="0" indent="-171450"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lang="en-US" sz="1050">
                <a:solidFill>
                  <a:prstClr val="black"/>
                </a:solidFill>
                <a:latin typeface="Roboto" panose="02000000000000000000" pitchFamily="2" charset="0"/>
                <a:ea typeface="Roboto" panose="02000000000000000000" pitchFamily="2" charset="0"/>
              </a:rPr>
              <a:t>Revenue grew to R$7.8M | 2.01 G/R, reaching the monthly target.</a:t>
            </a:r>
          </a:p>
          <a:p>
            <a:pPr marL="171450" marR="0" lvl="0" indent="-171450"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US" sz="105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Email led revenue </a:t>
            </a: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at R$4.7M and </a:t>
            </a:r>
            <a:r>
              <a:rPr lang="en-US" sz="1050" b="1">
                <a:solidFill>
                  <a:prstClr val="black"/>
                </a:solidFill>
                <a:latin typeface="Roboto" panose="02000000000000000000" pitchFamily="2" charset="0"/>
                <a:ea typeface="Roboto" panose="02000000000000000000" pitchFamily="2" charset="0"/>
              </a:rPr>
              <a:t>2</a:t>
            </a:r>
            <a:r>
              <a:rPr kumimoji="0" lang="en-US" sz="105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.40 G/R</a:t>
            </a: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supported by an order volume 95% higher than in 2025 </a:t>
            </a:r>
            <a:r>
              <a:rPr lang="en-US" sz="1050">
                <a:solidFill>
                  <a:prstClr val="black"/>
                </a:solidFill>
                <a:latin typeface="Roboto" panose="02000000000000000000" pitchFamily="2" charset="0"/>
                <a:ea typeface="Roboto" panose="02000000000000000000" pitchFamily="2" charset="0"/>
              </a:rPr>
              <a:t>and higher AOV</a:t>
            </a: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a:t>
            </a:r>
          </a:p>
          <a:p>
            <a:pPr marL="171450" marR="0" lvl="0" indent="-171450"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US" sz="105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App Push </a:t>
            </a: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reached </a:t>
            </a:r>
            <a:r>
              <a:rPr kumimoji="0" lang="en-US" sz="105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R$2.0M and 1.34 G/R, </a:t>
            </a:r>
            <a:r>
              <a:rPr kumimoji="0" lang="en-US" sz="105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driven by Opens that were 27% higher and a CVR 40% higher than in 2025. </a:t>
            </a:r>
          </a:p>
          <a:p>
            <a:pPr marL="171450" marR="0" lvl="0" indent="-171450"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US" sz="105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Email + App Push represented roughly </a:t>
            </a:r>
            <a:r>
              <a:rPr lang="en-US" sz="1050" b="1">
                <a:solidFill>
                  <a:prstClr val="black"/>
                </a:solidFill>
                <a:latin typeface="Roboto" panose="02000000000000000000" pitchFamily="2" charset="0"/>
                <a:ea typeface="Roboto" panose="02000000000000000000" pitchFamily="2" charset="0"/>
              </a:rPr>
              <a:t>86</a:t>
            </a:r>
            <a:r>
              <a:rPr kumimoji="0" lang="en-US" sz="105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of channel revenue, WhatsApp showed the strongest growth  </a:t>
            </a:r>
            <a:r>
              <a:rPr lang="en-US" sz="1050">
                <a:solidFill>
                  <a:prstClr val="black"/>
                </a:solidFill>
                <a:latin typeface="Roboto" panose="02000000000000000000" pitchFamily="2" charset="0"/>
                <a:ea typeface="Roboto" panose="02000000000000000000" pitchFamily="2" charset="0"/>
              </a:rPr>
              <a:t>in August</a:t>
            </a:r>
            <a:r>
              <a:rPr kumimoji="0" lang="en-US" sz="105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a:t>
            </a:r>
          </a:p>
          <a:p>
            <a:pPr marL="171450" marR="0" lvl="0" indent="-171450"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CVR G/R reaching 2.75, principal reason came from higher AOV and </a:t>
            </a:r>
            <a:r>
              <a:rPr lang="en-US" sz="1050">
                <a:solidFill>
                  <a:prstClr val="black"/>
                </a:solidFill>
                <a:latin typeface="Roboto" panose="02000000000000000000" pitchFamily="2" charset="0"/>
                <a:ea typeface="Roboto" panose="02000000000000000000" pitchFamily="2" charset="0"/>
              </a:rPr>
              <a:t>Units also grew in the last month.</a:t>
            </a:r>
            <a:br>
              <a:rPr kumimoji="0" lang="pt-BR"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br>
            <a:endParaRPr kumimoji="0" lang="pt-BR"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a:p>
            <a:pPr marL="0" marR="0" lvl="0" indent="0" algn="l" defTabSz="914400" rtl="0" eaLnBrk="1" fontAlgn="auto" latinLnBrk="0" hangingPunct="1">
              <a:lnSpc>
                <a:spcPct val="100000"/>
              </a:lnSpc>
              <a:spcBef>
                <a:spcPts val="200"/>
              </a:spcBef>
              <a:spcAft>
                <a:spcPts val="0"/>
              </a:spcAft>
              <a:buClrTx/>
              <a:buSzTx/>
              <a:buFontTx/>
              <a:buNone/>
              <a:tabLst/>
              <a:defRPr/>
            </a:pPr>
            <a:r>
              <a:rPr kumimoji="0" lang="en-US" sz="105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rPr>
              <a:t>LOWLIGHT</a:t>
            </a:r>
          </a:p>
          <a:p>
            <a:pPr marL="171450" marR="0" lvl="0" indent="-171450"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endParaRPr kumimoji="0" lang="en-US" sz="105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a:p>
            <a:pPr marL="171450" marR="0" lvl="0" indent="-171450"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US" sz="105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CTOR </a:t>
            </a:r>
            <a:r>
              <a:rPr kumimoji="0" lang="en-US" sz="105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fall</a:t>
            </a:r>
            <a:r>
              <a:rPr lang="en-US" sz="1050">
                <a:solidFill>
                  <a:prstClr val="black"/>
                </a:solidFill>
                <a:latin typeface="Roboto" panose="02000000000000000000" pitchFamily="2" charset="0"/>
                <a:ea typeface="Roboto" panose="02000000000000000000" pitchFamily="2" charset="0"/>
              </a:rPr>
              <a:t> despite Open Rate increase, so engagement needs attention. </a:t>
            </a:r>
          </a:p>
          <a:p>
            <a:pPr marL="171450" marR="0" lvl="0" indent="-171450"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US" sz="105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Visits decrease related YoY, </a:t>
            </a:r>
            <a:r>
              <a:rPr lang="en-US" sz="1050">
                <a:solidFill>
                  <a:prstClr val="black"/>
                </a:solidFill>
                <a:latin typeface="Roboto" panose="02000000000000000000" pitchFamily="2" charset="0"/>
                <a:ea typeface="Roboto" panose="02000000000000000000" pitchFamily="2" charset="0"/>
              </a:rPr>
              <a:t>email content needs a better approach.</a:t>
            </a:r>
          </a:p>
        </p:txBody>
      </p:sp>
      <p:sp>
        <p:nvSpPr>
          <p:cNvPr id="83" name="Espaço Reservado para Conteúdo 2">
            <a:extLst>
              <a:ext uri="{FF2B5EF4-FFF2-40B4-BE49-F238E27FC236}">
                <a16:creationId xmlns:a16="http://schemas.microsoft.com/office/drawing/2014/main" id="{F4DCB2B6-09DD-4A77-B258-A54D6CDB4053}"/>
              </a:ext>
            </a:extLst>
          </p:cNvPr>
          <p:cNvSpPr txBox="1"/>
          <p:nvPr/>
        </p:nvSpPr>
        <p:spPr>
          <a:xfrm>
            <a:off x="6794119" y="6569534"/>
            <a:ext cx="2145478" cy="215444"/>
          </a:xfrm>
          <a:prstGeom prst="rect">
            <a:avLst/>
          </a:prstGeom>
          <a:noFill/>
          <a:ln cap="flat">
            <a:noFill/>
          </a:ln>
        </p:spPr>
        <p:txBody>
          <a:bodyPr vert="horz" wrap="square" lIns="91440" tIns="45720" rIns="91440" bIns="45720" anchor="t" anchorCtr="0" compatLnSpc="1">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700" b="0" i="0" u="none" strike="noStrike" kern="1200" cap="none" spc="0" normalizeH="0" baseline="0" noProof="0">
                <a:ln>
                  <a:noFill/>
                </a:ln>
                <a:solidFill>
                  <a:srgbClr val="000000"/>
                </a:solidFill>
                <a:effectLst/>
                <a:uLnTx/>
                <a:uFillTx/>
                <a:latin typeface="SamsungSharpSans-Medium"/>
                <a:ea typeface="SamsungSharpSans-Medium" pitchFamily="2"/>
                <a:cs typeface="SamsungSharpSans-Medium" pitchFamily="2"/>
              </a:rPr>
              <a:t>*</a:t>
            </a:r>
            <a:r>
              <a:rPr kumimoji="0" lang="en-US" sz="700" b="0" i="0" u="none" strike="noStrike" kern="1200" cap="none" spc="0" normalizeH="0" baseline="0" noProof="0" err="1">
                <a:ln>
                  <a:noFill/>
                </a:ln>
                <a:solidFill>
                  <a:srgbClr val="000000"/>
                </a:solidFill>
                <a:effectLst/>
                <a:uLnTx/>
                <a:uFillTx/>
                <a:latin typeface="SamsungSharpSans-Medium"/>
                <a:ea typeface="SamsungSharpSans-Medium" pitchFamily="2"/>
                <a:cs typeface="SamsungSharpSans-Medium" pitchFamily="2"/>
              </a:rPr>
              <a:t>Valores</a:t>
            </a:r>
            <a:r>
              <a:rPr kumimoji="0" lang="en-US" sz="700" b="0" i="0" u="none" strike="noStrike" kern="1200" cap="none" spc="0" normalizeH="0" baseline="0" noProof="0">
                <a:ln>
                  <a:noFill/>
                </a:ln>
                <a:solidFill>
                  <a:srgbClr val="000000"/>
                </a:solidFill>
                <a:effectLst/>
                <a:uLnTx/>
                <a:uFillTx/>
                <a:latin typeface="SamsungSharpSans-Medium"/>
                <a:ea typeface="SamsungSharpSans-Medium" pitchFamily="2"/>
                <a:cs typeface="SamsungSharpSans-Medium" pitchFamily="2"/>
              </a:rPr>
              <a:t> de </a:t>
            </a:r>
            <a:r>
              <a:rPr kumimoji="0" lang="en-US" sz="700" b="0" i="0" u="none" strike="noStrike" kern="1200" cap="none" spc="0" normalizeH="0" baseline="0" noProof="0" err="1">
                <a:ln>
                  <a:noFill/>
                </a:ln>
                <a:solidFill>
                  <a:srgbClr val="000000"/>
                </a:solidFill>
                <a:effectLst/>
                <a:uLnTx/>
                <a:uFillTx/>
                <a:latin typeface="SamsungSharpSans-Medium"/>
                <a:ea typeface="SamsungSharpSans-Medium" pitchFamily="2"/>
                <a:cs typeface="SamsungSharpSans-Medium" pitchFamily="2"/>
              </a:rPr>
              <a:t>canais</a:t>
            </a:r>
            <a:r>
              <a:rPr kumimoji="0" lang="en-US" sz="700" b="0" i="0" u="none" strike="noStrike" kern="1200" cap="none" spc="0" normalizeH="0" baseline="0" noProof="0">
                <a:ln>
                  <a:noFill/>
                </a:ln>
                <a:solidFill>
                  <a:srgbClr val="000000"/>
                </a:solidFill>
                <a:effectLst/>
                <a:uLnTx/>
                <a:uFillTx/>
                <a:latin typeface="SamsungSharpSans-Medium"/>
                <a:ea typeface="SamsungSharpSans-Medium" pitchFamily="2"/>
                <a:cs typeface="SamsungSharpSans-Medium" pitchFamily="2"/>
              </a:rPr>
              <a:t>  /</a:t>
            </a:r>
            <a:r>
              <a:rPr kumimoji="0" lang="pt-BR" sz="700" b="0" i="0" u="none" strike="noStrike" kern="0" cap="none" spc="0" normalizeH="0" baseline="0" noProof="0">
                <a:ln>
                  <a:noFill/>
                </a:ln>
                <a:solidFill>
                  <a:srgbClr val="000000"/>
                </a:solidFill>
                <a:effectLst/>
                <a:uLnTx/>
                <a:uFillTx/>
                <a:latin typeface="Aptos" panose="020B0004020202020204"/>
                <a:ea typeface="+mn-ea"/>
                <a:cs typeface="+mn-cs"/>
              </a:rPr>
              <a:t>1.000.000</a:t>
            </a:r>
            <a:endParaRPr kumimoji="0" lang="en-US" sz="700" b="1" i="0" u="none" strike="noStrike" kern="1200" cap="none" spc="0" normalizeH="0" baseline="0" noProof="0">
              <a:ln>
                <a:noFill/>
              </a:ln>
              <a:solidFill>
                <a:srgbClr val="000000"/>
              </a:solidFill>
              <a:effectLst/>
              <a:uLnTx/>
              <a:uFillTx/>
              <a:latin typeface="SamsungSharpSans-Medium"/>
              <a:ea typeface="SamsungSharpSans-Medium" pitchFamily="2"/>
              <a:cs typeface="SamsungSharpSans-Medium" pitchFamily="2"/>
            </a:endParaRPr>
          </a:p>
        </p:txBody>
      </p:sp>
      <p:cxnSp>
        <p:nvCxnSpPr>
          <p:cNvPr id="29" name="Conector: Angulado 28">
            <a:extLst>
              <a:ext uri="{FF2B5EF4-FFF2-40B4-BE49-F238E27FC236}">
                <a16:creationId xmlns:a16="http://schemas.microsoft.com/office/drawing/2014/main" id="{177FAB50-69F9-4384-B5E3-B99A148D8E26}"/>
              </a:ext>
            </a:extLst>
          </p:cNvPr>
          <p:cNvCxnSpPr>
            <a:cxnSpLocks/>
          </p:cNvCxnSpPr>
          <p:nvPr/>
        </p:nvCxnSpPr>
        <p:spPr>
          <a:xfrm rot="5400000" flipH="1" flipV="1">
            <a:off x="4198920" y="2814312"/>
            <a:ext cx="2284875" cy="1876035"/>
          </a:xfrm>
          <a:prstGeom prst="bentConnector3">
            <a:avLst>
              <a:gd name="adj1" fmla="val 100025"/>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2" name="Conector: Angulado 71">
            <a:extLst>
              <a:ext uri="{FF2B5EF4-FFF2-40B4-BE49-F238E27FC236}">
                <a16:creationId xmlns:a16="http://schemas.microsoft.com/office/drawing/2014/main" id="{50B07969-C880-4517-BD97-1955AF32EA13}"/>
              </a:ext>
            </a:extLst>
          </p:cNvPr>
          <p:cNvCxnSpPr>
            <a:cxnSpLocks/>
          </p:cNvCxnSpPr>
          <p:nvPr/>
        </p:nvCxnSpPr>
        <p:spPr>
          <a:xfrm>
            <a:off x="7064444" y="2611229"/>
            <a:ext cx="1309088" cy="918288"/>
          </a:xfrm>
          <a:prstGeom prst="bentConnector3">
            <a:avLst>
              <a:gd name="adj1" fmla="val 100869"/>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8" name="Elipse 37">
            <a:extLst>
              <a:ext uri="{FF2B5EF4-FFF2-40B4-BE49-F238E27FC236}">
                <a16:creationId xmlns:a16="http://schemas.microsoft.com/office/drawing/2014/main" id="{E54C8D4E-269C-41CE-B369-49F9728A91F7}"/>
              </a:ext>
            </a:extLst>
          </p:cNvPr>
          <p:cNvSpPr/>
          <p:nvPr/>
        </p:nvSpPr>
        <p:spPr>
          <a:xfrm>
            <a:off x="6283563" y="2430912"/>
            <a:ext cx="756678" cy="360634"/>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400">
                <a:solidFill>
                  <a:sysClr val="windowText" lastClr="000000"/>
                </a:solidFill>
                <a:latin typeface="Aptos" panose="020B0004020202020204"/>
              </a:rPr>
              <a:t>2</a:t>
            </a:r>
            <a:r>
              <a:rPr kumimoji="0" lang="pt-BR" sz="1400" b="0" i="0" u="none" strike="noStrike" kern="1200" cap="none" spc="0" normalizeH="0" baseline="0" noProof="0">
                <a:ln>
                  <a:noFill/>
                </a:ln>
                <a:solidFill>
                  <a:sysClr val="windowText" lastClr="000000"/>
                </a:solidFill>
                <a:effectLst/>
                <a:uLnTx/>
                <a:uFillTx/>
                <a:latin typeface="Aptos" panose="020B0004020202020204"/>
                <a:ea typeface="+mn-ea"/>
                <a:cs typeface="+mn-cs"/>
              </a:rPr>
              <a:t>.01</a:t>
            </a:r>
          </a:p>
        </p:txBody>
      </p:sp>
      <p:sp>
        <p:nvSpPr>
          <p:cNvPr id="215" name="Título 1">
            <a:extLst>
              <a:ext uri="{FF2B5EF4-FFF2-40B4-BE49-F238E27FC236}">
                <a16:creationId xmlns:a16="http://schemas.microsoft.com/office/drawing/2014/main" id="{95B8F0D0-3589-44C6-85F7-E3915F4660E0}"/>
              </a:ext>
            </a:extLst>
          </p:cNvPr>
          <p:cNvSpPr txBox="1"/>
          <p:nvPr/>
        </p:nvSpPr>
        <p:spPr>
          <a:xfrm>
            <a:off x="207355" y="86336"/>
            <a:ext cx="8453563" cy="483772"/>
          </a:xfrm>
          <a:prstGeom prst="rect">
            <a:avLst/>
          </a:prstGeom>
          <a:noFill/>
          <a:ln cap="flat">
            <a:noFill/>
          </a:ln>
        </p:spPr>
        <p:txBody>
          <a:bodyPr vert="horz" wrap="square" lIns="75730" tIns="37865" rIns="75730" bIns="37865" anchor="ctr" anchorCtr="0" compatLnSpc="1">
            <a:noAutofit/>
          </a:bodyPr>
          <a:lstStyle/>
          <a:p>
            <a:pPr marL="0" marR="0" lvl="0" indent="0" algn="l" defTabSz="914400" rtl="0" eaLnBrk="1" fontAlgn="auto" latinLnBrk="0" hangingPunct="1">
              <a:lnSpc>
                <a:spcPct val="90000"/>
              </a:lnSpc>
              <a:spcBef>
                <a:spcPts val="0"/>
              </a:spcBef>
              <a:spcAft>
                <a:spcPts val="0"/>
              </a:spcAft>
              <a:buClrTx/>
              <a:buSzTx/>
              <a:buFontTx/>
              <a:buNone/>
              <a:tabLst/>
              <a:defRPr sz="1800" b="0" i="0" u="none" strike="noStrike" kern="0" cap="none" spc="0" baseline="0">
                <a:solidFill>
                  <a:srgbClr val="000000"/>
                </a:solidFill>
                <a:uFillTx/>
              </a:defRPr>
            </a:pPr>
            <a:r>
              <a:rPr kumimoji="0" lang="en-GB" sz="2000" b="1" i="0" u="none" strike="noStrike" kern="0" cap="none" spc="0" normalizeH="0" baseline="0" noProof="0">
                <a:ln>
                  <a:noFill/>
                </a:ln>
                <a:solidFill>
                  <a:srgbClr val="000000"/>
                </a:solidFill>
                <a:effectLst/>
                <a:uLnTx/>
                <a:uFillTx/>
                <a:latin typeface="Roboto"/>
                <a:ea typeface="Roboto"/>
                <a:cs typeface="Samsung Sharp Sans Bold" pitchFamily="2"/>
              </a:rPr>
              <a:t>BIG NUMBERS</a:t>
            </a:r>
            <a:r>
              <a:rPr kumimoji="0" lang="en-GB" sz="2000" b="1" i="0" u="none" strike="noStrike" kern="1200" cap="none" spc="0" normalizeH="0" baseline="0" noProof="0">
                <a:ln>
                  <a:noFill/>
                </a:ln>
                <a:solidFill>
                  <a:srgbClr val="000000"/>
                </a:solidFill>
                <a:effectLst/>
                <a:uLnTx/>
                <a:uFillTx/>
                <a:latin typeface="Roboto"/>
                <a:ea typeface="Roboto"/>
                <a:cs typeface="Samsung Sharp Sans Bold" pitchFamily="2"/>
              </a:rPr>
              <a:t> | </a:t>
            </a:r>
            <a:r>
              <a:rPr kumimoji="0" lang="en-GB" sz="2000" b="1" i="0" u="none" strike="noStrike" kern="0" cap="none" spc="0" normalizeH="0" baseline="0" noProof="0">
                <a:ln>
                  <a:noFill/>
                </a:ln>
                <a:solidFill>
                  <a:srgbClr val="1428A0"/>
                </a:solidFill>
                <a:effectLst/>
                <a:uLnTx/>
                <a:uFillTx/>
                <a:latin typeface="Roboto"/>
                <a:ea typeface="Roboto"/>
                <a:cs typeface="Samsung Sharp Sans Bold" pitchFamily="2"/>
              </a:rPr>
              <a:t>KPIs</a:t>
            </a:r>
            <a:r>
              <a:rPr kumimoji="0" lang="en-GB" sz="2000" b="1" i="0" u="none" strike="noStrike" kern="1200" cap="none" spc="0" normalizeH="0" baseline="0" noProof="0">
                <a:ln>
                  <a:noFill/>
                </a:ln>
                <a:solidFill>
                  <a:srgbClr val="1428A0"/>
                </a:solidFill>
                <a:effectLst/>
                <a:uLnTx/>
                <a:uFillTx/>
                <a:latin typeface="Roboto"/>
                <a:ea typeface="Roboto"/>
                <a:cs typeface="Samsung Sharp Sans Bold" pitchFamily="2"/>
              </a:rPr>
              <a:t> </a:t>
            </a:r>
            <a:r>
              <a:rPr lang="en-GB" sz="2000" b="1">
                <a:solidFill>
                  <a:srgbClr val="1428A0"/>
                </a:solidFill>
                <a:latin typeface="Roboto"/>
                <a:ea typeface="Roboto"/>
                <a:cs typeface="Samsung Sharp Sans Bold" pitchFamily="2"/>
              </a:rPr>
              <a:t>August</a:t>
            </a:r>
            <a:r>
              <a:rPr kumimoji="0" lang="en-GB" sz="2000" b="1" i="0" u="none" strike="noStrike" kern="1200" cap="none" spc="0" normalizeH="0" baseline="0" noProof="0">
                <a:ln>
                  <a:noFill/>
                </a:ln>
                <a:solidFill>
                  <a:srgbClr val="1428A0"/>
                </a:solidFill>
                <a:effectLst/>
                <a:uLnTx/>
                <a:uFillTx/>
                <a:latin typeface="Roboto"/>
                <a:ea typeface="Roboto"/>
                <a:cs typeface="Samsung Sharp Sans Bold" pitchFamily="2"/>
              </a:rPr>
              <a:t> 2026</a:t>
            </a:r>
          </a:p>
        </p:txBody>
      </p:sp>
      <p:cxnSp>
        <p:nvCxnSpPr>
          <p:cNvPr id="118" name="Straight Arrow Connector 4">
            <a:extLst>
              <a:ext uri="{FF2B5EF4-FFF2-40B4-BE49-F238E27FC236}">
                <a16:creationId xmlns:a16="http://schemas.microsoft.com/office/drawing/2014/main" id="{FFF8AF3A-B1E7-4493-A096-1F78CEB8561A}"/>
              </a:ext>
            </a:extLst>
          </p:cNvPr>
          <p:cNvCxnSpPr>
            <a:cxnSpLocks/>
          </p:cNvCxnSpPr>
          <p:nvPr/>
        </p:nvCxnSpPr>
        <p:spPr>
          <a:xfrm>
            <a:off x="9016969" y="2228850"/>
            <a:ext cx="7554" cy="4281017"/>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76" name="Google Shape;333;p27">
            <a:extLst>
              <a:ext uri="{FF2B5EF4-FFF2-40B4-BE49-F238E27FC236}">
                <a16:creationId xmlns:a16="http://schemas.microsoft.com/office/drawing/2014/main" id="{532CA792-6582-4384-81E7-252D6456C1BB}"/>
              </a:ext>
            </a:extLst>
          </p:cNvPr>
          <p:cNvSpPr/>
          <p:nvPr/>
        </p:nvSpPr>
        <p:spPr>
          <a:xfrm>
            <a:off x="207355" y="556402"/>
            <a:ext cx="11626057" cy="444743"/>
          </a:xfrm>
          <a:prstGeom prst="roundRect">
            <a:avLst>
              <a:gd name="adj" fmla="val 0"/>
            </a:avLst>
          </a:prstGeom>
          <a:noFill/>
          <a:ln w="9525" cap="flat" cmpd="sng">
            <a:noFill/>
            <a:prstDash val="solid"/>
            <a:round/>
            <a:headEnd type="none" w="sm" len="sm"/>
            <a:tailEnd type="none" w="sm" len="sm"/>
          </a:ln>
        </p:spPr>
        <p:txBody>
          <a:bodyPr spcFirstLastPara="1" wrap="square" lIns="72000" tIns="36000" rIns="72000" bIns="36000" anchor="t" anchorCtr="0">
            <a:noAutofit/>
          </a:bodyPr>
          <a:lstStyle>
            <a:defPPr marL="0" marR="0" indent="0" algn="l" defTabSz="914400" rtl="0" fontAlgn="auto" latinLnBrk="1" hangingPunct="0">
              <a:lnSpc>
                <a:spcPct val="100000"/>
              </a:lnSpc>
              <a:spcBef>
                <a:spcPts val="0"/>
              </a:spcBef>
              <a:spcAft>
                <a:spcPts val="0"/>
              </a:spcAft>
              <a:buClrTx/>
              <a:buSzTx/>
              <a:buFontTx/>
              <a:buNone/>
              <a:tabLst/>
              <a:defRPr kumimoji="0" lang="de-DE" sz="1800" b="0" i="0" u="none" strike="noStrike" cap="none" spc="0" normalizeH="0" baseline="0">
                <a:ln>
                  <a:noFill/>
                </a:ln>
                <a:solidFill>
                  <a:srgbClr val="000000"/>
                </a:solidFill>
                <a:effectLst/>
                <a:uFillTx/>
              </a:defRPr>
            </a:defPPr>
            <a:lvl1pPr marL="0" marR="0" indent="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1pPr>
            <a:lvl2pPr marL="0" marR="0" indent="4572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2pPr>
            <a:lvl3pPr marL="0" marR="0" indent="9144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3pPr>
            <a:lvl4pPr marL="0" marR="0" indent="13716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4pPr>
            <a:lvl5pPr marL="0" marR="0" indent="18288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5pPr>
            <a:lvl6pPr marL="0" marR="0" indent="22860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6pPr>
            <a:lvl7pPr marL="0" marR="0" indent="27432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7pPr>
            <a:lvl8pPr marL="0" marR="0" indent="32004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8pPr>
            <a:lvl9pPr marL="0" marR="0" indent="36576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9p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a:sym typeface="SamsungOne 400"/>
              </a:rPr>
              <a:t>August reached </a:t>
            </a:r>
            <a:r>
              <a:rPr kumimoji="0" lang="en-US" sz="1100" b="1"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a:sym typeface="SamsungOne 400"/>
              </a:rPr>
              <a:t>R$7.8M | 2.01 G/R</a:t>
            </a:r>
            <a:r>
              <a:rPr kumimoji="0" lang="en-US" sz="11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a:sym typeface="SamsungOne 400"/>
              </a:rPr>
              <a:t>, with </a:t>
            </a:r>
            <a:r>
              <a:rPr kumimoji="0" lang="en-US" sz="110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a:sym typeface="SamsungOne 400"/>
              </a:rPr>
              <a:t>growth driven mostly by </a:t>
            </a:r>
            <a:r>
              <a:rPr kumimoji="0" lang="en-US" sz="1100" b="1"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a:sym typeface="SamsungOne 400"/>
              </a:rPr>
              <a:t>Email</a:t>
            </a:r>
            <a:r>
              <a:rPr kumimoji="0" lang="en-US" sz="11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a:sym typeface="SamsungOne 400"/>
              </a:rPr>
              <a:t>, while A/R closed at </a:t>
            </a:r>
            <a:r>
              <a:rPr lang="en-US" sz="1100">
                <a:latin typeface="Roboto" panose="02000000000000000000" pitchFamily="2" charset="0"/>
                <a:ea typeface="Roboto" panose="02000000000000000000" pitchFamily="2" charset="0"/>
                <a:cs typeface="Roboto"/>
              </a:rPr>
              <a:t>1.2 above the goal</a:t>
            </a:r>
            <a:r>
              <a:rPr kumimoji="0" lang="en-US" sz="11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a:sym typeface="SamsungOne 400"/>
              </a:rPr>
              <a:t>.</a:t>
            </a:r>
            <a:r>
              <a:rPr kumimoji="0" lang="pt-BR" sz="11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a:sym typeface="SamsungOne 400"/>
              </a:rPr>
              <a:t> </a:t>
            </a:r>
            <a:endParaRPr kumimoji="0" lang="en-US" sz="10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a:sym typeface="SamsungOne 400"/>
            </a:endParaRPr>
          </a:p>
        </p:txBody>
      </p:sp>
      <p:grpSp>
        <p:nvGrpSpPr>
          <p:cNvPr id="26" name="Agrupar 25">
            <a:extLst>
              <a:ext uri="{FF2B5EF4-FFF2-40B4-BE49-F238E27FC236}">
                <a16:creationId xmlns:a16="http://schemas.microsoft.com/office/drawing/2014/main" id="{457077D1-6296-4CA8-B070-CDB087919E73}"/>
              </a:ext>
            </a:extLst>
          </p:cNvPr>
          <p:cNvGrpSpPr/>
          <p:nvPr/>
        </p:nvGrpSpPr>
        <p:grpSpPr>
          <a:xfrm>
            <a:off x="501612" y="2406935"/>
            <a:ext cx="1729993" cy="4311842"/>
            <a:chOff x="501612" y="2406935"/>
            <a:chExt cx="1729993" cy="4311842"/>
          </a:xfrm>
        </p:grpSpPr>
        <p:grpSp>
          <p:nvGrpSpPr>
            <p:cNvPr id="14" name="Agrupar 13">
              <a:extLst>
                <a:ext uri="{FF2B5EF4-FFF2-40B4-BE49-F238E27FC236}">
                  <a16:creationId xmlns:a16="http://schemas.microsoft.com/office/drawing/2014/main" id="{5EBFDE60-69C5-4D6C-8130-45A9CF0E580B}"/>
                </a:ext>
              </a:extLst>
            </p:cNvPr>
            <p:cNvGrpSpPr/>
            <p:nvPr/>
          </p:nvGrpSpPr>
          <p:grpSpPr>
            <a:xfrm>
              <a:off x="520224" y="2406935"/>
              <a:ext cx="1711381" cy="572450"/>
              <a:chOff x="519811" y="2333047"/>
              <a:chExt cx="1711381" cy="572450"/>
            </a:xfrm>
          </p:grpSpPr>
          <p:sp>
            <p:nvSpPr>
              <p:cNvPr id="20" name="Retângulo 28">
                <a:extLst>
                  <a:ext uri="{FF2B5EF4-FFF2-40B4-BE49-F238E27FC236}">
                    <a16:creationId xmlns:a16="http://schemas.microsoft.com/office/drawing/2014/main" id="{EA6AADDA-5134-4CC4-A03B-339CFD3BE9D5}"/>
                  </a:ext>
                </a:extLst>
              </p:cNvPr>
              <p:cNvSpPr/>
              <p:nvPr/>
            </p:nvSpPr>
            <p:spPr>
              <a:xfrm>
                <a:off x="531367" y="2333047"/>
                <a:ext cx="1692975" cy="185818"/>
              </a:xfrm>
              <a:prstGeom prst="rect">
                <a:avLst/>
              </a:prstGeom>
              <a:solidFill>
                <a:srgbClr val="000000"/>
              </a:solidFill>
              <a:ln cap="flat">
                <a:noFill/>
                <a:prstDash val="solid"/>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000" b="0" i="0" u="none" strike="noStrike" kern="1200" cap="none" spc="0" normalizeH="0" baseline="0" noProof="0">
                    <a:ln>
                      <a:noFill/>
                    </a:ln>
                    <a:solidFill>
                      <a:srgbClr val="FFFFFF"/>
                    </a:solidFill>
                    <a:effectLst/>
                    <a:uLnTx/>
                    <a:uFillTx/>
                    <a:latin typeface="SamsungOne 400"/>
                    <a:ea typeface="SamsungOneKoreanOTF 400"/>
                    <a:cs typeface="+mn-cs"/>
                  </a:rPr>
                  <a:t>REVENUE        </a:t>
                </a:r>
                <a:r>
                  <a:rPr kumimoji="0" lang="pt-BR" sz="1000" b="0" i="0" u="none" strike="noStrike" kern="0" cap="none" spc="0" normalizeH="0" baseline="0" noProof="0">
                    <a:ln>
                      <a:noFill/>
                    </a:ln>
                    <a:solidFill>
                      <a:srgbClr val="FFFFFF"/>
                    </a:solidFill>
                    <a:effectLst/>
                    <a:uLnTx/>
                    <a:uFillTx/>
                    <a:latin typeface="SamsungOne 400"/>
                    <a:ea typeface="SamsungOneKoreanOTF 400"/>
                    <a:cs typeface="+mn-cs"/>
                  </a:rPr>
                  <a:t> |       G/R</a:t>
                </a:r>
                <a:endParaRPr kumimoji="0" lang="pt-BR" sz="1000" b="0" i="0" u="none" strike="noStrike" kern="1200" cap="none" spc="0" normalizeH="0" baseline="0" noProof="0">
                  <a:ln>
                    <a:noFill/>
                  </a:ln>
                  <a:solidFill>
                    <a:srgbClr val="FFFFFF"/>
                  </a:solidFill>
                  <a:effectLst/>
                  <a:uLnTx/>
                  <a:uFillTx/>
                  <a:latin typeface="SamsungOne 400"/>
                  <a:ea typeface="SamsungOneKoreanOTF 400"/>
                  <a:cs typeface="+mn-cs"/>
                </a:endParaRPr>
              </a:p>
            </p:txBody>
          </p:sp>
          <p:grpSp>
            <p:nvGrpSpPr>
              <p:cNvPr id="13" name="Agrupar 12">
                <a:extLst>
                  <a:ext uri="{FF2B5EF4-FFF2-40B4-BE49-F238E27FC236}">
                    <a16:creationId xmlns:a16="http://schemas.microsoft.com/office/drawing/2014/main" id="{970BA46B-C150-4AA4-BF5D-7A2C6293BC44}"/>
                  </a:ext>
                </a:extLst>
              </p:cNvPr>
              <p:cNvGrpSpPr/>
              <p:nvPr/>
            </p:nvGrpSpPr>
            <p:grpSpPr>
              <a:xfrm>
                <a:off x="519811" y="2536002"/>
                <a:ext cx="1711381" cy="369495"/>
                <a:chOff x="528183" y="2536002"/>
                <a:chExt cx="1711381" cy="369495"/>
              </a:xfrm>
            </p:grpSpPr>
            <p:sp>
              <p:nvSpPr>
                <p:cNvPr id="3" name="Retângulo 29">
                  <a:extLst>
                    <a:ext uri="{FF2B5EF4-FFF2-40B4-BE49-F238E27FC236}">
                      <a16:creationId xmlns:a16="http://schemas.microsoft.com/office/drawing/2014/main" id="{CFD846DA-C938-4B54-A052-22F9FF19ED20}"/>
                    </a:ext>
                  </a:extLst>
                </p:cNvPr>
                <p:cNvSpPr/>
                <p:nvPr/>
              </p:nvSpPr>
              <p:spPr>
                <a:xfrm>
                  <a:off x="546589" y="2536002"/>
                  <a:ext cx="1692975" cy="369495"/>
                </a:xfrm>
                <a:prstGeom prst="rect">
                  <a:avLst/>
                </a:prstGeom>
                <a:solidFill>
                  <a:srgbClr val="D9D9D9"/>
                </a:solidFill>
                <a:ln cap="flat">
                  <a:noFill/>
                  <a:prstDash val="solid"/>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pt-BR" sz="1600" b="0" i="0" u="none" strike="noStrike" kern="1200" cap="none" spc="0" normalizeH="0" baseline="0" noProof="0">
                    <a:ln>
                      <a:noFill/>
                    </a:ln>
                    <a:solidFill>
                      <a:srgbClr val="FFFFFF"/>
                    </a:solidFill>
                    <a:effectLst/>
                    <a:uLnTx/>
                    <a:uFillTx/>
                    <a:latin typeface="SamsungOne 400"/>
                    <a:ea typeface="SamsungOneKoreanOTF 400"/>
                    <a:cs typeface="+mn-cs"/>
                  </a:endParaRPr>
                </a:p>
              </p:txBody>
            </p:sp>
            <p:sp>
              <p:nvSpPr>
                <p:cNvPr id="7" name="CaixaDeTexto 8">
                  <a:extLst>
                    <a:ext uri="{FF2B5EF4-FFF2-40B4-BE49-F238E27FC236}">
                      <a16:creationId xmlns:a16="http://schemas.microsoft.com/office/drawing/2014/main" id="{F5CBCC89-559A-4568-A6D0-F35AEEA58532}"/>
                    </a:ext>
                  </a:extLst>
                </p:cNvPr>
                <p:cNvSpPr txBox="1"/>
                <p:nvPr/>
              </p:nvSpPr>
              <p:spPr>
                <a:xfrm>
                  <a:off x="1575015" y="2551472"/>
                  <a:ext cx="576000" cy="338554"/>
                </a:xfrm>
                <a:prstGeom prst="rect">
                  <a:avLst/>
                </a:prstGeom>
                <a:noFill/>
                <a:ln cap="flat">
                  <a:noFill/>
                </a:ln>
              </p:spPr>
              <p:txBody>
                <a:bodyPr vert="horz" wrap="square" lIns="91440" tIns="45720" rIns="91440" bIns="45720" anchor="t" anchorCtr="0" compatLnSpc="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600" b="1" i="0" u="none" strike="noStrike" kern="0" cap="none" spc="0" normalizeH="0" baseline="0" noProof="0">
                      <a:ln>
                        <a:noFill/>
                      </a:ln>
                      <a:solidFill>
                        <a:srgbClr val="000000"/>
                      </a:solidFill>
                      <a:effectLst/>
                      <a:uLnTx/>
                      <a:uFillTx/>
                      <a:latin typeface="SamsungOne 400"/>
                      <a:ea typeface="SamsungOneKoreanOTF 400"/>
                      <a:cs typeface="+mn-cs"/>
                    </a:rPr>
                    <a:t>2.01</a:t>
                  </a:r>
                  <a:endParaRPr kumimoji="0" lang="pt-BR" sz="1600" b="1" i="0" u="none" strike="noStrike" kern="1200" cap="none" spc="0" normalizeH="0" baseline="0" noProof="0">
                    <a:ln>
                      <a:noFill/>
                    </a:ln>
                    <a:solidFill>
                      <a:srgbClr val="000000"/>
                    </a:solidFill>
                    <a:effectLst/>
                    <a:uLnTx/>
                    <a:uFillTx/>
                    <a:latin typeface="SamsungOne 400"/>
                    <a:ea typeface="SamsungOneKoreanOTF 400"/>
                    <a:cs typeface="+mn-cs"/>
                  </a:endParaRPr>
                </a:p>
              </p:txBody>
            </p:sp>
            <p:sp>
              <p:nvSpPr>
                <p:cNvPr id="117" name="CaixaDeTexto 7">
                  <a:extLst>
                    <a:ext uri="{FF2B5EF4-FFF2-40B4-BE49-F238E27FC236}">
                      <a16:creationId xmlns:a16="http://schemas.microsoft.com/office/drawing/2014/main" id="{F4FE0515-C873-4E31-9AFA-D5CBB4C49E14}"/>
                    </a:ext>
                  </a:extLst>
                </p:cNvPr>
                <p:cNvSpPr txBox="1"/>
                <p:nvPr/>
              </p:nvSpPr>
              <p:spPr>
                <a:xfrm>
                  <a:off x="528183" y="2551472"/>
                  <a:ext cx="1046832" cy="338554"/>
                </a:xfrm>
                <a:prstGeom prst="rect">
                  <a:avLst/>
                </a:prstGeom>
                <a:noFill/>
                <a:ln cap="flat">
                  <a:noFill/>
                </a:ln>
              </p:spPr>
              <p:txBody>
                <a:bodyPr vert="horz" wrap="square" lIns="91440" tIns="45720" rIns="91440" bIns="45720"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600" b="0" i="0" u="none" strike="noStrike" kern="0" cap="none" spc="0" normalizeH="0" baseline="0" noProof="0">
                      <a:ln>
                        <a:noFill/>
                      </a:ln>
                      <a:solidFill>
                        <a:srgbClr val="000000"/>
                      </a:solidFill>
                      <a:effectLst/>
                      <a:uLnTx/>
                      <a:uFillTx/>
                      <a:latin typeface="SamsungOne 400"/>
                      <a:ea typeface="SamsungOneKoreanOTF 400"/>
                      <a:cs typeface="+mn-cs"/>
                    </a:rPr>
                    <a:t>R$ 7,8M</a:t>
                  </a:r>
                  <a:endParaRPr kumimoji="0" lang="pt-BR" sz="1600" b="0" i="0" u="none" strike="noStrike" kern="1200" cap="none" spc="0" normalizeH="0" baseline="0" noProof="0">
                    <a:ln>
                      <a:noFill/>
                    </a:ln>
                    <a:solidFill>
                      <a:srgbClr val="000000"/>
                    </a:solidFill>
                    <a:effectLst/>
                    <a:uLnTx/>
                    <a:uFillTx/>
                    <a:latin typeface="SamsungOne 400"/>
                    <a:ea typeface="SamsungOneKoreanOTF 400"/>
                    <a:cs typeface="+mn-cs"/>
                  </a:endParaRPr>
                </a:p>
              </p:txBody>
            </p:sp>
          </p:grpSp>
        </p:grpSp>
        <p:grpSp>
          <p:nvGrpSpPr>
            <p:cNvPr id="22" name="Agrupar 21">
              <a:extLst>
                <a:ext uri="{FF2B5EF4-FFF2-40B4-BE49-F238E27FC236}">
                  <a16:creationId xmlns:a16="http://schemas.microsoft.com/office/drawing/2014/main" id="{DCD37186-F328-445D-9492-ACD56277C0DC}"/>
                </a:ext>
              </a:extLst>
            </p:cNvPr>
            <p:cNvGrpSpPr/>
            <p:nvPr/>
          </p:nvGrpSpPr>
          <p:grpSpPr>
            <a:xfrm>
              <a:off x="501612" y="2994040"/>
              <a:ext cx="1729993" cy="1003477"/>
              <a:chOff x="501612" y="2920152"/>
              <a:chExt cx="1729993" cy="1003477"/>
            </a:xfrm>
          </p:grpSpPr>
          <p:sp>
            <p:nvSpPr>
              <p:cNvPr id="19" name="Retângulo 27">
                <a:extLst>
                  <a:ext uri="{FF2B5EF4-FFF2-40B4-BE49-F238E27FC236}">
                    <a16:creationId xmlns:a16="http://schemas.microsoft.com/office/drawing/2014/main" id="{ADADA014-7828-42B1-9E65-1B967E8CC068}"/>
                  </a:ext>
                </a:extLst>
              </p:cNvPr>
              <p:cNvSpPr/>
              <p:nvPr/>
            </p:nvSpPr>
            <p:spPr>
              <a:xfrm>
                <a:off x="531367" y="2920152"/>
                <a:ext cx="1692975" cy="332228"/>
              </a:xfrm>
              <a:prstGeom prst="rect">
                <a:avLst/>
              </a:prstGeom>
              <a:solidFill>
                <a:srgbClr val="000000"/>
              </a:solidFill>
              <a:ln cap="flat">
                <a:noFill/>
                <a:prstDash val="solid"/>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000" b="0" i="0" u="none" strike="noStrike" kern="1200" cap="none" spc="0" normalizeH="0" baseline="0" noProof="0">
                    <a:ln>
                      <a:noFill/>
                    </a:ln>
                    <a:solidFill>
                      <a:srgbClr val="FFFFFF"/>
                    </a:solidFill>
                    <a:effectLst/>
                    <a:uLnTx/>
                    <a:uFillTx/>
                    <a:latin typeface="SamsungOne 400"/>
                    <a:ea typeface="SamsungOneKoreanOTF 400"/>
                    <a:cs typeface="+mn-cs"/>
                  </a:rPr>
                  <a:t>CRM CHANNELS</a:t>
                </a:r>
              </a:p>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000" b="0" i="0" u="none" strike="noStrike" kern="1200" cap="none" spc="0" normalizeH="0" baseline="0" noProof="0">
                    <a:ln>
                      <a:noFill/>
                    </a:ln>
                    <a:solidFill>
                      <a:srgbClr val="FFFFFF"/>
                    </a:solidFill>
                    <a:effectLst/>
                    <a:uLnTx/>
                    <a:uFillTx/>
                    <a:latin typeface="SamsungOne 400"/>
                    <a:ea typeface="SamsungOneKoreanOTF 400"/>
                    <a:cs typeface="+mn-cs"/>
                  </a:rPr>
                  <a:t>REVENUE        </a:t>
                </a:r>
                <a:r>
                  <a:rPr kumimoji="0" lang="pt-BR" sz="1000" b="0" i="0" u="none" strike="noStrike" kern="0" cap="none" spc="0" normalizeH="0" baseline="0" noProof="0">
                    <a:ln>
                      <a:noFill/>
                    </a:ln>
                    <a:solidFill>
                      <a:srgbClr val="FFFFFF"/>
                    </a:solidFill>
                    <a:effectLst/>
                    <a:uLnTx/>
                    <a:uFillTx/>
                    <a:latin typeface="SamsungOne 400"/>
                    <a:ea typeface="SamsungOneKoreanOTF 400"/>
                    <a:cs typeface="+mn-cs"/>
                  </a:rPr>
                  <a:t> |       G/R</a:t>
                </a:r>
                <a:endParaRPr kumimoji="0" lang="pt-BR" sz="1000" b="0" i="0" u="none" strike="noStrike" kern="1200" cap="none" spc="0" normalizeH="0" baseline="0" noProof="0">
                  <a:ln>
                    <a:noFill/>
                  </a:ln>
                  <a:solidFill>
                    <a:srgbClr val="FFFFFF"/>
                  </a:solidFill>
                  <a:effectLst/>
                  <a:uLnTx/>
                  <a:uFillTx/>
                  <a:latin typeface="SamsungOne 400"/>
                  <a:ea typeface="SamsungOneKoreanOTF 400"/>
                  <a:cs typeface="+mn-cs"/>
                </a:endParaRPr>
              </a:p>
            </p:txBody>
          </p:sp>
          <p:grpSp>
            <p:nvGrpSpPr>
              <p:cNvPr id="15" name="Agrupar 14">
                <a:extLst>
                  <a:ext uri="{FF2B5EF4-FFF2-40B4-BE49-F238E27FC236}">
                    <a16:creationId xmlns:a16="http://schemas.microsoft.com/office/drawing/2014/main" id="{107B6B99-DCAD-4E16-B72D-FB25263E42FC}"/>
                  </a:ext>
                </a:extLst>
              </p:cNvPr>
              <p:cNvGrpSpPr/>
              <p:nvPr/>
            </p:nvGrpSpPr>
            <p:grpSpPr>
              <a:xfrm>
                <a:off x="501612" y="3270489"/>
                <a:ext cx="1729993" cy="653140"/>
                <a:chOff x="501612" y="3270489"/>
                <a:chExt cx="1729993" cy="653140"/>
              </a:xfrm>
            </p:grpSpPr>
            <p:grpSp>
              <p:nvGrpSpPr>
                <p:cNvPr id="4" name="Agrupar 3">
                  <a:extLst>
                    <a:ext uri="{FF2B5EF4-FFF2-40B4-BE49-F238E27FC236}">
                      <a16:creationId xmlns:a16="http://schemas.microsoft.com/office/drawing/2014/main" id="{8DBADD57-29BE-4DC5-A0A4-47A82B767E9E}"/>
                    </a:ext>
                  </a:extLst>
                </p:cNvPr>
                <p:cNvGrpSpPr/>
                <p:nvPr/>
              </p:nvGrpSpPr>
              <p:grpSpPr>
                <a:xfrm>
                  <a:off x="501612" y="3455629"/>
                  <a:ext cx="1729993" cy="468000"/>
                  <a:chOff x="510396" y="3455629"/>
                  <a:chExt cx="1729993" cy="468000"/>
                </a:xfrm>
              </p:grpSpPr>
              <p:sp>
                <p:nvSpPr>
                  <p:cNvPr id="11" name="Retângulo 14">
                    <a:extLst>
                      <a:ext uri="{FF2B5EF4-FFF2-40B4-BE49-F238E27FC236}">
                        <a16:creationId xmlns:a16="http://schemas.microsoft.com/office/drawing/2014/main" id="{2B615650-F5C5-42B3-B375-4EE76162AC4B}"/>
                      </a:ext>
                    </a:extLst>
                  </p:cNvPr>
                  <p:cNvSpPr/>
                  <p:nvPr/>
                </p:nvSpPr>
                <p:spPr>
                  <a:xfrm>
                    <a:off x="547414" y="3455629"/>
                    <a:ext cx="1692975" cy="468000"/>
                  </a:xfrm>
                  <a:prstGeom prst="rect">
                    <a:avLst/>
                  </a:prstGeom>
                  <a:solidFill>
                    <a:schemeClr val="bg2">
                      <a:lumMod val="90000"/>
                    </a:schemeClr>
                  </a:solidFill>
                  <a:ln cap="flat">
                    <a:noFill/>
                    <a:prstDash val="solid"/>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pt-BR" sz="1600" b="0" i="0" u="none" strike="noStrike" kern="1200" cap="none" spc="0" normalizeH="0" baseline="0" noProof="0">
                      <a:ln>
                        <a:noFill/>
                      </a:ln>
                      <a:solidFill>
                        <a:prstClr val="white"/>
                      </a:solidFill>
                      <a:effectLst/>
                      <a:uLnTx/>
                      <a:uFillTx/>
                      <a:latin typeface="SamsungOne 400"/>
                      <a:ea typeface="SamsungOneKoreanOTF 400"/>
                      <a:cs typeface="+mn-cs"/>
                    </a:endParaRPr>
                  </a:p>
                </p:txBody>
              </p:sp>
              <p:sp>
                <p:nvSpPr>
                  <p:cNvPr id="89" name="CaixaDeTexto 8">
                    <a:extLst>
                      <a:ext uri="{FF2B5EF4-FFF2-40B4-BE49-F238E27FC236}">
                        <a16:creationId xmlns:a16="http://schemas.microsoft.com/office/drawing/2014/main" id="{4881D7F8-2054-4DC2-8E80-5B27DB92F8B4}"/>
                      </a:ext>
                    </a:extLst>
                  </p:cNvPr>
                  <p:cNvSpPr txBox="1"/>
                  <p:nvPr/>
                </p:nvSpPr>
                <p:spPr>
                  <a:xfrm>
                    <a:off x="1599177" y="3520352"/>
                    <a:ext cx="576000" cy="338554"/>
                  </a:xfrm>
                  <a:prstGeom prst="rect">
                    <a:avLst/>
                  </a:prstGeom>
                  <a:noFill/>
                  <a:ln cap="flat">
                    <a:noFill/>
                  </a:ln>
                </p:spPr>
                <p:txBody>
                  <a:bodyPr vert="horz" wrap="square" lIns="91440" tIns="45720" rIns="91440" bIns="45720" anchor="t" anchorCtr="0" compatLnSpc="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600" b="1" i="0" u="none" strike="noStrike" kern="0" cap="none" spc="0" normalizeH="0" baseline="0" noProof="0">
                        <a:ln>
                          <a:noFill/>
                        </a:ln>
                        <a:solidFill>
                          <a:srgbClr val="1428A0"/>
                        </a:solidFill>
                        <a:effectLst/>
                        <a:uLnTx/>
                        <a:uFillTx/>
                        <a:latin typeface="SamsungOne 400"/>
                        <a:ea typeface="SamsungOneKoreanOTF 400"/>
                        <a:cs typeface="+mn-cs"/>
                      </a:rPr>
                      <a:t>1.34</a:t>
                    </a:r>
                    <a:endParaRPr kumimoji="0" lang="pt-BR" sz="1600" b="1" i="0" u="none" strike="noStrike" kern="1200" cap="none" spc="0" normalizeH="0" baseline="0" noProof="0">
                      <a:ln>
                        <a:noFill/>
                      </a:ln>
                      <a:solidFill>
                        <a:srgbClr val="1428A0"/>
                      </a:solidFill>
                      <a:effectLst/>
                      <a:uLnTx/>
                      <a:uFillTx/>
                      <a:latin typeface="SamsungOne 400"/>
                      <a:ea typeface="SamsungOneKoreanOTF 400"/>
                      <a:cs typeface="+mn-cs"/>
                    </a:endParaRPr>
                  </a:p>
                </p:txBody>
              </p:sp>
              <p:sp>
                <p:nvSpPr>
                  <p:cNvPr id="91" name="CaixaDeTexto 7">
                    <a:extLst>
                      <a:ext uri="{FF2B5EF4-FFF2-40B4-BE49-F238E27FC236}">
                        <a16:creationId xmlns:a16="http://schemas.microsoft.com/office/drawing/2014/main" id="{C3A0B333-CD58-4EE9-BA5D-8F38A958DFFA}"/>
                      </a:ext>
                    </a:extLst>
                  </p:cNvPr>
                  <p:cNvSpPr txBox="1"/>
                  <p:nvPr/>
                </p:nvSpPr>
                <p:spPr>
                  <a:xfrm>
                    <a:off x="510396" y="3520352"/>
                    <a:ext cx="1087077" cy="338554"/>
                  </a:xfrm>
                  <a:prstGeom prst="rect">
                    <a:avLst/>
                  </a:prstGeom>
                  <a:noFill/>
                  <a:ln cap="flat">
                    <a:noFill/>
                  </a:ln>
                </p:spPr>
                <p:txBody>
                  <a:bodyPr vert="horz" wrap="square" lIns="91440" tIns="45720" rIns="91440" bIns="45720"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600" b="0" i="0" u="none" strike="noStrike" kern="0" cap="none" spc="0" normalizeH="0" baseline="0" noProof="0">
                        <a:ln>
                          <a:noFill/>
                        </a:ln>
                        <a:solidFill>
                          <a:srgbClr val="000000"/>
                        </a:solidFill>
                        <a:effectLst/>
                        <a:uLnTx/>
                        <a:uFillTx/>
                        <a:latin typeface="SamsungOne 400"/>
                        <a:ea typeface="SamsungOneKoreanOTF 400"/>
                        <a:cs typeface="+mn-cs"/>
                      </a:rPr>
                      <a:t>R$ 2,0M</a:t>
                    </a:r>
                    <a:endParaRPr kumimoji="0" lang="pt-BR" sz="1600" b="0" i="0" u="none" strike="noStrike" kern="1200" cap="none" spc="0" normalizeH="0" baseline="0" noProof="0">
                      <a:ln>
                        <a:noFill/>
                      </a:ln>
                      <a:solidFill>
                        <a:srgbClr val="000000"/>
                      </a:solidFill>
                      <a:effectLst/>
                      <a:uLnTx/>
                      <a:uFillTx/>
                      <a:latin typeface="SamsungOne 400"/>
                      <a:ea typeface="SamsungOneKoreanOTF 400"/>
                      <a:cs typeface="+mn-cs"/>
                    </a:endParaRPr>
                  </a:p>
                </p:txBody>
              </p:sp>
            </p:grpSp>
            <p:sp>
              <p:nvSpPr>
                <p:cNvPr id="92" name="Retângulo 27">
                  <a:extLst>
                    <a:ext uri="{FF2B5EF4-FFF2-40B4-BE49-F238E27FC236}">
                      <a16:creationId xmlns:a16="http://schemas.microsoft.com/office/drawing/2014/main" id="{1DD34D08-BC79-43C0-829B-867460DCD9C5}"/>
                    </a:ext>
                  </a:extLst>
                </p:cNvPr>
                <p:cNvSpPr/>
                <p:nvPr/>
              </p:nvSpPr>
              <p:spPr>
                <a:xfrm>
                  <a:off x="531367" y="3270489"/>
                  <a:ext cx="1692975" cy="185818"/>
                </a:xfrm>
                <a:prstGeom prst="rect">
                  <a:avLst/>
                </a:prstGeom>
                <a:solidFill>
                  <a:srgbClr val="203764"/>
                </a:solidFill>
                <a:ln cap="flat">
                  <a:noFill/>
                  <a:prstDash val="solid"/>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000" b="0" i="0" u="none" strike="noStrike" kern="0" cap="none" spc="0" normalizeH="0" baseline="0" noProof="0">
                      <a:ln>
                        <a:noFill/>
                      </a:ln>
                      <a:solidFill>
                        <a:srgbClr val="FFFFFF"/>
                      </a:solidFill>
                      <a:effectLst/>
                      <a:uLnTx/>
                      <a:uFillTx/>
                      <a:latin typeface="SamsungOne 400"/>
                      <a:ea typeface="SamsungOneKoreanOTF 400"/>
                      <a:cs typeface="+mn-cs"/>
                    </a:rPr>
                    <a:t>APP PUSH</a:t>
                  </a:r>
                  <a:endParaRPr kumimoji="0" lang="pt-BR" sz="1000" b="0" i="0" u="none" strike="noStrike" kern="1200" cap="none" spc="0" normalizeH="0" baseline="0" noProof="0">
                    <a:ln>
                      <a:noFill/>
                    </a:ln>
                    <a:solidFill>
                      <a:srgbClr val="FFFFFF"/>
                    </a:solidFill>
                    <a:effectLst/>
                    <a:uLnTx/>
                    <a:uFillTx/>
                    <a:latin typeface="SamsungOne 400"/>
                    <a:ea typeface="SamsungOneKoreanOTF 400"/>
                    <a:cs typeface="+mn-cs"/>
                  </a:endParaRPr>
                </a:p>
              </p:txBody>
            </p:sp>
          </p:grpSp>
        </p:grpSp>
        <p:grpSp>
          <p:nvGrpSpPr>
            <p:cNvPr id="21" name="Agrupar 20">
              <a:extLst>
                <a:ext uri="{FF2B5EF4-FFF2-40B4-BE49-F238E27FC236}">
                  <a16:creationId xmlns:a16="http://schemas.microsoft.com/office/drawing/2014/main" id="{1EEAF5D1-CCBC-4E2A-AA58-A23589DA086A}"/>
                </a:ext>
              </a:extLst>
            </p:cNvPr>
            <p:cNvGrpSpPr/>
            <p:nvPr/>
          </p:nvGrpSpPr>
          <p:grpSpPr>
            <a:xfrm>
              <a:off x="522428" y="4026857"/>
              <a:ext cx="1709177" cy="653140"/>
              <a:chOff x="515165" y="3926917"/>
              <a:chExt cx="1709177" cy="653140"/>
            </a:xfrm>
          </p:grpSpPr>
          <p:grpSp>
            <p:nvGrpSpPr>
              <p:cNvPr id="2" name="Agrupar 1">
                <a:extLst>
                  <a:ext uri="{FF2B5EF4-FFF2-40B4-BE49-F238E27FC236}">
                    <a16:creationId xmlns:a16="http://schemas.microsoft.com/office/drawing/2014/main" id="{FCD5AC9C-D9E7-4786-960A-DBC22935F74D}"/>
                  </a:ext>
                </a:extLst>
              </p:cNvPr>
              <p:cNvGrpSpPr/>
              <p:nvPr/>
            </p:nvGrpSpPr>
            <p:grpSpPr>
              <a:xfrm>
                <a:off x="515165" y="4112057"/>
                <a:ext cx="1704977" cy="468000"/>
                <a:chOff x="512487" y="4112057"/>
                <a:chExt cx="1704977" cy="468000"/>
              </a:xfrm>
            </p:grpSpPr>
            <p:sp>
              <p:nvSpPr>
                <p:cNvPr id="109" name="Retângulo 14">
                  <a:extLst>
                    <a:ext uri="{FF2B5EF4-FFF2-40B4-BE49-F238E27FC236}">
                      <a16:creationId xmlns:a16="http://schemas.microsoft.com/office/drawing/2014/main" id="{77F6A99F-FB6A-4404-95E2-51E15BFF514A}"/>
                    </a:ext>
                  </a:extLst>
                </p:cNvPr>
                <p:cNvSpPr/>
                <p:nvPr/>
              </p:nvSpPr>
              <p:spPr>
                <a:xfrm>
                  <a:off x="524489" y="4112057"/>
                  <a:ext cx="1692975" cy="468000"/>
                </a:xfrm>
                <a:prstGeom prst="rect">
                  <a:avLst/>
                </a:prstGeom>
                <a:solidFill>
                  <a:schemeClr val="bg2">
                    <a:lumMod val="90000"/>
                  </a:schemeClr>
                </a:solidFill>
                <a:ln cap="flat">
                  <a:noFill/>
                  <a:prstDash val="solid"/>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pt-BR" sz="1600" b="0" i="0" u="none" strike="noStrike" kern="1200" cap="none" spc="0" normalizeH="0" baseline="0" noProof="0">
                    <a:ln>
                      <a:noFill/>
                    </a:ln>
                    <a:solidFill>
                      <a:prstClr val="white"/>
                    </a:solidFill>
                    <a:effectLst/>
                    <a:uLnTx/>
                    <a:uFillTx/>
                    <a:latin typeface="SamsungOne 400"/>
                    <a:ea typeface="SamsungOneKoreanOTF 400"/>
                    <a:cs typeface="+mn-cs"/>
                  </a:endParaRPr>
                </a:p>
              </p:txBody>
            </p:sp>
            <p:sp>
              <p:nvSpPr>
                <p:cNvPr id="111" name="CaixaDeTexto 8">
                  <a:extLst>
                    <a:ext uri="{FF2B5EF4-FFF2-40B4-BE49-F238E27FC236}">
                      <a16:creationId xmlns:a16="http://schemas.microsoft.com/office/drawing/2014/main" id="{4128D741-C4FF-4EBD-82AA-F0B79C895DF6}"/>
                    </a:ext>
                  </a:extLst>
                </p:cNvPr>
                <p:cNvSpPr txBox="1"/>
                <p:nvPr/>
              </p:nvSpPr>
              <p:spPr>
                <a:xfrm>
                  <a:off x="1570061" y="4176780"/>
                  <a:ext cx="576000" cy="338554"/>
                </a:xfrm>
                <a:prstGeom prst="rect">
                  <a:avLst/>
                </a:prstGeom>
                <a:noFill/>
                <a:ln cap="flat">
                  <a:noFill/>
                </a:ln>
              </p:spPr>
              <p:txBody>
                <a:bodyPr vert="horz" wrap="square" lIns="91440" tIns="45720" rIns="91440" bIns="45720" anchor="t" anchorCtr="0" compatLnSpc="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600" b="1" i="0" u="none" strike="noStrike" kern="0" cap="none" spc="0" normalizeH="0" baseline="0" noProof="0">
                      <a:ln>
                        <a:noFill/>
                      </a:ln>
                      <a:solidFill>
                        <a:srgbClr val="1428A0"/>
                      </a:solidFill>
                      <a:effectLst/>
                      <a:uLnTx/>
                      <a:uFillTx/>
                      <a:latin typeface="SamsungOne 400"/>
                      <a:ea typeface="SamsungOneKoreanOTF 400"/>
                      <a:cs typeface="+mn-cs"/>
                    </a:rPr>
                    <a:t>2.40</a:t>
                  </a:r>
                  <a:endParaRPr kumimoji="0" lang="pt-BR" sz="1600" b="1" i="0" u="none" strike="noStrike" kern="1200" cap="none" spc="0" normalizeH="0" baseline="0" noProof="0">
                    <a:ln>
                      <a:noFill/>
                    </a:ln>
                    <a:solidFill>
                      <a:srgbClr val="1428A0"/>
                    </a:solidFill>
                    <a:effectLst/>
                    <a:uLnTx/>
                    <a:uFillTx/>
                    <a:latin typeface="SamsungOne 400"/>
                    <a:ea typeface="SamsungOneKoreanOTF 400"/>
                    <a:cs typeface="+mn-cs"/>
                  </a:endParaRPr>
                </a:p>
              </p:txBody>
            </p:sp>
            <p:sp>
              <p:nvSpPr>
                <p:cNvPr id="113" name="CaixaDeTexto 7">
                  <a:extLst>
                    <a:ext uri="{FF2B5EF4-FFF2-40B4-BE49-F238E27FC236}">
                      <a16:creationId xmlns:a16="http://schemas.microsoft.com/office/drawing/2014/main" id="{DCEA76E3-6F98-4282-8125-A34166AFC99F}"/>
                    </a:ext>
                  </a:extLst>
                </p:cNvPr>
                <p:cNvSpPr txBox="1"/>
                <p:nvPr/>
              </p:nvSpPr>
              <p:spPr>
                <a:xfrm>
                  <a:off x="512487" y="4176780"/>
                  <a:ext cx="1000596" cy="338554"/>
                </a:xfrm>
                <a:prstGeom prst="rect">
                  <a:avLst/>
                </a:prstGeom>
                <a:noFill/>
                <a:ln cap="flat">
                  <a:noFill/>
                </a:ln>
              </p:spPr>
              <p:txBody>
                <a:bodyPr vert="horz" wrap="square" lIns="91440" tIns="45720" rIns="91440" bIns="45720"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600" b="0" i="0" u="none" strike="noStrike" kern="0" cap="none" spc="0" normalizeH="0" baseline="0" noProof="0">
                      <a:ln>
                        <a:noFill/>
                      </a:ln>
                      <a:solidFill>
                        <a:srgbClr val="000000"/>
                      </a:solidFill>
                      <a:effectLst/>
                      <a:uLnTx/>
                      <a:uFillTx/>
                      <a:latin typeface="SamsungOne 400"/>
                      <a:ea typeface="SamsungOneKoreanOTF 400"/>
                      <a:cs typeface="+mn-cs"/>
                    </a:rPr>
                    <a:t>R$ 4,7M</a:t>
                  </a:r>
                  <a:endParaRPr kumimoji="0" lang="pt-BR" sz="1600" b="0" i="0" u="none" strike="noStrike" kern="1200" cap="none" spc="0" normalizeH="0" baseline="0" noProof="0">
                    <a:ln>
                      <a:noFill/>
                    </a:ln>
                    <a:solidFill>
                      <a:srgbClr val="000000"/>
                    </a:solidFill>
                    <a:effectLst/>
                    <a:uLnTx/>
                    <a:uFillTx/>
                    <a:latin typeface="SamsungOne 400"/>
                    <a:ea typeface="SamsungOneKoreanOTF 400"/>
                    <a:cs typeface="+mn-cs"/>
                  </a:endParaRPr>
                </a:p>
              </p:txBody>
            </p:sp>
          </p:grpSp>
          <p:sp>
            <p:nvSpPr>
              <p:cNvPr id="119" name="Retângulo 27">
                <a:extLst>
                  <a:ext uri="{FF2B5EF4-FFF2-40B4-BE49-F238E27FC236}">
                    <a16:creationId xmlns:a16="http://schemas.microsoft.com/office/drawing/2014/main" id="{E4C11FB1-7608-453F-8C1F-62B03425F516}"/>
                  </a:ext>
                </a:extLst>
              </p:cNvPr>
              <p:cNvSpPr/>
              <p:nvPr/>
            </p:nvSpPr>
            <p:spPr>
              <a:xfrm>
                <a:off x="531367" y="3926917"/>
                <a:ext cx="1692975" cy="185818"/>
              </a:xfrm>
              <a:prstGeom prst="rect">
                <a:avLst/>
              </a:prstGeom>
              <a:solidFill>
                <a:srgbClr val="203764"/>
              </a:solidFill>
              <a:ln cap="flat">
                <a:noFill/>
                <a:prstDash val="solid"/>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000" b="0" i="0" u="none" strike="noStrike" kern="0" cap="none" spc="0" normalizeH="0" baseline="0" noProof="0">
                    <a:ln>
                      <a:noFill/>
                    </a:ln>
                    <a:solidFill>
                      <a:srgbClr val="FFFFFF"/>
                    </a:solidFill>
                    <a:effectLst/>
                    <a:uLnTx/>
                    <a:uFillTx/>
                    <a:latin typeface="SamsungOne 400"/>
                    <a:ea typeface="SamsungOneKoreanOTF 400"/>
                    <a:cs typeface="+mn-cs"/>
                  </a:rPr>
                  <a:t>E-MAIL</a:t>
                </a:r>
                <a:endParaRPr kumimoji="0" lang="pt-BR" sz="1000" b="0" i="0" u="none" strike="noStrike" kern="1200" cap="none" spc="0" normalizeH="0" baseline="0" noProof="0">
                  <a:ln>
                    <a:noFill/>
                  </a:ln>
                  <a:solidFill>
                    <a:srgbClr val="FFFFFF"/>
                  </a:solidFill>
                  <a:effectLst/>
                  <a:uLnTx/>
                  <a:uFillTx/>
                  <a:latin typeface="SamsungOne 400"/>
                  <a:ea typeface="SamsungOneKoreanOTF 400"/>
                  <a:cs typeface="+mn-cs"/>
                </a:endParaRPr>
              </a:p>
            </p:txBody>
          </p:sp>
        </p:grpSp>
        <p:grpSp>
          <p:nvGrpSpPr>
            <p:cNvPr id="18" name="Agrupar 17">
              <a:extLst>
                <a:ext uri="{FF2B5EF4-FFF2-40B4-BE49-F238E27FC236}">
                  <a16:creationId xmlns:a16="http://schemas.microsoft.com/office/drawing/2014/main" id="{3FBB4213-72AC-4FE0-A755-EE73694FDCF2}"/>
                </a:ext>
              </a:extLst>
            </p:cNvPr>
            <p:cNvGrpSpPr/>
            <p:nvPr/>
          </p:nvGrpSpPr>
          <p:grpSpPr>
            <a:xfrm>
              <a:off x="520224" y="4709337"/>
              <a:ext cx="1711381" cy="653429"/>
              <a:chOff x="517546" y="4602374"/>
              <a:chExt cx="1711381" cy="653429"/>
            </a:xfrm>
          </p:grpSpPr>
          <p:grpSp>
            <p:nvGrpSpPr>
              <p:cNvPr id="9" name="Agrupar 8">
                <a:extLst>
                  <a:ext uri="{FF2B5EF4-FFF2-40B4-BE49-F238E27FC236}">
                    <a16:creationId xmlns:a16="http://schemas.microsoft.com/office/drawing/2014/main" id="{192A1834-49F0-4ED0-9368-FA2098B4D549}"/>
                  </a:ext>
                </a:extLst>
              </p:cNvPr>
              <p:cNvGrpSpPr/>
              <p:nvPr/>
            </p:nvGrpSpPr>
            <p:grpSpPr>
              <a:xfrm>
                <a:off x="517546" y="4787803"/>
                <a:ext cx="1711381" cy="468000"/>
                <a:chOff x="523652" y="4787803"/>
                <a:chExt cx="1711381" cy="468000"/>
              </a:xfrm>
            </p:grpSpPr>
            <p:sp>
              <p:nvSpPr>
                <p:cNvPr id="120" name="Retângulo 14">
                  <a:extLst>
                    <a:ext uri="{FF2B5EF4-FFF2-40B4-BE49-F238E27FC236}">
                      <a16:creationId xmlns:a16="http://schemas.microsoft.com/office/drawing/2014/main" id="{352E1215-419C-458C-B5F9-A6AD9629A384}"/>
                    </a:ext>
                  </a:extLst>
                </p:cNvPr>
                <p:cNvSpPr/>
                <p:nvPr/>
              </p:nvSpPr>
              <p:spPr>
                <a:xfrm>
                  <a:off x="542058" y="4787803"/>
                  <a:ext cx="1692975" cy="468000"/>
                </a:xfrm>
                <a:prstGeom prst="rect">
                  <a:avLst/>
                </a:prstGeom>
                <a:solidFill>
                  <a:schemeClr val="bg2">
                    <a:lumMod val="90000"/>
                  </a:schemeClr>
                </a:solidFill>
                <a:ln cap="flat">
                  <a:noFill/>
                  <a:prstDash val="solid"/>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pt-BR" sz="1600" b="0" i="0" u="none" strike="noStrike" kern="1200" cap="none" spc="0" normalizeH="0" baseline="0" noProof="0">
                    <a:ln>
                      <a:noFill/>
                    </a:ln>
                    <a:solidFill>
                      <a:prstClr val="white"/>
                    </a:solidFill>
                    <a:effectLst/>
                    <a:uLnTx/>
                    <a:uFillTx/>
                    <a:latin typeface="SamsungOne 400"/>
                    <a:ea typeface="SamsungOneKoreanOTF 400"/>
                    <a:cs typeface="+mn-cs"/>
                  </a:endParaRPr>
                </a:p>
              </p:txBody>
            </p:sp>
            <p:sp>
              <p:nvSpPr>
                <p:cNvPr id="129" name="CaixaDeTexto 8">
                  <a:extLst>
                    <a:ext uri="{FF2B5EF4-FFF2-40B4-BE49-F238E27FC236}">
                      <a16:creationId xmlns:a16="http://schemas.microsoft.com/office/drawing/2014/main" id="{7A5794A7-33A4-4017-8FCC-1C22BFC7C430}"/>
                    </a:ext>
                  </a:extLst>
                </p:cNvPr>
                <p:cNvSpPr txBox="1"/>
                <p:nvPr/>
              </p:nvSpPr>
              <p:spPr>
                <a:xfrm>
                  <a:off x="1523614" y="4852526"/>
                  <a:ext cx="622870" cy="338554"/>
                </a:xfrm>
                <a:prstGeom prst="rect">
                  <a:avLst/>
                </a:prstGeom>
                <a:noFill/>
                <a:ln cap="flat">
                  <a:noFill/>
                </a:ln>
              </p:spPr>
              <p:txBody>
                <a:bodyPr vert="horz" wrap="square" lIns="91440" tIns="45720" rIns="91440" bIns="45720" anchor="t" anchorCtr="0" compatLnSpc="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lang="pt-BR" sz="1600" b="1" kern="0">
                      <a:solidFill>
                        <a:srgbClr val="1428A0"/>
                      </a:solidFill>
                      <a:latin typeface="SamsungOne 400"/>
                      <a:ea typeface="SamsungOneKoreanOTF 400"/>
                    </a:rPr>
                    <a:t>1.22</a:t>
                  </a:r>
                  <a:endParaRPr kumimoji="0" lang="pt-BR" sz="1600" b="1" i="0" u="none" strike="noStrike" kern="1200" cap="none" spc="0" normalizeH="0" baseline="0" noProof="0">
                    <a:ln>
                      <a:noFill/>
                    </a:ln>
                    <a:solidFill>
                      <a:srgbClr val="1428A0"/>
                    </a:solidFill>
                    <a:effectLst/>
                    <a:uLnTx/>
                    <a:uFillTx/>
                    <a:latin typeface="SamsungOne 400"/>
                    <a:ea typeface="SamsungOneKoreanOTF 400"/>
                    <a:cs typeface="+mn-cs"/>
                  </a:endParaRPr>
                </a:p>
              </p:txBody>
            </p:sp>
            <p:sp>
              <p:nvSpPr>
                <p:cNvPr id="131" name="CaixaDeTexto 7">
                  <a:extLst>
                    <a:ext uri="{FF2B5EF4-FFF2-40B4-BE49-F238E27FC236}">
                      <a16:creationId xmlns:a16="http://schemas.microsoft.com/office/drawing/2014/main" id="{A41A6BFA-725D-4CD9-9ADE-7E17643394E5}"/>
                    </a:ext>
                  </a:extLst>
                </p:cNvPr>
                <p:cNvSpPr txBox="1"/>
                <p:nvPr/>
              </p:nvSpPr>
              <p:spPr>
                <a:xfrm>
                  <a:off x="523652" y="4852526"/>
                  <a:ext cx="936000" cy="338554"/>
                </a:xfrm>
                <a:prstGeom prst="rect">
                  <a:avLst/>
                </a:prstGeom>
                <a:noFill/>
                <a:ln cap="flat">
                  <a:noFill/>
                </a:ln>
              </p:spPr>
              <p:txBody>
                <a:bodyPr vert="horz" wrap="square" lIns="91440" tIns="45720" rIns="91440" bIns="45720"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600" b="0" i="0" u="none" strike="noStrike" kern="0" cap="none" spc="0" normalizeH="0" baseline="0" noProof="0">
                      <a:ln>
                        <a:noFill/>
                      </a:ln>
                      <a:solidFill>
                        <a:srgbClr val="000000"/>
                      </a:solidFill>
                      <a:effectLst/>
                      <a:uLnTx/>
                      <a:uFillTx/>
                      <a:latin typeface="SamsungOne 400"/>
                      <a:ea typeface="SamsungOneKoreanOTF 400"/>
                      <a:cs typeface="+mn-cs"/>
                    </a:rPr>
                    <a:t>R$ </a:t>
                  </a:r>
                  <a:r>
                    <a:rPr lang="pt-BR" sz="1600" kern="0">
                      <a:solidFill>
                        <a:srgbClr val="000000"/>
                      </a:solidFill>
                      <a:latin typeface="SamsungOne 400"/>
                      <a:ea typeface="SamsungOneKoreanOTF 400"/>
                    </a:rPr>
                    <a:t>212</a:t>
                  </a:r>
                  <a:r>
                    <a:rPr kumimoji="0" lang="pt-BR" sz="1600" b="0" i="0" u="none" strike="noStrike" kern="0" cap="none" spc="0" normalizeH="0" baseline="0" noProof="0">
                      <a:ln>
                        <a:noFill/>
                      </a:ln>
                      <a:solidFill>
                        <a:srgbClr val="000000"/>
                      </a:solidFill>
                      <a:effectLst/>
                      <a:uLnTx/>
                      <a:uFillTx/>
                      <a:latin typeface="SamsungOne 400"/>
                      <a:ea typeface="SamsungOneKoreanOTF 400"/>
                      <a:cs typeface="+mn-cs"/>
                    </a:rPr>
                    <a:t>k</a:t>
                  </a:r>
                  <a:endParaRPr kumimoji="0" lang="pt-BR" sz="1600" b="0" i="0" u="none" strike="noStrike" kern="1200" cap="none" spc="0" normalizeH="0" baseline="0" noProof="0">
                    <a:ln>
                      <a:noFill/>
                    </a:ln>
                    <a:solidFill>
                      <a:srgbClr val="000000"/>
                    </a:solidFill>
                    <a:effectLst/>
                    <a:uLnTx/>
                    <a:uFillTx/>
                    <a:latin typeface="SamsungOne 400"/>
                    <a:ea typeface="SamsungOneKoreanOTF 400"/>
                    <a:cs typeface="+mn-cs"/>
                  </a:endParaRPr>
                </a:p>
              </p:txBody>
            </p:sp>
          </p:grpSp>
          <p:sp>
            <p:nvSpPr>
              <p:cNvPr id="132" name="Retângulo 27">
                <a:extLst>
                  <a:ext uri="{FF2B5EF4-FFF2-40B4-BE49-F238E27FC236}">
                    <a16:creationId xmlns:a16="http://schemas.microsoft.com/office/drawing/2014/main" id="{A1A49259-7903-46FC-AF2F-DDBF70A03221}"/>
                  </a:ext>
                </a:extLst>
              </p:cNvPr>
              <p:cNvSpPr/>
              <p:nvPr/>
            </p:nvSpPr>
            <p:spPr>
              <a:xfrm>
                <a:off x="531367" y="4602374"/>
                <a:ext cx="1692975" cy="185818"/>
              </a:xfrm>
              <a:prstGeom prst="rect">
                <a:avLst/>
              </a:prstGeom>
              <a:solidFill>
                <a:srgbClr val="203764"/>
              </a:solidFill>
              <a:ln cap="flat">
                <a:noFill/>
                <a:prstDash val="solid"/>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000" b="0" i="0" u="none" strike="noStrike" kern="0" cap="none" spc="0" normalizeH="0" baseline="0" noProof="0">
                    <a:ln>
                      <a:noFill/>
                    </a:ln>
                    <a:solidFill>
                      <a:srgbClr val="FFFFFF"/>
                    </a:solidFill>
                    <a:effectLst/>
                    <a:uLnTx/>
                    <a:uFillTx/>
                    <a:latin typeface="SamsungOne 400"/>
                    <a:ea typeface="SamsungOneKoreanOTF 400"/>
                    <a:cs typeface="+mn-cs"/>
                  </a:rPr>
                  <a:t>PUSH</a:t>
                </a:r>
                <a:endParaRPr kumimoji="0" lang="pt-BR" sz="1000" b="0" i="0" u="none" strike="noStrike" kern="1200" cap="none" spc="0" normalizeH="0" baseline="0" noProof="0">
                  <a:ln>
                    <a:noFill/>
                  </a:ln>
                  <a:solidFill>
                    <a:srgbClr val="FFFFFF"/>
                  </a:solidFill>
                  <a:effectLst/>
                  <a:uLnTx/>
                  <a:uFillTx/>
                  <a:latin typeface="SamsungOne 400"/>
                  <a:ea typeface="SamsungOneKoreanOTF 400"/>
                  <a:cs typeface="+mn-cs"/>
                </a:endParaRPr>
              </a:p>
            </p:txBody>
          </p:sp>
        </p:grpSp>
        <p:grpSp>
          <p:nvGrpSpPr>
            <p:cNvPr id="17" name="Agrupar 16">
              <a:extLst>
                <a:ext uri="{FF2B5EF4-FFF2-40B4-BE49-F238E27FC236}">
                  <a16:creationId xmlns:a16="http://schemas.microsoft.com/office/drawing/2014/main" id="{580CE4B9-F1AF-4B67-8B68-4548179479C1}"/>
                </a:ext>
              </a:extLst>
            </p:cNvPr>
            <p:cNvGrpSpPr/>
            <p:nvPr/>
          </p:nvGrpSpPr>
          <p:grpSpPr>
            <a:xfrm>
              <a:off x="534012" y="5392106"/>
              <a:ext cx="1697593" cy="653429"/>
              <a:chOff x="526749" y="5283352"/>
              <a:chExt cx="1697593" cy="653429"/>
            </a:xfrm>
          </p:grpSpPr>
          <p:grpSp>
            <p:nvGrpSpPr>
              <p:cNvPr id="10" name="Agrupar 9">
                <a:extLst>
                  <a:ext uri="{FF2B5EF4-FFF2-40B4-BE49-F238E27FC236}">
                    <a16:creationId xmlns:a16="http://schemas.microsoft.com/office/drawing/2014/main" id="{FF9F86CD-FB60-435F-8749-336FD028637C}"/>
                  </a:ext>
                </a:extLst>
              </p:cNvPr>
              <p:cNvGrpSpPr/>
              <p:nvPr/>
            </p:nvGrpSpPr>
            <p:grpSpPr>
              <a:xfrm>
                <a:off x="526749" y="5468781"/>
                <a:ext cx="1692975" cy="468000"/>
                <a:chOff x="520957" y="5468781"/>
                <a:chExt cx="1692975" cy="468000"/>
              </a:xfrm>
            </p:grpSpPr>
            <p:sp>
              <p:nvSpPr>
                <p:cNvPr id="142" name="Retângulo 14">
                  <a:extLst>
                    <a:ext uri="{FF2B5EF4-FFF2-40B4-BE49-F238E27FC236}">
                      <a16:creationId xmlns:a16="http://schemas.microsoft.com/office/drawing/2014/main" id="{C69379C3-7452-4D16-AE82-0E1BF4B3E12E}"/>
                    </a:ext>
                  </a:extLst>
                </p:cNvPr>
                <p:cNvSpPr/>
                <p:nvPr/>
              </p:nvSpPr>
              <p:spPr>
                <a:xfrm>
                  <a:off x="520957" y="5468781"/>
                  <a:ext cx="1692975" cy="468000"/>
                </a:xfrm>
                <a:prstGeom prst="rect">
                  <a:avLst/>
                </a:prstGeom>
                <a:solidFill>
                  <a:schemeClr val="bg2">
                    <a:lumMod val="90000"/>
                  </a:schemeClr>
                </a:solidFill>
                <a:ln cap="flat">
                  <a:noFill/>
                  <a:prstDash val="solid"/>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pt-BR" sz="1600" b="0" i="0" u="none" strike="noStrike" kern="1200" cap="none" spc="0" normalizeH="0" baseline="0" noProof="0">
                    <a:ln>
                      <a:noFill/>
                    </a:ln>
                    <a:solidFill>
                      <a:prstClr val="white"/>
                    </a:solidFill>
                    <a:effectLst/>
                    <a:uLnTx/>
                    <a:uFillTx/>
                    <a:latin typeface="SamsungOne 400"/>
                    <a:ea typeface="SamsungOneKoreanOTF 400"/>
                    <a:cs typeface="+mn-cs"/>
                  </a:endParaRPr>
                </a:p>
              </p:txBody>
            </p:sp>
            <p:sp>
              <p:nvSpPr>
                <p:cNvPr id="144" name="CaixaDeTexto 8">
                  <a:extLst>
                    <a:ext uri="{FF2B5EF4-FFF2-40B4-BE49-F238E27FC236}">
                      <a16:creationId xmlns:a16="http://schemas.microsoft.com/office/drawing/2014/main" id="{B78EA7ED-DF3D-4EAB-B277-B262E598EB8C}"/>
                    </a:ext>
                  </a:extLst>
                </p:cNvPr>
                <p:cNvSpPr txBox="1"/>
                <p:nvPr/>
              </p:nvSpPr>
              <p:spPr>
                <a:xfrm>
                  <a:off x="1477671" y="5533504"/>
                  <a:ext cx="654615" cy="338554"/>
                </a:xfrm>
                <a:prstGeom prst="rect">
                  <a:avLst/>
                </a:prstGeom>
                <a:noFill/>
                <a:ln cap="flat">
                  <a:noFill/>
                </a:ln>
              </p:spPr>
              <p:txBody>
                <a:bodyPr vert="horz" wrap="square" lIns="91440" tIns="45720" rIns="91440" bIns="45720" anchor="t" anchorCtr="0" compatLnSpc="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lang="pt-BR" sz="1600" b="1" kern="0">
                      <a:solidFill>
                        <a:srgbClr val="1428A0"/>
                      </a:solidFill>
                      <a:latin typeface="SamsungOne 400"/>
                      <a:ea typeface="SamsungOneKoreanOTF 400"/>
                    </a:rPr>
                    <a:t>1.60</a:t>
                  </a:r>
                  <a:endParaRPr kumimoji="0" lang="pt-BR" sz="1600" b="1" i="0" u="none" strike="noStrike" kern="1200" cap="none" spc="0" normalizeH="0" baseline="0" noProof="0">
                    <a:ln>
                      <a:noFill/>
                    </a:ln>
                    <a:solidFill>
                      <a:srgbClr val="1428A0"/>
                    </a:solidFill>
                    <a:effectLst/>
                    <a:uLnTx/>
                    <a:uFillTx/>
                    <a:latin typeface="SamsungOne 400"/>
                    <a:ea typeface="SamsungOneKoreanOTF 400"/>
                    <a:cs typeface="+mn-cs"/>
                  </a:endParaRPr>
                </a:p>
              </p:txBody>
            </p:sp>
            <p:sp>
              <p:nvSpPr>
                <p:cNvPr id="146" name="CaixaDeTexto 7">
                  <a:extLst>
                    <a:ext uri="{FF2B5EF4-FFF2-40B4-BE49-F238E27FC236}">
                      <a16:creationId xmlns:a16="http://schemas.microsoft.com/office/drawing/2014/main" id="{637812F7-A828-4C59-9B67-889ADAA4CCC0}"/>
                    </a:ext>
                  </a:extLst>
                </p:cNvPr>
                <p:cNvSpPr txBox="1"/>
                <p:nvPr/>
              </p:nvSpPr>
              <p:spPr>
                <a:xfrm>
                  <a:off x="525575" y="5533504"/>
                  <a:ext cx="936000" cy="338554"/>
                </a:xfrm>
                <a:prstGeom prst="rect">
                  <a:avLst/>
                </a:prstGeom>
                <a:noFill/>
                <a:ln cap="flat">
                  <a:noFill/>
                </a:ln>
              </p:spPr>
              <p:txBody>
                <a:bodyPr vert="horz" wrap="square" lIns="91440" tIns="45720" rIns="91440" bIns="45720"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600" b="0" i="0" u="none" strike="noStrike" kern="0" cap="none" spc="0" normalizeH="0" baseline="0" noProof="0">
                      <a:ln>
                        <a:noFill/>
                      </a:ln>
                      <a:solidFill>
                        <a:srgbClr val="000000"/>
                      </a:solidFill>
                      <a:effectLst/>
                      <a:uLnTx/>
                      <a:uFillTx/>
                      <a:latin typeface="SamsungOne 400"/>
                      <a:ea typeface="SamsungOneKoreanOTF 400"/>
                      <a:cs typeface="+mn-cs"/>
                    </a:rPr>
                    <a:t>R$ </a:t>
                  </a:r>
                  <a:r>
                    <a:rPr lang="pt-BR" sz="1600" kern="0">
                      <a:solidFill>
                        <a:srgbClr val="000000"/>
                      </a:solidFill>
                      <a:latin typeface="SamsungOne 400"/>
                      <a:ea typeface="SamsungOneKoreanOTF 400"/>
                    </a:rPr>
                    <a:t>185</a:t>
                  </a:r>
                  <a:r>
                    <a:rPr kumimoji="0" lang="pt-BR" sz="1600" b="0" i="0" u="none" strike="noStrike" kern="0" cap="none" spc="0" normalizeH="0" baseline="0" noProof="0">
                      <a:ln>
                        <a:noFill/>
                      </a:ln>
                      <a:solidFill>
                        <a:srgbClr val="000000"/>
                      </a:solidFill>
                      <a:effectLst/>
                      <a:uLnTx/>
                      <a:uFillTx/>
                      <a:latin typeface="SamsungOne 400"/>
                      <a:ea typeface="SamsungOneKoreanOTF 400"/>
                      <a:cs typeface="+mn-cs"/>
                    </a:rPr>
                    <a:t>k</a:t>
                  </a:r>
                  <a:endParaRPr kumimoji="0" lang="pt-BR" sz="1600" b="0" i="0" u="none" strike="noStrike" kern="1200" cap="none" spc="0" normalizeH="0" baseline="0" noProof="0">
                    <a:ln>
                      <a:noFill/>
                    </a:ln>
                    <a:solidFill>
                      <a:srgbClr val="000000"/>
                    </a:solidFill>
                    <a:effectLst/>
                    <a:uLnTx/>
                    <a:uFillTx/>
                    <a:latin typeface="SamsungOne 400"/>
                    <a:ea typeface="SamsungOneKoreanOTF 400"/>
                    <a:cs typeface="+mn-cs"/>
                  </a:endParaRPr>
                </a:p>
              </p:txBody>
            </p:sp>
          </p:grpSp>
          <p:sp>
            <p:nvSpPr>
              <p:cNvPr id="147" name="Retângulo 27">
                <a:extLst>
                  <a:ext uri="{FF2B5EF4-FFF2-40B4-BE49-F238E27FC236}">
                    <a16:creationId xmlns:a16="http://schemas.microsoft.com/office/drawing/2014/main" id="{EA3A2329-A1F6-488A-B3BB-685E2B7EFD11}"/>
                  </a:ext>
                </a:extLst>
              </p:cNvPr>
              <p:cNvSpPr/>
              <p:nvPr/>
            </p:nvSpPr>
            <p:spPr>
              <a:xfrm>
                <a:off x="531367" y="5283352"/>
                <a:ext cx="1692975" cy="185818"/>
              </a:xfrm>
              <a:prstGeom prst="rect">
                <a:avLst/>
              </a:prstGeom>
              <a:solidFill>
                <a:srgbClr val="203764"/>
              </a:solidFill>
              <a:ln cap="flat">
                <a:noFill/>
                <a:prstDash val="solid"/>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000" b="0" i="0" u="none" strike="noStrike" kern="0" cap="none" spc="0" normalizeH="0" baseline="0" noProof="0">
                    <a:ln>
                      <a:noFill/>
                    </a:ln>
                    <a:solidFill>
                      <a:srgbClr val="FFFFFF"/>
                    </a:solidFill>
                    <a:effectLst/>
                    <a:uLnTx/>
                    <a:uFillTx/>
                    <a:latin typeface="SamsungOne 400"/>
                    <a:ea typeface="SamsungOneKoreanOTF 400"/>
                    <a:cs typeface="+mn-cs"/>
                  </a:rPr>
                  <a:t>WEB PUSH</a:t>
                </a:r>
                <a:endParaRPr kumimoji="0" lang="pt-BR" sz="1000" b="0" i="0" u="none" strike="noStrike" kern="1200" cap="none" spc="0" normalizeH="0" baseline="0" noProof="0">
                  <a:ln>
                    <a:noFill/>
                  </a:ln>
                  <a:solidFill>
                    <a:srgbClr val="FFFFFF"/>
                  </a:solidFill>
                  <a:effectLst/>
                  <a:uLnTx/>
                  <a:uFillTx/>
                  <a:latin typeface="SamsungOne 400"/>
                  <a:ea typeface="SamsungOneKoreanOTF 400"/>
                  <a:cs typeface="+mn-cs"/>
                </a:endParaRPr>
              </a:p>
            </p:txBody>
          </p:sp>
        </p:grpSp>
        <p:grpSp>
          <p:nvGrpSpPr>
            <p:cNvPr id="16" name="Agrupar 15">
              <a:extLst>
                <a:ext uri="{FF2B5EF4-FFF2-40B4-BE49-F238E27FC236}">
                  <a16:creationId xmlns:a16="http://schemas.microsoft.com/office/drawing/2014/main" id="{9894275D-E03F-4947-BD9A-05395B84C29B}"/>
                </a:ext>
              </a:extLst>
            </p:cNvPr>
            <p:cNvGrpSpPr/>
            <p:nvPr/>
          </p:nvGrpSpPr>
          <p:grpSpPr>
            <a:xfrm>
              <a:off x="534012" y="6065348"/>
              <a:ext cx="1697593" cy="653429"/>
              <a:chOff x="526749" y="5991460"/>
              <a:chExt cx="1697593" cy="653429"/>
            </a:xfrm>
          </p:grpSpPr>
          <p:grpSp>
            <p:nvGrpSpPr>
              <p:cNvPr id="12" name="Agrupar 11">
                <a:extLst>
                  <a:ext uri="{FF2B5EF4-FFF2-40B4-BE49-F238E27FC236}">
                    <a16:creationId xmlns:a16="http://schemas.microsoft.com/office/drawing/2014/main" id="{DD10C68F-5C9A-4FDA-BC2E-47433ABEA5B2}"/>
                  </a:ext>
                </a:extLst>
              </p:cNvPr>
              <p:cNvGrpSpPr/>
              <p:nvPr/>
            </p:nvGrpSpPr>
            <p:grpSpPr>
              <a:xfrm>
                <a:off x="526749" y="6176889"/>
                <a:ext cx="1692975" cy="468000"/>
                <a:chOff x="502551" y="6130709"/>
                <a:chExt cx="1692975" cy="468000"/>
              </a:xfrm>
            </p:grpSpPr>
            <p:sp>
              <p:nvSpPr>
                <p:cNvPr id="154" name="Retângulo 14">
                  <a:extLst>
                    <a:ext uri="{FF2B5EF4-FFF2-40B4-BE49-F238E27FC236}">
                      <a16:creationId xmlns:a16="http://schemas.microsoft.com/office/drawing/2014/main" id="{B1F0D3CC-7DC0-43D1-8BBE-7AAD1F0FB9EC}"/>
                    </a:ext>
                  </a:extLst>
                </p:cNvPr>
                <p:cNvSpPr/>
                <p:nvPr/>
              </p:nvSpPr>
              <p:spPr>
                <a:xfrm>
                  <a:off x="502551" y="6130709"/>
                  <a:ext cx="1692975" cy="468000"/>
                </a:xfrm>
                <a:prstGeom prst="rect">
                  <a:avLst/>
                </a:prstGeom>
                <a:solidFill>
                  <a:schemeClr val="bg2">
                    <a:lumMod val="90000"/>
                  </a:schemeClr>
                </a:solidFill>
                <a:ln cap="flat">
                  <a:noFill/>
                  <a:prstDash val="solid"/>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pt-BR" sz="1600" b="0" i="0" u="none" strike="noStrike" kern="1200" cap="none" spc="0" normalizeH="0" baseline="0" noProof="0">
                    <a:ln>
                      <a:noFill/>
                    </a:ln>
                    <a:solidFill>
                      <a:prstClr val="white"/>
                    </a:solidFill>
                    <a:effectLst/>
                    <a:uLnTx/>
                    <a:uFillTx/>
                    <a:latin typeface="SamsungOne 400"/>
                    <a:ea typeface="SamsungOneKoreanOTF 400"/>
                    <a:cs typeface="+mn-cs"/>
                  </a:endParaRPr>
                </a:p>
              </p:txBody>
            </p:sp>
            <p:sp>
              <p:nvSpPr>
                <p:cNvPr id="156" name="CaixaDeTexto 8">
                  <a:extLst>
                    <a:ext uri="{FF2B5EF4-FFF2-40B4-BE49-F238E27FC236}">
                      <a16:creationId xmlns:a16="http://schemas.microsoft.com/office/drawing/2014/main" id="{B5729931-5CAB-4650-94C7-9CB3211FB68F}"/>
                    </a:ext>
                  </a:extLst>
                </p:cNvPr>
                <p:cNvSpPr txBox="1"/>
                <p:nvPr/>
              </p:nvSpPr>
              <p:spPr>
                <a:xfrm>
                  <a:off x="1572430" y="6195432"/>
                  <a:ext cx="576000" cy="338554"/>
                </a:xfrm>
                <a:prstGeom prst="rect">
                  <a:avLst/>
                </a:prstGeom>
                <a:noFill/>
                <a:ln cap="flat">
                  <a:noFill/>
                </a:ln>
              </p:spPr>
              <p:txBody>
                <a:bodyPr vert="horz" wrap="square" lIns="91440" tIns="45720" rIns="91440" bIns="45720" anchor="t" anchorCtr="0" compatLnSpc="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lang="pt-BR" sz="1600" b="1" kern="0">
                      <a:solidFill>
                        <a:srgbClr val="1428A0"/>
                      </a:solidFill>
                      <a:latin typeface="SamsungOne 400"/>
                      <a:ea typeface="SamsungOneKoreanOTF 400"/>
                    </a:rPr>
                    <a:t>3.17</a:t>
                  </a:r>
                  <a:endParaRPr kumimoji="0" lang="pt-BR" sz="1600" b="1" i="0" u="none" strike="noStrike" kern="1200" cap="none" spc="0" normalizeH="0" baseline="0" noProof="0">
                    <a:ln>
                      <a:noFill/>
                    </a:ln>
                    <a:solidFill>
                      <a:srgbClr val="1428A0"/>
                    </a:solidFill>
                    <a:effectLst/>
                    <a:uLnTx/>
                    <a:uFillTx/>
                    <a:latin typeface="SamsungOne 400"/>
                    <a:ea typeface="SamsungOneKoreanOTF 400"/>
                    <a:cs typeface="+mn-cs"/>
                  </a:endParaRPr>
                </a:p>
              </p:txBody>
            </p:sp>
            <p:sp>
              <p:nvSpPr>
                <p:cNvPr id="158" name="CaixaDeTexto 7">
                  <a:extLst>
                    <a:ext uri="{FF2B5EF4-FFF2-40B4-BE49-F238E27FC236}">
                      <a16:creationId xmlns:a16="http://schemas.microsoft.com/office/drawing/2014/main" id="{AD69851D-336E-40C0-A1ED-E0E1EE028940}"/>
                    </a:ext>
                  </a:extLst>
                </p:cNvPr>
                <p:cNvSpPr txBox="1"/>
                <p:nvPr/>
              </p:nvSpPr>
              <p:spPr>
                <a:xfrm>
                  <a:off x="523265" y="6195432"/>
                  <a:ext cx="936000" cy="338554"/>
                </a:xfrm>
                <a:prstGeom prst="rect">
                  <a:avLst/>
                </a:prstGeom>
                <a:noFill/>
                <a:ln cap="flat">
                  <a:noFill/>
                </a:ln>
              </p:spPr>
              <p:txBody>
                <a:bodyPr vert="horz" wrap="square" lIns="91440" tIns="45720" rIns="91440" bIns="45720"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600" b="0" i="0" u="none" strike="noStrike" kern="0" cap="none" spc="0" normalizeH="0" baseline="0" noProof="0">
                      <a:ln>
                        <a:noFill/>
                      </a:ln>
                      <a:solidFill>
                        <a:srgbClr val="000000"/>
                      </a:solidFill>
                      <a:effectLst/>
                      <a:uLnTx/>
                      <a:uFillTx/>
                      <a:latin typeface="SamsungOne 400"/>
                      <a:ea typeface="SamsungOneKoreanOTF 400"/>
                      <a:cs typeface="+mn-cs"/>
                    </a:rPr>
                    <a:t>R$ </a:t>
                  </a:r>
                  <a:r>
                    <a:rPr lang="pt-BR" sz="1600" kern="0">
                      <a:solidFill>
                        <a:srgbClr val="000000"/>
                      </a:solidFill>
                      <a:latin typeface="SamsungOne 400"/>
                      <a:ea typeface="SamsungOneKoreanOTF 400"/>
                    </a:rPr>
                    <a:t>682</a:t>
                  </a:r>
                  <a:r>
                    <a:rPr kumimoji="0" lang="pt-BR" sz="1600" b="0" i="0" u="none" strike="noStrike" kern="0" cap="none" spc="0" normalizeH="0" baseline="0" noProof="0">
                      <a:ln>
                        <a:noFill/>
                      </a:ln>
                      <a:solidFill>
                        <a:srgbClr val="000000"/>
                      </a:solidFill>
                      <a:effectLst/>
                      <a:uLnTx/>
                      <a:uFillTx/>
                      <a:latin typeface="SamsungOne 400"/>
                      <a:ea typeface="SamsungOneKoreanOTF 400"/>
                      <a:cs typeface="+mn-cs"/>
                    </a:rPr>
                    <a:t>k</a:t>
                  </a:r>
                  <a:endParaRPr kumimoji="0" lang="pt-BR" sz="1600" b="0" i="0" u="none" strike="noStrike" kern="1200" cap="none" spc="0" normalizeH="0" baseline="0" noProof="0">
                    <a:ln>
                      <a:noFill/>
                    </a:ln>
                    <a:solidFill>
                      <a:srgbClr val="000000"/>
                    </a:solidFill>
                    <a:effectLst/>
                    <a:uLnTx/>
                    <a:uFillTx/>
                    <a:latin typeface="SamsungOne 400"/>
                    <a:ea typeface="SamsungOneKoreanOTF 400"/>
                    <a:cs typeface="+mn-cs"/>
                  </a:endParaRPr>
                </a:p>
              </p:txBody>
            </p:sp>
          </p:grpSp>
          <p:sp>
            <p:nvSpPr>
              <p:cNvPr id="159" name="Retângulo 27">
                <a:extLst>
                  <a:ext uri="{FF2B5EF4-FFF2-40B4-BE49-F238E27FC236}">
                    <a16:creationId xmlns:a16="http://schemas.microsoft.com/office/drawing/2014/main" id="{9F87CC91-F87F-403F-B667-2AE8CC05828C}"/>
                  </a:ext>
                </a:extLst>
              </p:cNvPr>
              <p:cNvSpPr/>
              <p:nvPr/>
            </p:nvSpPr>
            <p:spPr>
              <a:xfrm>
                <a:off x="531367" y="5991460"/>
                <a:ext cx="1692975" cy="185818"/>
              </a:xfrm>
              <a:prstGeom prst="rect">
                <a:avLst/>
              </a:prstGeom>
              <a:solidFill>
                <a:srgbClr val="203764"/>
              </a:solidFill>
              <a:ln cap="flat">
                <a:noFill/>
                <a:prstDash val="solid"/>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000" b="0" i="0" u="none" strike="noStrike" kern="0" cap="none" spc="0" normalizeH="0" baseline="0" noProof="0">
                    <a:ln>
                      <a:noFill/>
                    </a:ln>
                    <a:solidFill>
                      <a:srgbClr val="FFFFFF"/>
                    </a:solidFill>
                    <a:effectLst/>
                    <a:uLnTx/>
                    <a:uFillTx/>
                    <a:latin typeface="SamsungOne 400"/>
                    <a:ea typeface="SamsungOneKoreanOTF 400"/>
                    <a:cs typeface="+mn-cs"/>
                  </a:rPr>
                  <a:t>WHATSAPP</a:t>
                </a:r>
                <a:endParaRPr kumimoji="0" lang="pt-BR" sz="1000" b="0" i="0" u="none" strike="noStrike" kern="1200" cap="none" spc="0" normalizeH="0" baseline="0" noProof="0">
                  <a:ln>
                    <a:noFill/>
                  </a:ln>
                  <a:solidFill>
                    <a:srgbClr val="FFFFFF"/>
                  </a:solidFill>
                  <a:effectLst/>
                  <a:uLnTx/>
                  <a:uFillTx/>
                  <a:latin typeface="SamsungOne 400"/>
                  <a:ea typeface="SamsungOneKoreanOTF 400"/>
                  <a:cs typeface="+mn-cs"/>
                </a:endParaRPr>
              </a:p>
            </p:txBody>
          </p:sp>
        </p:grpSp>
      </p:grpSp>
      <p:sp>
        <p:nvSpPr>
          <p:cNvPr id="104" name="Retângulo 103">
            <a:extLst>
              <a:ext uri="{FF2B5EF4-FFF2-40B4-BE49-F238E27FC236}">
                <a16:creationId xmlns:a16="http://schemas.microsoft.com/office/drawing/2014/main" id="{68DC3CC4-BB8B-4F0F-B67E-9CE9FE8AFBC7}"/>
              </a:ext>
            </a:extLst>
          </p:cNvPr>
          <p:cNvSpPr/>
          <p:nvPr/>
        </p:nvSpPr>
        <p:spPr>
          <a:xfrm>
            <a:off x="387927" y="2247065"/>
            <a:ext cx="2004668" cy="4524599"/>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5" name="CaixaDeTexto 104">
            <a:extLst>
              <a:ext uri="{FF2B5EF4-FFF2-40B4-BE49-F238E27FC236}">
                <a16:creationId xmlns:a16="http://schemas.microsoft.com/office/drawing/2014/main" id="{5E0C0485-8F2C-40C1-97E5-AD1D91EB7EDC}"/>
              </a:ext>
            </a:extLst>
          </p:cNvPr>
          <p:cNvSpPr txBox="1"/>
          <p:nvPr/>
        </p:nvSpPr>
        <p:spPr>
          <a:xfrm>
            <a:off x="543775" y="2064137"/>
            <a:ext cx="936000" cy="307777"/>
          </a:xfrm>
          <a:prstGeom prst="rect">
            <a:avLst/>
          </a:prstGeom>
          <a:solidFill>
            <a:sysClr val="window" lastClr="FFFFF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2060"/>
                </a:solidFill>
                <a:effectLst/>
                <a:uLnTx/>
                <a:uFillTx/>
                <a:latin typeface="Samsung Sharp Sans Bold" panose="02000503000000020004"/>
                <a:ea typeface="+mn-ea"/>
                <a:cs typeface="+mn-cs"/>
              </a:rPr>
              <a:t>Target</a:t>
            </a:r>
          </a:p>
        </p:txBody>
      </p:sp>
      <p:sp>
        <p:nvSpPr>
          <p:cNvPr id="106" name="Retângulo 105">
            <a:extLst>
              <a:ext uri="{FF2B5EF4-FFF2-40B4-BE49-F238E27FC236}">
                <a16:creationId xmlns:a16="http://schemas.microsoft.com/office/drawing/2014/main" id="{59B0BE70-4799-4BDB-9E8F-E4FAAE3C1D39}"/>
              </a:ext>
            </a:extLst>
          </p:cNvPr>
          <p:cNvSpPr/>
          <p:nvPr/>
        </p:nvSpPr>
        <p:spPr>
          <a:xfrm>
            <a:off x="2456557" y="2247065"/>
            <a:ext cx="6514176" cy="4524599"/>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7" name="CaixaDeTexto 106">
            <a:extLst>
              <a:ext uri="{FF2B5EF4-FFF2-40B4-BE49-F238E27FC236}">
                <a16:creationId xmlns:a16="http://schemas.microsoft.com/office/drawing/2014/main" id="{820698D6-D64F-46A0-B72F-8E6A9B2F9A7C}"/>
              </a:ext>
            </a:extLst>
          </p:cNvPr>
          <p:cNvSpPr txBox="1"/>
          <p:nvPr/>
        </p:nvSpPr>
        <p:spPr>
          <a:xfrm>
            <a:off x="2579894" y="2087459"/>
            <a:ext cx="1665527" cy="307777"/>
          </a:xfrm>
          <a:prstGeom prst="rect">
            <a:avLst/>
          </a:prstGeom>
          <a:solidFill>
            <a:sysClr val="window" lastClr="FFFFF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2060"/>
                </a:solidFill>
                <a:effectLst/>
                <a:uLnTx/>
                <a:uFillTx/>
                <a:latin typeface="Samsung Sharp Sans Bold" panose="02000503000000020004"/>
                <a:ea typeface="+mn-ea"/>
                <a:cs typeface="+mn-cs"/>
              </a:rPr>
              <a:t>R$ M YoY</a:t>
            </a:r>
          </a:p>
        </p:txBody>
      </p:sp>
      <p:sp>
        <p:nvSpPr>
          <p:cNvPr id="82" name="Retângulo 81">
            <a:extLst>
              <a:ext uri="{FF2B5EF4-FFF2-40B4-BE49-F238E27FC236}">
                <a16:creationId xmlns:a16="http://schemas.microsoft.com/office/drawing/2014/main" id="{905F1844-1E30-49A8-A297-6601E6812F0A}"/>
              </a:ext>
            </a:extLst>
          </p:cNvPr>
          <p:cNvSpPr/>
          <p:nvPr/>
        </p:nvSpPr>
        <p:spPr>
          <a:xfrm>
            <a:off x="9687882" y="1135266"/>
            <a:ext cx="1669498" cy="721195"/>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Samsung Sharp Sans Bold" pitchFamily="2" charset="0"/>
              <a:ea typeface="Samsung Sharp Sans Bold" pitchFamily="2" charset="0"/>
              <a:cs typeface="Samsung Sharp Sans Bold" pitchFamily="2" charset="0"/>
            </a:endParaRPr>
          </a:p>
        </p:txBody>
      </p:sp>
      <p:sp>
        <p:nvSpPr>
          <p:cNvPr id="84" name="CaixaDeTexto 83">
            <a:extLst>
              <a:ext uri="{FF2B5EF4-FFF2-40B4-BE49-F238E27FC236}">
                <a16:creationId xmlns:a16="http://schemas.microsoft.com/office/drawing/2014/main" id="{DF60A385-B17E-4042-A061-0B741B1DD87E}"/>
              </a:ext>
            </a:extLst>
          </p:cNvPr>
          <p:cNvSpPr txBox="1"/>
          <p:nvPr/>
        </p:nvSpPr>
        <p:spPr>
          <a:xfrm>
            <a:off x="1573149" y="1189096"/>
            <a:ext cx="1138837" cy="532989"/>
          </a:xfrm>
          <a:prstGeom prst="rect">
            <a:avLst/>
          </a:prstGeom>
          <a:noFill/>
          <a:ln>
            <a:noFill/>
          </a:ln>
        </p:spPr>
        <p:txBody>
          <a:bodyPr wrap="square" lIns="91440" tIns="45720" rIns="91440" bIns="45720" rtlCol="0" anchor="t">
            <a:spAutoFit/>
          </a:bodyPr>
          <a:lstStyle/>
          <a:p>
            <a:pPr algn="ctr"/>
            <a:r>
              <a:rPr lang="pt-BR" sz="2800" b="1"/>
              <a:t>1,10B</a:t>
            </a:r>
          </a:p>
        </p:txBody>
      </p:sp>
      <p:sp>
        <p:nvSpPr>
          <p:cNvPr id="85" name="CaixaDeTexto 84">
            <a:extLst>
              <a:ext uri="{FF2B5EF4-FFF2-40B4-BE49-F238E27FC236}">
                <a16:creationId xmlns:a16="http://schemas.microsoft.com/office/drawing/2014/main" id="{1707B997-255C-4202-8BA4-D7E6D4520035}"/>
              </a:ext>
            </a:extLst>
          </p:cNvPr>
          <p:cNvSpPr txBox="1"/>
          <p:nvPr/>
        </p:nvSpPr>
        <p:spPr>
          <a:xfrm>
            <a:off x="1780929" y="1582574"/>
            <a:ext cx="840506" cy="276999"/>
          </a:xfrm>
          <a:prstGeom prst="rect">
            <a:avLst/>
          </a:prstGeom>
          <a:noFill/>
        </p:spPr>
        <p:txBody>
          <a:bodyPr wrap="square" rtlCol="0">
            <a:spAutoFit/>
          </a:bodyPr>
          <a:lstStyle/>
          <a:p>
            <a:pPr algn="ctr"/>
            <a:r>
              <a:rPr lang="pt-BR" sz="1200" i="1"/>
              <a:t>Deliveries</a:t>
            </a:r>
          </a:p>
        </p:txBody>
      </p:sp>
      <p:sp>
        <p:nvSpPr>
          <p:cNvPr id="86" name="CaixaDeTexto 85">
            <a:extLst>
              <a:ext uri="{FF2B5EF4-FFF2-40B4-BE49-F238E27FC236}">
                <a16:creationId xmlns:a16="http://schemas.microsoft.com/office/drawing/2014/main" id="{A484F8BA-B1B7-485E-8E8D-F145B23ADB07}"/>
              </a:ext>
            </a:extLst>
          </p:cNvPr>
          <p:cNvSpPr txBox="1"/>
          <p:nvPr/>
        </p:nvSpPr>
        <p:spPr>
          <a:xfrm flipH="1">
            <a:off x="1931339" y="1871980"/>
            <a:ext cx="549111" cy="276999"/>
          </a:xfrm>
          <a:prstGeom prst="rect">
            <a:avLst/>
          </a:prstGeom>
          <a:noFill/>
        </p:spPr>
        <p:txBody>
          <a:bodyPr wrap="square" rtlCol="0">
            <a:spAutoFit/>
          </a:bodyPr>
          <a:lstStyle/>
          <a:p>
            <a:pPr algn="ctr"/>
            <a:r>
              <a:rPr lang="pt-BR" sz="1200" i="1">
                <a:solidFill>
                  <a:srgbClr val="00B050"/>
                </a:solidFill>
              </a:rPr>
              <a:t>1.19</a:t>
            </a:r>
          </a:p>
        </p:txBody>
      </p:sp>
      <p:sp>
        <p:nvSpPr>
          <p:cNvPr id="87" name="CaixaDeTexto 86">
            <a:extLst>
              <a:ext uri="{FF2B5EF4-FFF2-40B4-BE49-F238E27FC236}">
                <a16:creationId xmlns:a16="http://schemas.microsoft.com/office/drawing/2014/main" id="{412F1C2E-6867-4F93-A151-7ED6693B8280}"/>
              </a:ext>
            </a:extLst>
          </p:cNvPr>
          <p:cNvSpPr txBox="1"/>
          <p:nvPr/>
        </p:nvSpPr>
        <p:spPr>
          <a:xfrm>
            <a:off x="3174211" y="1189096"/>
            <a:ext cx="1329758" cy="523220"/>
          </a:xfrm>
          <a:prstGeom prst="rect">
            <a:avLst/>
          </a:prstGeom>
          <a:noFill/>
        </p:spPr>
        <p:txBody>
          <a:bodyPr wrap="square" lIns="91440" tIns="45720" rIns="91440" bIns="45720" rtlCol="0" anchor="t">
            <a:spAutoFit/>
          </a:bodyPr>
          <a:lstStyle/>
          <a:p>
            <a:pPr algn="ctr"/>
            <a:r>
              <a:rPr lang="pt-BR" sz="2800" b="1"/>
              <a:t>77,3M</a:t>
            </a:r>
          </a:p>
        </p:txBody>
      </p:sp>
      <p:sp>
        <p:nvSpPr>
          <p:cNvPr id="88" name="CaixaDeTexto 87">
            <a:extLst>
              <a:ext uri="{FF2B5EF4-FFF2-40B4-BE49-F238E27FC236}">
                <a16:creationId xmlns:a16="http://schemas.microsoft.com/office/drawing/2014/main" id="{5997C1C2-CA16-4D31-A335-18EDCF55A17D}"/>
              </a:ext>
            </a:extLst>
          </p:cNvPr>
          <p:cNvSpPr txBox="1"/>
          <p:nvPr/>
        </p:nvSpPr>
        <p:spPr>
          <a:xfrm>
            <a:off x="3020136" y="1582574"/>
            <a:ext cx="1637908" cy="276999"/>
          </a:xfrm>
          <a:prstGeom prst="rect">
            <a:avLst/>
          </a:prstGeom>
          <a:noFill/>
          <a:ln>
            <a:noFill/>
          </a:ln>
        </p:spPr>
        <p:txBody>
          <a:bodyPr wrap="square" rtlCol="0">
            <a:spAutoFit/>
          </a:bodyPr>
          <a:lstStyle/>
          <a:p>
            <a:pPr algn="ctr"/>
            <a:r>
              <a:rPr lang="pt-BR" sz="1200" i="1"/>
              <a:t>Opens</a:t>
            </a:r>
          </a:p>
        </p:txBody>
      </p:sp>
      <p:sp>
        <p:nvSpPr>
          <p:cNvPr id="90" name="CaixaDeTexto 89">
            <a:extLst>
              <a:ext uri="{FF2B5EF4-FFF2-40B4-BE49-F238E27FC236}">
                <a16:creationId xmlns:a16="http://schemas.microsoft.com/office/drawing/2014/main" id="{763957FF-EB94-43CF-AEC3-0500361F7FF1}"/>
              </a:ext>
            </a:extLst>
          </p:cNvPr>
          <p:cNvSpPr txBox="1"/>
          <p:nvPr/>
        </p:nvSpPr>
        <p:spPr>
          <a:xfrm>
            <a:off x="3569246" y="1871980"/>
            <a:ext cx="549112" cy="276999"/>
          </a:xfrm>
          <a:prstGeom prst="rect">
            <a:avLst/>
          </a:prstGeom>
          <a:noFill/>
        </p:spPr>
        <p:txBody>
          <a:bodyPr wrap="square" lIns="91440" tIns="45720" rIns="91440" bIns="45720" rtlCol="0" anchor="t">
            <a:spAutoFit/>
          </a:bodyPr>
          <a:lstStyle/>
          <a:p>
            <a:pPr algn="ctr"/>
            <a:r>
              <a:rPr lang="pt-BR" sz="1200" i="1">
                <a:solidFill>
                  <a:srgbClr val="00B050"/>
                </a:solidFill>
              </a:rPr>
              <a:t>1.61</a:t>
            </a:r>
          </a:p>
        </p:txBody>
      </p:sp>
      <p:sp>
        <p:nvSpPr>
          <p:cNvPr id="93" name="CaixaDeTexto 92">
            <a:extLst>
              <a:ext uri="{FF2B5EF4-FFF2-40B4-BE49-F238E27FC236}">
                <a16:creationId xmlns:a16="http://schemas.microsoft.com/office/drawing/2014/main" id="{7D279F8A-5AF7-44DA-B981-3AA48FC5E85A}"/>
              </a:ext>
            </a:extLst>
          </p:cNvPr>
          <p:cNvSpPr txBox="1"/>
          <p:nvPr/>
        </p:nvSpPr>
        <p:spPr>
          <a:xfrm>
            <a:off x="4851819" y="1189096"/>
            <a:ext cx="974731" cy="523220"/>
          </a:xfrm>
          <a:prstGeom prst="rect">
            <a:avLst/>
          </a:prstGeom>
          <a:noFill/>
          <a:ln>
            <a:noFill/>
          </a:ln>
        </p:spPr>
        <p:txBody>
          <a:bodyPr wrap="square" lIns="91440" tIns="45720" rIns="91440" bIns="45720" rtlCol="0" anchor="t">
            <a:spAutoFit/>
          </a:bodyPr>
          <a:lstStyle/>
          <a:p>
            <a:pPr algn="ctr"/>
            <a:r>
              <a:rPr lang="pt-BR" sz="2800" b="1"/>
              <a:t>1,1M</a:t>
            </a:r>
          </a:p>
        </p:txBody>
      </p:sp>
      <p:sp>
        <p:nvSpPr>
          <p:cNvPr id="94" name="CaixaDeTexto 93">
            <a:extLst>
              <a:ext uri="{FF2B5EF4-FFF2-40B4-BE49-F238E27FC236}">
                <a16:creationId xmlns:a16="http://schemas.microsoft.com/office/drawing/2014/main" id="{99E953BC-2EE7-4D7D-A860-A8038EFEC4C9}"/>
              </a:ext>
            </a:extLst>
          </p:cNvPr>
          <p:cNvSpPr txBox="1"/>
          <p:nvPr/>
        </p:nvSpPr>
        <p:spPr>
          <a:xfrm>
            <a:off x="4851819" y="1582574"/>
            <a:ext cx="847261" cy="276999"/>
          </a:xfrm>
          <a:prstGeom prst="rect">
            <a:avLst/>
          </a:prstGeom>
          <a:noFill/>
        </p:spPr>
        <p:txBody>
          <a:bodyPr wrap="square" rtlCol="0">
            <a:spAutoFit/>
          </a:bodyPr>
          <a:lstStyle/>
          <a:p>
            <a:pPr algn="ctr"/>
            <a:r>
              <a:rPr lang="pt-BR" sz="1200" i="1"/>
              <a:t>Cliques</a:t>
            </a:r>
          </a:p>
        </p:txBody>
      </p:sp>
      <p:sp>
        <p:nvSpPr>
          <p:cNvPr id="95" name="CaixaDeTexto 94">
            <a:extLst>
              <a:ext uri="{FF2B5EF4-FFF2-40B4-BE49-F238E27FC236}">
                <a16:creationId xmlns:a16="http://schemas.microsoft.com/office/drawing/2014/main" id="{310DA243-1868-41C7-A5BB-DC543891B0D0}"/>
              </a:ext>
            </a:extLst>
          </p:cNvPr>
          <p:cNvSpPr txBox="1"/>
          <p:nvPr/>
        </p:nvSpPr>
        <p:spPr>
          <a:xfrm>
            <a:off x="6046931" y="1189096"/>
            <a:ext cx="992866" cy="523220"/>
          </a:xfrm>
          <a:prstGeom prst="rect">
            <a:avLst/>
          </a:prstGeom>
          <a:noFill/>
        </p:spPr>
        <p:txBody>
          <a:bodyPr wrap="square" rtlCol="0">
            <a:spAutoFit/>
          </a:bodyPr>
          <a:lstStyle/>
          <a:p>
            <a:pPr algn="ctr"/>
            <a:r>
              <a:rPr lang="pt-BR" sz="2800" b="1"/>
              <a:t>983k</a:t>
            </a:r>
          </a:p>
        </p:txBody>
      </p:sp>
      <p:sp>
        <p:nvSpPr>
          <p:cNvPr id="96" name="CaixaDeTexto 95">
            <a:extLst>
              <a:ext uri="{FF2B5EF4-FFF2-40B4-BE49-F238E27FC236}">
                <a16:creationId xmlns:a16="http://schemas.microsoft.com/office/drawing/2014/main" id="{5E5272EF-11E4-4921-925D-E8FD74A2C5A1}"/>
              </a:ext>
            </a:extLst>
          </p:cNvPr>
          <p:cNvSpPr txBox="1"/>
          <p:nvPr/>
        </p:nvSpPr>
        <p:spPr>
          <a:xfrm>
            <a:off x="6267356" y="1582574"/>
            <a:ext cx="549113" cy="276999"/>
          </a:xfrm>
          <a:prstGeom prst="rect">
            <a:avLst/>
          </a:prstGeom>
          <a:noFill/>
        </p:spPr>
        <p:txBody>
          <a:bodyPr wrap="square" rtlCol="0">
            <a:spAutoFit/>
          </a:bodyPr>
          <a:lstStyle/>
          <a:p>
            <a:pPr algn="ctr"/>
            <a:r>
              <a:rPr lang="pt-BR" sz="1200" i="1" err="1"/>
              <a:t>Visits</a:t>
            </a:r>
            <a:endParaRPr lang="pt-BR" sz="1200" i="1"/>
          </a:p>
        </p:txBody>
      </p:sp>
      <p:sp>
        <p:nvSpPr>
          <p:cNvPr id="97" name="CaixaDeTexto 96">
            <a:extLst>
              <a:ext uri="{FF2B5EF4-FFF2-40B4-BE49-F238E27FC236}">
                <a16:creationId xmlns:a16="http://schemas.microsoft.com/office/drawing/2014/main" id="{18848A92-D71E-4732-A81F-44124EC8A9AE}"/>
              </a:ext>
            </a:extLst>
          </p:cNvPr>
          <p:cNvSpPr txBox="1"/>
          <p:nvPr/>
        </p:nvSpPr>
        <p:spPr>
          <a:xfrm>
            <a:off x="7559289" y="1189096"/>
            <a:ext cx="955619" cy="523220"/>
          </a:xfrm>
          <a:prstGeom prst="rect">
            <a:avLst/>
          </a:prstGeom>
          <a:noFill/>
        </p:spPr>
        <p:txBody>
          <a:bodyPr wrap="square" lIns="91440" tIns="45720" rIns="91440" bIns="45720" rtlCol="0" anchor="t">
            <a:spAutoFit/>
          </a:bodyPr>
          <a:lstStyle/>
          <a:p>
            <a:pPr algn="ctr"/>
            <a:r>
              <a:rPr lang="pt-BR" sz="2800" b="1"/>
              <a:t>1,9K</a:t>
            </a:r>
          </a:p>
        </p:txBody>
      </p:sp>
      <p:sp>
        <p:nvSpPr>
          <p:cNvPr id="98" name="CaixaDeTexto 97">
            <a:extLst>
              <a:ext uri="{FF2B5EF4-FFF2-40B4-BE49-F238E27FC236}">
                <a16:creationId xmlns:a16="http://schemas.microsoft.com/office/drawing/2014/main" id="{F97E01AC-72D2-40A7-B2F3-A7401BEB4AAC}"/>
              </a:ext>
            </a:extLst>
          </p:cNvPr>
          <p:cNvSpPr txBox="1"/>
          <p:nvPr/>
        </p:nvSpPr>
        <p:spPr>
          <a:xfrm>
            <a:off x="7700667" y="1582574"/>
            <a:ext cx="672865" cy="276999"/>
          </a:xfrm>
          <a:prstGeom prst="rect">
            <a:avLst/>
          </a:prstGeom>
          <a:noFill/>
        </p:spPr>
        <p:txBody>
          <a:bodyPr wrap="square" rtlCol="0">
            <a:spAutoFit/>
          </a:bodyPr>
          <a:lstStyle/>
          <a:p>
            <a:pPr algn="ctr"/>
            <a:r>
              <a:rPr lang="pt-BR" sz="1200" i="1" err="1"/>
              <a:t>Orders</a:t>
            </a:r>
            <a:endParaRPr lang="pt-BR" sz="1200" i="1"/>
          </a:p>
        </p:txBody>
      </p:sp>
      <p:sp>
        <p:nvSpPr>
          <p:cNvPr id="99" name="CaixaDeTexto 98">
            <a:extLst>
              <a:ext uri="{FF2B5EF4-FFF2-40B4-BE49-F238E27FC236}">
                <a16:creationId xmlns:a16="http://schemas.microsoft.com/office/drawing/2014/main" id="{7B8008A8-0E21-43D4-AEF6-FC2C34D94EE4}"/>
              </a:ext>
            </a:extLst>
          </p:cNvPr>
          <p:cNvSpPr txBox="1"/>
          <p:nvPr/>
        </p:nvSpPr>
        <p:spPr>
          <a:xfrm>
            <a:off x="9903872" y="1179712"/>
            <a:ext cx="1637908" cy="523220"/>
          </a:xfrm>
          <a:prstGeom prst="rect">
            <a:avLst/>
          </a:prstGeom>
          <a:noFill/>
        </p:spPr>
        <p:txBody>
          <a:bodyPr wrap="square" lIns="91440" tIns="45720" rIns="91440" bIns="45720" rtlCol="0" anchor="t">
            <a:spAutoFit/>
          </a:bodyPr>
          <a:lstStyle/>
          <a:p>
            <a:r>
              <a:rPr lang="pt-BR" sz="2800" b="1">
                <a:solidFill>
                  <a:schemeClr val="bg1"/>
                </a:solidFill>
              </a:rPr>
              <a:t>R$7,8M</a:t>
            </a:r>
          </a:p>
        </p:txBody>
      </p:sp>
      <p:sp>
        <p:nvSpPr>
          <p:cNvPr id="100" name="CaixaDeTexto 99">
            <a:extLst>
              <a:ext uri="{FF2B5EF4-FFF2-40B4-BE49-F238E27FC236}">
                <a16:creationId xmlns:a16="http://schemas.microsoft.com/office/drawing/2014/main" id="{62113239-971D-4FA5-B037-2362C788742E}"/>
              </a:ext>
            </a:extLst>
          </p:cNvPr>
          <p:cNvSpPr txBox="1"/>
          <p:nvPr/>
        </p:nvSpPr>
        <p:spPr>
          <a:xfrm>
            <a:off x="10153772" y="1582574"/>
            <a:ext cx="750783" cy="276999"/>
          </a:xfrm>
          <a:prstGeom prst="rect">
            <a:avLst/>
          </a:prstGeom>
          <a:noFill/>
        </p:spPr>
        <p:txBody>
          <a:bodyPr wrap="square" rtlCol="0">
            <a:spAutoFit/>
          </a:bodyPr>
          <a:lstStyle/>
          <a:p>
            <a:pPr algn="ctr"/>
            <a:r>
              <a:rPr lang="pt-BR" sz="1200" i="1" err="1">
                <a:solidFill>
                  <a:schemeClr val="bg1"/>
                </a:solidFill>
              </a:rPr>
              <a:t>Revenue</a:t>
            </a:r>
            <a:endParaRPr lang="pt-BR" sz="1200" i="1">
              <a:solidFill>
                <a:schemeClr val="bg1"/>
              </a:solidFill>
            </a:endParaRPr>
          </a:p>
        </p:txBody>
      </p:sp>
      <p:sp>
        <p:nvSpPr>
          <p:cNvPr id="101" name="CaixaDeTexto 100">
            <a:extLst>
              <a:ext uri="{FF2B5EF4-FFF2-40B4-BE49-F238E27FC236}">
                <a16:creationId xmlns:a16="http://schemas.microsoft.com/office/drawing/2014/main" id="{E9E8E448-5468-4CFE-9B76-67A41B0D6F68}"/>
              </a:ext>
            </a:extLst>
          </p:cNvPr>
          <p:cNvSpPr txBox="1"/>
          <p:nvPr/>
        </p:nvSpPr>
        <p:spPr>
          <a:xfrm flipH="1">
            <a:off x="1131216" y="1878339"/>
            <a:ext cx="549111" cy="216206"/>
          </a:xfrm>
          <a:prstGeom prst="rect">
            <a:avLst/>
          </a:prstGeom>
          <a:noFill/>
        </p:spPr>
        <p:txBody>
          <a:bodyPr wrap="square" rtlCol="0">
            <a:spAutoFit/>
          </a:bodyPr>
          <a:lstStyle/>
          <a:p>
            <a:r>
              <a:rPr lang="pt-BR" sz="1100" b="1"/>
              <a:t>G/R</a:t>
            </a:r>
          </a:p>
        </p:txBody>
      </p:sp>
      <p:cxnSp>
        <p:nvCxnSpPr>
          <p:cNvPr id="108" name="Conector de Seta Reta 107">
            <a:extLst>
              <a:ext uri="{FF2B5EF4-FFF2-40B4-BE49-F238E27FC236}">
                <a16:creationId xmlns:a16="http://schemas.microsoft.com/office/drawing/2014/main" id="{D80BEEAB-7B3A-4094-820D-FC485B891EB5}"/>
              </a:ext>
            </a:extLst>
          </p:cNvPr>
          <p:cNvCxnSpPr>
            <a:cxnSpLocks/>
            <a:stCxn id="84" idx="3"/>
            <a:endCxn id="87" idx="1"/>
          </p:cNvCxnSpPr>
          <p:nvPr/>
        </p:nvCxnSpPr>
        <p:spPr>
          <a:xfrm flipV="1">
            <a:off x="2711986" y="1450706"/>
            <a:ext cx="462225" cy="48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0" name="CaixaDeTexto 109">
            <a:extLst>
              <a:ext uri="{FF2B5EF4-FFF2-40B4-BE49-F238E27FC236}">
                <a16:creationId xmlns:a16="http://schemas.microsoft.com/office/drawing/2014/main" id="{48B68258-AD43-4019-B7CA-5F27C00AC392}"/>
              </a:ext>
            </a:extLst>
          </p:cNvPr>
          <p:cNvSpPr txBox="1"/>
          <p:nvPr/>
        </p:nvSpPr>
        <p:spPr>
          <a:xfrm>
            <a:off x="2709019" y="1216056"/>
            <a:ext cx="540533" cy="261610"/>
          </a:xfrm>
          <a:prstGeom prst="rect">
            <a:avLst/>
          </a:prstGeom>
          <a:noFill/>
        </p:spPr>
        <p:txBody>
          <a:bodyPr wrap="none" lIns="91440" tIns="45720" rIns="91440" bIns="45720" rtlCol="0" anchor="t">
            <a:spAutoFit/>
          </a:bodyPr>
          <a:lstStyle/>
          <a:p>
            <a:r>
              <a:rPr lang="pt-BR" sz="1100" b="1"/>
              <a:t>7,66%</a:t>
            </a:r>
          </a:p>
        </p:txBody>
      </p:sp>
      <p:sp>
        <p:nvSpPr>
          <p:cNvPr id="112" name="CaixaDeTexto 111">
            <a:extLst>
              <a:ext uri="{FF2B5EF4-FFF2-40B4-BE49-F238E27FC236}">
                <a16:creationId xmlns:a16="http://schemas.microsoft.com/office/drawing/2014/main" id="{73A92240-D619-42F9-858D-B5A2B7629928}"/>
              </a:ext>
            </a:extLst>
          </p:cNvPr>
          <p:cNvSpPr txBox="1"/>
          <p:nvPr/>
        </p:nvSpPr>
        <p:spPr>
          <a:xfrm>
            <a:off x="4996471" y="1871980"/>
            <a:ext cx="549112" cy="276999"/>
          </a:xfrm>
          <a:prstGeom prst="rect">
            <a:avLst/>
          </a:prstGeom>
          <a:noFill/>
        </p:spPr>
        <p:txBody>
          <a:bodyPr wrap="square" lIns="91440" tIns="45720" rIns="91440" bIns="45720" rtlCol="0" anchor="t">
            <a:spAutoFit/>
          </a:bodyPr>
          <a:lstStyle/>
          <a:p>
            <a:pPr algn="ctr"/>
            <a:r>
              <a:rPr lang="pt-BR" sz="1200" i="1">
                <a:solidFill>
                  <a:srgbClr val="C00000"/>
                </a:solidFill>
              </a:rPr>
              <a:t>0.52</a:t>
            </a:r>
          </a:p>
        </p:txBody>
      </p:sp>
      <p:sp>
        <p:nvSpPr>
          <p:cNvPr id="114" name="CaixaDeTexto 113">
            <a:extLst>
              <a:ext uri="{FF2B5EF4-FFF2-40B4-BE49-F238E27FC236}">
                <a16:creationId xmlns:a16="http://schemas.microsoft.com/office/drawing/2014/main" id="{1F03CCED-D69C-44C4-9D50-8559172D8288}"/>
              </a:ext>
            </a:extLst>
          </p:cNvPr>
          <p:cNvSpPr txBox="1"/>
          <p:nvPr/>
        </p:nvSpPr>
        <p:spPr>
          <a:xfrm>
            <a:off x="6279376" y="1871980"/>
            <a:ext cx="549112" cy="276999"/>
          </a:xfrm>
          <a:prstGeom prst="rect">
            <a:avLst/>
          </a:prstGeom>
          <a:noFill/>
        </p:spPr>
        <p:txBody>
          <a:bodyPr wrap="square" lIns="91440" tIns="45720" rIns="91440" bIns="45720" rtlCol="0" anchor="t">
            <a:spAutoFit/>
          </a:bodyPr>
          <a:lstStyle/>
          <a:p>
            <a:pPr algn="ctr"/>
            <a:r>
              <a:rPr lang="pt-BR" sz="1200" i="1">
                <a:solidFill>
                  <a:srgbClr val="C00000"/>
                </a:solidFill>
              </a:rPr>
              <a:t>0.66</a:t>
            </a:r>
          </a:p>
        </p:txBody>
      </p:sp>
      <p:sp>
        <p:nvSpPr>
          <p:cNvPr id="115" name="CaixaDeTexto 114">
            <a:extLst>
              <a:ext uri="{FF2B5EF4-FFF2-40B4-BE49-F238E27FC236}">
                <a16:creationId xmlns:a16="http://schemas.microsoft.com/office/drawing/2014/main" id="{84CBD96A-C1E7-4A9B-A78E-655D6BF03906}"/>
              </a:ext>
            </a:extLst>
          </p:cNvPr>
          <p:cNvSpPr txBox="1"/>
          <p:nvPr/>
        </p:nvSpPr>
        <p:spPr>
          <a:xfrm>
            <a:off x="7824420" y="1871980"/>
            <a:ext cx="549112" cy="276999"/>
          </a:xfrm>
          <a:prstGeom prst="rect">
            <a:avLst/>
          </a:prstGeom>
          <a:noFill/>
        </p:spPr>
        <p:txBody>
          <a:bodyPr wrap="square" rtlCol="0">
            <a:spAutoFit/>
          </a:bodyPr>
          <a:lstStyle/>
          <a:p>
            <a:pPr algn="ctr"/>
            <a:r>
              <a:rPr lang="pt-BR" sz="1200" i="1">
                <a:solidFill>
                  <a:srgbClr val="00B050"/>
                </a:solidFill>
              </a:rPr>
              <a:t>1.62</a:t>
            </a:r>
          </a:p>
        </p:txBody>
      </p:sp>
      <p:sp>
        <p:nvSpPr>
          <p:cNvPr id="116" name="CaixaDeTexto 115">
            <a:extLst>
              <a:ext uri="{FF2B5EF4-FFF2-40B4-BE49-F238E27FC236}">
                <a16:creationId xmlns:a16="http://schemas.microsoft.com/office/drawing/2014/main" id="{8D0AA031-4776-4EB7-B56B-CAAA7A04A790}"/>
              </a:ext>
            </a:extLst>
          </p:cNvPr>
          <p:cNvSpPr txBox="1"/>
          <p:nvPr/>
        </p:nvSpPr>
        <p:spPr>
          <a:xfrm>
            <a:off x="10254607" y="1871980"/>
            <a:ext cx="549112" cy="276999"/>
          </a:xfrm>
          <a:prstGeom prst="rect">
            <a:avLst/>
          </a:prstGeom>
          <a:noFill/>
        </p:spPr>
        <p:txBody>
          <a:bodyPr wrap="square" rtlCol="0">
            <a:spAutoFit/>
          </a:bodyPr>
          <a:lstStyle/>
          <a:p>
            <a:pPr algn="ctr"/>
            <a:r>
              <a:rPr lang="pt-BR" sz="1200" i="1">
                <a:solidFill>
                  <a:srgbClr val="00B050"/>
                </a:solidFill>
              </a:rPr>
              <a:t>2.01</a:t>
            </a:r>
          </a:p>
        </p:txBody>
      </p:sp>
      <p:sp>
        <p:nvSpPr>
          <p:cNvPr id="121" name="CaixaDeTexto 120">
            <a:extLst>
              <a:ext uri="{FF2B5EF4-FFF2-40B4-BE49-F238E27FC236}">
                <a16:creationId xmlns:a16="http://schemas.microsoft.com/office/drawing/2014/main" id="{EF166B7F-8ABC-41F9-AE48-45ACB690B6ED}"/>
              </a:ext>
            </a:extLst>
          </p:cNvPr>
          <p:cNvSpPr txBox="1"/>
          <p:nvPr/>
        </p:nvSpPr>
        <p:spPr>
          <a:xfrm>
            <a:off x="2654339" y="1445815"/>
            <a:ext cx="549112" cy="246221"/>
          </a:xfrm>
          <a:prstGeom prst="rect">
            <a:avLst/>
          </a:prstGeom>
          <a:noFill/>
        </p:spPr>
        <p:txBody>
          <a:bodyPr wrap="square" lIns="91440" tIns="45720" rIns="91440" bIns="45720" rtlCol="0" anchor="t">
            <a:spAutoFit/>
          </a:bodyPr>
          <a:lstStyle/>
          <a:p>
            <a:pPr algn="ctr"/>
            <a:r>
              <a:rPr lang="pt-BR" sz="1000" i="1">
                <a:solidFill>
                  <a:srgbClr val="00B050"/>
                </a:solidFill>
              </a:rPr>
              <a:t>1,04</a:t>
            </a:r>
          </a:p>
        </p:txBody>
      </p:sp>
      <p:sp>
        <p:nvSpPr>
          <p:cNvPr id="122" name="CaixaDeTexto 121">
            <a:extLst>
              <a:ext uri="{FF2B5EF4-FFF2-40B4-BE49-F238E27FC236}">
                <a16:creationId xmlns:a16="http://schemas.microsoft.com/office/drawing/2014/main" id="{FF64221D-EDED-4991-8AD1-548753810B52}"/>
              </a:ext>
            </a:extLst>
          </p:cNvPr>
          <p:cNvSpPr txBox="1"/>
          <p:nvPr/>
        </p:nvSpPr>
        <p:spPr>
          <a:xfrm>
            <a:off x="3455810" y="729295"/>
            <a:ext cx="671053" cy="261610"/>
          </a:xfrm>
          <a:prstGeom prst="rect">
            <a:avLst/>
          </a:prstGeom>
          <a:noFill/>
        </p:spPr>
        <p:txBody>
          <a:bodyPr wrap="square" lIns="91440" tIns="45720" rIns="91440" bIns="45720" rtlCol="0" anchor="t">
            <a:spAutoFit/>
          </a:bodyPr>
          <a:lstStyle/>
          <a:p>
            <a:pPr algn="ctr"/>
            <a:r>
              <a:rPr lang="pt-BR" sz="1100" b="1"/>
              <a:t>0,17%</a:t>
            </a:r>
          </a:p>
        </p:txBody>
      </p:sp>
      <p:sp>
        <p:nvSpPr>
          <p:cNvPr id="123" name="CaixaDeTexto 122">
            <a:extLst>
              <a:ext uri="{FF2B5EF4-FFF2-40B4-BE49-F238E27FC236}">
                <a16:creationId xmlns:a16="http://schemas.microsoft.com/office/drawing/2014/main" id="{5347D652-0230-447B-874F-5F01CABE7DE0}"/>
              </a:ext>
            </a:extLst>
          </p:cNvPr>
          <p:cNvSpPr txBox="1"/>
          <p:nvPr/>
        </p:nvSpPr>
        <p:spPr>
          <a:xfrm>
            <a:off x="3569197" y="945014"/>
            <a:ext cx="484996" cy="246674"/>
          </a:xfrm>
          <a:prstGeom prst="rect">
            <a:avLst/>
          </a:prstGeom>
          <a:noFill/>
        </p:spPr>
        <p:txBody>
          <a:bodyPr wrap="square" lIns="91440" tIns="45720" rIns="91440" bIns="45720" rtlCol="0" anchor="t">
            <a:spAutoFit/>
          </a:bodyPr>
          <a:lstStyle/>
          <a:p>
            <a:pPr algn="ctr"/>
            <a:r>
              <a:rPr lang="pt-BR" sz="1000" i="1">
                <a:solidFill>
                  <a:srgbClr val="00B050"/>
                </a:solidFill>
              </a:rPr>
              <a:t>2.75</a:t>
            </a:r>
          </a:p>
        </p:txBody>
      </p:sp>
      <p:cxnSp>
        <p:nvCxnSpPr>
          <p:cNvPr id="124" name="Conector: Angulado 123">
            <a:extLst>
              <a:ext uri="{FF2B5EF4-FFF2-40B4-BE49-F238E27FC236}">
                <a16:creationId xmlns:a16="http://schemas.microsoft.com/office/drawing/2014/main" id="{E6EF28FD-0BE6-4178-95ED-04B8D49DA19A}"/>
              </a:ext>
            </a:extLst>
          </p:cNvPr>
          <p:cNvCxnSpPr>
            <a:cxnSpLocks/>
            <a:stCxn id="84" idx="0"/>
            <a:endCxn id="93" idx="0"/>
          </p:cNvCxnSpPr>
          <p:nvPr/>
        </p:nvCxnSpPr>
        <p:spPr>
          <a:xfrm rot="5400000" flipH="1" flipV="1">
            <a:off x="3740876" y="-409212"/>
            <a:ext cx="12700" cy="3196617"/>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5" name="Conector de Seta Reta 124">
            <a:extLst>
              <a:ext uri="{FF2B5EF4-FFF2-40B4-BE49-F238E27FC236}">
                <a16:creationId xmlns:a16="http://schemas.microsoft.com/office/drawing/2014/main" id="{52E26A18-8360-46BA-9881-91AAD8ABEC96}"/>
              </a:ext>
            </a:extLst>
          </p:cNvPr>
          <p:cNvCxnSpPr>
            <a:cxnSpLocks/>
            <a:stCxn id="87" idx="3"/>
            <a:endCxn id="93" idx="1"/>
          </p:cNvCxnSpPr>
          <p:nvPr/>
        </p:nvCxnSpPr>
        <p:spPr>
          <a:xfrm>
            <a:off x="4503969" y="1450706"/>
            <a:ext cx="3478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6" name="CaixaDeTexto 125">
            <a:extLst>
              <a:ext uri="{FF2B5EF4-FFF2-40B4-BE49-F238E27FC236}">
                <a16:creationId xmlns:a16="http://schemas.microsoft.com/office/drawing/2014/main" id="{B84BD724-BD8D-4F6F-BF50-90AAA8F18753}"/>
              </a:ext>
            </a:extLst>
          </p:cNvPr>
          <p:cNvSpPr txBox="1"/>
          <p:nvPr/>
        </p:nvSpPr>
        <p:spPr>
          <a:xfrm>
            <a:off x="4461158" y="1216056"/>
            <a:ext cx="540533" cy="261610"/>
          </a:xfrm>
          <a:prstGeom prst="rect">
            <a:avLst/>
          </a:prstGeom>
          <a:noFill/>
        </p:spPr>
        <p:txBody>
          <a:bodyPr wrap="none" rtlCol="0">
            <a:spAutoFit/>
          </a:bodyPr>
          <a:lstStyle/>
          <a:p>
            <a:r>
              <a:rPr lang="pt-BR" sz="1100" b="1"/>
              <a:t>0,55%</a:t>
            </a:r>
          </a:p>
        </p:txBody>
      </p:sp>
      <p:sp>
        <p:nvSpPr>
          <p:cNvPr id="127" name="CaixaDeTexto 126">
            <a:extLst>
              <a:ext uri="{FF2B5EF4-FFF2-40B4-BE49-F238E27FC236}">
                <a16:creationId xmlns:a16="http://schemas.microsoft.com/office/drawing/2014/main" id="{C86EC7D4-159A-4D66-8B94-8D9654E507DD}"/>
              </a:ext>
            </a:extLst>
          </p:cNvPr>
          <p:cNvSpPr txBox="1"/>
          <p:nvPr/>
        </p:nvSpPr>
        <p:spPr>
          <a:xfrm>
            <a:off x="4403338" y="1445815"/>
            <a:ext cx="549112" cy="246221"/>
          </a:xfrm>
          <a:prstGeom prst="rect">
            <a:avLst/>
          </a:prstGeom>
          <a:noFill/>
        </p:spPr>
        <p:txBody>
          <a:bodyPr wrap="square" lIns="91440" tIns="45720" rIns="91440" bIns="45720" rtlCol="0" anchor="t">
            <a:spAutoFit/>
          </a:bodyPr>
          <a:lstStyle/>
          <a:p>
            <a:pPr algn="ctr"/>
            <a:r>
              <a:rPr lang="pt-BR" sz="1000" i="1">
                <a:solidFill>
                  <a:srgbClr val="C00000"/>
                </a:solidFill>
              </a:rPr>
              <a:t>0,57</a:t>
            </a:r>
          </a:p>
        </p:txBody>
      </p:sp>
      <p:cxnSp>
        <p:nvCxnSpPr>
          <p:cNvPr id="128" name="Conector de Seta Reta 127">
            <a:extLst>
              <a:ext uri="{FF2B5EF4-FFF2-40B4-BE49-F238E27FC236}">
                <a16:creationId xmlns:a16="http://schemas.microsoft.com/office/drawing/2014/main" id="{0961F012-0200-41FB-9CE5-001EC17D3FA2}"/>
              </a:ext>
            </a:extLst>
          </p:cNvPr>
          <p:cNvCxnSpPr>
            <a:cxnSpLocks/>
            <a:stCxn id="95" idx="3"/>
            <a:endCxn id="97" idx="1"/>
          </p:cNvCxnSpPr>
          <p:nvPr/>
        </p:nvCxnSpPr>
        <p:spPr>
          <a:xfrm>
            <a:off x="7039797" y="1450706"/>
            <a:ext cx="5194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0" name="CaixaDeTexto 129">
            <a:extLst>
              <a:ext uri="{FF2B5EF4-FFF2-40B4-BE49-F238E27FC236}">
                <a16:creationId xmlns:a16="http://schemas.microsoft.com/office/drawing/2014/main" id="{09A3517C-5BC1-45C0-A466-F346839A3709}"/>
              </a:ext>
            </a:extLst>
          </p:cNvPr>
          <p:cNvSpPr txBox="1"/>
          <p:nvPr/>
        </p:nvSpPr>
        <p:spPr>
          <a:xfrm>
            <a:off x="6976951" y="1216056"/>
            <a:ext cx="540533" cy="261610"/>
          </a:xfrm>
          <a:prstGeom prst="rect">
            <a:avLst/>
          </a:prstGeom>
          <a:noFill/>
        </p:spPr>
        <p:txBody>
          <a:bodyPr wrap="none" rtlCol="0">
            <a:spAutoFit/>
          </a:bodyPr>
          <a:lstStyle/>
          <a:p>
            <a:r>
              <a:rPr lang="pt-BR" sz="1100" b="1"/>
              <a:t>0,17%</a:t>
            </a:r>
          </a:p>
        </p:txBody>
      </p:sp>
      <p:sp>
        <p:nvSpPr>
          <p:cNvPr id="133" name="CaixaDeTexto 132">
            <a:extLst>
              <a:ext uri="{FF2B5EF4-FFF2-40B4-BE49-F238E27FC236}">
                <a16:creationId xmlns:a16="http://schemas.microsoft.com/office/drawing/2014/main" id="{06056545-FCA9-4BAD-8A48-47E5A8F45558}"/>
              </a:ext>
            </a:extLst>
          </p:cNvPr>
          <p:cNvSpPr txBox="1"/>
          <p:nvPr/>
        </p:nvSpPr>
        <p:spPr>
          <a:xfrm>
            <a:off x="6993564" y="1445815"/>
            <a:ext cx="549112" cy="246221"/>
          </a:xfrm>
          <a:prstGeom prst="rect">
            <a:avLst/>
          </a:prstGeom>
          <a:noFill/>
        </p:spPr>
        <p:txBody>
          <a:bodyPr wrap="square" rtlCol="0">
            <a:spAutoFit/>
          </a:bodyPr>
          <a:lstStyle/>
          <a:p>
            <a:pPr algn="ctr"/>
            <a:r>
              <a:rPr lang="pt-BR" sz="1000" i="1">
                <a:solidFill>
                  <a:srgbClr val="00B050"/>
                </a:solidFill>
              </a:rPr>
              <a:t>2.75</a:t>
            </a:r>
          </a:p>
        </p:txBody>
      </p:sp>
      <p:cxnSp>
        <p:nvCxnSpPr>
          <p:cNvPr id="134" name="Conector de Seta Reta 133">
            <a:extLst>
              <a:ext uri="{FF2B5EF4-FFF2-40B4-BE49-F238E27FC236}">
                <a16:creationId xmlns:a16="http://schemas.microsoft.com/office/drawing/2014/main" id="{1BB537B2-EFAD-4AA5-AA5E-4862F8E39922}"/>
              </a:ext>
            </a:extLst>
          </p:cNvPr>
          <p:cNvCxnSpPr>
            <a:cxnSpLocks/>
            <a:stCxn id="97" idx="3"/>
            <a:endCxn id="99" idx="1"/>
          </p:cNvCxnSpPr>
          <p:nvPr/>
        </p:nvCxnSpPr>
        <p:spPr>
          <a:xfrm flipV="1">
            <a:off x="8514908" y="1441322"/>
            <a:ext cx="1388964" cy="93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5" name="CaixaDeTexto 134">
            <a:extLst>
              <a:ext uri="{FF2B5EF4-FFF2-40B4-BE49-F238E27FC236}">
                <a16:creationId xmlns:a16="http://schemas.microsoft.com/office/drawing/2014/main" id="{9420E48F-54BD-462E-BF1F-6844FE478EDB}"/>
              </a:ext>
            </a:extLst>
          </p:cNvPr>
          <p:cNvSpPr txBox="1"/>
          <p:nvPr/>
        </p:nvSpPr>
        <p:spPr>
          <a:xfrm>
            <a:off x="8529365" y="1216056"/>
            <a:ext cx="667170" cy="261610"/>
          </a:xfrm>
          <a:prstGeom prst="rect">
            <a:avLst/>
          </a:prstGeom>
          <a:noFill/>
        </p:spPr>
        <p:txBody>
          <a:bodyPr wrap="none" lIns="91440" tIns="45720" rIns="91440" bIns="45720" rtlCol="0" anchor="t">
            <a:spAutoFit/>
          </a:bodyPr>
          <a:lstStyle/>
          <a:p>
            <a:r>
              <a:rPr lang="pt-BR" sz="1100" b="1"/>
              <a:t>R$3,98K</a:t>
            </a:r>
          </a:p>
        </p:txBody>
      </p:sp>
      <p:sp>
        <p:nvSpPr>
          <p:cNvPr id="136" name="CaixaDeTexto 135">
            <a:extLst>
              <a:ext uri="{FF2B5EF4-FFF2-40B4-BE49-F238E27FC236}">
                <a16:creationId xmlns:a16="http://schemas.microsoft.com/office/drawing/2014/main" id="{583FFD31-88A6-4679-9A37-12EAE96EC1A6}"/>
              </a:ext>
            </a:extLst>
          </p:cNvPr>
          <p:cNvSpPr txBox="1"/>
          <p:nvPr/>
        </p:nvSpPr>
        <p:spPr>
          <a:xfrm>
            <a:off x="8591976" y="1445815"/>
            <a:ext cx="549112" cy="246221"/>
          </a:xfrm>
          <a:prstGeom prst="rect">
            <a:avLst/>
          </a:prstGeom>
          <a:noFill/>
        </p:spPr>
        <p:txBody>
          <a:bodyPr wrap="square" rtlCol="0">
            <a:spAutoFit/>
          </a:bodyPr>
          <a:lstStyle/>
          <a:p>
            <a:pPr algn="ctr"/>
            <a:r>
              <a:rPr lang="pt-BR" sz="1000" i="1">
                <a:solidFill>
                  <a:srgbClr val="00B050"/>
                </a:solidFill>
              </a:rPr>
              <a:t>1.23</a:t>
            </a:r>
          </a:p>
        </p:txBody>
      </p:sp>
      <p:sp>
        <p:nvSpPr>
          <p:cNvPr id="137" name="CaixaDeTexto 136">
            <a:extLst>
              <a:ext uri="{FF2B5EF4-FFF2-40B4-BE49-F238E27FC236}">
                <a16:creationId xmlns:a16="http://schemas.microsoft.com/office/drawing/2014/main" id="{9C392A95-2FA6-4697-BB2D-5F4EA48B46FC}"/>
              </a:ext>
            </a:extLst>
          </p:cNvPr>
          <p:cNvSpPr txBox="1"/>
          <p:nvPr/>
        </p:nvSpPr>
        <p:spPr>
          <a:xfrm>
            <a:off x="9112559" y="1216056"/>
            <a:ext cx="583194" cy="261610"/>
          </a:xfrm>
          <a:prstGeom prst="rect">
            <a:avLst/>
          </a:prstGeom>
          <a:noFill/>
        </p:spPr>
        <p:txBody>
          <a:bodyPr wrap="square" lIns="91440" tIns="45720" rIns="91440" bIns="45720" rtlCol="0" anchor="t">
            <a:spAutoFit/>
          </a:bodyPr>
          <a:lstStyle/>
          <a:p>
            <a:r>
              <a:rPr lang="pt-BR" sz="1100" b="1"/>
              <a:t>2.370</a:t>
            </a:r>
          </a:p>
        </p:txBody>
      </p:sp>
      <p:sp>
        <p:nvSpPr>
          <p:cNvPr id="138" name="CaixaDeTexto 137">
            <a:extLst>
              <a:ext uri="{FF2B5EF4-FFF2-40B4-BE49-F238E27FC236}">
                <a16:creationId xmlns:a16="http://schemas.microsoft.com/office/drawing/2014/main" id="{C6270795-BAEA-4B06-8B7E-0E2926E24121}"/>
              </a:ext>
            </a:extLst>
          </p:cNvPr>
          <p:cNvSpPr txBox="1"/>
          <p:nvPr/>
        </p:nvSpPr>
        <p:spPr>
          <a:xfrm>
            <a:off x="9092064" y="1445815"/>
            <a:ext cx="549112" cy="246221"/>
          </a:xfrm>
          <a:prstGeom prst="rect">
            <a:avLst/>
          </a:prstGeom>
          <a:noFill/>
        </p:spPr>
        <p:txBody>
          <a:bodyPr wrap="square" lIns="91440" tIns="45720" rIns="91440" bIns="45720" rtlCol="0" anchor="t">
            <a:spAutoFit/>
          </a:bodyPr>
          <a:lstStyle/>
          <a:p>
            <a:pPr algn="ctr"/>
            <a:r>
              <a:rPr lang="pt-BR" sz="1000" i="1">
                <a:solidFill>
                  <a:srgbClr val="00B050"/>
                </a:solidFill>
              </a:rPr>
              <a:t>1.64</a:t>
            </a:r>
          </a:p>
        </p:txBody>
      </p:sp>
      <p:sp>
        <p:nvSpPr>
          <p:cNvPr id="139" name="CaixaDeTexto 138">
            <a:extLst>
              <a:ext uri="{FF2B5EF4-FFF2-40B4-BE49-F238E27FC236}">
                <a16:creationId xmlns:a16="http://schemas.microsoft.com/office/drawing/2014/main" id="{85C9F333-2668-49A8-8D1D-B17D63BAE499}"/>
              </a:ext>
            </a:extLst>
          </p:cNvPr>
          <p:cNvSpPr txBox="1"/>
          <p:nvPr/>
        </p:nvSpPr>
        <p:spPr>
          <a:xfrm>
            <a:off x="4338505" y="1029247"/>
            <a:ext cx="671053" cy="261610"/>
          </a:xfrm>
          <a:prstGeom prst="rect">
            <a:avLst/>
          </a:prstGeom>
          <a:noFill/>
        </p:spPr>
        <p:txBody>
          <a:bodyPr wrap="square" rtlCol="0">
            <a:spAutoFit/>
          </a:bodyPr>
          <a:lstStyle/>
          <a:p>
            <a:pPr algn="ctr"/>
            <a:r>
              <a:rPr lang="pt-BR" sz="1100" b="1" i="1">
                <a:solidFill>
                  <a:schemeClr val="accent3"/>
                </a:solidFill>
              </a:rPr>
              <a:t>CTOR</a:t>
            </a:r>
          </a:p>
        </p:txBody>
      </p:sp>
      <p:sp>
        <p:nvSpPr>
          <p:cNvPr id="140" name="CaixaDeTexto 139">
            <a:extLst>
              <a:ext uri="{FF2B5EF4-FFF2-40B4-BE49-F238E27FC236}">
                <a16:creationId xmlns:a16="http://schemas.microsoft.com/office/drawing/2014/main" id="{0574A63F-1712-4D8E-A326-22DD5707D574}"/>
              </a:ext>
            </a:extLst>
          </p:cNvPr>
          <p:cNvSpPr txBox="1"/>
          <p:nvPr/>
        </p:nvSpPr>
        <p:spPr>
          <a:xfrm>
            <a:off x="2570235" y="1041255"/>
            <a:ext cx="671053" cy="261610"/>
          </a:xfrm>
          <a:prstGeom prst="rect">
            <a:avLst/>
          </a:prstGeom>
          <a:noFill/>
        </p:spPr>
        <p:txBody>
          <a:bodyPr wrap="square" rtlCol="0">
            <a:spAutoFit/>
          </a:bodyPr>
          <a:lstStyle/>
          <a:p>
            <a:pPr algn="ctr"/>
            <a:r>
              <a:rPr lang="pt-BR" sz="1100" b="1" i="1">
                <a:solidFill>
                  <a:schemeClr val="accent3"/>
                </a:solidFill>
              </a:rPr>
              <a:t>OR</a:t>
            </a:r>
          </a:p>
        </p:txBody>
      </p:sp>
      <p:sp>
        <p:nvSpPr>
          <p:cNvPr id="141" name="CaixaDeTexto 140">
            <a:extLst>
              <a:ext uri="{FF2B5EF4-FFF2-40B4-BE49-F238E27FC236}">
                <a16:creationId xmlns:a16="http://schemas.microsoft.com/office/drawing/2014/main" id="{8CF01540-BECA-4363-8243-8B0BC8C1B1A6}"/>
              </a:ext>
            </a:extLst>
          </p:cNvPr>
          <p:cNvSpPr txBox="1"/>
          <p:nvPr/>
        </p:nvSpPr>
        <p:spPr>
          <a:xfrm>
            <a:off x="6907990" y="1041255"/>
            <a:ext cx="671053" cy="261610"/>
          </a:xfrm>
          <a:prstGeom prst="rect">
            <a:avLst/>
          </a:prstGeom>
          <a:noFill/>
        </p:spPr>
        <p:txBody>
          <a:bodyPr wrap="square" rtlCol="0">
            <a:spAutoFit/>
          </a:bodyPr>
          <a:lstStyle/>
          <a:p>
            <a:pPr algn="ctr"/>
            <a:r>
              <a:rPr lang="pt-BR" sz="1100" b="1" i="1">
                <a:solidFill>
                  <a:schemeClr val="accent3"/>
                </a:solidFill>
              </a:rPr>
              <a:t>CVR</a:t>
            </a:r>
          </a:p>
        </p:txBody>
      </p:sp>
      <p:sp>
        <p:nvSpPr>
          <p:cNvPr id="143" name="CaixaDeTexto 142">
            <a:extLst>
              <a:ext uri="{FF2B5EF4-FFF2-40B4-BE49-F238E27FC236}">
                <a16:creationId xmlns:a16="http://schemas.microsoft.com/office/drawing/2014/main" id="{8A0FBFD8-BA29-4332-AE76-DB7BC1323F1E}"/>
              </a:ext>
            </a:extLst>
          </p:cNvPr>
          <p:cNvSpPr txBox="1"/>
          <p:nvPr/>
        </p:nvSpPr>
        <p:spPr>
          <a:xfrm>
            <a:off x="8516741" y="1041255"/>
            <a:ext cx="671053" cy="261610"/>
          </a:xfrm>
          <a:prstGeom prst="rect">
            <a:avLst/>
          </a:prstGeom>
          <a:noFill/>
        </p:spPr>
        <p:txBody>
          <a:bodyPr wrap="square" rtlCol="0">
            <a:spAutoFit/>
          </a:bodyPr>
          <a:lstStyle/>
          <a:p>
            <a:pPr algn="ctr"/>
            <a:r>
              <a:rPr lang="pt-BR" sz="1100" b="1" i="1">
                <a:solidFill>
                  <a:schemeClr val="accent3"/>
                </a:solidFill>
              </a:rPr>
              <a:t>AOV</a:t>
            </a:r>
          </a:p>
        </p:txBody>
      </p:sp>
      <p:sp>
        <p:nvSpPr>
          <p:cNvPr id="145" name="CaixaDeTexto 144">
            <a:extLst>
              <a:ext uri="{FF2B5EF4-FFF2-40B4-BE49-F238E27FC236}">
                <a16:creationId xmlns:a16="http://schemas.microsoft.com/office/drawing/2014/main" id="{5EB6CA0C-A773-4863-84D2-18A7422C6A93}"/>
              </a:ext>
            </a:extLst>
          </p:cNvPr>
          <p:cNvSpPr txBox="1"/>
          <p:nvPr/>
        </p:nvSpPr>
        <p:spPr>
          <a:xfrm>
            <a:off x="9037324" y="1041255"/>
            <a:ext cx="671053" cy="261610"/>
          </a:xfrm>
          <a:prstGeom prst="rect">
            <a:avLst/>
          </a:prstGeom>
          <a:noFill/>
        </p:spPr>
        <p:txBody>
          <a:bodyPr wrap="square" rtlCol="0">
            <a:spAutoFit/>
          </a:bodyPr>
          <a:lstStyle/>
          <a:p>
            <a:pPr algn="ctr"/>
            <a:r>
              <a:rPr lang="pt-BR" sz="1100" b="1" i="1" err="1">
                <a:solidFill>
                  <a:schemeClr val="accent3"/>
                </a:solidFill>
              </a:rPr>
              <a:t>Units</a:t>
            </a:r>
            <a:endParaRPr lang="pt-BR" sz="1100" b="1" i="1">
              <a:solidFill>
                <a:schemeClr val="accent3"/>
              </a:solidFill>
            </a:endParaRPr>
          </a:p>
        </p:txBody>
      </p:sp>
      <p:sp>
        <p:nvSpPr>
          <p:cNvPr id="148" name="Retângulo 147">
            <a:extLst>
              <a:ext uri="{FF2B5EF4-FFF2-40B4-BE49-F238E27FC236}">
                <a16:creationId xmlns:a16="http://schemas.microsoft.com/office/drawing/2014/main" id="{E7735E40-EB17-4EBB-A9F0-4EA192FC86D1}"/>
              </a:ext>
            </a:extLst>
          </p:cNvPr>
          <p:cNvSpPr/>
          <p:nvPr/>
        </p:nvSpPr>
        <p:spPr>
          <a:xfrm>
            <a:off x="999242" y="1857285"/>
            <a:ext cx="10348876" cy="258315"/>
          </a:xfrm>
          <a:prstGeom prst="rect">
            <a:avLst/>
          </a:prstGeom>
          <a:noFill/>
          <a:ln>
            <a:solidFill>
              <a:srgbClr val="1428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9" name="Retângulo 148">
            <a:extLst>
              <a:ext uri="{FF2B5EF4-FFF2-40B4-BE49-F238E27FC236}">
                <a16:creationId xmlns:a16="http://schemas.microsoft.com/office/drawing/2014/main" id="{FDDD5186-0535-4246-B8D9-F24FF06C40C6}"/>
              </a:ext>
            </a:extLst>
          </p:cNvPr>
          <p:cNvSpPr/>
          <p:nvPr/>
        </p:nvSpPr>
        <p:spPr>
          <a:xfrm>
            <a:off x="1749120" y="1259814"/>
            <a:ext cx="940381" cy="6001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0" name="Retângulo 149">
            <a:extLst>
              <a:ext uri="{FF2B5EF4-FFF2-40B4-BE49-F238E27FC236}">
                <a16:creationId xmlns:a16="http://schemas.microsoft.com/office/drawing/2014/main" id="{8216E0C3-355B-4714-89F4-5D466BA182F9}"/>
              </a:ext>
            </a:extLst>
          </p:cNvPr>
          <p:cNvSpPr/>
          <p:nvPr/>
        </p:nvSpPr>
        <p:spPr>
          <a:xfrm>
            <a:off x="3230794" y="1259814"/>
            <a:ext cx="1190495" cy="6001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1" name="Retângulo 150">
            <a:extLst>
              <a:ext uri="{FF2B5EF4-FFF2-40B4-BE49-F238E27FC236}">
                <a16:creationId xmlns:a16="http://schemas.microsoft.com/office/drawing/2014/main" id="{3FC41EE7-2838-469A-A07B-D0DAB8D68EEC}"/>
              </a:ext>
            </a:extLst>
          </p:cNvPr>
          <p:cNvSpPr/>
          <p:nvPr/>
        </p:nvSpPr>
        <p:spPr>
          <a:xfrm>
            <a:off x="4940399" y="1259814"/>
            <a:ext cx="827642" cy="6001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2" name="Retângulo 151">
            <a:extLst>
              <a:ext uri="{FF2B5EF4-FFF2-40B4-BE49-F238E27FC236}">
                <a16:creationId xmlns:a16="http://schemas.microsoft.com/office/drawing/2014/main" id="{6A9B5E91-C2B3-4E74-986A-E280244349A4}"/>
              </a:ext>
            </a:extLst>
          </p:cNvPr>
          <p:cNvSpPr/>
          <p:nvPr/>
        </p:nvSpPr>
        <p:spPr>
          <a:xfrm>
            <a:off x="6124994" y="1259814"/>
            <a:ext cx="837500" cy="6001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3" name="Retângulo 152">
            <a:extLst>
              <a:ext uri="{FF2B5EF4-FFF2-40B4-BE49-F238E27FC236}">
                <a16:creationId xmlns:a16="http://schemas.microsoft.com/office/drawing/2014/main" id="{F212AC08-FE08-402F-AA5C-0F218737F834}"/>
              </a:ext>
            </a:extLst>
          </p:cNvPr>
          <p:cNvSpPr/>
          <p:nvPr/>
        </p:nvSpPr>
        <p:spPr>
          <a:xfrm>
            <a:off x="7656111" y="1252811"/>
            <a:ext cx="783991" cy="6001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7597476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9CB18-F219-4E87-8E1A-E3D673947FD9}"/>
            </a:ext>
          </a:extLst>
        </p:cNvPr>
        <p:cNvGrpSpPr/>
        <p:nvPr/>
      </p:nvGrpSpPr>
      <p:grpSpPr>
        <a:xfrm>
          <a:off x="0" y="0"/>
          <a:ext cx="0" cy="0"/>
          <a:chOff x="0" y="0"/>
          <a:chExt cx="0" cy="0"/>
        </a:xfrm>
      </p:grpSpPr>
      <p:sp>
        <p:nvSpPr>
          <p:cNvPr id="18" name="Título 1">
            <a:extLst>
              <a:ext uri="{FF2B5EF4-FFF2-40B4-BE49-F238E27FC236}">
                <a16:creationId xmlns:a16="http://schemas.microsoft.com/office/drawing/2014/main" id="{4608E506-E55C-478A-A63B-3E14FD30417C}"/>
              </a:ext>
            </a:extLst>
          </p:cNvPr>
          <p:cNvSpPr txBox="1"/>
          <p:nvPr/>
        </p:nvSpPr>
        <p:spPr>
          <a:xfrm>
            <a:off x="207355" y="58056"/>
            <a:ext cx="8453563" cy="483772"/>
          </a:xfrm>
          <a:prstGeom prst="rect">
            <a:avLst/>
          </a:prstGeom>
          <a:noFill/>
          <a:ln cap="flat">
            <a:noFill/>
          </a:ln>
        </p:spPr>
        <p:txBody>
          <a:bodyPr vert="horz" wrap="square" lIns="75730" tIns="37865" rIns="75730" bIns="37865" anchor="ctr" anchorCtr="0" compatLnSpc="1">
            <a:noAutofit/>
          </a:bodyPr>
          <a:lstStyle/>
          <a:p>
            <a:pPr marL="0" marR="0" lvl="0" indent="0" algn="l" defTabSz="914400" rtl="0" eaLnBrk="1" fontAlgn="auto" latinLnBrk="0" hangingPunct="1">
              <a:lnSpc>
                <a:spcPct val="90000"/>
              </a:lnSpc>
              <a:spcBef>
                <a:spcPts val="0"/>
              </a:spcBef>
              <a:spcAft>
                <a:spcPts val="0"/>
              </a:spcAft>
              <a:buClrTx/>
              <a:buSzTx/>
              <a:buFontTx/>
              <a:buNone/>
              <a:tabLst/>
              <a:defRPr sz="1800" b="0" i="0" u="none" strike="noStrike" kern="0" cap="none" spc="0" baseline="0">
                <a:solidFill>
                  <a:srgbClr val="000000"/>
                </a:solidFill>
                <a:uFillTx/>
              </a:defRPr>
            </a:pPr>
            <a:r>
              <a:rPr kumimoji="0" lang="en-GB" sz="2000" b="1" i="0" u="none" strike="noStrike" kern="0" cap="none" spc="0" normalizeH="0" baseline="0" noProof="0">
                <a:ln>
                  <a:noFill/>
                </a:ln>
                <a:solidFill>
                  <a:srgbClr val="000000"/>
                </a:solidFill>
                <a:effectLst/>
                <a:uLnTx/>
                <a:uFillTx/>
                <a:latin typeface="Roboto"/>
                <a:ea typeface="Roboto"/>
                <a:cs typeface="Samsung Sharp Sans Bold" pitchFamily="2"/>
              </a:rPr>
              <a:t>BIG NUMBERS</a:t>
            </a:r>
            <a:r>
              <a:rPr kumimoji="0" lang="en-GB" sz="2000" b="1" i="0" u="none" strike="noStrike" kern="1200" cap="none" spc="0" normalizeH="0" baseline="0" noProof="0">
                <a:ln>
                  <a:noFill/>
                </a:ln>
                <a:solidFill>
                  <a:srgbClr val="000000"/>
                </a:solidFill>
                <a:effectLst/>
                <a:uLnTx/>
                <a:uFillTx/>
                <a:latin typeface="Roboto"/>
                <a:ea typeface="Roboto"/>
                <a:cs typeface="Samsung Sharp Sans Bold" pitchFamily="2"/>
              </a:rPr>
              <a:t> | </a:t>
            </a:r>
            <a:r>
              <a:rPr kumimoji="0" lang="en-GB" sz="2000" b="1" i="0" u="none" strike="noStrike" kern="0" cap="none" spc="0" normalizeH="0" baseline="0" noProof="0">
                <a:ln>
                  <a:noFill/>
                </a:ln>
                <a:solidFill>
                  <a:srgbClr val="1428A0"/>
                </a:solidFill>
                <a:effectLst/>
                <a:uLnTx/>
                <a:uFillTx/>
                <a:latin typeface="Roboto"/>
                <a:ea typeface="Roboto"/>
                <a:cs typeface="Samsung Sharp Sans Bold" pitchFamily="2"/>
              </a:rPr>
              <a:t>Channels</a:t>
            </a:r>
            <a:endParaRPr kumimoji="0" lang="en-GB" sz="2000" b="1" i="0" u="none" strike="noStrike" kern="1200" cap="none" spc="0" normalizeH="0" baseline="0" noProof="0">
              <a:ln>
                <a:noFill/>
              </a:ln>
              <a:solidFill>
                <a:srgbClr val="1428A0"/>
              </a:solidFill>
              <a:effectLst/>
              <a:uLnTx/>
              <a:uFillTx/>
              <a:latin typeface="Roboto"/>
              <a:ea typeface="Roboto"/>
              <a:cs typeface="Samsung Sharp Sans Bold" pitchFamily="2"/>
            </a:endParaRPr>
          </a:p>
        </p:txBody>
      </p:sp>
      <p:sp>
        <p:nvSpPr>
          <p:cNvPr id="10" name="Google Shape;333;p27">
            <a:extLst>
              <a:ext uri="{FF2B5EF4-FFF2-40B4-BE49-F238E27FC236}">
                <a16:creationId xmlns:a16="http://schemas.microsoft.com/office/drawing/2014/main" id="{8072CC32-598D-4EBA-A577-4053BB04ECFC}"/>
              </a:ext>
            </a:extLst>
          </p:cNvPr>
          <p:cNvSpPr/>
          <p:nvPr/>
        </p:nvSpPr>
        <p:spPr>
          <a:xfrm>
            <a:off x="207355" y="584683"/>
            <a:ext cx="10822595" cy="444743"/>
          </a:xfrm>
          <a:prstGeom prst="roundRect">
            <a:avLst>
              <a:gd name="adj" fmla="val 0"/>
            </a:avLst>
          </a:prstGeom>
          <a:noFill/>
          <a:ln w="9525" cap="flat" cmpd="sng">
            <a:noFill/>
            <a:prstDash val="solid"/>
            <a:round/>
            <a:headEnd type="none" w="sm" len="sm"/>
            <a:tailEnd type="none" w="sm" len="sm"/>
          </a:ln>
        </p:spPr>
        <p:txBody>
          <a:bodyPr spcFirstLastPara="1" wrap="square" lIns="72000" tIns="36000" rIns="72000" bIns="36000" anchor="t" anchorCtr="0">
            <a:noAutofit/>
          </a:bodyPr>
          <a:lstStyle>
            <a:defPPr marL="0" marR="0" indent="0" algn="l" defTabSz="914400" rtl="0" fontAlgn="auto" latinLnBrk="1" hangingPunct="0">
              <a:lnSpc>
                <a:spcPct val="100000"/>
              </a:lnSpc>
              <a:spcBef>
                <a:spcPts val="0"/>
              </a:spcBef>
              <a:spcAft>
                <a:spcPts val="0"/>
              </a:spcAft>
              <a:buClrTx/>
              <a:buSzTx/>
              <a:buFontTx/>
              <a:buNone/>
              <a:tabLst/>
              <a:defRPr kumimoji="0" lang="de-DE" sz="1800" b="0" i="0" u="none" strike="noStrike" cap="none" spc="0" normalizeH="0" baseline="0">
                <a:ln>
                  <a:noFill/>
                </a:ln>
                <a:solidFill>
                  <a:srgbClr val="000000"/>
                </a:solidFill>
                <a:effectLst/>
                <a:uFillTx/>
              </a:defRPr>
            </a:defPPr>
            <a:lvl1pPr marL="0" marR="0" indent="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1pPr>
            <a:lvl2pPr marL="0" marR="0" indent="4572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2pPr>
            <a:lvl3pPr marL="0" marR="0" indent="9144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3pPr>
            <a:lvl4pPr marL="0" marR="0" indent="13716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4pPr>
            <a:lvl5pPr marL="0" marR="0" indent="18288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5pPr>
            <a:lvl6pPr marL="0" marR="0" indent="22860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6pPr>
            <a:lvl7pPr marL="0" marR="0" indent="27432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7pPr>
            <a:lvl8pPr marL="0" marR="0" indent="32004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8pPr>
            <a:lvl9pPr marL="0" marR="0" indent="36576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9p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a:sym typeface="SamsungOne 400"/>
              </a:rPr>
              <a:t>Channel performance clarifying Email was consolidated and </a:t>
            </a:r>
            <a:r>
              <a:rPr kumimoji="0" lang="en-US" sz="1100" b="0" i="0" u="none" strike="noStrike" kern="1200" cap="none" spc="0" normalizeH="0" baseline="0" noProof="0" err="1">
                <a:ln>
                  <a:noFill/>
                </a:ln>
                <a:solidFill>
                  <a:srgbClr val="000000"/>
                </a:solidFill>
                <a:effectLst/>
                <a:uLnTx/>
                <a:uFillTx/>
                <a:latin typeface="Roboto" panose="02000000000000000000" pitchFamily="2" charset="0"/>
                <a:ea typeface="Roboto" panose="02000000000000000000" pitchFamily="2" charset="0"/>
                <a:cs typeface="Roboto"/>
                <a:sym typeface="SamsungOne 400"/>
              </a:rPr>
              <a:t>Whatsapp</a:t>
            </a:r>
            <a:r>
              <a:rPr kumimoji="0" lang="en-US" sz="11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a:sym typeface="SamsungOne 400"/>
              </a:rPr>
              <a:t> growth </a:t>
            </a:r>
            <a:r>
              <a:rPr lang="en-US" sz="1100">
                <a:latin typeface="Roboto" panose="02000000000000000000" pitchFamily="2" charset="0"/>
                <a:ea typeface="Roboto" panose="02000000000000000000" pitchFamily="2" charset="0"/>
                <a:cs typeface="Roboto"/>
              </a:rPr>
              <a:t>was detached.</a:t>
            </a:r>
            <a:r>
              <a:rPr kumimoji="0" lang="en-US" sz="11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a:sym typeface="SamsungOne 400"/>
              </a:rPr>
              <a:t> </a:t>
            </a:r>
            <a:endParaRPr kumimoji="0" lang="en-US" sz="10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a:sym typeface="SamsungOne 400"/>
            </a:endParaRPr>
          </a:p>
        </p:txBody>
      </p:sp>
      <p:grpSp>
        <p:nvGrpSpPr>
          <p:cNvPr id="13" name="Agrupar 12">
            <a:extLst>
              <a:ext uri="{FF2B5EF4-FFF2-40B4-BE49-F238E27FC236}">
                <a16:creationId xmlns:a16="http://schemas.microsoft.com/office/drawing/2014/main" id="{06AD9ACC-12DE-4CF6-8A4D-039E0A5D37A1}"/>
              </a:ext>
            </a:extLst>
          </p:cNvPr>
          <p:cNvGrpSpPr/>
          <p:nvPr/>
        </p:nvGrpSpPr>
        <p:grpSpPr>
          <a:xfrm>
            <a:off x="71129" y="4901542"/>
            <a:ext cx="12049742" cy="1874096"/>
            <a:chOff x="71129" y="5662600"/>
            <a:chExt cx="11708539" cy="913045"/>
          </a:xfrm>
        </p:grpSpPr>
        <p:sp>
          <p:nvSpPr>
            <p:cNvPr id="14" name="Retângulo: Cantos Arredondados 13">
              <a:extLst>
                <a:ext uri="{FF2B5EF4-FFF2-40B4-BE49-F238E27FC236}">
                  <a16:creationId xmlns:a16="http://schemas.microsoft.com/office/drawing/2014/main" id="{671BF85E-E31A-4EBA-A18E-7476FE848E0A}"/>
                </a:ext>
              </a:extLst>
            </p:cNvPr>
            <p:cNvSpPr/>
            <p:nvPr/>
          </p:nvSpPr>
          <p:spPr>
            <a:xfrm>
              <a:off x="71129" y="5662600"/>
              <a:ext cx="5854269" cy="913045"/>
            </a:xfrm>
            <a:prstGeom prst="roundRect">
              <a:avLst>
                <a:gd name="adj" fmla="val 9708"/>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rPr>
                <a:t>HIGHLIGHT</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Email:</a:t>
              </a:r>
              <a:r>
                <a:rPr kumimoji="0" lang="en-US" sz="10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Consolidated as the main CRM channel with 4.7M of revenue, showing a growing revenue during month.</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000" b="1">
                  <a:solidFill>
                    <a:prstClr val="black"/>
                  </a:solidFill>
                  <a:latin typeface="Roboto" panose="02000000000000000000" pitchFamily="2" charset="0"/>
                  <a:ea typeface="Roboto" panose="02000000000000000000" pitchFamily="2" charset="0"/>
                </a:rPr>
                <a:t>App Push: </a:t>
              </a:r>
              <a:r>
                <a:rPr lang="pt-BR" sz="1000">
                  <a:solidFill>
                    <a:prstClr val="black"/>
                  </a:solidFill>
                  <a:latin typeface="Roboto" panose="02000000000000000000" pitchFamily="2" charset="0"/>
                  <a:ea typeface="Roboto" panose="02000000000000000000" pitchFamily="2" charset="0"/>
                </a:rPr>
                <a:t>R$2M | 1.34 G/R, </a:t>
              </a:r>
              <a:r>
                <a:rPr lang="pt-BR" sz="1000" err="1">
                  <a:solidFill>
                    <a:prstClr val="black"/>
                  </a:solidFill>
                  <a:latin typeface="Roboto" panose="02000000000000000000" pitchFamily="2" charset="0"/>
                  <a:ea typeface="Roboto" panose="02000000000000000000" pitchFamily="2" charset="0"/>
                </a:rPr>
                <a:t>despite</a:t>
              </a:r>
              <a:r>
                <a:rPr lang="pt-BR" sz="1000">
                  <a:solidFill>
                    <a:prstClr val="black"/>
                  </a:solidFill>
                  <a:latin typeface="Roboto" panose="02000000000000000000" pitchFamily="2" charset="0"/>
                  <a:ea typeface="Roboto" panose="02000000000000000000" pitchFamily="2" charset="0"/>
                </a:rPr>
                <a:t> 50% </a:t>
              </a:r>
              <a:r>
                <a:rPr lang="pt-BR" sz="1000" err="1">
                  <a:solidFill>
                    <a:prstClr val="black"/>
                  </a:solidFill>
                  <a:latin typeface="Roboto" panose="02000000000000000000" pitchFamily="2" charset="0"/>
                  <a:ea typeface="Roboto" panose="02000000000000000000" pitchFamily="2" charset="0"/>
                </a:rPr>
                <a:t>fewer</a:t>
              </a:r>
              <a:r>
                <a:rPr lang="pt-BR" sz="1000">
                  <a:solidFill>
                    <a:prstClr val="black"/>
                  </a:solidFill>
                  <a:latin typeface="Roboto" panose="02000000000000000000" pitchFamily="2" charset="0"/>
                  <a:ea typeface="Roboto" panose="02000000000000000000" pitchFamily="2" charset="0"/>
                </a:rPr>
                <a:t> deliveries; </a:t>
              </a:r>
              <a:r>
                <a:rPr lang="pt-BR" sz="1000" b="1">
                  <a:solidFill>
                    <a:prstClr val="black"/>
                  </a:solidFill>
                  <a:latin typeface="Roboto" panose="02000000000000000000" pitchFamily="2" charset="0"/>
                  <a:ea typeface="Roboto" panose="02000000000000000000" pitchFamily="2" charset="0"/>
                </a:rPr>
                <a:t>CVR 0.29%, 37% </a:t>
              </a:r>
              <a:r>
                <a:rPr lang="pt-BR" sz="1000">
                  <a:solidFill>
                    <a:prstClr val="black"/>
                  </a:solidFill>
                  <a:latin typeface="Roboto" panose="02000000000000000000" pitchFamily="2" charset="0"/>
                  <a:ea typeface="Roboto" panose="02000000000000000000" pitchFamily="2" charset="0"/>
                </a:rPr>
                <a:t>more Opens </a:t>
              </a:r>
              <a:r>
                <a:rPr lang="pt-BR" sz="1000" err="1">
                  <a:solidFill>
                    <a:prstClr val="black"/>
                  </a:solidFill>
                  <a:latin typeface="Roboto" panose="02000000000000000000" pitchFamily="2" charset="0"/>
                  <a:ea typeface="Roboto" panose="02000000000000000000" pitchFamily="2" charset="0"/>
                </a:rPr>
                <a:t>than</a:t>
              </a:r>
              <a:r>
                <a:rPr lang="pt-BR" sz="1000">
                  <a:solidFill>
                    <a:prstClr val="black"/>
                  </a:solidFill>
                  <a:latin typeface="Roboto" panose="02000000000000000000" pitchFamily="2" charset="0"/>
                  <a:ea typeface="Roboto" panose="02000000000000000000" pitchFamily="2" charset="0"/>
                </a:rPr>
                <a:t> 2025.</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pt-BR" sz="10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WhatsApp:</a:t>
              </a:r>
              <a:r>
                <a:rPr kumimoji="0" lang="pt-BR" sz="10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a:t>
              </a:r>
              <a:r>
                <a:rPr lang="en-US" sz="1000">
                  <a:solidFill>
                    <a:prstClr val="black"/>
                  </a:solidFill>
                  <a:latin typeface="Roboto" panose="02000000000000000000" pitchFamily="2" charset="0"/>
                  <a:ea typeface="Roboto" panose="02000000000000000000" pitchFamily="2" charset="0"/>
                </a:rPr>
                <a:t>3</a:t>
              </a:r>
              <a:r>
                <a:rPr kumimoji="0" lang="en-US" sz="10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.17 G/R, CVR 0.52%, 503% higher </a:t>
              </a:r>
              <a:r>
                <a:rPr lang="en-US" sz="1000">
                  <a:solidFill>
                    <a:prstClr val="black"/>
                  </a:solidFill>
                  <a:latin typeface="Roboto" panose="02000000000000000000" pitchFamily="2" charset="0"/>
                  <a:ea typeface="Roboto" panose="02000000000000000000" pitchFamily="2" charset="0"/>
                </a:rPr>
                <a:t>than</a:t>
              </a:r>
              <a:r>
                <a:rPr kumimoji="0" lang="en-US" sz="10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2025 and almost duplicating the number of orders.</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000" b="1">
                  <a:solidFill>
                    <a:prstClr val="black"/>
                  </a:solidFill>
                  <a:latin typeface="Roboto" panose="02000000000000000000" pitchFamily="2" charset="0"/>
                  <a:ea typeface="Roboto" panose="02000000000000000000" pitchFamily="2" charset="0"/>
                </a:rPr>
                <a:t>Web Push </a:t>
              </a:r>
              <a:r>
                <a:rPr lang="en-US" sz="1000">
                  <a:solidFill>
                    <a:prstClr val="black"/>
                  </a:solidFill>
                  <a:latin typeface="Roboto" panose="02000000000000000000" pitchFamily="2" charset="0"/>
                  <a:ea typeface="Roboto" panose="02000000000000000000" pitchFamily="2" charset="0"/>
                </a:rPr>
                <a:t>has a CVR 532% higher YoY and </a:t>
              </a:r>
              <a:r>
                <a:rPr lang="en-US" sz="1000" b="1">
                  <a:solidFill>
                    <a:prstClr val="black"/>
                  </a:solidFill>
                  <a:latin typeface="Roboto" panose="02000000000000000000" pitchFamily="2" charset="0"/>
                  <a:ea typeface="Roboto" panose="02000000000000000000" pitchFamily="2" charset="0"/>
                </a:rPr>
                <a:t>Push Device</a:t>
              </a:r>
              <a:r>
                <a:rPr lang="en-US" sz="1000">
                  <a:solidFill>
                    <a:prstClr val="black"/>
                  </a:solidFill>
                  <a:latin typeface="Roboto" panose="02000000000000000000" pitchFamily="2" charset="0"/>
                  <a:ea typeface="Roboto" panose="02000000000000000000" pitchFamily="2" charset="0"/>
                </a:rPr>
                <a:t> higher AOV (R$3.602), 88% higher on YoY.</a:t>
              </a:r>
              <a:endParaRPr kumimoji="0" lang="en-US" sz="10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US" sz="1050" b="0" i="0" u="none" strike="noStrike" kern="1200" cap="none" spc="0" normalizeH="0" baseline="0" noProof="0">
                <a:ln>
                  <a:noFill/>
                </a:ln>
                <a:solidFill>
                  <a:prstClr val="black"/>
                </a:solidFill>
                <a:effectLst/>
                <a:highlight>
                  <a:srgbClr val="FFFF00"/>
                </a:highlight>
                <a:uLnTx/>
                <a:uFillTx/>
                <a:latin typeface="Roboto" panose="02000000000000000000" pitchFamily="2" charset="0"/>
                <a:ea typeface="Roboto" panose="02000000000000000000" pitchFamily="2" charset="0"/>
                <a:cs typeface="+mn-cs"/>
              </a:endParaRPr>
            </a:p>
          </p:txBody>
        </p:sp>
        <p:sp>
          <p:nvSpPr>
            <p:cNvPr id="15" name="Retângulo: Cantos Arredondados 14">
              <a:extLst>
                <a:ext uri="{FF2B5EF4-FFF2-40B4-BE49-F238E27FC236}">
                  <a16:creationId xmlns:a16="http://schemas.microsoft.com/office/drawing/2014/main" id="{F40B77C9-8D81-4D4E-874D-0C599A6A1CEF}"/>
                </a:ext>
              </a:extLst>
            </p:cNvPr>
            <p:cNvSpPr/>
            <p:nvPr/>
          </p:nvSpPr>
          <p:spPr>
            <a:xfrm>
              <a:off x="5992922" y="5662600"/>
              <a:ext cx="5786746" cy="913045"/>
            </a:xfrm>
            <a:prstGeom prst="roundRect">
              <a:avLst>
                <a:gd name="adj" fmla="val 9708"/>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rPr>
                <a:t>LOWLIGHT</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App Push clicks fell as blasts dropped (15 → 8–9/week in some weeks), but Rev/</a:t>
              </a:r>
              <a:r>
                <a:rPr kumimoji="0" lang="en-US" sz="1050" b="0" i="0" u="none" strike="noStrike" kern="1200" cap="none" spc="0" normalizeH="0" baseline="0" noProof="0" err="1">
                  <a:ln>
                    <a:noFill/>
                  </a:ln>
                  <a:solidFill>
                    <a:prstClr val="black"/>
                  </a:solidFill>
                  <a:effectLst/>
                  <a:uLnTx/>
                  <a:uFillTx/>
                  <a:latin typeface="Roboto" panose="02000000000000000000" pitchFamily="2" charset="0"/>
                  <a:ea typeface="Roboto" panose="02000000000000000000" pitchFamily="2" charset="0"/>
                  <a:cs typeface="+mn-cs"/>
                </a:rPr>
                <a:t>Deliv</a:t>
              </a: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rose +30%+ in response.</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WhatsApp stayed Trigger-only most weeks; only touched GTM once (W34, OR 88.3%, R$37K) — unused in Growth all month.</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pt-BR" sz="1050" b="0" i="0" u="none" strike="noStrike" kern="1200" cap="none" spc="0" normalizeH="0" baseline="0" noProof="0" err="1">
                  <a:ln>
                    <a:noFill/>
                  </a:ln>
                  <a:solidFill>
                    <a:prstClr val="black"/>
                  </a:solidFill>
                  <a:effectLst/>
                  <a:uLnTx/>
                  <a:uFillTx/>
                  <a:latin typeface="Roboto" panose="02000000000000000000" pitchFamily="2" charset="0"/>
                  <a:ea typeface="Roboto" panose="02000000000000000000" pitchFamily="2" charset="0"/>
                  <a:cs typeface="+mn-cs"/>
                </a:rPr>
                <a:t>Grow</a:t>
              </a:r>
              <a:r>
                <a:rPr lang="pt-BR" sz="1050" err="1">
                  <a:solidFill>
                    <a:prstClr val="black"/>
                  </a:solidFill>
                  <a:latin typeface="Roboto" panose="02000000000000000000" pitchFamily="2" charset="0"/>
                  <a:ea typeface="Roboto" panose="02000000000000000000" pitchFamily="2" charset="0"/>
                </a:rPr>
                <a:t>th</a:t>
              </a:r>
              <a:r>
                <a:rPr lang="pt-BR" sz="1050">
                  <a:solidFill>
                    <a:prstClr val="black"/>
                  </a:solidFill>
                  <a:latin typeface="Roboto" panose="02000000000000000000" pitchFamily="2" charset="0"/>
                  <a:ea typeface="Roboto" panose="02000000000000000000" pitchFamily="2" charset="0"/>
                </a:rPr>
                <a:t> CVR </a:t>
              </a:r>
              <a:r>
                <a:rPr lang="pt-BR" sz="1050" err="1">
                  <a:solidFill>
                    <a:prstClr val="black"/>
                  </a:solidFill>
                  <a:latin typeface="Roboto" panose="02000000000000000000" pitchFamily="2" charset="0"/>
                  <a:ea typeface="Roboto" panose="02000000000000000000" pitchFamily="2" charset="0"/>
                </a:rPr>
                <a:t>fell</a:t>
              </a:r>
              <a:r>
                <a:rPr lang="pt-BR" sz="1050">
                  <a:solidFill>
                    <a:prstClr val="black"/>
                  </a:solidFill>
                  <a:latin typeface="Roboto" panose="02000000000000000000" pitchFamily="2" charset="0"/>
                  <a:ea typeface="Roboto" panose="02000000000000000000" pitchFamily="2" charset="0"/>
                </a:rPr>
                <a:t> 20% </a:t>
              </a:r>
              <a:r>
                <a:rPr lang="pt-BR" sz="1050" err="1">
                  <a:solidFill>
                    <a:prstClr val="black"/>
                  </a:solidFill>
                  <a:latin typeface="Roboto" panose="02000000000000000000" pitchFamily="2" charset="0"/>
                  <a:ea typeface="Roboto" panose="02000000000000000000" pitchFamily="2" charset="0"/>
                </a:rPr>
                <a:t>on</a:t>
              </a:r>
              <a:r>
                <a:rPr lang="pt-BR" sz="1050">
                  <a:solidFill>
                    <a:prstClr val="black"/>
                  </a:solidFill>
                  <a:latin typeface="Roboto" panose="02000000000000000000" pitchFamily="2" charset="0"/>
                  <a:ea typeface="Roboto" panose="02000000000000000000" pitchFamily="2" charset="0"/>
                </a:rPr>
                <a:t> W31 </a:t>
              </a:r>
              <a:r>
                <a:rPr lang="pt-BR" sz="1050" err="1">
                  <a:solidFill>
                    <a:prstClr val="black"/>
                  </a:solidFill>
                  <a:latin typeface="Roboto" panose="02000000000000000000" pitchFamily="2" charset="0"/>
                  <a:ea typeface="Roboto" panose="02000000000000000000" pitchFamily="2" charset="0"/>
                </a:rPr>
                <a:t>and</a:t>
              </a:r>
              <a:r>
                <a:rPr lang="pt-BR" sz="1050">
                  <a:solidFill>
                    <a:prstClr val="black"/>
                  </a:solidFill>
                  <a:latin typeface="Roboto" panose="02000000000000000000" pitchFamily="2" charset="0"/>
                  <a:ea typeface="Roboto" panose="02000000000000000000" pitchFamily="2" charset="0"/>
                </a:rPr>
                <a:t> 30% </a:t>
              </a:r>
              <a:r>
                <a:rPr lang="pt-BR" sz="1050" err="1">
                  <a:solidFill>
                    <a:prstClr val="black"/>
                  </a:solidFill>
                  <a:latin typeface="Roboto" panose="02000000000000000000" pitchFamily="2" charset="0"/>
                  <a:ea typeface="Roboto" panose="02000000000000000000" pitchFamily="2" charset="0"/>
                </a:rPr>
                <a:t>on</a:t>
              </a:r>
              <a:r>
                <a:rPr lang="pt-BR" sz="1050">
                  <a:solidFill>
                    <a:prstClr val="black"/>
                  </a:solidFill>
                  <a:latin typeface="Roboto" panose="02000000000000000000" pitchFamily="2" charset="0"/>
                  <a:ea typeface="Roboto" panose="02000000000000000000" pitchFamily="2" charset="0"/>
                </a:rPr>
                <a:t> W33 </a:t>
              </a:r>
              <a:r>
                <a:rPr lang="pt-BR" sz="1050" err="1">
                  <a:solidFill>
                    <a:prstClr val="black"/>
                  </a:solidFill>
                  <a:latin typeface="Roboto" panose="02000000000000000000" pitchFamily="2" charset="0"/>
                  <a:ea typeface="Roboto" panose="02000000000000000000" pitchFamily="2" charset="0"/>
                </a:rPr>
                <a:t>causing</a:t>
              </a:r>
              <a:r>
                <a:rPr lang="pt-BR" sz="1050">
                  <a:solidFill>
                    <a:prstClr val="black"/>
                  </a:solidFill>
                  <a:latin typeface="Roboto" panose="02000000000000000000" pitchFamily="2" charset="0"/>
                  <a:ea typeface="Roboto" panose="02000000000000000000" pitchFamily="2" charset="0"/>
                </a:rPr>
                <a:t> a </a:t>
              </a:r>
              <a:r>
                <a:rPr lang="pt-BR" sz="1050" err="1">
                  <a:solidFill>
                    <a:prstClr val="black"/>
                  </a:solidFill>
                  <a:latin typeface="Roboto" panose="02000000000000000000" pitchFamily="2" charset="0"/>
                  <a:ea typeface="Roboto" panose="02000000000000000000" pitchFamily="2" charset="0"/>
                </a:rPr>
                <a:t>lower</a:t>
              </a:r>
              <a:r>
                <a:rPr lang="pt-BR" sz="1050">
                  <a:solidFill>
                    <a:prstClr val="black"/>
                  </a:solidFill>
                  <a:latin typeface="Roboto" panose="02000000000000000000" pitchFamily="2" charset="0"/>
                  <a:ea typeface="Roboto" panose="02000000000000000000" pitchFamily="2" charset="0"/>
                </a:rPr>
                <a:t> CTOR.</a:t>
              </a:r>
              <a:endParaRPr kumimoji="0" lang="pt-BR"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p:txBody>
        </p:sp>
      </p:grpSp>
      <p:pic>
        <p:nvPicPr>
          <p:cNvPr id="3" name="Imagem 2">
            <a:extLst>
              <a:ext uri="{FF2B5EF4-FFF2-40B4-BE49-F238E27FC236}">
                <a16:creationId xmlns:a16="http://schemas.microsoft.com/office/drawing/2014/main" id="{DE770DB2-BD7F-4D18-A111-E298027E5FB4}"/>
              </a:ext>
            </a:extLst>
          </p:cNvPr>
          <p:cNvPicPr>
            <a:picLocks noChangeAspect="1"/>
          </p:cNvPicPr>
          <p:nvPr/>
        </p:nvPicPr>
        <p:blipFill>
          <a:blip r:embed="rId2"/>
          <a:stretch>
            <a:fillRect/>
          </a:stretch>
        </p:blipFill>
        <p:spPr>
          <a:xfrm>
            <a:off x="71129" y="1882622"/>
            <a:ext cx="12049742" cy="2931847"/>
          </a:xfrm>
          <a:prstGeom prst="rect">
            <a:avLst/>
          </a:prstGeom>
        </p:spPr>
      </p:pic>
      <p:sp>
        <p:nvSpPr>
          <p:cNvPr id="8" name="CaixaDeTexto 7">
            <a:extLst>
              <a:ext uri="{FF2B5EF4-FFF2-40B4-BE49-F238E27FC236}">
                <a16:creationId xmlns:a16="http://schemas.microsoft.com/office/drawing/2014/main" id="{5213978C-1977-43B8-B13D-431FD53530A9}"/>
              </a:ext>
            </a:extLst>
          </p:cNvPr>
          <p:cNvSpPr txBox="1"/>
          <p:nvPr/>
        </p:nvSpPr>
        <p:spPr>
          <a:xfrm>
            <a:off x="439271" y="932873"/>
            <a:ext cx="1701448" cy="238318"/>
          </a:xfrm>
          <a:prstGeom prst="rect">
            <a:avLst/>
          </a:prstGeom>
          <a:solidFill>
            <a:sysClr val="window" lastClr="FFFFFF"/>
          </a:solidFill>
        </p:spPr>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0">
                <a:solidFill>
                  <a:srgbClr val="002060"/>
                </a:solidFill>
                <a:latin typeface="Samsung Sharp Sans Bold" panose="02000503000000020004"/>
              </a:rPr>
              <a:t>E-mail</a:t>
            </a:r>
          </a:p>
        </p:txBody>
      </p:sp>
      <p:sp>
        <p:nvSpPr>
          <p:cNvPr id="9" name="CaixaDeTexto 8">
            <a:extLst>
              <a:ext uri="{FF2B5EF4-FFF2-40B4-BE49-F238E27FC236}">
                <a16:creationId xmlns:a16="http://schemas.microsoft.com/office/drawing/2014/main" id="{ECFE5662-412C-407A-B54A-1FA63DFD537A}"/>
              </a:ext>
            </a:extLst>
          </p:cNvPr>
          <p:cNvSpPr txBox="1"/>
          <p:nvPr/>
        </p:nvSpPr>
        <p:spPr>
          <a:xfrm>
            <a:off x="5245275" y="932873"/>
            <a:ext cx="1701448" cy="238318"/>
          </a:xfrm>
          <a:prstGeom prst="rect">
            <a:avLst/>
          </a:prstGeom>
          <a:solidFill>
            <a:sysClr val="window" lastClr="FFFFFF"/>
          </a:solidFill>
        </p:spPr>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0">
                <a:solidFill>
                  <a:srgbClr val="002060"/>
                </a:solidFill>
                <a:latin typeface="Samsung Sharp Sans Bold" panose="02000503000000020004"/>
              </a:rPr>
              <a:t>WhatsApp</a:t>
            </a:r>
          </a:p>
        </p:txBody>
      </p:sp>
      <p:sp>
        <p:nvSpPr>
          <p:cNvPr id="11" name="CaixaDeTexto 10">
            <a:extLst>
              <a:ext uri="{FF2B5EF4-FFF2-40B4-BE49-F238E27FC236}">
                <a16:creationId xmlns:a16="http://schemas.microsoft.com/office/drawing/2014/main" id="{B4FA148A-5E77-469C-828D-8E292580A9F1}"/>
              </a:ext>
            </a:extLst>
          </p:cNvPr>
          <p:cNvSpPr txBox="1"/>
          <p:nvPr/>
        </p:nvSpPr>
        <p:spPr>
          <a:xfrm>
            <a:off x="2791946" y="932873"/>
            <a:ext cx="1701448" cy="238318"/>
          </a:xfrm>
          <a:prstGeom prst="rect">
            <a:avLst/>
          </a:prstGeom>
          <a:solidFill>
            <a:sysClr val="window" lastClr="FFFFFF"/>
          </a:solidFill>
        </p:spPr>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0">
                <a:solidFill>
                  <a:srgbClr val="002060"/>
                </a:solidFill>
                <a:latin typeface="Samsung Sharp Sans Bold" panose="02000503000000020004"/>
              </a:rPr>
              <a:t>App Push</a:t>
            </a:r>
          </a:p>
        </p:txBody>
      </p:sp>
      <p:sp>
        <p:nvSpPr>
          <p:cNvPr id="12" name="CaixaDeTexto 11">
            <a:extLst>
              <a:ext uri="{FF2B5EF4-FFF2-40B4-BE49-F238E27FC236}">
                <a16:creationId xmlns:a16="http://schemas.microsoft.com/office/drawing/2014/main" id="{834F8F6A-BD9E-4CBB-8FAB-842868B8E4A8}"/>
              </a:ext>
            </a:extLst>
          </p:cNvPr>
          <p:cNvSpPr txBox="1"/>
          <p:nvPr/>
        </p:nvSpPr>
        <p:spPr>
          <a:xfrm>
            <a:off x="7626525" y="932873"/>
            <a:ext cx="1701448" cy="238318"/>
          </a:xfrm>
          <a:prstGeom prst="rect">
            <a:avLst/>
          </a:prstGeom>
          <a:solidFill>
            <a:sysClr val="window" lastClr="FFFFFF"/>
          </a:solidFill>
        </p:spPr>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0">
                <a:solidFill>
                  <a:srgbClr val="002060"/>
                </a:solidFill>
                <a:latin typeface="Samsung Sharp Sans Bold" panose="02000503000000020004"/>
              </a:rPr>
              <a:t>Push Device</a:t>
            </a:r>
          </a:p>
        </p:txBody>
      </p:sp>
      <p:sp>
        <p:nvSpPr>
          <p:cNvPr id="16" name="CaixaDeTexto 15">
            <a:extLst>
              <a:ext uri="{FF2B5EF4-FFF2-40B4-BE49-F238E27FC236}">
                <a16:creationId xmlns:a16="http://schemas.microsoft.com/office/drawing/2014/main" id="{48B74A46-81D7-43CF-B471-8666F090A069}"/>
              </a:ext>
            </a:extLst>
          </p:cNvPr>
          <p:cNvSpPr txBox="1"/>
          <p:nvPr/>
        </p:nvSpPr>
        <p:spPr>
          <a:xfrm>
            <a:off x="10051281" y="932873"/>
            <a:ext cx="1701448" cy="238318"/>
          </a:xfrm>
          <a:prstGeom prst="rect">
            <a:avLst/>
          </a:prstGeom>
          <a:solidFill>
            <a:sysClr val="window" lastClr="FFFFFF"/>
          </a:solidFill>
        </p:spPr>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0" err="1">
                <a:solidFill>
                  <a:srgbClr val="002060"/>
                </a:solidFill>
                <a:latin typeface="Samsung Sharp Sans Bold" panose="02000503000000020004"/>
              </a:rPr>
              <a:t>WebPush</a:t>
            </a:r>
            <a:endParaRPr lang="en-US" sz="1400" b="1" kern="0">
              <a:solidFill>
                <a:srgbClr val="002060"/>
              </a:solidFill>
              <a:latin typeface="Samsung Sharp Sans Bold" panose="02000503000000020004"/>
            </a:endParaRPr>
          </a:p>
        </p:txBody>
      </p:sp>
      <p:pic>
        <p:nvPicPr>
          <p:cNvPr id="4" name="Imagem 3">
            <a:extLst>
              <a:ext uri="{FF2B5EF4-FFF2-40B4-BE49-F238E27FC236}">
                <a16:creationId xmlns:a16="http://schemas.microsoft.com/office/drawing/2014/main" id="{E3E3EE90-B090-4D1D-B7F7-146A9E040AB9}"/>
              </a:ext>
            </a:extLst>
          </p:cNvPr>
          <p:cNvPicPr>
            <a:picLocks noChangeAspect="1"/>
          </p:cNvPicPr>
          <p:nvPr/>
        </p:nvPicPr>
        <p:blipFill>
          <a:blip r:embed="rId3"/>
          <a:stretch>
            <a:fillRect/>
          </a:stretch>
        </p:blipFill>
        <p:spPr>
          <a:xfrm>
            <a:off x="96974" y="1199770"/>
            <a:ext cx="2362191" cy="1043106"/>
          </a:xfrm>
          <a:prstGeom prst="rect">
            <a:avLst/>
          </a:prstGeom>
        </p:spPr>
      </p:pic>
      <p:pic>
        <p:nvPicPr>
          <p:cNvPr id="6" name="Imagem 5">
            <a:extLst>
              <a:ext uri="{FF2B5EF4-FFF2-40B4-BE49-F238E27FC236}">
                <a16:creationId xmlns:a16="http://schemas.microsoft.com/office/drawing/2014/main" id="{5EBA7F24-A047-4259-B23F-6CEA57677EF8}"/>
              </a:ext>
            </a:extLst>
          </p:cNvPr>
          <p:cNvPicPr>
            <a:picLocks noChangeAspect="1"/>
          </p:cNvPicPr>
          <p:nvPr/>
        </p:nvPicPr>
        <p:blipFill rotWithShape="1">
          <a:blip r:embed="rId4"/>
          <a:srcRect t="13977"/>
          <a:stretch/>
        </p:blipFill>
        <p:spPr>
          <a:xfrm>
            <a:off x="2485011" y="1196158"/>
            <a:ext cx="2385344" cy="1032013"/>
          </a:xfrm>
          <a:prstGeom prst="rect">
            <a:avLst/>
          </a:prstGeom>
        </p:spPr>
      </p:pic>
      <p:pic>
        <p:nvPicPr>
          <p:cNvPr id="17" name="Imagem 16">
            <a:extLst>
              <a:ext uri="{FF2B5EF4-FFF2-40B4-BE49-F238E27FC236}">
                <a16:creationId xmlns:a16="http://schemas.microsoft.com/office/drawing/2014/main" id="{FD957429-B427-4EE5-B8C6-F0C7C950AFFE}"/>
              </a:ext>
            </a:extLst>
          </p:cNvPr>
          <p:cNvPicPr>
            <a:picLocks noChangeAspect="1"/>
          </p:cNvPicPr>
          <p:nvPr/>
        </p:nvPicPr>
        <p:blipFill rotWithShape="1">
          <a:blip r:embed="rId5"/>
          <a:srcRect l="2132" t="696" r="965" b="-696"/>
          <a:stretch/>
        </p:blipFill>
        <p:spPr>
          <a:xfrm>
            <a:off x="4908425" y="1195270"/>
            <a:ext cx="2385344" cy="1043106"/>
          </a:xfrm>
          <a:prstGeom prst="rect">
            <a:avLst/>
          </a:prstGeom>
        </p:spPr>
      </p:pic>
      <p:pic>
        <p:nvPicPr>
          <p:cNvPr id="20" name="Imagem 19">
            <a:extLst>
              <a:ext uri="{FF2B5EF4-FFF2-40B4-BE49-F238E27FC236}">
                <a16:creationId xmlns:a16="http://schemas.microsoft.com/office/drawing/2014/main" id="{FE3BC32C-D9B9-4F3F-9C4A-52E672E819CF}"/>
              </a:ext>
            </a:extLst>
          </p:cNvPr>
          <p:cNvPicPr>
            <a:picLocks noChangeAspect="1"/>
          </p:cNvPicPr>
          <p:nvPr/>
        </p:nvPicPr>
        <p:blipFill>
          <a:blip r:embed="rId6"/>
          <a:stretch>
            <a:fillRect/>
          </a:stretch>
        </p:blipFill>
        <p:spPr>
          <a:xfrm>
            <a:off x="7331840" y="1186580"/>
            <a:ext cx="2375150" cy="1010501"/>
          </a:xfrm>
          <a:prstGeom prst="rect">
            <a:avLst/>
          </a:prstGeom>
        </p:spPr>
      </p:pic>
      <p:pic>
        <p:nvPicPr>
          <p:cNvPr id="22" name="Imagem 21">
            <a:extLst>
              <a:ext uri="{FF2B5EF4-FFF2-40B4-BE49-F238E27FC236}">
                <a16:creationId xmlns:a16="http://schemas.microsoft.com/office/drawing/2014/main" id="{AF737651-833C-4214-9952-7B53CE921CDA}"/>
              </a:ext>
            </a:extLst>
          </p:cNvPr>
          <p:cNvPicPr>
            <a:picLocks noChangeAspect="1"/>
          </p:cNvPicPr>
          <p:nvPr/>
        </p:nvPicPr>
        <p:blipFill>
          <a:blip r:embed="rId7"/>
          <a:stretch>
            <a:fillRect/>
          </a:stretch>
        </p:blipFill>
        <p:spPr>
          <a:xfrm>
            <a:off x="9735778" y="1186318"/>
            <a:ext cx="2375150" cy="1052058"/>
          </a:xfrm>
          <a:prstGeom prst="rect">
            <a:avLst/>
          </a:prstGeom>
        </p:spPr>
      </p:pic>
    </p:spTree>
    <p:extLst>
      <p:ext uri="{BB962C8B-B14F-4D97-AF65-F5344CB8AC3E}">
        <p14:creationId xmlns:p14="http://schemas.microsoft.com/office/powerpoint/2010/main" val="1087232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9CB18-F219-4E87-8E1A-E3D673947FD9}"/>
            </a:ext>
          </a:extLst>
        </p:cNvPr>
        <p:cNvGrpSpPr/>
        <p:nvPr/>
      </p:nvGrpSpPr>
      <p:grpSpPr>
        <a:xfrm>
          <a:off x="0" y="0"/>
          <a:ext cx="0" cy="0"/>
          <a:chOff x="0" y="0"/>
          <a:chExt cx="0" cy="0"/>
        </a:xfrm>
      </p:grpSpPr>
      <p:pic>
        <p:nvPicPr>
          <p:cNvPr id="36" name="Imagem 35">
            <a:extLst>
              <a:ext uri="{FF2B5EF4-FFF2-40B4-BE49-F238E27FC236}">
                <a16:creationId xmlns:a16="http://schemas.microsoft.com/office/drawing/2014/main" id="{FD6B22C4-3950-45BE-9D78-CBC7BC6CC20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8677690" y="2939078"/>
            <a:ext cx="3128749" cy="978449"/>
          </a:xfrm>
          <a:prstGeom prst="rect">
            <a:avLst/>
          </a:prstGeom>
        </p:spPr>
      </p:pic>
      <p:pic>
        <p:nvPicPr>
          <p:cNvPr id="28" name="Imagem 27">
            <a:extLst>
              <a:ext uri="{FF2B5EF4-FFF2-40B4-BE49-F238E27FC236}">
                <a16:creationId xmlns:a16="http://schemas.microsoft.com/office/drawing/2014/main" id="{718105C7-8D92-46B2-9258-960171DD80A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287348" y="2976133"/>
            <a:ext cx="3128749" cy="943565"/>
          </a:xfrm>
          <a:prstGeom prst="rect">
            <a:avLst/>
          </a:prstGeom>
        </p:spPr>
      </p:pic>
      <p:sp>
        <p:nvSpPr>
          <p:cNvPr id="38" name="Retângulo 37">
            <a:extLst>
              <a:ext uri="{FF2B5EF4-FFF2-40B4-BE49-F238E27FC236}">
                <a16:creationId xmlns:a16="http://schemas.microsoft.com/office/drawing/2014/main" id="{D7175C55-0617-44FA-ACC2-FBDE362B7A60}"/>
              </a:ext>
            </a:extLst>
          </p:cNvPr>
          <p:cNvSpPr/>
          <p:nvPr/>
        </p:nvSpPr>
        <p:spPr>
          <a:xfrm>
            <a:off x="274613" y="4219583"/>
            <a:ext cx="3648993" cy="2484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Retângulo 40">
            <a:extLst>
              <a:ext uri="{FF2B5EF4-FFF2-40B4-BE49-F238E27FC236}">
                <a16:creationId xmlns:a16="http://schemas.microsoft.com/office/drawing/2014/main" id="{D4B1321F-7F58-4E2D-9CC9-BF4F7D84DD03}"/>
              </a:ext>
            </a:extLst>
          </p:cNvPr>
          <p:cNvSpPr/>
          <p:nvPr/>
        </p:nvSpPr>
        <p:spPr>
          <a:xfrm>
            <a:off x="4083620" y="4219584"/>
            <a:ext cx="4006237" cy="2484234"/>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CaixaDeTexto 38">
            <a:extLst>
              <a:ext uri="{FF2B5EF4-FFF2-40B4-BE49-F238E27FC236}">
                <a16:creationId xmlns:a16="http://schemas.microsoft.com/office/drawing/2014/main" id="{2AD55F3B-9EC8-4611-99F8-7708C7E9799C}"/>
              </a:ext>
            </a:extLst>
          </p:cNvPr>
          <p:cNvSpPr txBox="1"/>
          <p:nvPr/>
        </p:nvSpPr>
        <p:spPr>
          <a:xfrm>
            <a:off x="425427" y="4108404"/>
            <a:ext cx="1187840" cy="307777"/>
          </a:xfrm>
          <a:prstGeom prst="rect">
            <a:avLst/>
          </a:prstGeom>
          <a:solidFill>
            <a:schemeClr val="bg1"/>
          </a:solidFill>
        </p:spPr>
        <p:txBody>
          <a:bodyPr wrap="square" tIns="18000" bIns="0" rtlCol="0">
            <a:noAutofit/>
          </a:bodyPr>
          <a:lstStyle>
            <a:defPPr>
              <a:defRPr lang="de-DE"/>
            </a:defPPr>
            <a:lvl1pPr marR="0" lvl="0" indent="0" fontAlgn="auto">
              <a:lnSpc>
                <a:spcPct val="100000"/>
              </a:lnSpc>
              <a:spcBef>
                <a:spcPts val="0"/>
              </a:spcBef>
              <a:spcAft>
                <a:spcPts val="0"/>
              </a:spcAft>
              <a:buClrTx/>
              <a:buSzTx/>
              <a:buFontTx/>
              <a:buNone/>
              <a:tabLst/>
              <a:defRPr kumimoji="0" sz="1400" b="1" i="0" u="none" strike="noStrike" kern="0" cap="none" spc="0" normalizeH="0" baseline="0">
                <a:ln>
                  <a:noFill/>
                </a:ln>
                <a:solidFill>
                  <a:srgbClr val="002060"/>
                </a:solidFill>
                <a:effectLst/>
                <a:uLnTx/>
                <a:uFillTx/>
                <a:latin typeface="Samsung Sharp Sans Bold" panose="02000503000000020004"/>
              </a:defRPr>
            </a:lvl1pPr>
          </a:lstStyle>
          <a:p>
            <a:r>
              <a:rPr lang="en-US"/>
              <a:t>Channels</a:t>
            </a:r>
          </a:p>
        </p:txBody>
      </p:sp>
      <p:sp>
        <p:nvSpPr>
          <p:cNvPr id="17" name="CaixaDeTexto 16">
            <a:extLst>
              <a:ext uri="{FF2B5EF4-FFF2-40B4-BE49-F238E27FC236}">
                <a16:creationId xmlns:a16="http://schemas.microsoft.com/office/drawing/2014/main" id="{1599E762-144E-494D-BD91-907DFA8668D4}"/>
              </a:ext>
            </a:extLst>
          </p:cNvPr>
          <p:cNvSpPr txBox="1"/>
          <p:nvPr/>
        </p:nvSpPr>
        <p:spPr>
          <a:xfrm>
            <a:off x="4227530" y="4108404"/>
            <a:ext cx="1205127" cy="307777"/>
          </a:xfrm>
          <a:prstGeom prst="rect">
            <a:avLst/>
          </a:prstGeom>
          <a:solidFill>
            <a:schemeClr val="bg1"/>
          </a:solidFill>
        </p:spPr>
        <p:txBody>
          <a:bodyPr wrap="square" tIns="18000" bIns="0" rtlCol="0">
            <a:noAutofit/>
          </a:bodyPr>
          <a:lstStyle>
            <a:defPPr>
              <a:defRPr lang="de-DE"/>
            </a:defPPr>
            <a:lvl1pPr marR="0" lvl="0" indent="0" fontAlgn="auto">
              <a:lnSpc>
                <a:spcPct val="100000"/>
              </a:lnSpc>
              <a:spcBef>
                <a:spcPts val="0"/>
              </a:spcBef>
              <a:spcAft>
                <a:spcPts val="0"/>
              </a:spcAft>
              <a:buClrTx/>
              <a:buSzTx/>
              <a:buFontTx/>
              <a:buNone/>
              <a:tabLst/>
              <a:defRPr kumimoji="0" sz="1400" b="1" i="0" u="none" strike="noStrike" kern="0" cap="none" spc="0" normalizeH="0" baseline="0">
                <a:ln>
                  <a:noFill/>
                </a:ln>
                <a:solidFill>
                  <a:srgbClr val="002060"/>
                </a:solidFill>
                <a:effectLst/>
                <a:uLnTx/>
                <a:uFillTx/>
                <a:latin typeface="Samsung Sharp Sans Bold" panose="02000503000000020004"/>
              </a:defRPr>
            </a:lvl1pPr>
          </a:lstStyle>
          <a:p>
            <a:r>
              <a:rPr lang="en-US"/>
              <a:t>Top Assets</a:t>
            </a:r>
          </a:p>
        </p:txBody>
      </p:sp>
      <p:sp>
        <p:nvSpPr>
          <p:cNvPr id="7" name="Retângulo 6">
            <a:extLst>
              <a:ext uri="{FF2B5EF4-FFF2-40B4-BE49-F238E27FC236}">
                <a16:creationId xmlns:a16="http://schemas.microsoft.com/office/drawing/2014/main" id="{4FE8EBBF-6CD9-4874-9912-D6A2C55BFCB3}"/>
              </a:ext>
            </a:extLst>
          </p:cNvPr>
          <p:cNvSpPr/>
          <p:nvPr/>
        </p:nvSpPr>
        <p:spPr>
          <a:xfrm>
            <a:off x="274613" y="916744"/>
            <a:ext cx="11644677" cy="1065143"/>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CaixaDeTexto 8">
            <a:extLst>
              <a:ext uri="{FF2B5EF4-FFF2-40B4-BE49-F238E27FC236}">
                <a16:creationId xmlns:a16="http://schemas.microsoft.com/office/drawing/2014/main" id="{AC1FFC61-826C-4B77-94F0-DCE09D1889EC}"/>
              </a:ext>
            </a:extLst>
          </p:cNvPr>
          <p:cNvSpPr txBox="1"/>
          <p:nvPr/>
        </p:nvSpPr>
        <p:spPr>
          <a:xfrm>
            <a:off x="353128" y="789232"/>
            <a:ext cx="1394658" cy="307777"/>
          </a:xfrm>
          <a:prstGeom prst="rect">
            <a:avLst/>
          </a:prstGeom>
          <a:solidFill>
            <a:schemeClr val="bg1"/>
          </a:solidFill>
        </p:spPr>
        <p:txBody>
          <a:bodyPr wrap="square" tIns="18000" bIns="0" rtlCol="0">
            <a:noAutofit/>
          </a:bodyPr>
          <a:lstStyle>
            <a:defPPr>
              <a:defRPr lang="de-DE"/>
            </a:defPPr>
            <a:lvl1pPr marR="0" lvl="0" indent="0" fontAlgn="auto">
              <a:lnSpc>
                <a:spcPct val="100000"/>
              </a:lnSpc>
              <a:spcBef>
                <a:spcPts val="0"/>
              </a:spcBef>
              <a:spcAft>
                <a:spcPts val="0"/>
              </a:spcAft>
              <a:buClrTx/>
              <a:buSzTx/>
              <a:buFontTx/>
              <a:buNone/>
              <a:tabLst/>
              <a:defRPr kumimoji="0" sz="1400" b="1" i="0" u="none" strike="noStrike" kern="0" cap="none" spc="0" normalizeH="0" baseline="0">
                <a:ln>
                  <a:noFill/>
                </a:ln>
                <a:solidFill>
                  <a:srgbClr val="002060"/>
                </a:solidFill>
                <a:effectLst/>
                <a:uLnTx/>
                <a:uFillTx/>
                <a:latin typeface="Samsung Sharp Sans Bold" panose="02000503000000020004"/>
              </a:defRPr>
            </a:lvl1pPr>
          </a:lstStyle>
          <a:p>
            <a:r>
              <a:rPr lang="en-US"/>
              <a:t>Big Numbers</a:t>
            </a:r>
          </a:p>
        </p:txBody>
      </p:sp>
      <p:sp>
        <p:nvSpPr>
          <p:cNvPr id="11" name="CaixaDeTexto 10">
            <a:extLst>
              <a:ext uri="{FF2B5EF4-FFF2-40B4-BE49-F238E27FC236}">
                <a16:creationId xmlns:a16="http://schemas.microsoft.com/office/drawing/2014/main" id="{8AECF4CC-065C-46DB-BD0F-E0E658CBDAC7}"/>
              </a:ext>
            </a:extLst>
          </p:cNvPr>
          <p:cNvSpPr txBox="1"/>
          <p:nvPr/>
        </p:nvSpPr>
        <p:spPr>
          <a:xfrm>
            <a:off x="385561" y="2282232"/>
            <a:ext cx="4526544" cy="507831"/>
          </a:xfrm>
          <a:prstGeom prst="rect">
            <a:avLst/>
          </a:prstGeom>
          <a:noFill/>
        </p:spPr>
        <p:txBody>
          <a:bodyPr wrap="square" rtlCol="0">
            <a:spAutoFit/>
          </a:bodyPr>
          <a:lstStyle>
            <a:defPPr>
              <a:defRPr lang="de-DE"/>
            </a:defPPr>
            <a:lvl1pPr marR="0" lvl="0" indent="0" fontAlgn="auto">
              <a:lnSpc>
                <a:spcPct val="100000"/>
              </a:lnSpc>
              <a:spcBef>
                <a:spcPts val="0"/>
              </a:spcBef>
              <a:spcAft>
                <a:spcPts val="0"/>
              </a:spcAft>
              <a:buClrTx/>
              <a:buSzTx/>
              <a:buFontTx/>
              <a:buNone/>
              <a:tabLst/>
              <a:defRPr kumimoji="0" sz="1100" b="0" i="0" u="none" strike="noStrike" cap="none" spc="0" normalizeH="0" baseline="0">
                <a:ln>
                  <a:noFill/>
                </a:ln>
                <a:solidFill>
                  <a:prstClr val="black"/>
                </a:solidFill>
                <a:effectLst/>
                <a:uLnTx/>
                <a:uFillTx/>
                <a:latin typeface="Roboto" panose="02000000000000000000" pitchFamily="2" charset="0"/>
                <a:ea typeface="Roboto" panose="02000000000000000000" pitchFamily="2" charset="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Mobile: </a:t>
            </a:r>
            <a:r>
              <a:rPr kumimoji="0" lang="en-US" sz="9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core business at </a:t>
            </a:r>
            <a:r>
              <a:rPr kumimoji="0" lang="en-US" sz="9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R$4.36M, 74% of MX share</a:t>
            </a:r>
            <a:r>
              <a:rPr kumimoji="0" lang="en-US" sz="9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 </a:t>
            </a:r>
            <a:r>
              <a:rPr lang="en-US" sz="900"/>
              <a:t>2.71</a:t>
            </a:r>
            <a:r>
              <a:rPr kumimoji="0" lang="en-US" sz="9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G/R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NC: </a:t>
            </a:r>
            <a:r>
              <a:rPr kumimoji="0" lang="en-US" sz="9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R$</a:t>
            </a:r>
            <a:r>
              <a:rPr lang="en-US" sz="900"/>
              <a:t>842,6k</a:t>
            </a:r>
            <a:r>
              <a:rPr kumimoji="0" lang="en-US" sz="9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2.15 G/R and </a:t>
            </a:r>
            <a:r>
              <a:rPr kumimoji="0" lang="en-US" sz="9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ME</a:t>
            </a:r>
            <a:r>
              <a:rPr kumimoji="0" lang="en-US" sz="9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R$676,5K, representing more than 25% of MX revenue.</a:t>
            </a:r>
            <a:endParaRPr kumimoji="0" lang="pt-BR" sz="5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p:txBody>
      </p:sp>
      <p:sp>
        <p:nvSpPr>
          <p:cNvPr id="12" name="CaixaDeTexto 11">
            <a:extLst>
              <a:ext uri="{FF2B5EF4-FFF2-40B4-BE49-F238E27FC236}">
                <a16:creationId xmlns:a16="http://schemas.microsoft.com/office/drawing/2014/main" id="{90AB7E3D-DAE8-439D-94E6-D03F51BE285C}"/>
              </a:ext>
            </a:extLst>
          </p:cNvPr>
          <p:cNvSpPr txBox="1"/>
          <p:nvPr/>
        </p:nvSpPr>
        <p:spPr>
          <a:xfrm>
            <a:off x="274612" y="526008"/>
            <a:ext cx="11764987"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MX reached R$5.90M and 2.33 G/R</a:t>
            </a:r>
            <a:r>
              <a:rPr kumimoji="0" lang="en-US" sz="1100" i="0" u="none" strike="noStrike" kern="1200" cap="none" spc="0" normalizeH="0" baseline="0" noProof="0">
                <a:ln>
                  <a:noFill/>
                </a:ln>
                <a:solidFill>
                  <a:prstClr val="black"/>
                </a:solidFill>
                <a:effectLst/>
                <a:uLnTx/>
                <a:uFillTx/>
                <a:latin typeface="Calibri" panose="020F0502020204030204"/>
                <a:ea typeface="+mn-ea"/>
                <a:cs typeface="+mn-cs"/>
              </a:rPr>
              <a:t>, driven by Mobile, GTM appeared as part of relevant share with Q8H8B8 release.</a:t>
            </a:r>
            <a:endParaRPr kumimoji="0" lang="pt-BR" sz="11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p:txBody>
      </p:sp>
      <p:sp>
        <p:nvSpPr>
          <p:cNvPr id="33" name="Retângulo 32">
            <a:extLst>
              <a:ext uri="{FF2B5EF4-FFF2-40B4-BE49-F238E27FC236}">
                <a16:creationId xmlns:a16="http://schemas.microsoft.com/office/drawing/2014/main" id="{63DD639D-D419-4B27-B0B2-4BE7B14ACD68}"/>
              </a:ext>
            </a:extLst>
          </p:cNvPr>
          <p:cNvSpPr/>
          <p:nvPr/>
        </p:nvSpPr>
        <p:spPr>
          <a:xfrm>
            <a:off x="8745668" y="2804096"/>
            <a:ext cx="588952" cy="11906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prstClr val="black"/>
                </a:solidFill>
                <a:effectLst/>
                <a:uLnTx/>
                <a:uFillTx/>
                <a:latin typeface="Calibri" panose="020F0502020204030204"/>
                <a:ea typeface="+mn-ea"/>
                <a:cs typeface="+mn-cs"/>
              </a:rPr>
              <a:t>2026:</a:t>
            </a:r>
            <a:endParaRPr kumimoji="0" lang="pt-BR" sz="7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Retângulo 33">
            <a:extLst>
              <a:ext uri="{FF2B5EF4-FFF2-40B4-BE49-F238E27FC236}">
                <a16:creationId xmlns:a16="http://schemas.microsoft.com/office/drawing/2014/main" id="{B2E63628-7CFB-4977-AD85-A416C0BBD6F0}"/>
              </a:ext>
            </a:extLst>
          </p:cNvPr>
          <p:cNvSpPr/>
          <p:nvPr/>
        </p:nvSpPr>
        <p:spPr>
          <a:xfrm>
            <a:off x="5344460" y="2816288"/>
            <a:ext cx="588952" cy="11906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prstClr val="black"/>
                </a:solidFill>
                <a:effectLst/>
                <a:uLnTx/>
                <a:uFillTx/>
                <a:latin typeface="Calibri" panose="020F0502020204030204"/>
                <a:ea typeface="+mn-ea"/>
                <a:cs typeface="+mn-cs"/>
              </a:rPr>
              <a:t>2025:</a:t>
            </a:r>
            <a:endParaRPr kumimoji="0" lang="pt-BR" sz="7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riângulo isósceles 41">
            <a:extLst>
              <a:ext uri="{FF2B5EF4-FFF2-40B4-BE49-F238E27FC236}">
                <a16:creationId xmlns:a16="http://schemas.microsoft.com/office/drawing/2014/main" id="{15EAE065-AAFD-45B7-8F76-C6D738FD9A7C}"/>
              </a:ext>
            </a:extLst>
          </p:cNvPr>
          <p:cNvSpPr/>
          <p:nvPr/>
        </p:nvSpPr>
        <p:spPr>
          <a:xfrm rot="5400000">
            <a:off x="8359295" y="3452178"/>
            <a:ext cx="362211" cy="206648"/>
          </a:xfrm>
          <a:prstGeom prst="triangle">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AutoShape 2" descr="Resultado de imagem para Imagens Do Simbolo De Atenção">
            <a:extLst>
              <a:ext uri="{FF2B5EF4-FFF2-40B4-BE49-F238E27FC236}">
                <a16:creationId xmlns:a16="http://schemas.microsoft.com/office/drawing/2014/main" id="{E663F2B9-C773-4414-AC52-F7A1D0B2C189}"/>
              </a:ext>
            </a:extLst>
          </p:cNvPr>
          <p:cNvSpPr>
            <a:spLocks noChangeAspect="1" noChangeArrowheads="1"/>
          </p:cNvSpPr>
          <p:nvPr/>
        </p:nvSpPr>
        <p:spPr bwMode="auto">
          <a:xfrm>
            <a:off x="5195888" y="2433638"/>
            <a:ext cx="1857375" cy="18573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Retângulo 69">
            <a:extLst>
              <a:ext uri="{FF2B5EF4-FFF2-40B4-BE49-F238E27FC236}">
                <a16:creationId xmlns:a16="http://schemas.microsoft.com/office/drawing/2014/main" id="{BB8C171B-EA56-4211-AC9C-86F25E8F32A0}"/>
              </a:ext>
            </a:extLst>
          </p:cNvPr>
          <p:cNvSpPr/>
          <p:nvPr/>
        </p:nvSpPr>
        <p:spPr>
          <a:xfrm>
            <a:off x="5321589" y="3057684"/>
            <a:ext cx="3094508" cy="103259"/>
          </a:xfrm>
          <a:prstGeom prst="rect">
            <a:avLst/>
          </a:prstGeom>
          <a:noFill/>
          <a:ln w="28575">
            <a:solidFill>
              <a:srgbClr val="41A4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1" name="Retângulo 70">
            <a:extLst>
              <a:ext uri="{FF2B5EF4-FFF2-40B4-BE49-F238E27FC236}">
                <a16:creationId xmlns:a16="http://schemas.microsoft.com/office/drawing/2014/main" id="{BA17F88A-EF7D-4FB3-99ED-76F970CDA357}"/>
              </a:ext>
            </a:extLst>
          </p:cNvPr>
          <p:cNvSpPr/>
          <p:nvPr/>
        </p:nvSpPr>
        <p:spPr>
          <a:xfrm>
            <a:off x="8677690" y="3055983"/>
            <a:ext cx="3128749" cy="179977"/>
          </a:xfrm>
          <a:prstGeom prst="rect">
            <a:avLst/>
          </a:prstGeom>
          <a:noFill/>
          <a:ln w="28575">
            <a:solidFill>
              <a:srgbClr val="41A4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01" name="CaixaDeTexto 100">
            <a:extLst>
              <a:ext uri="{FF2B5EF4-FFF2-40B4-BE49-F238E27FC236}">
                <a16:creationId xmlns:a16="http://schemas.microsoft.com/office/drawing/2014/main" id="{D0F1935B-BFA1-4AFD-86C5-56F0C39192AE}"/>
              </a:ext>
            </a:extLst>
          </p:cNvPr>
          <p:cNvSpPr txBox="1"/>
          <p:nvPr/>
        </p:nvSpPr>
        <p:spPr>
          <a:xfrm>
            <a:off x="5195886" y="2233399"/>
            <a:ext cx="6728378" cy="507831"/>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1">
                <a:solidFill>
                  <a:prstClr val="black"/>
                </a:solidFill>
                <a:latin typeface="Calibri" panose="020F0502020204030204"/>
              </a:rPr>
              <a:t>Z Fold</a:t>
            </a:r>
            <a:r>
              <a:rPr kumimoji="0" lang="en-US" sz="900" b="1" i="0" u="none" strike="noStrike" kern="1200" cap="none" spc="0" normalizeH="0" baseline="0" noProof="0">
                <a:ln>
                  <a:noFill/>
                </a:ln>
                <a:solidFill>
                  <a:prstClr val="black"/>
                </a:solidFill>
                <a:effectLst/>
                <a:uLnTx/>
                <a:uFillTx/>
                <a:latin typeface="Calibri" panose="020F0502020204030204"/>
                <a:ea typeface="+mn-ea"/>
                <a:cs typeface="+mn-cs"/>
              </a:rPr>
              <a:t> Family </a:t>
            </a:r>
            <a:r>
              <a:rPr kumimoji="0" lang="en-US" sz="900" i="0" u="none" strike="noStrike" kern="1200" cap="none" spc="0" normalizeH="0" baseline="0" noProof="0">
                <a:ln>
                  <a:noFill/>
                </a:ln>
                <a:solidFill>
                  <a:prstClr val="black"/>
                </a:solidFill>
                <a:effectLst/>
                <a:uLnTx/>
                <a:uFillTx/>
                <a:latin typeface="Calibri" panose="020F0502020204030204"/>
                <a:ea typeface="+mn-ea"/>
                <a:cs typeface="+mn-cs"/>
              </a:rPr>
              <a:t>led with R$2.02M and </a:t>
            </a:r>
            <a:r>
              <a:rPr lang="en-US" sz="900" b="1">
                <a:solidFill>
                  <a:prstClr val="black"/>
                </a:solidFill>
                <a:latin typeface="Calibri" panose="020F0502020204030204"/>
              </a:rPr>
              <a:t>34</a:t>
            </a:r>
            <a:r>
              <a:rPr kumimoji="0" lang="en-US" sz="900" b="1" i="0" u="none" strike="noStrike" kern="1200" cap="none" spc="0" normalizeH="0" baseline="0" noProof="0">
                <a:ln>
                  <a:noFill/>
                </a:ln>
                <a:solidFill>
                  <a:prstClr val="black"/>
                </a:solidFill>
                <a:effectLst/>
                <a:uLnTx/>
                <a:uFillTx/>
                <a:latin typeface="Calibri" panose="020F0502020204030204"/>
                <a:ea typeface="+mn-ea"/>
                <a:cs typeface="+mn-cs"/>
              </a:rPr>
              <a:t>% of revenue</a:t>
            </a:r>
            <a:r>
              <a:rPr kumimoji="0" lang="en-US" sz="900" i="0" u="none" strike="noStrike" kern="1200" cap="none" spc="0" normalizeH="0" baseline="0" noProof="0">
                <a:ln>
                  <a:noFill/>
                </a:ln>
                <a:solidFill>
                  <a:prstClr val="black"/>
                </a:solidFill>
                <a:effectLst/>
                <a:uLnTx/>
                <a:uFillTx/>
                <a:latin typeface="Calibri" panose="020F0502020204030204"/>
                <a:ea typeface="+mn-ea"/>
                <a:cs typeface="+mn-cs"/>
              </a:rPr>
              <a:t>, followed by S Family.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Calibri" panose="020F0502020204030204"/>
                <a:ea typeface="+mn-ea"/>
                <a:cs typeface="+mn-cs"/>
              </a:rPr>
              <a:t>Watch Ultra2 47mm presents a consistent growth week by week (50% ~ 278%), </a:t>
            </a:r>
            <a:r>
              <a:rPr kumimoji="0" lang="en-US" sz="900" i="0" u="none" strike="noStrike" kern="1200" cap="none" spc="0" normalizeH="0" baseline="0" noProof="0">
                <a:ln>
                  <a:noFill/>
                </a:ln>
                <a:solidFill>
                  <a:prstClr val="black"/>
                </a:solidFill>
                <a:effectLst/>
                <a:uLnTx/>
                <a:uFillTx/>
                <a:latin typeface="Calibri" panose="020F0502020204030204"/>
                <a:ea typeface="+mn-ea"/>
                <a:cs typeface="+mn-cs"/>
              </a:rPr>
              <a:t>being one opportunity to diversify basket. Tab follows same pattern.</a:t>
            </a:r>
            <a:endParaRPr lang="pt-BR" sz="900">
              <a:solidFill>
                <a:prstClr val="black"/>
              </a:solidFill>
              <a:latin typeface="Calibri" panose="020F0502020204030204"/>
            </a:endParaRPr>
          </a:p>
        </p:txBody>
      </p:sp>
      <p:sp>
        <p:nvSpPr>
          <p:cNvPr id="102" name="CaixaDeTexto 101">
            <a:extLst>
              <a:ext uri="{FF2B5EF4-FFF2-40B4-BE49-F238E27FC236}">
                <a16:creationId xmlns:a16="http://schemas.microsoft.com/office/drawing/2014/main" id="{A39D4612-4F9D-441F-B000-1DFECDA04CA9}"/>
              </a:ext>
            </a:extLst>
          </p:cNvPr>
          <p:cNvSpPr txBox="1"/>
          <p:nvPr/>
        </p:nvSpPr>
        <p:spPr>
          <a:xfrm>
            <a:off x="1589554" y="4388984"/>
            <a:ext cx="2276158" cy="825867"/>
          </a:xfrm>
          <a:prstGeom prst="rect">
            <a:avLst/>
          </a:prstGeom>
          <a:noFill/>
        </p:spPr>
        <p:txBody>
          <a:bodyPr wrap="square" rtlCol="0">
            <a:sp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App + Email = </a:t>
            </a:r>
            <a:r>
              <a:rPr lang="en-US" sz="1100" b="1">
                <a:solidFill>
                  <a:prstClr val="black"/>
                </a:solidFill>
                <a:latin typeface="Roboto" panose="02000000000000000000" pitchFamily="2" charset="0"/>
                <a:ea typeface="Roboto" panose="02000000000000000000" pitchFamily="2" charset="0"/>
              </a:rPr>
              <a:t>85</a:t>
            </a:r>
            <a:r>
              <a:rPr kumimoji="0" lang="en-US" sz="11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 </a:t>
            </a:r>
            <a:r>
              <a:rPr kumimoji="0" lang="en-US" sz="11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MX sales</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Email (56%) </a:t>
            </a:r>
            <a:r>
              <a:rPr kumimoji="0" lang="en-US" sz="11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consolidated as the main channel in</a:t>
            </a:r>
            <a:r>
              <a:rPr kumimoji="0" lang="en-US" sz="11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 MX</a:t>
            </a:r>
            <a:r>
              <a:rPr kumimoji="0" lang="en-US" sz="11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a:t>
            </a:r>
            <a:endParaRPr kumimoji="0" lang="pt-BR" sz="11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endParaRPr>
          </a:p>
        </p:txBody>
      </p:sp>
      <p:sp>
        <p:nvSpPr>
          <p:cNvPr id="56" name="Título 1">
            <a:extLst>
              <a:ext uri="{FF2B5EF4-FFF2-40B4-BE49-F238E27FC236}">
                <a16:creationId xmlns:a16="http://schemas.microsoft.com/office/drawing/2014/main" id="{9FF35CDA-3E81-4304-9349-A7B11B39F30D}"/>
              </a:ext>
            </a:extLst>
          </p:cNvPr>
          <p:cNvSpPr txBox="1"/>
          <p:nvPr/>
        </p:nvSpPr>
        <p:spPr>
          <a:xfrm>
            <a:off x="207355" y="86336"/>
            <a:ext cx="8453563" cy="483772"/>
          </a:xfrm>
          <a:prstGeom prst="rect">
            <a:avLst/>
          </a:prstGeom>
          <a:noFill/>
          <a:ln cap="flat">
            <a:noFill/>
          </a:ln>
        </p:spPr>
        <p:txBody>
          <a:bodyPr vert="horz" wrap="square" lIns="75730" tIns="37865" rIns="75730" bIns="37865" anchor="ctr" anchorCtr="0" compatLnSpc="1">
            <a:noAutofit/>
          </a:bodyPr>
          <a:lstStyle/>
          <a:p>
            <a:pPr marL="0" marR="0" lvl="0" indent="0" algn="l" defTabSz="914400" rtl="0" eaLnBrk="1" fontAlgn="auto" latinLnBrk="0" hangingPunct="1">
              <a:lnSpc>
                <a:spcPct val="90000"/>
              </a:lnSpc>
              <a:spcBef>
                <a:spcPts val="0"/>
              </a:spcBef>
              <a:spcAft>
                <a:spcPts val="0"/>
              </a:spcAft>
              <a:buClrTx/>
              <a:buSzTx/>
              <a:buFontTx/>
              <a:buNone/>
              <a:tabLst/>
              <a:defRPr sz="1800" b="0" i="0" u="none" strike="noStrike" kern="0" cap="none" spc="0" baseline="0">
                <a:solidFill>
                  <a:srgbClr val="000000"/>
                </a:solidFill>
                <a:uFillTx/>
              </a:defRPr>
            </a:pPr>
            <a:r>
              <a:rPr kumimoji="0" lang="en-GB" sz="2000" b="1" i="0" u="none" strike="noStrike" kern="0" cap="none" spc="0" normalizeH="0" baseline="0" noProof="0">
                <a:ln>
                  <a:noFill/>
                </a:ln>
                <a:solidFill>
                  <a:srgbClr val="000000"/>
                </a:solidFill>
                <a:effectLst/>
                <a:uLnTx/>
                <a:uFillTx/>
                <a:latin typeface="Roboto"/>
                <a:ea typeface="Roboto"/>
                <a:cs typeface="Samsung Sharp Sans Bold" pitchFamily="2"/>
              </a:rPr>
              <a:t>CRM </a:t>
            </a:r>
            <a:r>
              <a:rPr kumimoji="0" lang="en-GB" sz="2000" b="1" i="0" u="none" strike="noStrike" kern="1200" cap="none" spc="0" normalizeH="0" baseline="0" noProof="0">
                <a:ln>
                  <a:noFill/>
                </a:ln>
                <a:solidFill>
                  <a:srgbClr val="000000"/>
                </a:solidFill>
                <a:effectLst/>
                <a:uLnTx/>
                <a:uFillTx/>
                <a:latin typeface="Roboto"/>
                <a:ea typeface="Roboto"/>
                <a:cs typeface="Samsung Sharp Sans Bold" pitchFamily="2"/>
              </a:rPr>
              <a:t>| </a:t>
            </a:r>
            <a:r>
              <a:rPr kumimoji="0" lang="en-GB" sz="2000" b="1" i="0" u="none" strike="noStrike" kern="0" cap="none" spc="0" normalizeH="0" baseline="0" noProof="0">
                <a:ln>
                  <a:noFill/>
                </a:ln>
                <a:solidFill>
                  <a:srgbClr val="1428A0"/>
                </a:solidFill>
                <a:effectLst/>
                <a:uLnTx/>
                <a:uFillTx/>
                <a:latin typeface="Roboto"/>
                <a:ea typeface="Roboto"/>
                <a:cs typeface="Samsung Sharp Sans Bold" pitchFamily="2"/>
              </a:rPr>
              <a:t>MX – </a:t>
            </a:r>
            <a:r>
              <a:rPr lang="en-GB" sz="2000" b="1" kern="0">
                <a:solidFill>
                  <a:srgbClr val="1428A0"/>
                </a:solidFill>
                <a:latin typeface="Roboto"/>
                <a:ea typeface="Roboto"/>
                <a:cs typeface="Samsung Sharp Sans Bold" pitchFamily="2"/>
              </a:rPr>
              <a:t>Aug</a:t>
            </a:r>
            <a:r>
              <a:rPr kumimoji="0" lang="en-GB" sz="2000" b="1" i="0" u="none" strike="noStrike" kern="0" cap="none" spc="0" normalizeH="0" baseline="0" noProof="0">
                <a:ln>
                  <a:noFill/>
                </a:ln>
                <a:solidFill>
                  <a:srgbClr val="1428A0"/>
                </a:solidFill>
                <a:effectLst/>
                <a:uLnTx/>
                <a:uFillTx/>
                <a:latin typeface="Roboto"/>
                <a:ea typeface="Roboto"/>
                <a:cs typeface="Samsung Sharp Sans Bold" pitchFamily="2"/>
              </a:rPr>
              <a:t>’26 Sales Results</a:t>
            </a:r>
            <a:endParaRPr kumimoji="0" lang="en-GB" sz="2000" b="1" i="0" u="none" strike="noStrike" kern="1200" cap="none" spc="0" normalizeH="0" baseline="0" noProof="0">
              <a:ln>
                <a:noFill/>
              </a:ln>
              <a:solidFill>
                <a:srgbClr val="1428A0"/>
              </a:solidFill>
              <a:effectLst/>
              <a:uLnTx/>
              <a:uFillTx/>
              <a:latin typeface="Roboto"/>
              <a:ea typeface="Roboto"/>
              <a:cs typeface="Samsung Sharp Sans Bold" pitchFamily="2"/>
            </a:endParaRPr>
          </a:p>
        </p:txBody>
      </p:sp>
      <p:sp>
        <p:nvSpPr>
          <p:cNvPr id="65" name="Retângulo 64">
            <a:extLst>
              <a:ext uri="{FF2B5EF4-FFF2-40B4-BE49-F238E27FC236}">
                <a16:creationId xmlns:a16="http://schemas.microsoft.com/office/drawing/2014/main" id="{9EAF44FE-693B-4149-B5FC-E0090B03B2BF}"/>
              </a:ext>
            </a:extLst>
          </p:cNvPr>
          <p:cNvSpPr/>
          <p:nvPr/>
        </p:nvSpPr>
        <p:spPr>
          <a:xfrm>
            <a:off x="8249871" y="4219584"/>
            <a:ext cx="3674393" cy="2484234"/>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CaixaDeTexto 75">
            <a:extLst>
              <a:ext uri="{FF2B5EF4-FFF2-40B4-BE49-F238E27FC236}">
                <a16:creationId xmlns:a16="http://schemas.microsoft.com/office/drawing/2014/main" id="{52B015FB-A2FA-4E04-A533-0A9D2873064D}"/>
              </a:ext>
            </a:extLst>
          </p:cNvPr>
          <p:cNvSpPr txBox="1"/>
          <p:nvPr/>
        </p:nvSpPr>
        <p:spPr>
          <a:xfrm>
            <a:off x="8404072" y="4108404"/>
            <a:ext cx="1849731" cy="307777"/>
          </a:xfrm>
          <a:prstGeom prst="rect">
            <a:avLst/>
          </a:prstGeom>
          <a:solidFill>
            <a:schemeClr val="bg1"/>
          </a:solidFill>
        </p:spPr>
        <p:txBody>
          <a:bodyPr wrap="square" tIns="18000" bIns="0" rtlCol="0">
            <a:noAutofit/>
          </a:bodyPr>
          <a:lstStyle>
            <a:defPPr>
              <a:defRPr lang="de-DE"/>
            </a:defPPr>
            <a:lvl1pPr marR="0" lvl="0" indent="0" fontAlgn="auto">
              <a:lnSpc>
                <a:spcPct val="100000"/>
              </a:lnSpc>
              <a:spcBef>
                <a:spcPts val="0"/>
              </a:spcBef>
              <a:spcAft>
                <a:spcPts val="0"/>
              </a:spcAft>
              <a:buClrTx/>
              <a:buSzTx/>
              <a:buFontTx/>
              <a:buNone/>
              <a:tabLst/>
              <a:defRPr kumimoji="0" sz="1400" b="1" i="0" u="none" strike="noStrike" kern="0" cap="none" spc="0" normalizeH="0" baseline="0">
                <a:ln>
                  <a:noFill/>
                </a:ln>
                <a:solidFill>
                  <a:srgbClr val="002060"/>
                </a:solidFill>
                <a:effectLst/>
                <a:uLnTx/>
                <a:uFillTx/>
                <a:latin typeface="Samsung Sharp Sans Bold" panose="02000503000000020004"/>
              </a:defRPr>
            </a:lvl1pPr>
          </a:lstStyle>
          <a:p>
            <a:r>
              <a:rPr lang="en-US"/>
              <a:t>High &amp; Lowlights</a:t>
            </a:r>
          </a:p>
        </p:txBody>
      </p:sp>
      <p:sp>
        <p:nvSpPr>
          <p:cNvPr id="77" name="CaixaDeTexto 76">
            <a:extLst>
              <a:ext uri="{FF2B5EF4-FFF2-40B4-BE49-F238E27FC236}">
                <a16:creationId xmlns:a16="http://schemas.microsoft.com/office/drawing/2014/main" id="{C68A8AE5-8996-4D81-8344-3E53272C905E}"/>
              </a:ext>
            </a:extLst>
          </p:cNvPr>
          <p:cNvSpPr txBox="1"/>
          <p:nvPr/>
        </p:nvSpPr>
        <p:spPr>
          <a:xfrm>
            <a:off x="8282029" y="4388984"/>
            <a:ext cx="3548352" cy="2231380"/>
          </a:xfrm>
          <a:prstGeom prst="rect">
            <a:avLst/>
          </a:prstGeom>
          <a:noFill/>
        </p:spPr>
        <p:txBody>
          <a:bodyPr wrap="square" rtlCol="0">
            <a:spAutoFit/>
          </a:bodyPr>
          <a:lstStyle/>
          <a:p>
            <a:pPr>
              <a:spcBef>
                <a:spcPts val="600"/>
              </a:spcBef>
              <a:defRPr/>
            </a:pPr>
            <a:r>
              <a:rPr lang="en-US" sz="1000" b="1">
                <a:solidFill>
                  <a:srgbClr val="061799"/>
                </a:solidFill>
                <a:latin typeface="Roboto" panose="02000000000000000000" pitchFamily="2" charset="0"/>
                <a:ea typeface="Roboto" panose="02000000000000000000" pitchFamily="2" charset="0"/>
              </a:rPr>
              <a:t>HIGHLIGHTS</a:t>
            </a:r>
          </a:p>
          <a:p>
            <a:pPr marL="171450" marR="0" lvl="0" indent="-171450" algn="l" defTabSz="914400" rtl="0" eaLnBrk="1" fontAlgn="auto" latinLnBrk="0" hangingPunct="1">
              <a:spcBef>
                <a:spcPts val="2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MX led CRM revenue: </a:t>
            </a:r>
            <a:r>
              <a:rPr kumimoji="0" lang="en-US" sz="9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R$5.9M | 2.33 G/R.</a:t>
            </a:r>
          </a:p>
          <a:p>
            <a:pPr marL="171450" marR="0" lvl="0" indent="-171450" algn="l" defTabSz="914400" rtl="0" eaLnBrk="1" fontAlgn="auto" latinLnBrk="0" hangingPunct="1">
              <a:spcBef>
                <a:spcPts val="2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Mobile delivered R$4.36M | 2.71 G/R.</a:t>
            </a:r>
          </a:p>
          <a:p>
            <a:pPr marL="171450" indent="-171450">
              <a:spcBef>
                <a:spcPts val="200"/>
              </a:spcBef>
              <a:buFont typeface="Arial" panose="020B0604020202020204" pitchFamily="34" charset="0"/>
              <a:buChar char="•"/>
              <a:defRPr/>
            </a:pPr>
            <a:r>
              <a:rPr kumimoji="0" lang="en-US" sz="9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Z Fold Family delivered R$2M</a:t>
            </a:r>
            <a:r>
              <a:rPr kumimoji="0" lang="en-US" sz="9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 followed by line S.</a:t>
            </a:r>
          </a:p>
          <a:p>
            <a:pPr marL="171450" marR="0" lvl="0" indent="-171450" algn="l" defTabSz="914400" rtl="0" eaLnBrk="1" fontAlgn="auto" latinLnBrk="0" hangingPunct="1">
              <a:spcBef>
                <a:spcPts val="20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NC reached R$</a:t>
            </a:r>
            <a:r>
              <a:rPr lang="en-US" sz="900" b="1">
                <a:solidFill>
                  <a:prstClr val="black"/>
                </a:solidFill>
                <a:latin typeface="Roboto" panose="02000000000000000000" pitchFamily="2" charset="0"/>
                <a:ea typeface="Roboto" panose="02000000000000000000" pitchFamily="2" charset="0"/>
              </a:rPr>
              <a:t>842,6k</a:t>
            </a:r>
            <a:r>
              <a:rPr kumimoji="0" lang="en-US" sz="9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 | 2.15 G/R.</a:t>
            </a:r>
          </a:p>
          <a:p>
            <a:pPr marL="171450" indent="-171450">
              <a:spcBef>
                <a:spcPts val="200"/>
              </a:spcBef>
              <a:buFont typeface="Arial" panose="020B0604020202020204" pitchFamily="34" charset="0"/>
              <a:buChar char="•"/>
              <a:defRPr/>
            </a:pPr>
            <a:r>
              <a:rPr kumimoji="0" lang="en-US" sz="9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GTM contributed 19% of MX revenue in August.</a:t>
            </a:r>
            <a:endParaRPr kumimoji="0" lang="en-US" sz="9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endParaRPr>
          </a:p>
          <a:p>
            <a:pPr marL="0" marR="0" lvl="0" indent="0" algn="l" defTabSz="914400" rtl="0" eaLnBrk="1" fontAlgn="auto" latinLnBrk="0" hangingPunct="1">
              <a:spcBef>
                <a:spcPts val="20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highlight>
                <a:srgbClr val="FFFF00"/>
              </a:highlight>
              <a:uLnTx/>
              <a:uFillTx/>
              <a:latin typeface="Roboto" panose="02000000000000000000" pitchFamily="2" charset="0"/>
              <a:ea typeface="Roboto" panose="02000000000000000000" pitchFamily="2" charset="0"/>
            </a:endParaRPr>
          </a:p>
          <a:p>
            <a:pPr marR="0" lvl="0" indent="0" fontAlgn="auto">
              <a:spcBef>
                <a:spcPts val="600"/>
              </a:spcBef>
              <a:spcAft>
                <a:spcPts val="0"/>
              </a:spcAft>
              <a:buClrTx/>
              <a:buSzTx/>
              <a:buFontTx/>
              <a:buNone/>
              <a:tabLst/>
              <a:defRPr/>
            </a:pPr>
            <a:r>
              <a:rPr lang="en-US" sz="1000" b="1">
                <a:solidFill>
                  <a:srgbClr val="061799"/>
                </a:solidFill>
                <a:latin typeface="Roboto" panose="02000000000000000000" pitchFamily="2" charset="0"/>
                <a:ea typeface="Roboto" panose="02000000000000000000" pitchFamily="2" charset="0"/>
              </a:rPr>
              <a:t>LOWLIGHTS</a:t>
            </a:r>
          </a:p>
          <a:p>
            <a:pPr marL="171450" marR="0" lvl="0" indent="-171450" algn="l" defTabSz="914400" rtl="0" eaLnBrk="1" fontAlgn="auto" latinLnBrk="0" hangingPunct="1">
              <a:spcBef>
                <a:spcPts val="200"/>
              </a:spcBef>
              <a:spcAft>
                <a:spcPts val="0"/>
              </a:spcAft>
              <a:buClrTx/>
              <a:buSzTx/>
              <a:buFont typeface="Arial" panose="020B0604020202020204" pitchFamily="34" charset="0"/>
              <a:buChar char="•"/>
              <a:tabLst/>
              <a:defRPr/>
            </a:pPr>
            <a:r>
              <a:rPr kumimoji="0" lang="en-US" sz="9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74% of revenue still depends on Mobile.</a:t>
            </a:r>
          </a:p>
          <a:p>
            <a:pPr marL="171450" marR="0" lvl="0" indent="-171450" algn="l" defTabSz="914400" rtl="0" eaLnBrk="1" fontAlgn="auto" latinLnBrk="0" hangingPunct="1">
              <a:spcBef>
                <a:spcPts val="200"/>
              </a:spcBef>
              <a:spcAft>
                <a:spcPts val="0"/>
              </a:spcAft>
              <a:buClrTx/>
              <a:buSzTx/>
              <a:buFont typeface="Arial" panose="020B0604020202020204" pitchFamily="34" charset="0"/>
              <a:buChar char="•"/>
              <a:tabLst/>
              <a:defRPr/>
            </a:pPr>
            <a:r>
              <a:rPr kumimoji="0" lang="en-US" sz="9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Product concentration remains high in S-series, despite decreasing tendency.</a:t>
            </a:r>
          </a:p>
          <a:p>
            <a:pPr marL="171450" marR="0" lvl="0" indent="-171450" algn="l" defTabSz="914400" rtl="0" eaLnBrk="1" fontAlgn="auto" latinLnBrk="0" hangingPunct="1">
              <a:spcBef>
                <a:spcPts val="200"/>
              </a:spcBef>
              <a:spcAft>
                <a:spcPts val="0"/>
              </a:spcAft>
              <a:buClrTx/>
              <a:buSzTx/>
              <a:buFont typeface="Arial" panose="020B0604020202020204" pitchFamily="34" charset="0"/>
              <a:buChar char="•"/>
              <a:tabLst/>
              <a:defRPr/>
            </a:pPr>
            <a:r>
              <a:rPr lang="en-US" sz="900">
                <a:solidFill>
                  <a:prstClr val="black"/>
                </a:solidFill>
                <a:latin typeface="Roboto" panose="02000000000000000000" pitchFamily="2" charset="0"/>
                <a:ea typeface="Roboto" panose="02000000000000000000" pitchFamily="2" charset="0"/>
              </a:rPr>
              <a:t>Last month, sales were dominated by smartphone, low diversity of SKUs.</a:t>
            </a:r>
            <a:endParaRPr kumimoji="0" lang="en-US" sz="9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endParaRPr>
          </a:p>
        </p:txBody>
      </p:sp>
      <p:sp>
        <p:nvSpPr>
          <p:cNvPr id="8" name="Retângulo 7">
            <a:extLst>
              <a:ext uri="{FF2B5EF4-FFF2-40B4-BE49-F238E27FC236}">
                <a16:creationId xmlns:a16="http://schemas.microsoft.com/office/drawing/2014/main" id="{8055FFBB-36B9-41BF-B44F-68ECD35DE699}"/>
              </a:ext>
            </a:extLst>
          </p:cNvPr>
          <p:cNvSpPr/>
          <p:nvPr/>
        </p:nvSpPr>
        <p:spPr>
          <a:xfrm>
            <a:off x="274613" y="2109399"/>
            <a:ext cx="4736040" cy="1949317"/>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tângulo 29">
            <a:extLst>
              <a:ext uri="{FF2B5EF4-FFF2-40B4-BE49-F238E27FC236}">
                <a16:creationId xmlns:a16="http://schemas.microsoft.com/office/drawing/2014/main" id="{DDE5CBDC-0716-4F8C-9144-C5812570C6EA}"/>
              </a:ext>
            </a:extLst>
          </p:cNvPr>
          <p:cNvSpPr/>
          <p:nvPr/>
        </p:nvSpPr>
        <p:spPr>
          <a:xfrm>
            <a:off x="5195887" y="2104220"/>
            <a:ext cx="6728377" cy="1954497"/>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tângulo 77">
            <a:extLst>
              <a:ext uri="{FF2B5EF4-FFF2-40B4-BE49-F238E27FC236}">
                <a16:creationId xmlns:a16="http://schemas.microsoft.com/office/drawing/2014/main" id="{2C96AD2A-6A5B-49E0-8543-3762D8036903}"/>
              </a:ext>
            </a:extLst>
          </p:cNvPr>
          <p:cNvSpPr/>
          <p:nvPr/>
        </p:nvSpPr>
        <p:spPr>
          <a:xfrm>
            <a:off x="1387591" y="1041806"/>
            <a:ext cx="1586654" cy="63204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Revenue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rPr>
              <a:t>R$ </a:t>
            </a:r>
            <a:r>
              <a:rPr lang="en-US" sz="1600" b="1">
                <a:solidFill>
                  <a:srgbClr val="061799"/>
                </a:solidFill>
                <a:latin typeface="Roboto" panose="02000000000000000000" pitchFamily="2" charset="0"/>
                <a:ea typeface="Roboto" panose="02000000000000000000" pitchFamily="2" charset="0"/>
              </a:rPr>
              <a:t>5</a:t>
            </a:r>
            <a:r>
              <a:rPr kumimoji="0" lang="en-US" sz="160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rPr>
              <a:t>,9M</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a:solidFill>
                  <a:prstClr val="black"/>
                </a:solidFill>
                <a:latin typeface="Roboto" panose="02000000000000000000" pitchFamily="2" charset="0"/>
                <a:ea typeface="Roboto" panose="02000000000000000000" pitchFamily="2" charset="0"/>
              </a:rPr>
              <a:t>2,33</a:t>
            </a:r>
            <a:endParaRPr kumimoji="0" lang="en-US" sz="11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p:txBody>
      </p:sp>
      <p:sp>
        <p:nvSpPr>
          <p:cNvPr id="79" name="Retângulo 78">
            <a:extLst>
              <a:ext uri="{FF2B5EF4-FFF2-40B4-BE49-F238E27FC236}">
                <a16:creationId xmlns:a16="http://schemas.microsoft.com/office/drawing/2014/main" id="{C08262A1-9604-4129-BFC7-CA67BCB19A9E}"/>
              </a:ext>
            </a:extLst>
          </p:cNvPr>
          <p:cNvSpPr/>
          <p:nvPr/>
        </p:nvSpPr>
        <p:spPr>
          <a:xfrm>
            <a:off x="3519006" y="1041806"/>
            <a:ext cx="1586654" cy="63204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Unit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a:solidFill>
                  <a:srgbClr val="061799"/>
                </a:solidFill>
                <a:latin typeface="Roboto" panose="02000000000000000000" pitchFamily="2" charset="0"/>
                <a:ea typeface="Roboto" panose="02000000000000000000" pitchFamily="2" charset="0"/>
              </a:rPr>
              <a:t>1551</a:t>
            </a:r>
            <a:endParaRPr kumimoji="0" lang="en-US" sz="160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1,6</a:t>
            </a:r>
          </a:p>
        </p:txBody>
      </p:sp>
      <p:grpSp>
        <p:nvGrpSpPr>
          <p:cNvPr id="80" name="Agrupar 79">
            <a:extLst>
              <a:ext uri="{FF2B5EF4-FFF2-40B4-BE49-F238E27FC236}">
                <a16:creationId xmlns:a16="http://schemas.microsoft.com/office/drawing/2014/main" id="{4E018585-994B-408F-855D-E441FB4D3956}"/>
              </a:ext>
            </a:extLst>
          </p:cNvPr>
          <p:cNvGrpSpPr/>
          <p:nvPr/>
        </p:nvGrpSpPr>
        <p:grpSpPr>
          <a:xfrm>
            <a:off x="6096000" y="1048520"/>
            <a:ext cx="4211776" cy="632048"/>
            <a:chOff x="3885359" y="393917"/>
            <a:chExt cx="4881131" cy="1123168"/>
          </a:xfrm>
        </p:grpSpPr>
        <p:sp>
          <p:nvSpPr>
            <p:cNvPr id="81" name="Retângulo 80">
              <a:extLst>
                <a:ext uri="{FF2B5EF4-FFF2-40B4-BE49-F238E27FC236}">
                  <a16:creationId xmlns:a16="http://schemas.microsoft.com/office/drawing/2014/main" id="{2F62183F-1085-44FF-B2C4-10929C65233F}"/>
                </a:ext>
              </a:extLst>
            </p:cNvPr>
            <p:cNvSpPr/>
            <p:nvPr/>
          </p:nvSpPr>
          <p:spPr>
            <a:xfrm>
              <a:off x="3885359" y="393917"/>
              <a:ext cx="2442885" cy="11231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Portion Shop/App (R$)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a:solidFill>
                    <a:srgbClr val="061799"/>
                  </a:solidFill>
                  <a:latin typeface="Roboto" panose="02000000000000000000" pitchFamily="2" charset="0"/>
                  <a:ea typeface="Roboto" panose="02000000000000000000" pitchFamily="2" charset="0"/>
                </a:rPr>
                <a:t>6,59</a:t>
              </a:r>
              <a:r>
                <a:rPr kumimoji="0" lang="en-US" sz="160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rPr>
                <a:t>%</a:t>
              </a:r>
            </a:p>
          </p:txBody>
        </p:sp>
        <p:sp>
          <p:nvSpPr>
            <p:cNvPr id="82" name="Retângulo 81">
              <a:extLst>
                <a:ext uri="{FF2B5EF4-FFF2-40B4-BE49-F238E27FC236}">
                  <a16:creationId xmlns:a16="http://schemas.microsoft.com/office/drawing/2014/main" id="{6EA3FA3C-DD44-4A06-BB30-CD13900B83AC}"/>
                </a:ext>
              </a:extLst>
            </p:cNvPr>
            <p:cNvSpPr/>
            <p:nvPr/>
          </p:nvSpPr>
          <p:spPr>
            <a:xfrm>
              <a:off x="6323605" y="393917"/>
              <a:ext cx="2442885" cy="11231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Portion Shop/App (units)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a:solidFill>
                    <a:srgbClr val="061799"/>
                  </a:solidFill>
                  <a:latin typeface="Roboto" panose="02000000000000000000" pitchFamily="2" charset="0"/>
                  <a:ea typeface="Roboto" panose="02000000000000000000" pitchFamily="2" charset="0"/>
                </a:rPr>
                <a:t>7,18</a:t>
              </a:r>
              <a:r>
                <a:rPr kumimoji="0" lang="en-US" sz="160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rPr>
                <a:t>%</a:t>
              </a:r>
            </a:p>
          </p:txBody>
        </p:sp>
      </p:grpSp>
      <p:sp>
        <p:nvSpPr>
          <p:cNvPr id="83" name="Retângulo 82">
            <a:extLst>
              <a:ext uri="{FF2B5EF4-FFF2-40B4-BE49-F238E27FC236}">
                <a16:creationId xmlns:a16="http://schemas.microsoft.com/office/drawing/2014/main" id="{0AABCA69-C4A9-415F-8E20-BFD65FE8D097}"/>
              </a:ext>
            </a:extLst>
          </p:cNvPr>
          <p:cNvSpPr/>
          <p:nvPr/>
        </p:nvSpPr>
        <p:spPr>
          <a:xfrm>
            <a:off x="1387591" y="1671561"/>
            <a:ext cx="1586654" cy="221863"/>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grpSp>
        <p:nvGrpSpPr>
          <p:cNvPr id="84" name="Agrupar 83">
            <a:extLst>
              <a:ext uri="{FF2B5EF4-FFF2-40B4-BE49-F238E27FC236}">
                <a16:creationId xmlns:a16="http://schemas.microsoft.com/office/drawing/2014/main" id="{350DD105-EBDE-44F2-8836-CBFCE2ECD387}"/>
              </a:ext>
            </a:extLst>
          </p:cNvPr>
          <p:cNvGrpSpPr/>
          <p:nvPr/>
        </p:nvGrpSpPr>
        <p:grpSpPr>
          <a:xfrm>
            <a:off x="1452871" y="1623054"/>
            <a:ext cx="1538619" cy="323166"/>
            <a:chOff x="558428" y="2190859"/>
            <a:chExt cx="1586654" cy="323166"/>
          </a:xfrm>
        </p:grpSpPr>
        <p:sp>
          <p:nvSpPr>
            <p:cNvPr id="85" name="CaixaDeTexto 84">
              <a:extLst>
                <a:ext uri="{FF2B5EF4-FFF2-40B4-BE49-F238E27FC236}">
                  <a16:creationId xmlns:a16="http://schemas.microsoft.com/office/drawing/2014/main" id="{6DAA1DDB-D179-4A59-B962-96C65F158E04}"/>
                </a:ext>
              </a:extLst>
            </p:cNvPr>
            <p:cNvSpPr txBox="1"/>
            <p:nvPr/>
          </p:nvSpPr>
          <p:spPr>
            <a:xfrm>
              <a:off x="558428" y="2190860"/>
              <a:ext cx="576000" cy="323165"/>
            </a:xfrm>
            <a:prstGeom prst="rect">
              <a:avLst/>
            </a:prstGeom>
            <a:noFill/>
          </p:spPr>
          <p:txBody>
            <a:bodyPr wrap="square" lIns="0" rIns="0" rtlCol="0">
              <a:spAutoFit/>
            </a:bodyPr>
            <a:lstStyle/>
            <a:p>
              <a:pPr marL="0" marR="0" lvl="0" indent="0" algn="ctr" defTabSz="914400" rtl="0" eaLnBrk="1" fontAlgn="auto" latinLnBrk="0" hangingPunct="1">
                <a:lnSpc>
                  <a:spcPts val="9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GROWTH</a:t>
              </a:r>
              <a:endParaRPr kumimoji="0" lang="en-US" sz="7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a:p>
              <a:pPr marL="0" marR="0" lvl="0" indent="0" algn="ctr" defTabSz="914400" rtl="0" eaLnBrk="1" fontAlgn="auto" latinLnBrk="0" hangingPunct="1">
                <a:lnSpc>
                  <a:spcPts val="900"/>
                </a:lnSpc>
                <a:spcBef>
                  <a:spcPts val="0"/>
                </a:spcBef>
                <a:spcAft>
                  <a:spcPts val="0"/>
                </a:spcAft>
                <a:buClrTx/>
                <a:buSzTx/>
                <a:buFontTx/>
                <a:buNone/>
                <a:tabLst/>
                <a:defRPr/>
              </a:pPr>
              <a:r>
                <a:rPr lang="en-US" sz="700">
                  <a:solidFill>
                    <a:prstClr val="black"/>
                  </a:solidFill>
                  <a:latin typeface="Roboto" panose="02000000000000000000" pitchFamily="2" charset="0"/>
                  <a:ea typeface="Roboto" panose="02000000000000000000" pitchFamily="2" charset="0"/>
                </a:rPr>
                <a:t>33</a:t>
              </a:r>
              <a:r>
                <a:rPr kumimoji="0" lang="en-US" sz="7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a:t>
              </a:r>
            </a:p>
          </p:txBody>
        </p:sp>
        <p:sp>
          <p:nvSpPr>
            <p:cNvPr id="86" name="CaixaDeTexto 85">
              <a:extLst>
                <a:ext uri="{FF2B5EF4-FFF2-40B4-BE49-F238E27FC236}">
                  <a16:creationId xmlns:a16="http://schemas.microsoft.com/office/drawing/2014/main" id="{6F2D1DE5-D6AD-49A2-8A31-D4EF1627E375}"/>
                </a:ext>
              </a:extLst>
            </p:cNvPr>
            <p:cNvSpPr txBox="1"/>
            <p:nvPr/>
          </p:nvSpPr>
          <p:spPr>
            <a:xfrm>
              <a:off x="1063755" y="2190859"/>
              <a:ext cx="576000" cy="323165"/>
            </a:xfrm>
            <a:prstGeom prst="rect">
              <a:avLst/>
            </a:prstGeom>
            <a:noFill/>
          </p:spPr>
          <p:txBody>
            <a:bodyPr wrap="square" lIns="0" rIns="0" rtlCol="0">
              <a:spAutoFit/>
            </a:bodyPr>
            <a:lstStyle/>
            <a:p>
              <a:pPr marL="0" marR="0" lvl="0" indent="0" algn="ctr" defTabSz="914400" rtl="0" eaLnBrk="1" fontAlgn="auto" latinLnBrk="0" hangingPunct="1">
                <a:lnSpc>
                  <a:spcPts val="9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GTM</a:t>
              </a:r>
              <a:endParaRPr kumimoji="0" lang="en-US" sz="7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a:p>
              <a:pPr marL="0" marR="0" lvl="0" indent="0" algn="ctr" defTabSz="914400" rtl="0" eaLnBrk="1" fontAlgn="auto" latinLnBrk="0" hangingPunct="1">
                <a:lnSpc>
                  <a:spcPts val="9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19%</a:t>
              </a:r>
            </a:p>
          </p:txBody>
        </p:sp>
        <p:sp>
          <p:nvSpPr>
            <p:cNvPr id="87" name="CaixaDeTexto 86">
              <a:extLst>
                <a:ext uri="{FF2B5EF4-FFF2-40B4-BE49-F238E27FC236}">
                  <a16:creationId xmlns:a16="http://schemas.microsoft.com/office/drawing/2014/main" id="{ECF1EA73-FBF0-4EA4-AEE1-F7466EB32A48}"/>
                </a:ext>
              </a:extLst>
            </p:cNvPr>
            <p:cNvSpPr txBox="1"/>
            <p:nvPr/>
          </p:nvSpPr>
          <p:spPr>
            <a:xfrm>
              <a:off x="1569082" y="2190860"/>
              <a:ext cx="576000" cy="323165"/>
            </a:xfrm>
            <a:prstGeom prst="rect">
              <a:avLst/>
            </a:prstGeom>
            <a:noFill/>
          </p:spPr>
          <p:txBody>
            <a:bodyPr wrap="square" lIns="0" rIns="0" rtlCol="0">
              <a:spAutoFit/>
            </a:bodyPr>
            <a:lstStyle/>
            <a:p>
              <a:pPr marL="0" marR="0" lvl="0" indent="0" algn="ctr" defTabSz="914400" rtl="0" eaLnBrk="1" fontAlgn="auto" latinLnBrk="0" hangingPunct="1">
                <a:lnSpc>
                  <a:spcPts val="9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TRIGGER</a:t>
              </a:r>
              <a:endParaRPr kumimoji="0" lang="en-US" sz="7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a:p>
              <a:pPr marL="0" marR="0" lvl="0" indent="0" algn="ctr" defTabSz="914400" rtl="0" eaLnBrk="1" fontAlgn="auto" latinLnBrk="0" hangingPunct="1">
                <a:lnSpc>
                  <a:spcPts val="9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48%</a:t>
              </a:r>
            </a:p>
          </p:txBody>
        </p:sp>
      </p:grpSp>
      <p:sp>
        <p:nvSpPr>
          <p:cNvPr id="88" name="CaixaDeTexto 87">
            <a:extLst>
              <a:ext uri="{FF2B5EF4-FFF2-40B4-BE49-F238E27FC236}">
                <a16:creationId xmlns:a16="http://schemas.microsoft.com/office/drawing/2014/main" id="{FF8C8FAC-8F39-49ED-AF35-0F50ECBE7248}"/>
              </a:ext>
            </a:extLst>
          </p:cNvPr>
          <p:cNvSpPr txBox="1"/>
          <p:nvPr/>
        </p:nvSpPr>
        <p:spPr>
          <a:xfrm>
            <a:off x="1041130" y="1433184"/>
            <a:ext cx="823481" cy="230832"/>
          </a:xfrm>
          <a:prstGeom prst="rect">
            <a:avLst/>
          </a:prstGeom>
          <a:noFill/>
        </p:spPr>
        <p:txBody>
          <a:bodyPr wrap="square" rtlCol="0">
            <a:spAutoFit/>
          </a:bodyPr>
          <a:lstStyle>
            <a:defPPr>
              <a:defRPr lang="de-DE"/>
            </a:defPPr>
            <a:lvl1pPr marR="0" lvl="0" indent="0" fontAlgn="auto">
              <a:lnSpc>
                <a:spcPct val="100000"/>
              </a:lnSpc>
              <a:spcBef>
                <a:spcPts val="0"/>
              </a:spcBef>
              <a:spcAft>
                <a:spcPts val="0"/>
              </a:spcAft>
              <a:buClrTx/>
              <a:buSzTx/>
              <a:buFontTx/>
              <a:buNone/>
              <a:tabLst/>
              <a:defRPr kumimoji="0" sz="1100" b="0" i="0" u="none" strike="noStrike" cap="none" spc="0" normalizeH="0" baseline="0">
                <a:ln>
                  <a:noFill/>
                </a:ln>
                <a:solidFill>
                  <a:prstClr val="black"/>
                </a:solidFill>
                <a:effectLst/>
                <a:uLnTx/>
                <a:uFillTx/>
                <a:latin typeface="Roboto" panose="02000000000000000000" pitchFamily="2" charset="0"/>
                <a:ea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G/R</a:t>
            </a:r>
          </a:p>
        </p:txBody>
      </p:sp>
      <p:cxnSp>
        <p:nvCxnSpPr>
          <p:cNvPr id="89" name="Conector reto 88">
            <a:extLst>
              <a:ext uri="{FF2B5EF4-FFF2-40B4-BE49-F238E27FC236}">
                <a16:creationId xmlns:a16="http://schemas.microsoft.com/office/drawing/2014/main" id="{0FC3ED7C-0047-4D3B-AA68-04EC037EEE59}"/>
              </a:ext>
            </a:extLst>
          </p:cNvPr>
          <p:cNvCxnSpPr/>
          <p:nvPr/>
        </p:nvCxnSpPr>
        <p:spPr>
          <a:xfrm>
            <a:off x="1143392" y="1469964"/>
            <a:ext cx="3960000" cy="0"/>
          </a:xfrm>
          <a:prstGeom prst="line">
            <a:avLst/>
          </a:prstGeom>
          <a:ln w="6350">
            <a:solidFill>
              <a:schemeClr val="bg2">
                <a:lumMod val="90000"/>
              </a:schemeClr>
            </a:solidFill>
            <a:prstDash val="dash"/>
          </a:ln>
        </p:spPr>
        <p:style>
          <a:lnRef idx="2">
            <a:schemeClr val="accent1"/>
          </a:lnRef>
          <a:fillRef idx="0">
            <a:schemeClr val="accent1"/>
          </a:fillRef>
          <a:effectRef idx="1">
            <a:schemeClr val="accent1"/>
          </a:effectRef>
          <a:fontRef idx="minor">
            <a:schemeClr val="tx1"/>
          </a:fontRef>
        </p:style>
      </p:cxnSp>
      <p:sp>
        <p:nvSpPr>
          <p:cNvPr id="10" name="CaixaDeTexto 9">
            <a:extLst>
              <a:ext uri="{FF2B5EF4-FFF2-40B4-BE49-F238E27FC236}">
                <a16:creationId xmlns:a16="http://schemas.microsoft.com/office/drawing/2014/main" id="{48D110B9-B9C6-49E0-9779-FC6F2DFC2DA1}"/>
              </a:ext>
            </a:extLst>
          </p:cNvPr>
          <p:cNvSpPr txBox="1"/>
          <p:nvPr/>
        </p:nvSpPr>
        <p:spPr>
          <a:xfrm>
            <a:off x="425427" y="2011921"/>
            <a:ext cx="1357185" cy="266907"/>
          </a:xfrm>
          <a:prstGeom prst="rect">
            <a:avLst/>
          </a:prstGeom>
          <a:solidFill>
            <a:schemeClr val="bg1"/>
          </a:solidFill>
        </p:spPr>
        <p:txBody>
          <a:bodyPr wrap="square" tIns="1800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2060"/>
                </a:solidFill>
                <a:effectLst/>
                <a:uLnTx/>
                <a:uFillTx/>
                <a:latin typeface="Samsung Sharp Sans Bold" panose="02000503000000020004"/>
                <a:ea typeface="+mn-ea"/>
                <a:cs typeface="+mn-cs"/>
              </a:rPr>
              <a:t>Categories</a:t>
            </a:r>
          </a:p>
        </p:txBody>
      </p:sp>
      <p:sp>
        <p:nvSpPr>
          <p:cNvPr id="31" name="CaixaDeTexto 30">
            <a:extLst>
              <a:ext uri="{FF2B5EF4-FFF2-40B4-BE49-F238E27FC236}">
                <a16:creationId xmlns:a16="http://schemas.microsoft.com/office/drawing/2014/main" id="{57AEB173-3770-41CB-B9F2-6FCAE4DEBBAA}"/>
              </a:ext>
            </a:extLst>
          </p:cNvPr>
          <p:cNvSpPr txBox="1"/>
          <p:nvPr/>
        </p:nvSpPr>
        <p:spPr>
          <a:xfrm>
            <a:off x="5432657" y="2011921"/>
            <a:ext cx="1238866" cy="259036"/>
          </a:xfrm>
          <a:prstGeom prst="rect">
            <a:avLst/>
          </a:prstGeom>
          <a:solidFill>
            <a:schemeClr val="bg1"/>
          </a:solidFill>
        </p:spPr>
        <p:txBody>
          <a:bodyPr wrap="square" tIns="1800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2060"/>
                </a:solidFill>
                <a:effectLst/>
                <a:uLnTx/>
                <a:uFillTx/>
                <a:latin typeface="Samsung Sharp Sans Bold" panose="02000503000000020004"/>
                <a:ea typeface="+mn-ea"/>
                <a:cs typeface="+mn-cs"/>
              </a:rPr>
              <a:t>Products</a:t>
            </a:r>
          </a:p>
        </p:txBody>
      </p:sp>
      <p:pic>
        <p:nvPicPr>
          <p:cNvPr id="5" name="Imagem 4">
            <a:extLst>
              <a:ext uri="{FF2B5EF4-FFF2-40B4-BE49-F238E27FC236}">
                <a16:creationId xmlns:a16="http://schemas.microsoft.com/office/drawing/2014/main" id="{F63A5F22-24D8-441A-8CBF-AF07CB245C1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03938" y="4465870"/>
            <a:ext cx="1122718" cy="2010424"/>
          </a:xfrm>
          <a:prstGeom prst="rect">
            <a:avLst/>
          </a:prstGeom>
        </p:spPr>
      </p:pic>
      <p:sp>
        <p:nvSpPr>
          <p:cNvPr id="47" name="CaixaDeTexto 46">
            <a:extLst>
              <a:ext uri="{FF2B5EF4-FFF2-40B4-BE49-F238E27FC236}">
                <a16:creationId xmlns:a16="http://schemas.microsoft.com/office/drawing/2014/main" id="{2F3A4FE4-0BC4-4920-8AE8-75BCF02DE65C}"/>
              </a:ext>
            </a:extLst>
          </p:cNvPr>
          <p:cNvSpPr txBox="1"/>
          <p:nvPr/>
        </p:nvSpPr>
        <p:spPr>
          <a:xfrm>
            <a:off x="979131" y="4637694"/>
            <a:ext cx="328522" cy="201337"/>
          </a:xfrm>
          <a:prstGeom prst="rect">
            <a:avLst/>
          </a:prstGeom>
          <a:noFill/>
        </p:spPr>
        <p:txBody>
          <a:bodyPr wrap="square" lIns="0" rIns="0" rtlCol="0">
            <a:spAutoFit/>
          </a:bodyPr>
          <a:lstStyle/>
          <a:p>
            <a:pPr marL="0" marR="0" lvl="0" indent="0" defTabSz="914400" rtl="0" eaLnBrk="1" fontAlgn="auto" latinLnBrk="0" hangingPunct="1">
              <a:lnSpc>
                <a:spcPts val="900"/>
              </a:lnSpc>
              <a:spcBef>
                <a:spcPts val="0"/>
              </a:spcBef>
              <a:spcAft>
                <a:spcPts val="0"/>
              </a:spcAft>
              <a:buClrTx/>
              <a:buSzTx/>
              <a:buFontTx/>
              <a:buNone/>
              <a:tabLst/>
              <a:defRPr/>
            </a:pPr>
            <a:r>
              <a:rPr kumimoji="0" lang="en-US" sz="600" b="1"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rPr>
              <a:t>| </a:t>
            </a:r>
            <a:r>
              <a:rPr lang="en-US" sz="600" b="1">
                <a:solidFill>
                  <a:schemeClr val="bg2">
                    <a:lumMod val="50000"/>
                  </a:schemeClr>
                </a:solidFill>
                <a:latin typeface="Roboto" panose="02000000000000000000" pitchFamily="2" charset="0"/>
                <a:ea typeface="Roboto" panose="02000000000000000000" pitchFamily="2" charset="0"/>
              </a:rPr>
              <a:t>56</a:t>
            </a:r>
            <a:r>
              <a:rPr kumimoji="0" lang="en-US" sz="600" b="1"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rPr>
              <a:t>%</a:t>
            </a:r>
            <a:endParaRPr kumimoji="0" lang="en-US" sz="700" b="0"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endParaRPr>
          </a:p>
        </p:txBody>
      </p:sp>
      <p:sp>
        <p:nvSpPr>
          <p:cNvPr id="48" name="CaixaDeTexto 47">
            <a:extLst>
              <a:ext uri="{FF2B5EF4-FFF2-40B4-BE49-F238E27FC236}">
                <a16:creationId xmlns:a16="http://schemas.microsoft.com/office/drawing/2014/main" id="{AFB130C2-4601-4E67-98FF-CDB917A478A4}"/>
              </a:ext>
            </a:extLst>
          </p:cNvPr>
          <p:cNvSpPr txBox="1"/>
          <p:nvPr/>
        </p:nvSpPr>
        <p:spPr>
          <a:xfrm>
            <a:off x="979131" y="5047475"/>
            <a:ext cx="328522" cy="201337"/>
          </a:xfrm>
          <a:prstGeom prst="rect">
            <a:avLst/>
          </a:prstGeom>
          <a:noFill/>
        </p:spPr>
        <p:txBody>
          <a:bodyPr wrap="square" lIns="0" rIns="0" rtlCol="0">
            <a:spAutoFit/>
          </a:bodyPr>
          <a:lstStyle/>
          <a:p>
            <a:pPr marL="0" marR="0" lvl="0" indent="0" defTabSz="914400" rtl="0" eaLnBrk="1" fontAlgn="auto" latinLnBrk="0" hangingPunct="1">
              <a:lnSpc>
                <a:spcPts val="900"/>
              </a:lnSpc>
              <a:spcBef>
                <a:spcPts val="0"/>
              </a:spcBef>
              <a:spcAft>
                <a:spcPts val="0"/>
              </a:spcAft>
              <a:buClrTx/>
              <a:buSzTx/>
              <a:buFontTx/>
              <a:buNone/>
              <a:tabLst/>
              <a:defRPr/>
            </a:pPr>
            <a:r>
              <a:rPr kumimoji="0" lang="en-US" sz="600" b="1"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rPr>
              <a:t>| </a:t>
            </a:r>
            <a:r>
              <a:rPr lang="en-US" sz="600" b="1">
                <a:solidFill>
                  <a:schemeClr val="bg2">
                    <a:lumMod val="50000"/>
                  </a:schemeClr>
                </a:solidFill>
                <a:latin typeface="Roboto" panose="02000000000000000000" pitchFamily="2" charset="0"/>
                <a:ea typeface="Roboto" panose="02000000000000000000" pitchFamily="2" charset="0"/>
              </a:rPr>
              <a:t>29</a:t>
            </a:r>
            <a:r>
              <a:rPr kumimoji="0" lang="en-US" sz="600" b="1"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rPr>
              <a:t>%</a:t>
            </a:r>
            <a:endParaRPr kumimoji="0" lang="en-US" sz="700" b="0"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endParaRPr>
          </a:p>
        </p:txBody>
      </p:sp>
      <p:sp>
        <p:nvSpPr>
          <p:cNvPr id="49" name="CaixaDeTexto 48">
            <a:extLst>
              <a:ext uri="{FF2B5EF4-FFF2-40B4-BE49-F238E27FC236}">
                <a16:creationId xmlns:a16="http://schemas.microsoft.com/office/drawing/2014/main" id="{5FB33A21-8798-4640-BE45-6260F654F3DA}"/>
              </a:ext>
            </a:extLst>
          </p:cNvPr>
          <p:cNvSpPr txBox="1"/>
          <p:nvPr/>
        </p:nvSpPr>
        <p:spPr>
          <a:xfrm>
            <a:off x="979131" y="5464000"/>
            <a:ext cx="328522" cy="201337"/>
          </a:xfrm>
          <a:prstGeom prst="rect">
            <a:avLst/>
          </a:prstGeom>
          <a:noFill/>
        </p:spPr>
        <p:txBody>
          <a:bodyPr wrap="square" lIns="0" rIns="0" rtlCol="0">
            <a:spAutoFit/>
          </a:bodyPr>
          <a:lstStyle/>
          <a:p>
            <a:pPr marL="0" marR="0" lvl="0" indent="0" defTabSz="914400" rtl="0" eaLnBrk="1" fontAlgn="auto" latinLnBrk="0" hangingPunct="1">
              <a:lnSpc>
                <a:spcPts val="900"/>
              </a:lnSpc>
              <a:spcBef>
                <a:spcPts val="0"/>
              </a:spcBef>
              <a:spcAft>
                <a:spcPts val="0"/>
              </a:spcAft>
              <a:buClrTx/>
              <a:buSzTx/>
              <a:buFontTx/>
              <a:buNone/>
              <a:tabLst/>
              <a:defRPr/>
            </a:pPr>
            <a:r>
              <a:rPr kumimoji="0" lang="en-US" sz="600" b="1"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rPr>
              <a:t>| 10%</a:t>
            </a:r>
            <a:endParaRPr kumimoji="0" lang="en-US" sz="700" b="0"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endParaRPr>
          </a:p>
        </p:txBody>
      </p:sp>
      <p:sp>
        <p:nvSpPr>
          <p:cNvPr id="50" name="CaixaDeTexto 49">
            <a:extLst>
              <a:ext uri="{FF2B5EF4-FFF2-40B4-BE49-F238E27FC236}">
                <a16:creationId xmlns:a16="http://schemas.microsoft.com/office/drawing/2014/main" id="{BF452349-FD89-4F47-AECB-26ED0A452410}"/>
              </a:ext>
            </a:extLst>
          </p:cNvPr>
          <p:cNvSpPr txBox="1"/>
          <p:nvPr/>
        </p:nvSpPr>
        <p:spPr>
          <a:xfrm>
            <a:off x="979131" y="5867431"/>
            <a:ext cx="328522" cy="201337"/>
          </a:xfrm>
          <a:prstGeom prst="rect">
            <a:avLst/>
          </a:prstGeom>
          <a:noFill/>
        </p:spPr>
        <p:txBody>
          <a:bodyPr wrap="square" lIns="0" rIns="0" rtlCol="0">
            <a:spAutoFit/>
          </a:bodyPr>
          <a:lstStyle/>
          <a:p>
            <a:pPr marL="0" marR="0" lvl="0" indent="0" defTabSz="914400" rtl="0" eaLnBrk="1" fontAlgn="auto" latinLnBrk="0" hangingPunct="1">
              <a:lnSpc>
                <a:spcPts val="900"/>
              </a:lnSpc>
              <a:spcBef>
                <a:spcPts val="0"/>
              </a:spcBef>
              <a:spcAft>
                <a:spcPts val="0"/>
              </a:spcAft>
              <a:buClrTx/>
              <a:buSzTx/>
              <a:buFontTx/>
              <a:buNone/>
              <a:tabLst/>
              <a:defRPr/>
            </a:pPr>
            <a:r>
              <a:rPr kumimoji="0" lang="en-US" sz="600" b="1"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rPr>
              <a:t>| 3%</a:t>
            </a:r>
            <a:endParaRPr kumimoji="0" lang="en-US" sz="700" b="0"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endParaRPr>
          </a:p>
        </p:txBody>
      </p:sp>
      <p:sp>
        <p:nvSpPr>
          <p:cNvPr id="51" name="CaixaDeTexto 50">
            <a:extLst>
              <a:ext uri="{FF2B5EF4-FFF2-40B4-BE49-F238E27FC236}">
                <a16:creationId xmlns:a16="http://schemas.microsoft.com/office/drawing/2014/main" id="{C1826874-6470-475F-8FF2-E554554D9B6D}"/>
              </a:ext>
            </a:extLst>
          </p:cNvPr>
          <p:cNvSpPr txBox="1"/>
          <p:nvPr/>
        </p:nvSpPr>
        <p:spPr>
          <a:xfrm>
            <a:off x="979131" y="6274957"/>
            <a:ext cx="328522" cy="201337"/>
          </a:xfrm>
          <a:prstGeom prst="rect">
            <a:avLst/>
          </a:prstGeom>
          <a:noFill/>
        </p:spPr>
        <p:txBody>
          <a:bodyPr wrap="square" lIns="0" rIns="0" rtlCol="0">
            <a:spAutoFit/>
          </a:bodyPr>
          <a:lstStyle/>
          <a:p>
            <a:pPr marL="0" marR="0" lvl="0" indent="0" defTabSz="914400" rtl="0" eaLnBrk="1" fontAlgn="auto" latinLnBrk="0" hangingPunct="1">
              <a:lnSpc>
                <a:spcPts val="900"/>
              </a:lnSpc>
              <a:spcBef>
                <a:spcPts val="0"/>
              </a:spcBef>
              <a:spcAft>
                <a:spcPts val="0"/>
              </a:spcAft>
              <a:buClrTx/>
              <a:buSzTx/>
              <a:buFontTx/>
              <a:buNone/>
              <a:tabLst/>
              <a:defRPr/>
            </a:pPr>
            <a:r>
              <a:rPr kumimoji="0" lang="en-US" sz="600" b="1"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rPr>
              <a:t>| </a:t>
            </a:r>
            <a:r>
              <a:rPr lang="en-US" sz="600" b="1">
                <a:solidFill>
                  <a:schemeClr val="bg2">
                    <a:lumMod val="50000"/>
                  </a:schemeClr>
                </a:solidFill>
                <a:latin typeface="Roboto" panose="02000000000000000000" pitchFamily="2" charset="0"/>
                <a:ea typeface="Roboto" panose="02000000000000000000" pitchFamily="2" charset="0"/>
              </a:rPr>
              <a:t>2</a:t>
            </a:r>
            <a:r>
              <a:rPr kumimoji="0" lang="en-US" sz="600" b="1"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rPr>
              <a:t>%</a:t>
            </a:r>
            <a:endParaRPr kumimoji="0" lang="en-US" sz="700" b="0"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endParaRPr>
          </a:p>
        </p:txBody>
      </p:sp>
      <p:sp>
        <p:nvSpPr>
          <p:cNvPr id="55" name="CaixaDeTexto 54">
            <a:extLst>
              <a:ext uri="{FF2B5EF4-FFF2-40B4-BE49-F238E27FC236}">
                <a16:creationId xmlns:a16="http://schemas.microsoft.com/office/drawing/2014/main" id="{FC24EE2C-4872-4EB6-A452-75E1FC60DAAD}"/>
              </a:ext>
            </a:extLst>
          </p:cNvPr>
          <p:cNvSpPr txBox="1"/>
          <p:nvPr/>
        </p:nvSpPr>
        <p:spPr>
          <a:xfrm>
            <a:off x="5724263" y="4655897"/>
            <a:ext cx="1260000" cy="338554"/>
          </a:xfrm>
          <a:prstGeom prst="rect">
            <a:avLst/>
          </a:prstGeom>
          <a:noFill/>
        </p:spPr>
        <p:txBody>
          <a:bodyPr wrap="square" rtlCol="0">
            <a:spAutoFit/>
          </a:bodyPr>
          <a:lstStyle>
            <a:defPPr>
              <a:defRPr lang="de-DE"/>
            </a:defPPr>
            <a:lvl1pPr marR="0" lvl="0" indent="0" fontAlgn="auto">
              <a:lnSpc>
                <a:spcPct val="100000"/>
              </a:lnSpc>
              <a:spcBef>
                <a:spcPts val="0"/>
              </a:spcBef>
              <a:spcAft>
                <a:spcPts val="0"/>
              </a:spcAft>
              <a:buClrTx/>
              <a:buSzTx/>
              <a:buFontTx/>
              <a:buNone/>
              <a:tabLst/>
              <a:defRPr kumimoji="0" sz="900" b="0" i="0" u="none" strike="noStrike" cap="none" spc="0" normalizeH="0" baseline="0">
                <a:ln>
                  <a:noFill/>
                </a:ln>
                <a:solidFill>
                  <a:prstClr val="black"/>
                </a:solidFill>
                <a:effectLst/>
                <a:uLnTx/>
                <a:uFillTx/>
                <a:latin typeface="Roboto" panose="02000000000000000000" pitchFamily="2" charset="0"/>
                <a:ea typeface="Roboto" panose="02000000000000000000" pitchFamily="2" charset="0"/>
              </a:defRPr>
            </a:lvl1pPr>
          </a:lstStyle>
          <a:p>
            <a:r>
              <a:rPr lang="en-US" sz="800" err="1"/>
              <a:t>Liveshop</a:t>
            </a:r>
            <a:r>
              <a:rPr lang="en-US" sz="800"/>
              <a:t> | W34</a:t>
            </a:r>
          </a:p>
          <a:p>
            <a:r>
              <a:rPr lang="en-US" sz="800"/>
              <a:t>R$ 167k | CVR 0,23%</a:t>
            </a:r>
          </a:p>
        </p:txBody>
      </p:sp>
      <p:pic>
        <p:nvPicPr>
          <p:cNvPr id="57" name="Imagem 56">
            <a:extLst>
              <a:ext uri="{FF2B5EF4-FFF2-40B4-BE49-F238E27FC236}">
                <a16:creationId xmlns:a16="http://schemas.microsoft.com/office/drawing/2014/main" id="{82CC8519-8415-4574-8369-DFDE01739F3D}"/>
              </a:ext>
            </a:extLst>
          </p:cNvPr>
          <p:cNvPicPr>
            <a:picLocks noChangeAspect="1"/>
          </p:cNvPicPr>
          <p:nvPr/>
        </p:nvPicPr>
        <p:blipFill>
          <a:blip r:embed="rId5" cstate="print">
            <a:extLst>
              <a:ext uri="{28A0092B-C50C-407E-A947-70E740481C1C}">
                <a14:useLocalDpi xmlns:a14="http://schemas.microsoft.com/office/drawing/2010/main" val="0"/>
              </a:ext>
            </a:extLst>
          </a:blip>
          <a:srcRect t="18738" b="18738"/>
          <a:stretch/>
        </p:blipFill>
        <p:spPr>
          <a:xfrm>
            <a:off x="5222315" y="4271550"/>
            <a:ext cx="476020" cy="2384900"/>
          </a:xfrm>
          <a:prstGeom prst="rect">
            <a:avLst/>
          </a:prstGeom>
        </p:spPr>
      </p:pic>
      <p:sp>
        <p:nvSpPr>
          <p:cNvPr id="59" name="CaixaDeTexto 58">
            <a:extLst>
              <a:ext uri="{FF2B5EF4-FFF2-40B4-BE49-F238E27FC236}">
                <a16:creationId xmlns:a16="http://schemas.microsoft.com/office/drawing/2014/main" id="{D2FE14F7-7863-4BE4-B380-4A07E4F753E7}"/>
              </a:ext>
            </a:extLst>
          </p:cNvPr>
          <p:cNvSpPr txBox="1"/>
          <p:nvPr/>
        </p:nvSpPr>
        <p:spPr>
          <a:xfrm>
            <a:off x="6671523" y="6278684"/>
            <a:ext cx="1260000" cy="338554"/>
          </a:xfrm>
          <a:prstGeom prst="rect">
            <a:avLst/>
          </a:prstGeom>
          <a:noFill/>
        </p:spPr>
        <p:txBody>
          <a:bodyPr wrap="square" rtlCol="0">
            <a:spAutoFit/>
          </a:bodyPr>
          <a:lstStyle>
            <a:defPPr>
              <a:defRPr lang="de-DE"/>
            </a:defPPr>
            <a:lvl1pPr marR="0" lvl="0" indent="0" fontAlgn="auto">
              <a:lnSpc>
                <a:spcPct val="100000"/>
              </a:lnSpc>
              <a:spcBef>
                <a:spcPts val="0"/>
              </a:spcBef>
              <a:spcAft>
                <a:spcPts val="0"/>
              </a:spcAft>
              <a:buClrTx/>
              <a:buSzTx/>
              <a:buFontTx/>
              <a:buNone/>
              <a:tabLst/>
              <a:defRPr kumimoji="0" sz="900" b="0" i="0" u="none" strike="noStrike" cap="none" spc="0" normalizeH="0" baseline="0">
                <a:ln>
                  <a:noFill/>
                </a:ln>
                <a:solidFill>
                  <a:prstClr val="black"/>
                </a:solidFill>
                <a:effectLst/>
                <a:uLnTx/>
                <a:uFillTx/>
                <a:latin typeface="Roboto" panose="02000000000000000000" pitchFamily="2" charset="0"/>
                <a:ea typeface="Roboto" panose="02000000000000000000" pitchFamily="2" charset="0"/>
              </a:defRPr>
            </a:lvl1pPr>
          </a:lstStyle>
          <a:p>
            <a:pPr algn="r"/>
            <a:r>
              <a:rPr lang="en-US" sz="800"/>
              <a:t>Q8B8H8 | W32</a:t>
            </a:r>
          </a:p>
          <a:p>
            <a:pPr algn="r"/>
            <a:r>
              <a:rPr lang="en-US" sz="800"/>
              <a:t>R$ 59k | CTOR 25,10%</a:t>
            </a:r>
          </a:p>
        </p:txBody>
      </p:sp>
      <p:pic>
        <p:nvPicPr>
          <p:cNvPr id="18" name="Imagem 17">
            <a:extLst>
              <a:ext uri="{FF2B5EF4-FFF2-40B4-BE49-F238E27FC236}">
                <a16:creationId xmlns:a16="http://schemas.microsoft.com/office/drawing/2014/main" id="{A386C777-7AEB-4EE4-BEBD-50DBC8C3CA37}"/>
              </a:ext>
            </a:extLst>
          </p:cNvPr>
          <p:cNvPicPr>
            <a:picLocks noChangeAspect="1"/>
          </p:cNvPicPr>
          <p:nvPr/>
        </p:nvPicPr>
        <p:blipFill>
          <a:blip r:embed="rId6"/>
          <a:stretch>
            <a:fillRect/>
          </a:stretch>
        </p:blipFill>
        <p:spPr>
          <a:xfrm>
            <a:off x="601132" y="3005631"/>
            <a:ext cx="4340154" cy="628926"/>
          </a:xfrm>
          <a:prstGeom prst="rect">
            <a:avLst/>
          </a:prstGeom>
        </p:spPr>
      </p:pic>
      <p:pic>
        <p:nvPicPr>
          <p:cNvPr id="20" name="Imagem 19">
            <a:extLst>
              <a:ext uri="{FF2B5EF4-FFF2-40B4-BE49-F238E27FC236}">
                <a16:creationId xmlns:a16="http://schemas.microsoft.com/office/drawing/2014/main" id="{A7BC46AC-FF4A-4C97-9328-102D9D437411}"/>
              </a:ext>
            </a:extLst>
          </p:cNvPr>
          <p:cNvPicPr>
            <a:picLocks noChangeAspect="1"/>
          </p:cNvPicPr>
          <p:nvPr/>
        </p:nvPicPr>
        <p:blipFill>
          <a:blip r:embed="rId7"/>
          <a:stretch>
            <a:fillRect/>
          </a:stretch>
        </p:blipFill>
        <p:spPr>
          <a:xfrm>
            <a:off x="1592267" y="2703527"/>
            <a:ext cx="3349019" cy="306196"/>
          </a:xfrm>
          <a:prstGeom prst="rect">
            <a:avLst/>
          </a:prstGeom>
        </p:spPr>
      </p:pic>
      <p:pic>
        <p:nvPicPr>
          <p:cNvPr id="3" name="Imagem 2">
            <a:extLst>
              <a:ext uri="{FF2B5EF4-FFF2-40B4-BE49-F238E27FC236}">
                <a16:creationId xmlns:a16="http://schemas.microsoft.com/office/drawing/2014/main" id="{AD903F01-53EF-4A32-AAE1-C496695A6AD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297859" y="4568238"/>
            <a:ext cx="744560" cy="1614161"/>
          </a:xfrm>
          <a:prstGeom prst="rect">
            <a:avLst/>
          </a:prstGeom>
        </p:spPr>
      </p:pic>
    </p:spTree>
    <p:extLst>
      <p:ext uri="{BB962C8B-B14F-4D97-AF65-F5344CB8AC3E}">
        <p14:creationId xmlns:p14="http://schemas.microsoft.com/office/powerpoint/2010/main" val="2082173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9CB18-F219-4E87-8E1A-E3D673947FD9}"/>
            </a:ext>
          </a:extLst>
        </p:cNvPr>
        <p:cNvGrpSpPr/>
        <p:nvPr/>
      </p:nvGrpSpPr>
      <p:grpSpPr>
        <a:xfrm>
          <a:off x="0" y="0"/>
          <a:ext cx="0" cy="0"/>
          <a:chOff x="0" y="0"/>
          <a:chExt cx="0" cy="0"/>
        </a:xfrm>
      </p:grpSpPr>
      <p:pic>
        <p:nvPicPr>
          <p:cNvPr id="6" name="Imagem 5">
            <a:extLst>
              <a:ext uri="{FF2B5EF4-FFF2-40B4-BE49-F238E27FC236}">
                <a16:creationId xmlns:a16="http://schemas.microsoft.com/office/drawing/2014/main" id="{97FB5672-3BC5-4BC0-9E00-2B73EC83517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85561" y="4496442"/>
            <a:ext cx="1219854" cy="1964880"/>
          </a:xfrm>
          <a:prstGeom prst="rect">
            <a:avLst/>
          </a:prstGeom>
        </p:spPr>
      </p:pic>
      <p:pic>
        <p:nvPicPr>
          <p:cNvPr id="51" name="Imagem 50">
            <a:extLst>
              <a:ext uri="{FF2B5EF4-FFF2-40B4-BE49-F238E27FC236}">
                <a16:creationId xmlns:a16="http://schemas.microsoft.com/office/drawing/2014/main" id="{7698E714-221E-4650-8B85-D5C13B15FDD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8704644" y="2752218"/>
            <a:ext cx="3094508" cy="1155735"/>
          </a:xfrm>
          <a:prstGeom prst="rect">
            <a:avLst/>
          </a:prstGeom>
        </p:spPr>
      </p:pic>
      <p:pic>
        <p:nvPicPr>
          <p:cNvPr id="20" name="Imagem 19">
            <a:extLst>
              <a:ext uri="{FF2B5EF4-FFF2-40B4-BE49-F238E27FC236}">
                <a16:creationId xmlns:a16="http://schemas.microsoft.com/office/drawing/2014/main" id="{26CDB2EE-4944-4BC8-A81F-815B6BE00158}"/>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5288190" y="2760751"/>
            <a:ext cx="3135738" cy="1162053"/>
          </a:xfrm>
          <a:prstGeom prst="rect">
            <a:avLst/>
          </a:prstGeom>
        </p:spPr>
      </p:pic>
      <p:sp>
        <p:nvSpPr>
          <p:cNvPr id="38" name="Retângulo 37">
            <a:extLst>
              <a:ext uri="{FF2B5EF4-FFF2-40B4-BE49-F238E27FC236}">
                <a16:creationId xmlns:a16="http://schemas.microsoft.com/office/drawing/2014/main" id="{D7175C55-0617-44FA-ACC2-FBDE362B7A60}"/>
              </a:ext>
            </a:extLst>
          </p:cNvPr>
          <p:cNvSpPr/>
          <p:nvPr/>
        </p:nvSpPr>
        <p:spPr>
          <a:xfrm>
            <a:off x="274613" y="4219583"/>
            <a:ext cx="3648993" cy="2484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Retângulo 40">
            <a:extLst>
              <a:ext uri="{FF2B5EF4-FFF2-40B4-BE49-F238E27FC236}">
                <a16:creationId xmlns:a16="http://schemas.microsoft.com/office/drawing/2014/main" id="{D4B1321F-7F58-4E2D-9CC9-BF4F7D84DD03}"/>
              </a:ext>
            </a:extLst>
          </p:cNvPr>
          <p:cNvSpPr/>
          <p:nvPr/>
        </p:nvSpPr>
        <p:spPr>
          <a:xfrm>
            <a:off x="4083620" y="4219584"/>
            <a:ext cx="4006237" cy="2484234"/>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CaixaDeTexto 38">
            <a:extLst>
              <a:ext uri="{FF2B5EF4-FFF2-40B4-BE49-F238E27FC236}">
                <a16:creationId xmlns:a16="http://schemas.microsoft.com/office/drawing/2014/main" id="{2AD55F3B-9EC8-4611-99F8-7708C7E9799C}"/>
              </a:ext>
            </a:extLst>
          </p:cNvPr>
          <p:cNvSpPr txBox="1"/>
          <p:nvPr/>
        </p:nvSpPr>
        <p:spPr>
          <a:xfrm>
            <a:off x="425427" y="4108404"/>
            <a:ext cx="1187840" cy="307777"/>
          </a:xfrm>
          <a:prstGeom prst="rect">
            <a:avLst/>
          </a:prstGeom>
          <a:solidFill>
            <a:schemeClr val="bg1"/>
          </a:solidFill>
        </p:spPr>
        <p:txBody>
          <a:bodyPr wrap="square" tIns="18000" bIns="0" rtlCol="0">
            <a:noAutofit/>
          </a:bodyPr>
          <a:lstStyle>
            <a:defPPr>
              <a:defRPr lang="de-DE"/>
            </a:defPPr>
            <a:lvl1pPr marR="0" lvl="0" indent="0" fontAlgn="auto">
              <a:lnSpc>
                <a:spcPct val="100000"/>
              </a:lnSpc>
              <a:spcBef>
                <a:spcPts val="0"/>
              </a:spcBef>
              <a:spcAft>
                <a:spcPts val="0"/>
              </a:spcAft>
              <a:buClrTx/>
              <a:buSzTx/>
              <a:buFontTx/>
              <a:buNone/>
              <a:tabLst/>
              <a:defRPr kumimoji="0" sz="1400" b="1" i="0" u="none" strike="noStrike" kern="0" cap="none" spc="0" normalizeH="0" baseline="0">
                <a:ln>
                  <a:noFill/>
                </a:ln>
                <a:solidFill>
                  <a:srgbClr val="002060"/>
                </a:solidFill>
                <a:effectLst/>
                <a:uLnTx/>
                <a:uFillTx/>
                <a:latin typeface="Samsung Sharp Sans Bold" panose="02000503000000020004"/>
              </a:defRPr>
            </a:lvl1pPr>
          </a:lstStyle>
          <a:p>
            <a:r>
              <a:rPr lang="en-US"/>
              <a:t>Channels</a:t>
            </a:r>
          </a:p>
        </p:txBody>
      </p:sp>
      <p:sp>
        <p:nvSpPr>
          <p:cNvPr id="17" name="CaixaDeTexto 16">
            <a:extLst>
              <a:ext uri="{FF2B5EF4-FFF2-40B4-BE49-F238E27FC236}">
                <a16:creationId xmlns:a16="http://schemas.microsoft.com/office/drawing/2014/main" id="{1599E762-144E-494D-BD91-907DFA8668D4}"/>
              </a:ext>
            </a:extLst>
          </p:cNvPr>
          <p:cNvSpPr txBox="1"/>
          <p:nvPr/>
        </p:nvSpPr>
        <p:spPr>
          <a:xfrm>
            <a:off x="4227530" y="4108404"/>
            <a:ext cx="1205127" cy="307777"/>
          </a:xfrm>
          <a:prstGeom prst="rect">
            <a:avLst/>
          </a:prstGeom>
          <a:solidFill>
            <a:schemeClr val="bg1"/>
          </a:solidFill>
        </p:spPr>
        <p:txBody>
          <a:bodyPr wrap="square" tIns="18000" bIns="0" rtlCol="0">
            <a:noAutofit/>
          </a:bodyPr>
          <a:lstStyle>
            <a:defPPr>
              <a:defRPr lang="de-DE"/>
            </a:defPPr>
            <a:lvl1pPr marR="0" lvl="0" indent="0" fontAlgn="auto">
              <a:lnSpc>
                <a:spcPct val="100000"/>
              </a:lnSpc>
              <a:spcBef>
                <a:spcPts val="0"/>
              </a:spcBef>
              <a:spcAft>
                <a:spcPts val="0"/>
              </a:spcAft>
              <a:buClrTx/>
              <a:buSzTx/>
              <a:buFontTx/>
              <a:buNone/>
              <a:tabLst/>
              <a:defRPr kumimoji="0" sz="1400" b="1" i="0" u="none" strike="noStrike" kern="0" cap="none" spc="0" normalizeH="0" baseline="0">
                <a:ln>
                  <a:noFill/>
                </a:ln>
                <a:solidFill>
                  <a:srgbClr val="002060"/>
                </a:solidFill>
                <a:effectLst/>
                <a:uLnTx/>
                <a:uFillTx/>
                <a:latin typeface="Samsung Sharp Sans Bold" panose="02000503000000020004"/>
              </a:defRPr>
            </a:lvl1pPr>
          </a:lstStyle>
          <a:p>
            <a:r>
              <a:rPr lang="en-US"/>
              <a:t>Top Assets</a:t>
            </a:r>
          </a:p>
        </p:txBody>
      </p:sp>
      <p:sp>
        <p:nvSpPr>
          <p:cNvPr id="7" name="Retângulo 6">
            <a:extLst>
              <a:ext uri="{FF2B5EF4-FFF2-40B4-BE49-F238E27FC236}">
                <a16:creationId xmlns:a16="http://schemas.microsoft.com/office/drawing/2014/main" id="{4FE8EBBF-6CD9-4874-9912-D6A2C55BFCB3}"/>
              </a:ext>
            </a:extLst>
          </p:cNvPr>
          <p:cNvSpPr/>
          <p:nvPr/>
        </p:nvSpPr>
        <p:spPr>
          <a:xfrm>
            <a:off x="274613" y="916744"/>
            <a:ext cx="11644677" cy="1065143"/>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CaixaDeTexto 8">
            <a:extLst>
              <a:ext uri="{FF2B5EF4-FFF2-40B4-BE49-F238E27FC236}">
                <a16:creationId xmlns:a16="http://schemas.microsoft.com/office/drawing/2014/main" id="{AC1FFC61-826C-4B77-94F0-DCE09D1889EC}"/>
              </a:ext>
            </a:extLst>
          </p:cNvPr>
          <p:cNvSpPr txBox="1"/>
          <p:nvPr/>
        </p:nvSpPr>
        <p:spPr>
          <a:xfrm>
            <a:off x="353128" y="789232"/>
            <a:ext cx="1394658" cy="307777"/>
          </a:xfrm>
          <a:prstGeom prst="rect">
            <a:avLst/>
          </a:prstGeom>
          <a:solidFill>
            <a:schemeClr val="bg1"/>
          </a:solidFill>
        </p:spPr>
        <p:txBody>
          <a:bodyPr wrap="square" tIns="18000" bIns="0" rtlCol="0">
            <a:noAutofit/>
          </a:bodyPr>
          <a:lstStyle>
            <a:defPPr>
              <a:defRPr lang="de-DE"/>
            </a:defPPr>
            <a:lvl1pPr marR="0" lvl="0" indent="0" fontAlgn="auto">
              <a:lnSpc>
                <a:spcPct val="100000"/>
              </a:lnSpc>
              <a:spcBef>
                <a:spcPts val="0"/>
              </a:spcBef>
              <a:spcAft>
                <a:spcPts val="0"/>
              </a:spcAft>
              <a:buClrTx/>
              <a:buSzTx/>
              <a:buFontTx/>
              <a:buNone/>
              <a:tabLst/>
              <a:defRPr kumimoji="0" sz="1400" b="1" i="0" u="none" strike="noStrike" kern="0" cap="none" spc="0" normalizeH="0" baseline="0">
                <a:ln>
                  <a:noFill/>
                </a:ln>
                <a:solidFill>
                  <a:srgbClr val="002060"/>
                </a:solidFill>
                <a:effectLst/>
                <a:uLnTx/>
                <a:uFillTx/>
                <a:latin typeface="Samsung Sharp Sans Bold" panose="02000503000000020004"/>
              </a:defRPr>
            </a:lvl1pPr>
          </a:lstStyle>
          <a:p>
            <a:r>
              <a:rPr lang="en-US"/>
              <a:t>Big Numbers</a:t>
            </a:r>
          </a:p>
        </p:txBody>
      </p:sp>
      <p:sp>
        <p:nvSpPr>
          <p:cNvPr id="11" name="CaixaDeTexto 10">
            <a:extLst>
              <a:ext uri="{FF2B5EF4-FFF2-40B4-BE49-F238E27FC236}">
                <a16:creationId xmlns:a16="http://schemas.microsoft.com/office/drawing/2014/main" id="{8AECF4CC-065C-46DB-BD0F-E0E658CBDAC7}"/>
              </a:ext>
            </a:extLst>
          </p:cNvPr>
          <p:cNvSpPr txBox="1"/>
          <p:nvPr/>
        </p:nvSpPr>
        <p:spPr>
          <a:xfrm>
            <a:off x="385561" y="2282232"/>
            <a:ext cx="4526544" cy="400110"/>
          </a:xfrm>
          <a:prstGeom prst="rect">
            <a:avLst/>
          </a:prstGeom>
          <a:noFill/>
        </p:spPr>
        <p:txBody>
          <a:bodyPr wrap="square" rtlCol="0">
            <a:spAutoFit/>
          </a:bodyPr>
          <a:lstStyle>
            <a:defPPr>
              <a:defRPr lang="de-DE"/>
            </a:defPPr>
            <a:lvl1pPr marR="0" lvl="0" indent="0" fontAlgn="auto">
              <a:lnSpc>
                <a:spcPct val="100000"/>
              </a:lnSpc>
              <a:spcBef>
                <a:spcPts val="0"/>
              </a:spcBef>
              <a:spcAft>
                <a:spcPts val="0"/>
              </a:spcAft>
              <a:buClrTx/>
              <a:buSzTx/>
              <a:buFontTx/>
              <a:buNone/>
              <a:tabLst/>
              <a:defRPr kumimoji="0" sz="1100" b="0" i="0" u="none" strike="noStrike" cap="none" spc="0" normalizeH="0" baseline="0">
                <a:ln>
                  <a:noFill/>
                </a:ln>
                <a:solidFill>
                  <a:prstClr val="black"/>
                </a:solidFill>
                <a:effectLst/>
                <a:uLnTx/>
                <a:uFillTx/>
                <a:latin typeface="Roboto" panose="02000000000000000000" pitchFamily="2" charset="0"/>
                <a:ea typeface="Roboto" panose="02000000000000000000" pitchFamily="2" charset="0"/>
              </a:defRPr>
            </a:lvl1pPr>
          </a:lstStyle>
          <a:p>
            <a:pPr marL="171450" indent="-171450">
              <a:buFont typeface="Arial" panose="020B0604020202020204" pitchFamily="34" charset="0"/>
              <a:buChar char="•"/>
            </a:pPr>
            <a:r>
              <a:rPr lang="en-US" sz="1000" b="1"/>
              <a:t>TV:</a:t>
            </a:r>
            <a:r>
              <a:rPr lang="en-US" sz="1000"/>
              <a:t> core category at </a:t>
            </a:r>
            <a:r>
              <a:rPr lang="en-US" sz="1000" b="1"/>
              <a:t>R$985,4K, 89% of VD revenue</a:t>
            </a:r>
            <a:r>
              <a:rPr lang="en-US" sz="1000"/>
              <a:t>, with </a:t>
            </a:r>
            <a:r>
              <a:rPr lang="en-US" sz="1000" b="1"/>
              <a:t>1.80 G/R</a:t>
            </a:r>
            <a:r>
              <a:rPr lang="en-US" sz="1000"/>
              <a:t>.</a:t>
            </a:r>
          </a:p>
          <a:p>
            <a:pPr marL="171450" indent="-171450">
              <a:buFont typeface="Arial" panose="020B0604020202020204" pitchFamily="34" charset="0"/>
              <a:buChar char="•"/>
            </a:pPr>
            <a:r>
              <a:rPr lang="en-US" sz="1000" b="1"/>
              <a:t>Monitor </a:t>
            </a:r>
            <a:r>
              <a:rPr lang="en-US" sz="1000"/>
              <a:t>deliveries higher G/R, 1.95, in the past month</a:t>
            </a:r>
            <a:r>
              <a:rPr lang="en-US" sz="1000" b="1"/>
              <a:t>.</a:t>
            </a:r>
            <a:endParaRPr lang="en-US" sz="1000"/>
          </a:p>
        </p:txBody>
      </p:sp>
      <p:sp>
        <p:nvSpPr>
          <p:cNvPr id="12" name="CaixaDeTexto 11">
            <a:extLst>
              <a:ext uri="{FF2B5EF4-FFF2-40B4-BE49-F238E27FC236}">
                <a16:creationId xmlns:a16="http://schemas.microsoft.com/office/drawing/2014/main" id="{90AB7E3D-DAE8-439D-94E6-D03F51BE285C}"/>
              </a:ext>
            </a:extLst>
          </p:cNvPr>
          <p:cNvSpPr txBox="1"/>
          <p:nvPr/>
        </p:nvSpPr>
        <p:spPr>
          <a:xfrm>
            <a:off x="274612" y="526008"/>
            <a:ext cx="11764987"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VD reached R$</a:t>
            </a:r>
            <a:r>
              <a:rPr lang="en-US" sz="1100" b="1">
                <a:solidFill>
                  <a:prstClr val="black"/>
                </a:solidFill>
                <a:latin typeface="Calibri" panose="020F0502020204030204"/>
              </a:rPr>
              <a:t>1,1M</a:t>
            </a: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 and 1.64 G/R, </a:t>
            </a:r>
            <a:r>
              <a:rPr lang="en-US" sz="1100" b="1">
                <a:solidFill>
                  <a:prstClr val="black"/>
                </a:solidFill>
                <a:latin typeface="Calibri" panose="020F0502020204030204"/>
              </a:rPr>
              <a:t>Mini LED </a:t>
            </a:r>
            <a:r>
              <a:rPr lang="en-US" sz="1100">
                <a:solidFill>
                  <a:prstClr val="black"/>
                </a:solidFill>
                <a:latin typeface="Calibri" panose="020F0502020204030204"/>
              </a:rPr>
              <a:t>appeared on #1 on TV and BU needs more diversification of channels and products</a:t>
            </a:r>
            <a:r>
              <a:rPr kumimoji="0" lang="en-US" sz="110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pt-BR" sz="11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p:txBody>
      </p:sp>
      <p:sp>
        <p:nvSpPr>
          <p:cNvPr id="33" name="Retângulo 32">
            <a:extLst>
              <a:ext uri="{FF2B5EF4-FFF2-40B4-BE49-F238E27FC236}">
                <a16:creationId xmlns:a16="http://schemas.microsoft.com/office/drawing/2014/main" id="{63DD639D-D419-4B27-B0B2-4BE7B14ACD68}"/>
              </a:ext>
            </a:extLst>
          </p:cNvPr>
          <p:cNvSpPr/>
          <p:nvPr/>
        </p:nvSpPr>
        <p:spPr>
          <a:xfrm>
            <a:off x="8753307" y="2594196"/>
            <a:ext cx="588952" cy="11906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prstClr val="black"/>
                </a:solidFill>
                <a:effectLst/>
                <a:uLnTx/>
                <a:uFillTx/>
                <a:latin typeface="Calibri" panose="020F0502020204030204"/>
                <a:ea typeface="+mn-ea"/>
                <a:cs typeface="+mn-cs"/>
              </a:rPr>
              <a:t>2026:</a:t>
            </a:r>
            <a:endParaRPr kumimoji="0" lang="pt-BR" sz="7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Retângulo 33">
            <a:extLst>
              <a:ext uri="{FF2B5EF4-FFF2-40B4-BE49-F238E27FC236}">
                <a16:creationId xmlns:a16="http://schemas.microsoft.com/office/drawing/2014/main" id="{B2E63628-7CFB-4977-AD85-A416C0BBD6F0}"/>
              </a:ext>
            </a:extLst>
          </p:cNvPr>
          <p:cNvSpPr/>
          <p:nvPr/>
        </p:nvSpPr>
        <p:spPr>
          <a:xfrm>
            <a:off x="5352099" y="2594196"/>
            <a:ext cx="588952" cy="11906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prstClr val="black"/>
                </a:solidFill>
                <a:effectLst/>
                <a:uLnTx/>
                <a:uFillTx/>
                <a:latin typeface="Calibri" panose="020F0502020204030204"/>
                <a:ea typeface="+mn-ea"/>
                <a:cs typeface="+mn-cs"/>
              </a:rPr>
              <a:t>2025:</a:t>
            </a:r>
            <a:endParaRPr kumimoji="0" lang="pt-BR" sz="7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riângulo isósceles 41">
            <a:extLst>
              <a:ext uri="{FF2B5EF4-FFF2-40B4-BE49-F238E27FC236}">
                <a16:creationId xmlns:a16="http://schemas.microsoft.com/office/drawing/2014/main" id="{15EAE065-AAFD-45B7-8F76-C6D738FD9A7C}"/>
              </a:ext>
            </a:extLst>
          </p:cNvPr>
          <p:cNvSpPr/>
          <p:nvPr/>
        </p:nvSpPr>
        <p:spPr>
          <a:xfrm rot="5400000">
            <a:off x="8366934" y="3278854"/>
            <a:ext cx="362211" cy="206648"/>
          </a:xfrm>
          <a:prstGeom prst="triangle">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AutoShape 2" descr="Resultado de imagem para Imagens Do Simbolo De Atenção">
            <a:extLst>
              <a:ext uri="{FF2B5EF4-FFF2-40B4-BE49-F238E27FC236}">
                <a16:creationId xmlns:a16="http://schemas.microsoft.com/office/drawing/2014/main" id="{E663F2B9-C773-4414-AC52-F7A1D0B2C189}"/>
              </a:ext>
            </a:extLst>
          </p:cNvPr>
          <p:cNvSpPr>
            <a:spLocks noChangeAspect="1" noChangeArrowheads="1"/>
          </p:cNvSpPr>
          <p:nvPr/>
        </p:nvSpPr>
        <p:spPr bwMode="auto">
          <a:xfrm>
            <a:off x="5195888" y="2433638"/>
            <a:ext cx="1857375" cy="18573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Retângulo 69">
            <a:extLst>
              <a:ext uri="{FF2B5EF4-FFF2-40B4-BE49-F238E27FC236}">
                <a16:creationId xmlns:a16="http://schemas.microsoft.com/office/drawing/2014/main" id="{BB8C171B-EA56-4211-AC9C-86F25E8F32A0}"/>
              </a:ext>
            </a:extLst>
          </p:cNvPr>
          <p:cNvSpPr/>
          <p:nvPr/>
        </p:nvSpPr>
        <p:spPr>
          <a:xfrm>
            <a:off x="5288189" y="2910876"/>
            <a:ext cx="3094508" cy="208910"/>
          </a:xfrm>
          <a:prstGeom prst="rect">
            <a:avLst/>
          </a:prstGeom>
          <a:noFill/>
          <a:ln w="28575">
            <a:solidFill>
              <a:srgbClr val="41A4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1" name="Retângulo 70">
            <a:extLst>
              <a:ext uri="{FF2B5EF4-FFF2-40B4-BE49-F238E27FC236}">
                <a16:creationId xmlns:a16="http://schemas.microsoft.com/office/drawing/2014/main" id="{BA17F88A-EF7D-4FB3-99ED-76F970CDA357}"/>
              </a:ext>
            </a:extLst>
          </p:cNvPr>
          <p:cNvSpPr/>
          <p:nvPr/>
        </p:nvSpPr>
        <p:spPr>
          <a:xfrm>
            <a:off x="8697067" y="2880128"/>
            <a:ext cx="3128749" cy="209782"/>
          </a:xfrm>
          <a:prstGeom prst="rect">
            <a:avLst/>
          </a:prstGeom>
          <a:noFill/>
          <a:ln w="28575">
            <a:solidFill>
              <a:srgbClr val="41A4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01" name="CaixaDeTexto 100">
            <a:extLst>
              <a:ext uri="{FF2B5EF4-FFF2-40B4-BE49-F238E27FC236}">
                <a16:creationId xmlns:a16="http://schemas.microsoft.com/office/drawing/2014/main" id="{D0F1935B-BFA1-4AFD-86C5-56F0C39192AE}"/>
              </a:ext>
            </a:extLst>
          </p:cNvPr>
          <p:cNvSpPr txBox="1"/>
          <p:nvPr/>
        </p:nvSpPr>
        <p:spPr>
          <a:xfrm>
            <a:off x="5284252" y="2191241"/>
            <a:ext cx="6522187" cy="400110"/>
          </a:xfrm>
          <a:prstGeom prst="rect">
            <a:avLst/>
          </a:prstGeom>
          <a:noFill/>
        </p:spPr>
        <p:txBody>
          <a:bodyPr wrap="square" rtlCol="0">
            <a:spAutoFit/>
          </a:bodyPr>
          <a:lstStyle/>
          <a:p>
            <a:r>
              <a:rPr lang="en-US" sz="1000">
                <a:latin typeface="Roboto" panose="02000000000000000000" pitchFamily="2" charset="0"/>
                <a:ea typeface="Roboto" panose="02000000000000000000" pitchFamily="2" charset="0"/>
              </a:rPr>
              <a:t>• </a:t>
            </a:r>
            <a:r>
              <a:rPr lang="en-US" sz="1000" b="1">
                <a:latin typeface="Roboto" panose="02000000000000000000" pitchFamily="2" charset="0"/>
                <a:ea typeface="Roboto" panose="02000000000000000000" pitchFamily="2" charset="0"/>
              </a:rPr>
              <a:t>Mini LED</a:t>
            </a:r>
            <a:r>
              <a:rPr lang="en-US" sz="1000">
                <a:latin typeface="Roboto" panose="02000000000000000000" pitchFamily="2" charset="0"/>
                <a:ea typeface="Roboto" panose="02000000000000000000" pitchFamily="2" charset="0"/>
              </a:rPr>
              <a:t>:  #1 family at </a:t>
            </a:r>
            <a:r>
              <a:rPr lang="en-US" sz="1000" b="1">
                <a:latin typeface="Roboto" panose="02000000000000000000" pitchFamily="2" charset="0"/>
                <a:ea typeface="Roboto" panose="02000000000000000000" pitchFamily="2" charset="0"/>
              </a:rPr>
              <a:t>R$310K</a:t>
            </a:r>
            <a:r>
              <a:rPr lang="en-US" sz="1000">
                <a:latin typeface="Roboto" panose="02000000000000000000" pitchFamily="2" charset="0"/>
                <a:ea typeface="Roboto" panose="02000000000000000000" pitchFamily="2" charset="0"/>
              </a:rPr>
              <a:t>, taking the lead in VD revenue.</a:t>
            </a:r>
          </a:p>
          <a:p>
            <a:r>
              <a:rPr lang="en-US" sz="1000">
                <a:latin typeface="Roboto" panose="02000000000000000000" pitchFamily="2" charset="0"/>
                <a:ea typeface="Roboto" panose="02000000000000000000" pitchFamily="2" charset="0"/>
              </a:rPr>
              <a:t>• </a:t>
            </a:r>
            <a:r>
              <a:rPr lang="en-US" sz="1000" b="1">
                <a:latin typeface="Roboto" panose="02000000000000000000" pitchFamily="2" charset="0"/>
                <a:ea typeface="Roboto" panose="02000000000000000000" pitchFamily="2" charset="0"/>
              </a:rPr>
              <a:t>QLED</a:t>
            </a:r>
            <a:r>
              <a:rPr lang="en-US" sz="1000">
                <a:latin typeface="Roboto" panose="02000000000000000000" pitchFamily="2" charset="0"/>
                <a:ea typeface="Roboto" panose="02000000000000000000" pitchFamily="2" charset="0"/>
              </a:rPr>
              <a:t> remained relevant at </a:t>
            </a:r>
            <a:r>
              <a:rPr lang="en-US" sz="1000" b="1">
                <a:latin typeface="Roboto" panose="02000000000000000000" pitchFamily="2" charset="0"/>
                <a:ea typeface="Roboto" panose="02000000000000000000" pitchFamily="2" charset="0"/>
              </a:rPr>
              <a:t>R$205K</a:t>
            </a:r>
            <a:r>
              <a:rPr lang="en-US" sz="1000">
                <a:latin typeface="Roboto" panose="02000000000000000000" pitchFamily="2" charset="0"/>
                <a:ea typeface="Roboto" panose="02000000000000000000" pitchFamily="2" charset="0"/>
              </a:rPr>
              <a:t>, followed by Crystal UHD, but presents volatile performance last month.</a:t>
            </a:r>
          </a:p>
        </p:txBody>
      </p:sp>
      <p:sp>
        <p:nvSpPr>
          <p:cNvPr id="102" name="CaixaDeTexto 101">
            <a:extLst>
              <a:ext uri="{FF2B5EF4-FFF2-40B4-BE49-F238E27FC236}">
                <a16:creationId xmlns:a16="http://schemas.microsoft.com/office/drawing/2014/main" id="{A39D4612-4F9D-441F-B000-1DFECDA04CA9}"/>
              </a:ext>
            </a:extLst>
          </p:cNvPr>
          <p:cNvSpPr txBox="1"/>
          <p:nvPr/>
        </p:nvSpPr>
        <p:spPr>
          <a:xfrm>
            <a:off x="1681255" y="4377911"/>
            <a:ext cx="2190468" cy="1477328"/>
          </a:xfrm>
          <a:prstGeom prst="rect">
            <a:avLst/>
          </a:prstGeom>
          <a:noFill/>
        </p:spPr>
        <p:txBody>
          <a:bodyPr wrap="square" rtlCol="0">
            <a:spAutoFit/>
          </a:bodyPr>
          <a:lstStyle/>
          <a:p>
            <a:pPr marL="171450" indent="-171450">
              <a:spcBef>
                <a:spcPts val="600"/>
              </a:spcBef>
              <a:buFont typeface="Arial" panose="020B0604020202020204" pitchFamily="34" charset="0"/>
              <a:buChar char="•"/>
            </a:pPr>
            <a:r>
              <a:rPr lang="en-US" sz="1000" b="1">
                <a:latin typeface="Roboto" panose="02000000000000000000" pitchFamily="2" charset="0"/>
                <a:ea typeface="Roboto" panose="02000000000000000000" pitchFamily="2" charset="0"/>
              </a:rPr>
              <a:t>Email:</a:t>
            </a:r>
            <a:r>
              <a:rPr lang="en-US" sz="1000">
                <a:latin typeface="Roboto" panose="02000000000000000000" pitchFamily="2" charset="0"/>
                <a:ea typeface="Roboto" panose="02000000000000000000" pitchFamily="2" charset="0"/>
              </a:rPr>
              <a:t> main revenue channel at </a:t>
            </a:r>
            <a:r>
              <a:rPr lang="en-US" sz="1000" b="1">
                <a:latin typeface="Roboto" panose="02000000000000000000" pitchFamily="2" charset="0"/>
                <a:ea typeface="Roboto" panose="02000000000000000000" pitchFamily="2" charset="0"/>
              </a:rPr>
              <a:t>R$854K | 77% share</a:t>
            </a:r>
            <a:r>
              <a:rPr lang="en-US" sz="1000">
                <a:latin typeface="Roboto" panose="02000000000000000000" pitchFamily="2" charset="0"/>
                <a:ea typeface="Roboto" panose="02000000000000000000" pitchFamily="2" charset="0"/>
              </a:rPr>
              <a:t>.</a:t>
            </a:r>
          </a:p>
          <a:p>
            <a:pPr marL="171450" indent="-171450">
              <a:spcBef>
                <a:spcPts val="600"/>
              </a:spcBef>
              <a:buFont typeface="Arial" panose="020B0604020202020204" pitchFamily="34" charset="0"/>
              <a:buChar char="•"/>
            </a:pPr>
            <a:r>
              <a:rPr lang="en-US" sz="1000" b="1">
                <a:latin typeface="Roboto" panose="02000000000000000000" pitchFamily="2" charset="0"/>
                <a:ea typeface="Roboto" panose="02000000000000000000" pitchFamily="2" charset="0"/>
              </a:rPr>
              <a:t>App Push:</a:t>
            </a:r>
            <a:r>
              <a:rPr lang="en-US" sz="1000">
                <a:latin typeface="Roboto" panose="02000000000000000000" pitchFamily="2" charset="0"/>
                <a:ea typeface="Roboto" panose="02000000000000000000" pitchFamily="2" charset="0"/>
              </a:rPr>
              <a:t> contributed </a:t>
            </a:r>
            <a:r>
              <a:rPr lang="en-US" sz="1000" b="1">
                <a:latin typeface="Roboto" panose="02000000000000000000" pitchFamily="2" charset="0"/>
                <a:ea typeface="Roboto" panose="02000000000000000000" pitchFamily="2" charset="0"/>
              </a:rPr>
              <a:t>R$123K | 11%</a:t>
            </a:r>
            <a:r>
              <a:rPr lang="en-US" sz="1000">
                <a:latin typeface="Roboto" panose="02000000000000000000" pitchFamily="2" charset="0"/>
                <a:ea typeface="Roboto" panose="02000000000000000000" pitchFamily="2" charset="0"/>
              </a:rPr>
              <a:t>, remaining the second-largest channel.</a:t>
            </a:r>
          </a:p>
          <a:p>
            <a:pPr marL="171450" indent="-171450">
              <a:spcBef>
                <a:spcPts val="600"/>
              </a:spcBef>
              <a:buFont typeface="Arial" panose="020B0604020202020204" pitchFamily="34" charset="0"/>
              <a:buChar char="•"/>
            </a:pPr>
            <a:r>
              <a:rPr lang="en-US" sz="1000" b="1">
                <a:latin typeface="Roboto" panose="02000000000000000000" pitchFamily="2" charset="0"/>
                <a:ea typeface="Roboto" panose="02000000000000000000" pitchFamily="2" charset="0"/>
              </a:rPr>
              <a:t>Web Push:</a:t>
            </a:r>
            <a:r>
              <a:rPr lang="en-US" sz="1000">
                <a:latin typeface="Roboto" panose="02000000000000000000" pitchFamily="2" charset="0"/>
                <a:ea typeface="Roboto" panose="02000000000000000000" pitchFamily="2" charset="0"/>
              </a:rPr>
              <a:t> generated </a:t>
            </a:r>
            <a:r>
              <a:rPr lang="en-US" sz="1000" b="1">
                <a:latin typeface="Roboto" panose="02000000000000000000" pitchFamily="2" charset="0"/>
                <a:ea typeface="Roboto" panose="02000000000000000000" pitchFamily="2" charset="0"/>
              </a:rPr>
              <a:t>R$79K | 5%</a:t>
            </a:r>
            <a:r>
              <a:rPr lang="en-US" sz="1000">
                <a:latin typeface="Roboto" panose="02000000000000000000" pitchFamily="2" charset="0"/>
                <a:ea typeface="Roboto" panose="02000000000000000000" pitchFamily="2" charset="0"/>
              </a:rPr>
              <a:t>, with WhatsApp and Push Device residual.</a:t>
            </a:r>
          </a:p>
        </p:txBody>
      </p:sp>
      <p:sp>
        <p:nvSpPr>
          <p:cNvPr id="56" name="Título 1">
            <a:extLst>
              <a:ext uri="{FF2B5EF4-FFF2-40B4-BE49-F238E27FC236}">
                <a16:creationId xmlns:a16="http://schemas.microsoft.com/office/drawing/2014/main" id="{9FF35CDA-3E81-4304-9349-A7B11B39F30D}"/>
              </a:ext>
            </a:extLst>
          </p:cNvPr>
          <p:cNvSpPr txBox="1"/>
          <p:nvPr/>
        </p:nvSpPr>
        <p:spPr>
          <a:xfrm>
            <a:off x="197801" y="56163"/>
            <a:ext cx="8453563" cy="483772"/>
          </a:xfrm>
          <a:prstGeom prst="rect">
            <a:avLst/>
          </a:prstGeom>
          <a:noFill/>
          <a:ln cap="flat">
            <a:noFill/>
          </a:ln>
        </p:spPr>
        <p:txBody>
          <a:bodyPr vert="horz" wrap="square" lIns="75730" tIns="37865" rIns="75730" bIns="37865" anchor="ctr" anchorCtr="0" compatLnSpc="1">
            <a:noAutofit/>
          </a:bodyPr>
          <a:lstStyle/>
          <a:p>
            <a:pPr marL="0" marR="0" lvl="0" indent="0" algn="l" defTabSz="914400" rtl="0" eaLnBrk="1" fontAlgn="auto" latinLnBrk="0" hangingPunct="1">
              <a:lnSpc>
                <a:spcPct val="90000"/>
              </a:lnSpc>
              <a:spcBef>
                <a:spcPts val="0"/>
              </a:spcBef>
              <a:spcAft>
                <a:spcPts val="0"/>
              </a:spcAft>
              <a:buClrTx/>
              <a:buSzTx/>
              <a:buFontTx/>
              <a:buNone/>
              <a:tabLst/>
              <a:defRPr sz="1800" b="0" i="0" u="none" strike="noStrike" kern="0" cap="none" spc="0" baseline="0">
                <a:solidFill>
                  <a:srgbClr val="000000"/>
                </a:solidFill>
                <a:uFillTx/>
              </a:defRPr>
            </a:pPr>
            <a:r>
              <a:rPr kumimoji="0" lang="en-GB" sz="2000" b="1" i="0" u="none" strike="noStrike" kern="0" cap="none" spc="0" normalizeH="0" baseline="0" noProof="0">
                <a:ln>
                  <a:noFill/>
                </a:ln>
                <a:solidFill>
                  <a:srgbClr val="000000"/>
                </a:solidFill>
                <a:effectLst/>
                <a:uLnTx/>
                <a:uFillTx/>
                <a:latin typeface="Roboto"/>
                <a:ea typeface="Roboto"/>
                <a:cs typeface="Samsung Sharp Sans Bold" pitchFamily="2"/>
              </a:rPr>
              <a:t>CRM </a:t>
            </a:r>
            <a:r>
              <a:rPr kumimoji="0" lang="en-GB" sz="2000" b="1" i="0" u="none" strike="noStrike" kern="1200" cap="none" spc="0" normalizeH="0" baseline="0" noProof="0">
                <a:ln>
                  <a:noFill/>
                </a:ln>
                <a:solidFill>
                  <a:srgbClr val="000000"/>
                </a:solidFill>
                <a:effectLst/>
                <a:uLnTx/>
                <a:uFillTx/>
                <a:latin typeface="Roboto"/>
                <a:ea typeface="Roboto"/>
                <a:cs typeface="Samsung Sharp Sans Bold" pitchFamily="2"/>
              </a:rPr>
              <a:t>| </a:t>
            </a:r>
            <a:r>
              <a:rPr kumimoji="0" lang="en-GB" sz="2000" b="1" i="0" u="none" strike="noStrike" kern="0" cap="none" spc="0" normalizeH="0" baseline="0" noProof="0">
                <a:ln>
                  <a:noFill/>
                </a:ln>
                <a:solidFill>
                  <a:srgbClr val="1428A0"/>
                </a:solidFill>
                <a:effectLst/>
                <a:uLnTx/>
                <a:uFillTx/>
                <a:latin typeface="Roboto"/>
                <a:ea typeface="Roboto"/>
                <a:cs typeface="Samsung Sharp Sans Bold" pitchFamily="2"/>
              </a:rPr>
              <a:t>VD – </a:t>
            </a:r>
            <a:r>
              <a:rPr lang="en-GB" sz="2000" b="1" kern="0">
                <a:solidFill>
                  <a:srgbClr val="1428A0"/>
                </a:solidFill>
                <a:latin typeface="Roboto"/>
                <a:ea typeface="Roboto"/>
                <a:cs typeface="Samsung Sharp Sans Bold" pitchFamily="2"/>
              </a:rPr>
              <a:t>Aug</a:t>
            </a:r>
            <a:r>
              <a:rPr kumimoji="0" lang="en-GB" sz="2000" b="1" i="0" u="none" strike="noStrike" kern="0" cap="none" spc="0" normalizeH="0" baseline="0" noProof="0">
                <a:ln>
                  <a:noFill/>
                </a:ln>
                <a:solidFill>
                  <a:srgbClr val="1428A0"/>
                </a:solidFill>
                <a:effectLst/>
                <a:uLnTx/>
                <a:uFillTx/>
                <a:latin typeface="Roboto"/>
                <a:ea typeface="Roboto"/>
                <a:cs typeface="Samsung Sharp Sans Bold" pitchFamily="2"/>
              </a:rPr>
              <a:t>’26 Sales Results</a:t>
            </a:r>
            <a:endParaRPr kumimoji="0" lang="en-GB" sz="2000" b="1" i="0" u="none" strike="noStrike" kern="1200" cap="none" spc="0" normalizeH="0" baseline="0" noProof="0">
              <a:ln>
                <a:noFill/>
              </a:ln>
              <a:solidFill>
                <a:srgbClr val="1428A0"/>
              </a:solidFill>
              <a:effectLst/>
              <a:uLnTx/>
              <a:uFillTx/>
              <a:latin typeface="Roboto"/>
              <a:ea typeface="Roboto"/>
              <a:cs typeface="Samsung Sharp Sans Bold" pitchFamily="2"/>
            </a:endParaRPr>
          </a:p>
        </p:txBody>
      </p:sp>
      <p:sp>
        <p:nvSpPr>
          <p:cNvPr id="65" name="Retângulo 64">
            <a:extLst>
              <a:ext uri="{FF2B5EF4-FFF2-40B4-BE49-F238E27FC236}">
                <a16:creationId xmlns:a16="http://schemas.microsoft.com/office/drawing/2014/main" id="{9EAF44FE-693B-4149-B5FC-E0090B03B2BF}"/>
              </a:ext>
            </a:extLst>
          </p:cNvPr>
          <p:cNvSpPr/>
          <p:nvPr/>
        </p:nvSpPr>
        <p:spPr>
          <a:xfrm>
            <a:off x="8249871" y="4219584"/>
            <a:ext cx="3674393" cy="2484234"/>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CaixaDeTexto 75">
            <a:extLst>
              <a:ext uri="{FF2B5EF4-FFF2-40B4-BE49-F238E27FC236}">
                <a16:creationId xmlns:a16="http://schemas.microsoft.com/office/drawing/2014/main" id="{52B015FB-A2FA-4E04-A533-0A9D2873064D}"/>
              </a:ext>
            </a:extLst>
          </p:cNvPr>
          <p:cNvSpPr txBox="1"/>
          <p:nvPr/>
        </p:nvSpPr>
        <p:spPr>
          <a:xfrm>
            <a:off x="8404072" y="4108404"/>
            <a:ext cx="1849731" cy="307777"/>
          </a:xfrm>
          <a:prstGeom prst="rect">
            <a:avLst/>
          </a:prstGeom>
          <a:solidFill>
            <a:schemeClr val="bg1"/>
          </a:solidFill>
        </p:spPr>
        <p:txBody>
          <a:bodyPr wrap="square" tIns="18000" bIns="0" rtlCol="0">
            <a:noAutofit/>
          </a:bodyPr>
          <a:lstStyle>
            <a:defPPr>
              <a:defRPr lang="de-DE"/>
            </a:defPPr>
            <a:lvl1pPr marR="0" lvl="0" indent="0" fontAlgn="auto">
              <a:lnSpc>
                <a:spcPct val="100000"/>
              </a:lnSpc>
              <a:spcBef>
                <a:spcPts val="0"/>
              </a:spcBef>
              <a:spcAft>
                <a:spcPts val="0"/>
              </a:spcAft>
              <a:buClrTx/>
              <a:buSzTx/>
              <a:buFontTx/>
              <a:buNone/>
              <a:tabLst/>
              <a:defRPr kumimoji="0" sz="1400" b="1" i="0" u="none" strike="noStrike" kern="0" cap="none" spc="0" normalizeH="0" baseline="0">
                <a:ln>
                  <a:noFill/>
                </a:ln>
                <a:solidFill>
                  <a:srgbClr val="002060"/>
                </a:solidFill>
                <a:effectLst/>
                <a:uLnTx/>
                <a:uFillTx/>
                <a:latin typeface="Samsung Sharp Sans Bold" panose="02000503000000020004"/>
              </a:defRPr>
            </a:lvl1pPr>
          </a:lstStyle>
          <a:p>
            <a:r>
              <a:rPr lang="en-US"/>
              <a:t>High &amp; Lowlights</a:t>
            </a:r>
          </a:p>
        </p:txBody>
      </p:sp>
      <p:sp>
        <p:nvSpPr>
          <p:cNvPr id="77" name="CaixaDeTexto 76">
            <a:extLst>
              <a:ext uri="{FF2B5EF4-FFF2-40B4-BE49-F238E27FC236}">
                <a16:creationId xmlns:a16="http://schemas.microsoft.com/office/drawing/2014/main" id="{C68A8AE5-8996-4D81-8344-3E53272C905E}"/>
              </a:ext>
            </a:extLst>
          </p:cNvPr>
          <p:cNvSpPr txBox="1"/>
          <p:nvPr/>
        </p:nvSpPr>
        <p:spPr>
          <a:xfrm>
            <a:off x="8282029" y="4388984"/>
            <a:ext cx="3548352" cy="2139047"/>
          </a:xfrm>
          <a:prstGeom prst="rect">
            <a:avLst/>
          </a:prstGeom>
          <a:noFill/>
        </p:spPr>
        <p:txBody>
          <a:bodyPr wrap="square" rtlCol="0">
            <a:spAutoFit/>
          </a:bodyPr>
          <a:lstStyle/>
          <a:p>
            <a:pPr marR="0" lvl="0" indent="0" fontAlgn="auto">
              <a:lnSpc>
                <a:spcPct val="100000"/>
              </a:lnSpc>
              <a:spcBef>
                <a:spcPts val="600"/>
              </a:spcBef>
              <a:spcAft>
                <a:spcPts val="0"/>
              </a:spcAft>
              <a:buClrTx/>
              <a:buSzTx/>
              <a:buFontTx/>
              <a:buNone/>
              <a:tabLst/>
              <a:defRPr/>
            </a:pPr>
            <a:r>
              <a:rPr lang="en-US" sz="1000" b="1">
                <a:solidFill>
                  <a:srgbClr val="061799"/>
                </a:solidFill>
                <a:latin typeface="Roboto" panose="02000000000000000000" pitchFamily="2" charset="0"/>
                <a:ea typeface="Roboto" panose="02000000000000000000" pitchFamily="2" charset="0"/>
              </a:rPr>
              <a:t>HIGHLIGHTS</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VD reached R$</a:t>
            </a:r>
            <a:r>
              <a:rPr lang="en-US" sz="900">
                <a:solidFill>
                  <a:prstClr val="black"/>
                </a:solidFill>
                <a:latin typeface="Roboto" panose="02000000000000000000" pitchFamily="2" charset="0"/>
                <a:ea typeface="Roboto" panose="02000000000000000000" pitchFamily="2" charset="0"/>
              </a:rPr>
              <a:t>1,10M</a:t>
            </a:r>
            <a:r>
              <a:rPr kumimoji="0" lang="en-US" sz="9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 | 1.64 G/R, </a:t>
            </a:r>
            <a:r>
              <a:rPr lang="en-US" sz="900" b="1">
                <a:solidFill>
                  <a:prstClr val="black"/>
                </a:solidFill>
                <a:latin typeface="Roboto" panose="02000000000000000000" pitchFamily="2" charset="0"/>
                <a:ea typeface="Roboto" panose="02000000000000000000" pitchFamily="2" charset="0"/>
              </a:rPr>
              <a:t>delivered higher growth</a:t>
            </a:r>
            <a:r>
              <a:rPr kumimoji="0" lang="en-US" sz="9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1">
                <a:solidFill>
                  <a:prstClr val="black"/>
                </a:solidFill>
                <a:latin typeface="Roboto" panose="02000000000000000000" pitchFamily="2" charset="0"/>
                <a:ea typeface="Roboto" panose="02000000000000000000" pitchFamily="2" charset="0"/>
              </a:rPr>
              <a:t>Mini LED</a:t>
            </a:r>
            <a:r>
              <a:rPr kumimoji="0" lang="en-US" sz="9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 family </a:t>
            </a:r>
            <a:r>
              <a:rPr lang="en-US" sz="900">
                <a:solidFill>
                  <a:prstClr val="black"/>
                </a:solidFill>
                <a:latin typeface="Roboto" panose="02000000000000000000" pitchFamily="2" charset="0"/>
                <a:ea typeface="Roboto" panose="02000000000000000000" pitchFamily="2" charset="0"/>
              </a:rPr>
              <a:t>led </a:t>
            </a:r>
            <a:r>
              <a:rPr kumimoji="0" lang="en-US" sz="9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revenue at R$</a:t>
            </a:r>
            <a:r>
              <a:rPr lang="en-US" sz="900">
                <a:solidFill>
                  <a:prstClr val="black"/>
                </a:solidFill>
                <a:latin typeface="Roboto" panose="02000000000000000000" pitchFamily="2" charset="0"/>
                <a:ea typeface="Roboto" panose="02000000000000000000" pitchFamily="2" charset="0"/>
              </a:rPr>
              <a:t>310</a:t>
            </a:r>
            <a:r>
              <a:rPr kumimoji="0" lang="en-US" sz="9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K.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err="1">
                <a:solidFill>
                  <a:prstClr val="black"/>
                </a:solidFill>
                <a:latin typeface="Roboto" panose="02000000000000000000" pitchFamily="2" charset="0"/>
                <a:ea typeface="Roboto" panose="02000000000000000000" pitchFamily="2" charset="0"/>
              </a:rPr>
              <a:t>QLed</a:t>
            </a:r>
            <a:r>
              <a:rPr lang="en-US" sz="900">
                <a:solidFill>
                  <a:prstClr val="black"/>
                </a:solidFill>
                <a:latin typeface="Roboto" panose="02000000000000000000" pitchFamily="2" charset="0"/>
                <a:ea typeface="Roboto" panose="02000000000000000000" pitchFamily="2" charset="0"/>
              </a:rPr>
              <a:t> </a:t>
            </a:r>
            <a:r>
              <a:rPr lang="en-US" sz="900" err="1">
                <a:solidFill>
                  <a:prstClr val="black"/>
                </a:solidFill>
                <a:latin typeface="Roboto" panose="02000000000000000000" pitchFamily="2" charset="0"/>
                <a:ea typeface="Roboto" panose="02000000000000000000" pitchFamily="2" charset="0"/>
              </a:rPr>
              <a:t>deliveried</a:t>
            </a:r>
            <a:r>
              <a:rPr lang="en-US" sz="900">
                <a:solidFill>
                  <a:prstClr val="black"/>
                </a:solidFill>
                <a:latin typeface="Roboto" panose="02000000000000000000" pitchFamily="2" charset="0"/>
                <a:ea typeface="Roboto" panose="02000000000000000000" pitchFamily="2" charset="0"/>
              </a:rPr>
              <a:t> R$205K revenue with 2 models, 61 units.</a:t>
            </a:r>
            <a:endParaRPr kumimoji="0" lang="en-US" sz="9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Growth + Triggers represented </a:t>
            </a:r>
            <a:r>
              <a:rPr lang="en-US" sz="900" b="1">
                <a:solidFill>
                  <a:prstClr val="black"/>
                </a:solidFill>
                <a:latin typeface="Roboto" panose="02000000000000000000" pitchFamily="2" charset="0"/>
                <a:ea typeface="Roboto" panose="02000000000000000000" pitchFamily="2" charset="0"/>
              </a:rPr>
              <a:t>97</a:t>
            </a:r>
            <a:r>
              <a:rPr kumimoji="0" lang="en-US" sz="9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 of VD revenue</a:t>
            </a:r>
            <a:r>
              <a:rPr kumimoji="0" lang="en-US" sz="9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 creating a balanced commercial base.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a:solidFill>
                  <a:prstClr val="black"/>
                </a:solidFill>
                <a:latin typeface="Roboto" panose="02000000000000000000" pitchFamily="2" charset="0"/>
                <a:ea typeface="Roboto" panose="02000000000000000000" pitchFamily="2" charset="0"/>
              </a:rPr>
              <a:t>Monitor shows the best G/R 1.95.</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BR" sz="900"/>
              <a:t>Crystal UHD </a:t>
            </a:r>
            <a:r>
              <a:rPr lang="pt-BR" sz="900" err="1"/>
              <a:t>peaking</a:t>
            </a:r>
            <a:r>
              <a:rPr lang="pt-BR" sz="900"/>
              <a:t> +206,6% </a:t>
            </a:r>
            <a:r>
              <a:rPr lang="pt-BR" sz="900" err="1"/>
              <a:t>WoW</a:t>
            </a:r>
            <a:r>
              <a:rPr lang="pt-BR" sz="900"/>
              <a:t> </a:t>
            </a:r>
            <a:r>
              <a:rPr lang="pt-BR" sz="900" err="1"/>
              <a:t>on</a:t>
            </a:r>
            <a:r>
              <a:rPr lang="pt-BR" sz="900"/>
              <a:t> W35 (G/R 2,76).</a:t>
            </a:r>
            <a:endParaRPr kumimoji="0" lang="en-US" sz="9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highlight>
                <a:srgbClr val="FFFF00"/>
              </a:highlight>
              <a:uLnTx/>
              <a:uFillTx/>
              <a:latin typeface="Roboto" panose="02000000000000000000" pitchFamily="2" charset="0"/>
              <a:ea typeface="Roboto" panose="02000000000000000000" pitchFamily="2" charset="0"/>
            </a:endParaRPr>
          </a:p>
          <a:p>
            <a:pPr>
              <a:spcBef>
                <a:spcPts val="600"/>
              </a:spcBef>
              <a:defRPr/>
            </a:pPr>
            <a:r>
              <a:rPr lang="en-US" sz="1000" b="1">
                <a:solidFill>
                  <a:srgbClr val="061799"/>
                </a:solidFill>
                <a:latin typeface="Roboto" panose="02000000000000000000" pitchFamily="2" charset="0"/>
                <a:ea typeface="Roboto" panose="02000000000000000000" pitchFamily="2" charset="0"/>
              </a:rPr>
              <a:t>LOWLIGHTS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900" b="1" i="0" u="none" strike="noStrike" cap="none" normalizeH="0" baseline="0">
                <a:ln>
                  <a:noFill/>
                </a:ln>
                <a:solidFill>
                  <a:schemeClr val="tx1"/>
                </a:solidFill>
                <a:effectLst/>
                <a:latin typeface="Roboto" panose="02000000000000000000" pitchFamily="2" charset="0"/>
                <a:ea typeface="Roboto" panose="02000000000000000000" pitchFamily="2" charset="0"/>
              </a:rPr>
              <a:t>VD </a:t>
            </a:r>
            <a:r>
              <a:rPr kumimoji="0" lang="pt-BR" altLang="pt-BR" sz="900" b="1" i="0" u="none" strike="noStrike" cap="none" normalizeH="0" baseline="0" err="1">
                <a:ln>
                  <a:noFill/>
                </a:ln>
                <a:solidFill>
                  <a:schemeClr val="tx1"/>
                </a:solidFill>
                <a:effectLst/>
                <a:latin typeface="Roboto" panose="02000000000000000000" pitchFamily="2" charset="0"/>
                <a:ea typeface="Roboto" panose="02000000000000000000" pitchFamily="2" charset="0"/>
              </a:rPr>
              <a:t>revenue</a:t>
            </a:r>
            <a:r>
              <a:rPr kumimoji="0" lang="pt-BR" altLang="pt-BR" sz="900" b="1" i="0" u="none" strike="noStrike" cap="none" normalizeH="0" baseline="0">
                <a:ln>
                  <a:noFill/>
                </a:ln>
                <a:solidFill>
                  <a:schemeClr val="tx1"/>
                </a:solidFill>
                <a:effectLst/>
                <a:latin typeface="Roboto" panose="02000000000000000000" pitchFamily="2" charset="0"/>
                <a:ea typeface="Roboto" panose="02000000000000000000" pitchFamily="2" charset="0"/>
              </a:rPr>
              <a:t> </a:t>
            </a:r>
            <a:r>
              <a:rPr kumimoji="0" lang="pt-BR" altLang="pt-BR" sz="900" b="1" i="0" u="none" strike="noStrike" cap="none" normalizeH="0" baseline="0" err="1">
                <a:ln>
                  <a:noFill/>
                </a:ln>
                <a:solidFill>
                  <a:schemeClr val="tx1"/>
                </a:solidFill>
                <a:effectLst/>
                <a:latin typeface="Roboto" panose="02000000000000000000" pitchFamily="2" charset="0"/>
                <a:ea typeface="Roboto" panose="02000000000000000000" pitchFamily="2" charset="0"/>
              </a:rPr>
              <a:t>remains</a:t>
            </a:r>
            <a:r>
              <a:rPr kumimoji="0" lang="pt-BR" altLang="pt-BR" sz="900" b="1" i="0" u="none" strike="noStrike" cap="none" normalizeH="0" baseline="0">
                <a:ln>
                  <a:noFill/>
                </a:ln>
                <a:solidFill>
                  <a:schemeClr val="tx1"/>
                </a:solidFill>
                <a:effectLst/>
                <a:latin typeface="Roboto" panose="02000000000000000000" pitchFamily="2" charset="0"/>
                <a:ea typeface="Roboto" panose="02000000000000000000" pitchFamily="2" charset="0"/>
              </a:rPr>
              <a:t> </a:t>
            </a:r>
            <a:r>
              <a:rPr kumimoji="0" lang="pt-BR" altLang="pt-BR" sz="900" b="1" i="0" u="none" strike="noStrike" cap="none" normalizeH="0" baseline="0" err="1">
                <a:ln>
                  <a:noFill/>
                </a:ln>
                <a:solidFill>
                  <a:schemeClr val="tx1"/>
                </a:solidFill>
                <a:effectLst/>
                <a:latin typeface="Roboto" panose="02000000000000000000" pitchFamily="2" charset="0"/>
                <a:ea typeface="Roboto" panose="02000000000000000000" pitchFamily="2" charset="0"/>
              </a:rPr>
              <a:t>highly</a:t>
            </a:r>
            <a:r>
              <a:rPr kumimoji="0" lang="pt-BR" altLang="pt-BR" sz="900" b="1" i="0" u="none" strike="noStrike" cap="none" normalizeH="0" baseline="0">
                <a:ln>
                  <a:noFill/>
                </a:ln>
                <a:solidFill>
                  <a:schemeClr val="tx1"/>
                </a:solidFill>
                <a:effectLst/>
                <a:latin typeface="Roboto" panose="02000000000000000000" pitchFamily="2" charset="0"/>
                <a:ea typeface="Roboto" panose="02000000000000000000" pitchFamily="2" charset="0"/>
              </a:rPr>
              <a:t> </a:t>
            </a:r>
            <a:r>
              <a:rPr kumimoji="0" lang="pt-BR" altLang="pt-BR" sz="900" b="1" i="0" u="none" strike="noStrike" cap="none" normalizeH="0" baseline="0" err="1">
                <a:ln>
                  <a:noFill/>
                </a:ln>
                <a:solidFill>
                  <a:schemeClr val="tx1"/>
                </a:solidFill>
                <a:effectLst/>
                <a:latin typeface="Roboto" panose="02000000000000000000" pitchFamily="2" charset="0"/>
                <a:ea typeface="Roboto" panose="02000000000000000000" pitchFamily="2" charset="0"/>
              </a:rPr>
              <a:t>concentrated</a:t>
            </a:r>
            <a:r>
              <a:rPr kumimoji="0" lang="pt-BR" altLang="pt-BR" sz="900" b="1" i="0" u="none" strike="noStrike" cap="none" normalizeH="0" baseline="0">
                <a:ln>
                  <a:noFill/>
                </a:ln>
                <a:solidFill>
                  <a:schemeClr val="tx1"/>
                </a:solidFill>
                <a:effectLst/>
                <a:latin typeface="Roboto" panose="02000000000000000000" pitchFamily="2" charset="0"/>
                <a:ea typeface="Roboto" panose="02000000000000000000" pitchFamily="2" charset="0"/>
              </a:rPr>
              <a:t> in TV</a:t>
            </a:r>
            <a:r>
              <a:rPr kumimoji="0" lang="pt-BR" altLang="pt-BR" sz="900" i="0" u="none" strike="noStrike" cap="none" normalizeH="0" baseline="0">
                <a:ln>
                  <a:noFill/>
                </a:ln>
                <a:solidFill>
                  <a:schemeClr val="tx1"/>
                </a:solidFill>
                <a:effectLst/>
                <a:latin typeface="Roboto" panose="02000000000000000000" pitchFamily="2" charset="0"/>
                <a:ea typeface="Roboto" panose="02000000000000000000" pitchFamily="2"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900" b="1" i="0" u="none" strike="noStrike" cap="none" normalizeH="0" baseline="0" err="1">
                <a:ln>
                  <a:noFill/>
                </a:ln>
                <a:solidFill>
                  <a:schemeClr val="tx1"/>
                </a:solidFill>
                <a:effectLst/>
                <a:latin typeface="Roboto" panose="02000000000000000000" pitchFamily="2" charset="0"/>
                <a:ea typeface="Roboto" panose="02000000000000000000" pitchFamily="2" charset="0"/>
              </a:rPr>
              <a:t>Email</a:t>
            </a:r>
            <a:r>
              <a:rPr kumimoji="0" lang="pt-BR" altLang="pt-BR" sz="900" b="1" i="0" u="none" strike="noStrike" cap="none" normalizeH="0" baseline="0">
                <a:ln>
                  <a:noFill/>
                </a:ln>
                <a:solidFill>
                  <a:schemeClr val="tx1"/>
                </a:solidFill>
                <a:effectLst/>
                <a:latin typeface="Roboto" panose="02000000000000000000" pitchFamily="2" charset="0"/>
                <a:ea typeface="Roboto" panose="02000000000000000000" pitchFamily="2" charset="0"/>
              </a:rPr>
              <a:t> 77% </a:t>
            </a:r>
            <a:r>
              <a:rPr kumimoji="0" lang="pt-BR" altLang="pt-BR" sz="900" i="0" u="none" strike="noStrike" cap="none" normalizeH="0" baseline="0" err="1">
                <a:ln>
                  <a:noFill/>
                </a:ln>
                <a:solidFill>
                  <a:schemeClr val="tx1"/>
                </a:solidFill>
                <a:effectLst/>
                <a:latin typeface="Roboto" panose="02000000000000000000" pitchFamily="2" charset="0"/>
                <a:ea typeface="Roboto" panose="02000000000000000000" pitchFamily="2" charset="0"/>
              </a:rPr>
              <a:t>showing</a:t>
            </a:r>
            <a:r>
              <a:rPr kumimoji="0" lang="pt-BR" altLang="pt-BR" sz="900" i="0" u="none" strike="noStrike" cap="none" normalizeH="0" baseline="0">
                <a:ln>
                  <a:noFill/>
                </a:ln>
                <a:solidFill>
                  <a:schemeClr val="tx1"/>
                </a:solidFill>
                <a:effectLst/>
                <a:latin typeface="Roboto" panose="02000000000000000000" pitchFamily="2" charset="0"/>
                <a:ea typeface="Roboto" panose="02000000000000000000" pitchFamily="2" charset="0"/>
              </a:rPr>
              <a:t> </a:t>
            </a:r>
            <a:r>
              <a:rPr kumimoji="0" lang="pt-BR" altLang="pt-BR" sz="900" i="0" u="none" strike="noStrike" cap="none" normalizeH="0" baseline="0" err="1">
                <a:ln>
                  <a:noFill/>
                </a:ln>
                <a:solidFill>
                  <a:schemeClr val="tx1"/>
                </a:solidFill>
                <a:effectLst/>
                <a:latin typeface="Roboto" panose="02000000000000000000" pitchFamily="2" charset="0"/>
                <a:ea typeface="Roboto" panose="02000000000000000000" pitchFamily="2" charset="0"/>
              </a:rPr>
              <a:t>diversification</a:t>
            </a:r>
            <a:r>
              <a:rPr kumimoji="0" lang="pt-BR" altLang="pt-BR" sz="900" i="0" u="none" strike="noStrike" cap="none" normalizeH="0" baseline="0">
                <a:ln>
                  <a:noFill/>
                </a:ln>
                <a:solidFill>
                  <a:schemeClr val="tx1"/>
                </a:solidFill>
                <a:effectLst/>
                <a:latin typeface="Roboto" panose="02000000000000000000" pitchFamily="2" charset="0"/>
                <a:ea typeface="Roboto" panose="02000000000000000000" pitchFamily="2" charset="0"/>
              </a:rPr>
              <a:t> </a:t>
            </a:r>
            <a:r>
              <a:rPr kumimoji="0" lang="pt-BR" altLang="pt-BR" sz="900" i="0" u="none" strike="noStrike" cap="none" normalizeH="0" baseline="0" err="1">
                <a:ln>
                  <a:noFill/>
                </a:ln>
                <a:solidFill>
                  <a:schemeClr val="tx1"/>
                </a:solidFill>
                <a:effectLst/>
                <a:latin typeface="Roboto" panose="02000000000000000000" pitchFamily="2" charset="0"/>
                <a:ea typeface="Roboto" panose="02000000000000000000" pitchFamily="2" charset="0"/>
              </a:rPr>
              <a:t>channel</a:t>
            </a:r>
            <a:r>
              <a:rPr kumimoji="0" lang="pt-BR" altLang="pt-BR" sz="900" i="0" u="none" strike="noStrike" cap="none" normalizeH="0" baseline="0">
                <a:ln>
                  <a:noFill/>
                </a:ln>
                <a:solidFill>
                  <a:schemeClr val="tx1"/>
                </a:solidFill>
                <a:effectLst/>
                <a:latin typeface="Roboto" panose="02000000000000000000" pitchFamily="2" charset="0"/>
                <a:ea typeface="Roboto" panose="02000000000000000000" pitchFamily="2" charset="0"/>
              </a:rPr>
              <a:t> gap.</a:t>
            </a:r>
          </a:p>
          <a:p>
            <a:pPr marL="0" marR="0" lvl="0" indent="0" algn="l" defTabSz="914400" rtl="0" eaLnBrk="0" fontAlgn="base" latinLnBrk="0" hangingPunct="0">
              <a:lnSpc>
                <a:spcPct val="100000"/>
              </a:lnSpc>
              <a:spcBef>
                <a:spcPct val="0"/>
              </a:spcBef>
              <a:spcAft>
                <a:spcPct val="0"/>
              </a:spcAft>
              <a:buClrTx/>
              <a:buSzTx/>
              <a:buFontTx/>
              <a:buChar char="•"/>
              <a:tabLst/>
            </a:pPr>
            <a:r>
              <a:rPr lang="pt-BR" altLang="pt-BR" sz="900">
                <a:latin typeface="Roboto" panose="02000000000000000000" pitchFamily="2" charset="0"/>
                <a:ea typeface="Roboto" panose="02000000000000000000" pitchFamily="2" charset="0"/>
              </a:rPr>
              <a:t>AV G/R </a:t>
            </a:r>
            <a:r>
              <a:rPr lang="pt-BR" altLang="pt-BR" sz="900" err="1">
                <a:latin typeface="Roboto" panose="02000000000000000000" pitchFamily="2" charset="0"/>
                <a:ea typeface="Roboto" panose="02000000000000000000" pitchFamily="2" charset="0"/>
              </a:rPr>
              <a:t>is</a:t>
            </a:r>
            <a:r>
              <a:rPr lang="pt-BR" altLang="pt-BR" sz="900">
                <a:latin typeface="Roboto" panose="02000000000000000000" pitchFamily="2" charset="0"/>
                <a:ea typeface="Roboto" panose="02000000000000000000" pitchFamily="2" charset="0"/>
              </a:rPr>
              <a:t> </a:t>
            </a:r>
            <a:r>
              <a:rPr lang="pt-BR" altLang="pt-BR" sz="900" err="1">
                <a:latin typeface="Roboto" panose="02000000000000000000" pitchFamily="2" charset="0"/>
                <a:ea typeface="Roboto" panose="02000000000000000000" pitchFamily="2" charset="0"/>
              </a:rPr>
              <a:t>below</a:t>
            </a:r>
            <a:r>
              <a:rPr lang="pt-BR" altLang="pt-BR" sz="900">
                <a:latin typeface="Roboto" panose="02000000000000000000" pitchFamily="2" charset="0"/>
                <a:ea typeface="Roboto" panose="02000000000000000000" pitchFamily="2" charset="0"/>
              </a:rPr>
              <a:t> </a:t>
            </a:r>
            <a:r>
              <a:rPr lang="pt-BR" altLang="pt-BR" sz="900" err="1">
                <a:latin typeface="Roboto" panose="02000000000000000000" pitchFamily="2" charset="0"/>
                <a:ea typeface="Roboto" panose="02000000000000000000" pitchFamily="2" charset="0"/>
              </a:rPr>
              <a:t>the</a:t>
            </a:r>
            <a:r>
              <a:rPr lang="pt-BR" altLang="pt-BR" sz="900">
                <a:latin typeface="Roboto" panose="02000000000000000000" pitchFamily="2" charset="0"/>
                <a:ea typeface="Roboto" panose="02000000000000000000" pitchFamily="2" charset="0"/>
              </a:rPr>
              <a:t> </a:t>
            </a:r>
            <a:r>
              <a:rPr lang="pt-BR" altLang="pt-BR" sz="900" err="1">
                <a:latin typeface="Roboto" panose="02000000000000000000" pitchFamily="2" charset="0"/>
                <a:ea typeface="Roboto" panose="02000000000000000000" pitchFamily="2" charset="0"/>
              </a:rPr>
              <a:t>sply</a:t>
            </a:r>
            <a:r>
              <a:rPr lang="pt-BR" altLang="pt-BR" sz="900">
                <a:latin typeface="Roboto" panose="02000000000000000000" pitchFamily="2" charset="0"/>
                <a:ea typeface="Roboto" panose="02000000000000000000" pitchFamily="2" charset="0"/>
              </a:rPr>
              <a:t>, </a:t>
            </a:r>
            <a:r>
              <a:rPr lang="pt-BR" altLang="pt-BR" sz="900" err="1">
                <a:latin typeface="Roboto" panose="02000000000000000000" pitchFamily="2" charset="0"/>
                <a:ea typeface="Roboto" panose="02000000000000000000" pitchFamily="2" charset="0"/>
              </a:rPr>
              <a:t>fell</a:t>
            </a:r>
            <a:r>
              <a:rPr lang="pt-BR" altLang="pt-BR" sz="900">
                <a:latin typeface="Roboto" panose="02000000000000000000" pitchFamily="2" charset="0"/>
                <a:ea typeface="Roboto" panose="02000000000000000000" pitchFamily="2" charset="0"/>
              </a:rPr>
              <a:t> ~70% </a:t>
            </a:r>
            <a:r>
              <a:rPr lang="pt-BR" altLang="pt-BR" sz="900" err="1">
                <a:latin typeface="Roboto" panose="02000000000000000000" pitchFamily="2" charset="0"/>
                <a:ea typeface="Roboto" panose="02000000000000000000" pitchFamily="2" charset="0"/>
              </a:rPr>
              <a:t>on</a:t>
            </a:r>
            <a:r>
              <a:rPr lang="pt-BR" altLang="pt-BR" sz="900">
                <a:latin typeface="Roboto" panose="02000000000000000000" pitchFamily="2" charset="0"/>
                <a:ea typeface="Roboto" panose="02000000000000000000" pitchFamily="2" charset="0"/>
              </a:rPr>
              <a:t> W33.</a:t>
            </a:r>
            <a:endParaRPr kumimoji="0" lang="pt-BR" altLang="pt-BR" sz="900"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pt-BR" altLang="pt-BR" sz="900" i="0" u="none" strike="noStrike" cap="none" normalizeH="0" baseline="0">
              <a:ln>
                <a:noFill/>
              </a:ln>
              <a:solidFill>
                <a:schemeClr val="tx1"/>
              </a:solidFill>
              <a:effectLst/>
              <a:latin typeface="Roboto" panose="02000000000000000000" pitchFamily="2" charset="0"/>
              <a:ea typeface="Roboto" panose="02000000000000000000" pitchFamily="2" charset="0"/>
            </a:endParaRPr>
          </a:p>
        </p:txBody>
      </p:sp>
      <p:sp>
        <p:nvSpPr>
          <p:cNvPr id="8" name="Retângulo 7">
            <a:extLst>
              <a:ext uri="{FF2B5EF4-FFF2-40B4-BE49-F238E27FC236}">
                <a16:creationId xmlns:a16="http://schemas.microsoft.com/office/drawing/2014/main" id="{8055FFBB-36B9-41BF-B44F-68ECD35DE699}"/>
              </a:ext>
            </a:extLst>
          </p:cNvPr>
          <p:cNvSpPr/>
          <p:nvPr/>
        </p:nvSpPr>
        <p:spPr>
          <a:xfrm>
            <a:off x="274613" y="2109399"/>
            <a:ext cx="4736040" cy="1949317"/>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tângulo 29">
            <a:extLst>
              <a:ext uri="{FF2B5EF4-FFF2-40B4-BE49-F238E27FC236}">
                <a16:creationId xmlns:a16="http://schemas.microsoft.com/office/drawing/2014/main" id="{DDE5CBDC-0716-4F8C-9144-C5812570C6EA}"/>
              </a:ext>
            </a:extLst>
          </p:cNvPr>
          <p:cNvSpPr/>
          <p:nvPr/>
        </p:nvSpPr>
        <p:spPr>
          <a:xfrm>
            <a:off x="5195887" y="2104220"/>
            <a:ext cx="6728377" cy="1954497"/>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tângulo 77">
            <a:extLst>
              <a:ext uri="{FF2B5EF4-FFF2-40B4-BE49-F238E27FC236}">
                <a16:creationId xmlns:a16="http://schemas.microsoft.com/office/drawing/2014/main" id="{2C96AD2A-6A5B-49E0-8543-3762D8036903}"/>
              </a:ext>
            </a:extLst>
          </p:cNvPr>
          <p:cNvSpPr/>
          <p:nvPr/>
        </p:nvSpPr>
        <p:spPr>
          <a:xfrm>
            <a:off x="1387591" y="1041806"/>
            <a:ext cx="1586654" cy="63204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Revenue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rPr>
              <a:t>R$ </a:t>
            </a:r>
            <a:r>
              <a:rPr lang="en-US" sz="1600" b="1">
                <a:solidFill>
                  <a:srgbClr val="061799"/>
                </a:solidFill>
                <a:latin typeface="Roboto" panose="02000000000000000000" pitchFamily="2" charset="0"/>
                <a:ea typeface="Roboto" panose="02000000000000000000" pitchFamily="2" charset="0"/>
              </a:rPr>
              <a:t>1,10M</a:t>
            </a:r>
            <a:endParaRPr kumimoji="0" lang="en-US" sz="160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1.64</a:t>
            </a:r>
          </a:p>
        </p:txBody>
      </p:sp>
      <p:sp>
        <p:nvSpPr>
          <p:cNvPr id="79" name="Retângulo 78">
            <a:extLst>
              <a:ext uri="{FF2B5EF4-FFF2-40B4-BE49-F238E27FC236}">
                <a16:creationId xmlns:a16="http://schemas.microsoft.com/office/drawing/2014/main" id="{C08262A1-9604-4129-BFC7-CA67BCB19A9E}"/>
              </a:ext>
            </a:extLst>
          </p:cNvPr>
          <p:cNvSpPr/>
          <p:nvPr/>
        </p:nvSpPr>
        <p:spPr>
          <a:xfrm>
            <a:off x="3519006" y="1041806"/>
            <a:ext cx="1586654" cy="63204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Unit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rPr>
              <a:t>306</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1.49</a:t>
            </a:r>
          </a:p>
        </p:txBody>
      </p:sp>
      <p:grpSp>
        <p:nvGrpSpPr>
          <p:cNvPr id="80" name="Agrupar 79">
            <a:extLst>
              <a:ext uri="{FF2B5EF4-FFF2-40B4-BE49-F238E27FC236}">
                <a16:creationId xmlns:a16="http://schemas.microsoft.com/office/drawing/2014/main" id="{4E018585-994B-408F-855D-E441FB4D3956}"/>
              </a:ext>
            </a:extLst>
          </p:cNvPr>
          <p:cNvGrpSpPr/>
          <p:nvPr/>
        </p:nvGrpSpPr>
        <p:grpSpPr>
          <a:xfrm>
            <a:off x="6096000" y="1048520"/>
            <a:ext cx="4211776" cy="632048"/>
            <a:chOff x="3885359" y="393917"/>
            <a:chExt cx="4881131" cy="1123168"/>
          </a:xfrm>
        </p:grpSpPr>
        <p:sp>
          <p:nvSpPr>
            <p:cNvPr id="81" name="Retângulo 80">
              <a:extLst>
                <a:ext uri="{FF2B5EF4-FFF2-40B4-BE49-F238E27FC236}">
                  <a16:creationId xmlns:a16="http://schemas.microsoft.com/office/drawing/2014/main" id="{2F62183F-1085-44FF-B2C4-10929C65233F}"/>
                </a:ext>
              </a:extLst>
            </p:cNvPr>
            <p:cNvSpPr/>
            <p:nvPr/>
          </p:nvSpPr>
          <p:spPr>
            <a:xfrm>
              <a:off x="3885359" y="393917"/>
              <a:ext cx="2442885" cy="11231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Portion Shop/App (R$)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a:solidFill>
                    <a:srgbClr val="061799"/>
                  </a:solidFill>
                  <a:latin typeface="Roboto" panose="02000000000000000000" pitchFamily="2" charset="0"/>
                  <a:ea typeface="Roboto" panose="02000000000000000000" pitchFamily="2" charset="0"/>
                </a:rPr>
                <a:t>4,27</a:t>
              </a:r>
              <a:r>
                <a:rPr kumimoji="0" lang="en-US" sz="160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rPr>
                <a:t>%</a:t>
              </a:r>
            </a:p>
          </p:txBody>
        </p:sp>
        <p:sp>
          <p:nvSpPr>
            <p:cNvPr id="82" name="Retângulo 81">
              <a:extLst>
                <a:ext uri="{FF2B5EF4-FFF2-40B4-BE49-F238E27FC236}">
                  <a16:creationId xmlns:a16="http://schemas.microsoft.com/office/drawing/2014/main" id="{6EA3FA3C-DD44-4A06-BB30-CD13900B83AC}"/>
                </a:ext>
              </a:extLst>
            </p:cNvPr>
            <p:cNvSpPr/>
            <p:nvPr/>
          </p:nvSpPr>
          <p:spPr>
            <a:xfrm>
              <a:off x="6323605" y="393917"/>
              <a:ext cx="2442885" cy="11231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Portion Shop/App (units)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a:solidFill>
                    <a:srgbClr val="061799"/>
                  </a:solidFill>
                  <a:latin typeface="Roboto" panose="02000000000000000000" pitchFamily="2" charset="0"/>
                  <a:ea typeface="Roboto" panose="02000000000000000000" pitchFamily="2" charset="0"/>
                </a:rPr>
                <a:t>3,97</a:t>
              </a:r>
              <a:r>
                <a:rPr kumimoji="0" lang="en-US" sz="160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rPr>
                <a:t>%</a:t>
              </a:r>
            </a:p>
          </p:txBody>
        </p:sp>
      </p:grpSp>
      <p:sp>
        <p:nvSpPr>
          <p:cNvPr id="83" name="Retângulo 82">
            <a:extLst>
              <a:ext uri="{FF2B5EF4-FFF2-40B4-BE49-F238E27FC236}">
                <a16:creationId xmlns:a16="http://schemas.microsoft.com/office/drawing/2014/main" id="{0AABCA69-C4A9-415F-8E20-BFD65FE8D097}"/>
              </a:ext>
            </a:extLst>
          </p:cNvPr>
          <p:cNvSpPr/>
          <p:nvPr/>
        </p:nvSpPr>
        <p:spPr>
          <a:xfrm>
            <a:off x="1387591" y="1671561"/>
            <a:ext cx="1586654" cy="221863"/>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grpSp>
        <p:nvGrpSpPr>
          <p:cNvPr id="84" name="Agrupar 83">
            <a:extLst>
              <a:ext uri="{FF2B5EF4-FFF2-40B4-BE49-F238E27FC236}">
                <a16:creationId xmlns:a16="http://schemas.microsoft.com/office/drawing/2014/main" id="{350DD105-EBDE-44F2-8836-CBFCE2ECD387}"/>
              </a:ext>
            </a:extLst>
          </p:cNvPr>
          <p:cNvGrpSpPr/>
          <p:nvPr/>
        </p:nvGrpSpPr>
        <p:grpSpPr>
          <a:xfrm>
            <a:off x="1452871" y="1623054"/>
            <a:ext cx="1538619" cy="323166"/>
            <a:chOff x="558428" y="2190859"/>
            <a:chExt cx="1586654" cy="323166"/>
          </a:xfrm>
        </p:grpSpPr>
        <p:sp>
          <p:nvSpPr>
            <p:cNvPr id="85" name="CaixaDeTexto 84">
              <a:extLst>
                <a:ext uri="{FF2B5EF4-FFF2-40B4-BE49-F238E27FC236}">
                  <a16:creationId xmlns:a16="http://schemas.microsoft.com/office/drawing/2014/main" id="{6DAA1DDB-D179-4A59-B962-96C65F158E04}"/>
                </a:ext>
              </a:extLst>
            </p:cNvPr>
            <p:cNvSpPr txBox="1"/>
            <p:nvPr/>
          </p:nvSpPr>
          <p:spPr>
            <a:xfrm>
              <a:off x="558428" y="2190860"/>
              <a:ext cx="576000" cy="323165"/>
            </a:xfrm>
            <a:prstGeom prst="rect">
              <a:avLst/>
            </a:prstGeom>
            <a:noFill/>
          </p:spPr>
          <p:txBody>
            <a:bodyPr wrap="square" lIns="0" rIns="0" rtlCol="0">
              <a:spAutoFit/>
            </a:bodyPr>
            <a:lstStyle/>
            <a:p>
              <a:pPr marL="0" marR="0" lvl="0" indent="0" algn="ctr" defTabSz="914400" rtl="0" eaLnBrk="1" fontAlgn="auto" latinLnBrk="0" hangingPunct="1">
                <a:lnSpc>
                  <a:spcPts val="9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GROWTH</a:t>
              </a:r>
              <a:endParaRPr kumimoji="0" lang="en-US" sz="7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a:p>
              <a:pPr marL="0" marR="0" lvl="0" indent="0" algn="ctr" defTabSz="914400" rtl="0" eaLnBrk="1" fontAlgn="auto" latinLnBrk="0" hangingPunct="1">
                <a:lnSpc>
                  <a:spcPts val="900"/>
                </a:lnSpc>
                <a:spcBef>
                  <a:spcPts val="0"/>
                </a:spcBef>
                <a:spcAft>
                  <a:spcPts val="0"/>
                </a:spcAft>
                <a:buClrTx/>
                <a:buSzTx/>
                <a:buFontTx/>
                <a:buNone/>
                <a:tabLst/>
                <a:defRPr/>
              </a:pPr>
              <a:r>
                <a:rPr lang="en-US" sz="700">
                  <a:solidFill>
                    <a:prstClr val="black"/>
                  </a:solidFill>
                  <a:latin typeface="Roboto" panose="02000000000000000000" pitchFamily="2" charset="0"/>
                  <a:ea typeface="Roboto" panose="02000000000000000000" pitchFamily="2" charset="0"/>
                </a:rPr>
                <a:t>53</a:t>
              </a:r>
              <a:r>
                <a:rPr kumimoji="0" lang="en-US" sz="7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a:t>
              </a:r>
            </a:p>
          </p:txBody>
        </p:sp>
        <p:sp>
          <p:nvSpPr>
            <p:cNvPr id="86" name="CaixaDeTexto 85">
              <a:extLst>
                <a:ext uri="{FF2B5EF4-FFF2-40B4-BE49-F238E27FC236}">
                  <a16:creationId xmlns:a16="http://schemas.microsoft.com/office/drawing/2014/main" id="{6F2D1DE5-D6AD-49A2-8A31-D4EF1627E375}"/>
                </a:ext>
              </a:extLst>
            </p:cNvPr>
            <p:cNvSpPr txBox="1"/>
            <p:nvPr/>
          </p:nvSpPr>
          <p:spPr>
            <a:xfrm>
              <a:off x="1063755" y="2190859"/>
              <a:ext cx="576000" cy="323165"/>
            </a:xfrm>
            <a:prstGeom prst="rect">
              <a:avLst/>
            </a:prstGeom>
            <a:noFill/>
          </p:spPr>
          <p:txBody>
            <a:bodyPr wrap="square" lIns="0" rIns="0" rtlCol="0">
              <a:spAutoFit/>
            </a:bodyPr>
            <a:lstStyle/>
            <a:p>
              <a:pPr marL="0" marR="0" lvl="0" indent="0" algn="ctr" defTabSz="914400" rtl="0" eaLnBrk="1" fontAlgn="auto" latinLnBrk="0" hangingPunct="1">
                <a:lnSpc>
                  <a:spcPts val="9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GTM</a:t>
              </a:r>
              <a:endParaRPr kumimoji="0" lang="en-US" sz="7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a:p>
              <a:pPr marL="0" marR="0" lvl="0" indent="0" algn="ctr" defTabSz="914400" rtl="0" eaLnBrk="1" fontAlgn="auto" latinLnBrk="0" hangingPunct="1">
                <a:lnSpc>
                  <a:spcPts val="900"/>
                </a:lnSpc>
                <a:spcBef>
                  <a:spcPts val="0"/>
                </a:spcBef>
                <a:spcAft>
                  <a:spcPts val="0"/>
                </a:spcAft>
                <a:buClrTx/>
                <a:buSzTx/>
                <a:buFontTx/>
                <a:buNone/>
                <a:tabLst/>
                <a:defRPr/>
              </a:pPr>
              <a:r>
                <a:rPr lang="en-US" sz="700">
                  <a:solidFill>
                    <a:prstClr val="black"/>
                  </a:solidFill>
                  <a:latin typeface="Roboto" panose="02000000000000000000" pitchFamily="2" charset="0"/>
                  <a:ea typeface="Roboto" panose="02000000000000000000" pitchFamily="2" charset="0"/>
                </a:rPr>
                <a:t>3</a:t>
              </a:r>
              <a:r>
                <a:rPr kumimoji="0" lang="en-US" sz="7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a:t>
              </a:r>
            </a:p>
          </p:txBody>
        </p:sp>
        <p:sp>
          <p:nvSpPr>
            <p:cNvPr id="87" name="CaixaDeTexto 86">
              <a:extLst>
                <a:ext uri="{FF2B5EF4-FFF2-40B4-BE49-F238E27FC236}">
                  <a16:creationId xmlns:a16="http://schemas.microsoft.com/office/drawing/2014/main" id="{ECF1EA73-FBF0-4EA4-AEE1-F7466EB32A48}"/>
                </a:ext>
              </a:extLst>
            </p:cNvPr>
            <p:cNvSpPr txBox="1"/>
            <p:nvPr/>
          </p:nvSpPr>
          <p:spPr>
            <a:xfrm>
              <a:off x="1569082" y="2190860"/>
              <a:ext cx="576000" cy="323165"/>
            </a:xfrm>
            <a:prstGeom prst="rect">
              <a:avLst/>
            </a:prstGeom>
            <a:noFill/>
          </p:spPr>
          <p:txBody>
            <a:bodyPr wrap="square" lIns="0" rIns="0" rtlCol="0">
              <a:spAutoFit/>
            </a:bodyPr>
            <a:lstStyle/>
            <a:p>
              <a:pPr marL="0" marR="0" lvl="0" indent="0" algn="ctr" defTabSz="914400" rtl="0" eaLnBrk="1" fontAlgn="auto" latinLnBrk="0" hangingPunct="1">
                <a:lnSpc>
                  <a:spcPts val="9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TRIGGER</a:t>
              </a:r>
              <a:endParaRPr kumimoji="0" lang="en-US" sz="7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a:p>
              <a:pPr marL="0" marR="0" lvl="0" indent="0" algn="ctr" defTabSz="914400" rtl="0" eaLnBrk="1" fontAlgn="auto" latinLnBrk="0" hangingPunct="1">
                <a:lnSpc>
                  <a:spcPts val="9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44%</a:t>
              </a:r>
            </a:p>
          </p:txBody>
        </p:sp>
      </p:grpSp>
      <p:sp>
        <p:nvSpPr>
          <p:cNvPr id="88" name="CaixaDeTexto 87">
            <a:extLst>
              <a:ext uri="{FF2B5EF4-FFF2-40B4-BE49-F238E27FC236}">
                <a16:creationId xmlns:a16="http://schemas.microsoft.com/office/drawing/2014/main" id="{FF8C8FAC-8F39-49ED-AF35-0F50ECBE7248}"/>
              </a:ext>
            </a:extLst>
          </p:cNvPr>
          <p:cNvSpPr txBox="1"/>
          <p:nvPr/>
        </p:nvSpPr>
        <p:spPr>
          <a:xfrm>
            <a:off x="1041130" y="1433184"/>
            <a:ext cx="823481" cy="230832"/>
          </a:xfrm>
          <a:prstGeom prst="rect">
            <a:avLst/>
          </a:prstGeom>
          <a:noFill/>
        </p:spPr>
        <p:txBody>
          <a:bodyPr wrap="square" rtlCol="0">
            <a:spAutoFit/>
          </a:bodyPr>
          <a:lstStyle>
            <a:defPPr>
              <a:defRPr lang="de-DE"/>
            </a:defPPr>
            <a:lvl1pPr marR="0" lvl="0" indent="0" fontAlgn="auto">
              <a:lnSpc>
                <a:spcPct val="100000"/>
              </a:lnSpc>
              <a:spcBef>
                <a:spcPts val="0"/>
              </a:spcBef>
              <a:spcAft>
                <a:spcPts val="0"/>
              </a:spcAft>
              <a:buClrTx/>
              <a:buSzTx/>
              <a:buFontTx/>
              <a:buNone/>
              <a:tabLst/>
              <a:defRPr kumimoji="0" sz="1100" b="0" i="0" u="none" strike="noStrike" cap="none" spc="0" normalizeH="0" baseline="0">
                <a:ln>
                  <a:noFill/>
                </a:ln>
                <a:solidFill>
                  <a:prstClr val="black"/>
                </a:solidFill>
                <a:effectLst/>
                <a:uLnTx/>
                <a:uFillTx/>
                <a:latin typeface="Roboto" panose="02000000000000000000" pitchFamily="2" charset="0"/>
                <a:ea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G/R</a:t>
            </a:r>
          </a:p>
        </p:txBody>
      </p:sp>
      <p:cxnSp>
        <p:nvCxnSpPr>
          <p:cNvPr id="89" name="Conector reto 88">
            <a:extLst>
              <a:ext uri="{FF2B5EF4-FFF2-40B4-BE49-F238E27FC236}">
                <a16:creationId xmlns:a16="http://schemas.microsoft.com/office/drawing/2014/main" id="{0FC3ED7C-0047-4D3B-AA68-04EC037EEE59}"/>
              </a:ext>
            </a:extLst>
          </p:cNvPr>
          <p:cNvCxnSpPr/>
          <p:nvPr/>
        </p:nvCxnSpPr>
        <p:spPr>
          <a:xfrm>
            <a:off x="1143392" y="1469964"/>
            <a:ext cx="3960000" cy="0"/>
          </a:xfrm>
          <a:prstGeom prst="line">
            <a:avLst/>
          </a:prstGeom>
          <a:ln w="6350">
            <a:solidFill>
              <a:schemeClr val="bg2">
                <a:lumMod val="90000"/>
              </a:schemeClr>
            </a:solidFill>
            <a:prstDash val="dash"/>
          </a:ln>
        </p:spPr>
        <p:style>
          <a:lnRef idx="2">
            <a:schemeClr val="accent1"/>
          </a:lnRef>
          <a:fillRef idx="0">
            <a:schemeClr val="accent1"/>
          </a:fillRef>
          <a:effectRef idx="1">
            <a:schemeClr val="accent1"/>
          </a:effectRef>
          <a:fontRef idx="minor">
            <a:schemeClr val="tx1"/>
          </a:fontRef>
        </p:style>
      </p:cxnSp>
      <p:sp>
        <p:nvSpPr>
          <p:cNvPr id="10" name="CaixaDeTexto 9">
            <a:extLst>
              <a:ext uri="{FF2B5EF4-FFF2-40B4-BE49-F238E27FC236}">
                <a16:creationId xmlns:a16="http://schemas.microsoft.com/office/drawing/2014/main" id="{48D110B9-B9C6-49E0-9779-FC6F2DFC2DA1}"/>
              </a:ext>
            </a:extLst>
          </p:cNvPr>
          <p:cNvSpPr txBox="1"/>
          <p:nvPr/>
        </p:nvSpPr>
        <p:spPr>
          <a:xfrm>
            <a:off x="425427" y="2011921"/>
            <a:ext cx="1357185" cy="266907"/>
          </a:xfrm>
          <a:prstGeom prst="rect">
            <a:avLst/>
          </a:prstGeom>
          <a:solidFill>
            <a:schemeClr val="bg1"/>
          </a:solidFill>
        </p:spPr>
        <p:txBody>
          <a:bodyPr wrap="square" tIns="1800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2060"/>
                </a:solidFill>
                <a:effectLst/>
                <a:uLnTx/>
                <a:uFillTx/>
                <a:latin typeface="Samsung Sharp Sans Bold" panose="02000503000000020004"/>
                <a:ea typeface="+mn-ea"/>
                <a:cs typeface="+mn-cs"/>
              </a:rPr>
              <a:t>Categories</a:t>
            </a:r>
          </a:p>
        </p:txBody>
      </p:sp>
      <p:sp>
        <p:nvSpPr>
          <p:cNvPr id="31" name="CaixaDeTexto 30">
            <a:extLst>
              <a:ext uri="{FF2B5EF4-FFF2-40B4-BE49-F238E27FC236}">
                <a16:creationId xmlns:a16="http://schemas.microsoft.com/office/drawing/2014/main" id="{57AEB173-3770-41CB-B9F2-6FCAE4DEBBAA}"/>
              </a:ext>
            </a:extLst>
          </p:cNvPr>
          <p:cNvSpPr txBox="1"/>
          <p:nvPr/>
        </p:nvSpPr>
        <p:spPr>
          <a:xfrm>
            <a:off x="5432657" y="2011921"/>
            <a:ext cx="1238866" cy="259036"/>
          </a:xfrm>
          <a:prstGeom prst="rect">
            <a:avLst/>
          </a:prstGeom>
          <a:solidFill>
            <a:schemeClr val="bg1"/>
          </a:solidFill>
        </p:spPr>
        <p:txBody>
          <a:bodyPr wrap="square" tIns="1800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2060"/>
                </a:solidFill>
                <a:effectLst/>
                <a:uLnTx/>
                <a:uFillTx/>
                <a:latin typeface="Samsung Sharp Sans Bold" panose="02000503000000020004"/>
                <a:ea typeface="+mn-ea"/>
                <a:cs typeface="+mn-cs"/>
              </a:rPr>
              <a:t>Products</a:t>
            </a:r>
          </a:p>
        </p:txBody>
      </p:sp>
      <p:sp>
        <p:nvSpPr>
          <p:cNvPr id="49" name="CaixaDeTexto 48">
            <a:extLst>
              <a:ext uri="{FF2B5EF4-FFF2-40B4-BE49-F238E27FC236}">
                <a16:creationId xmlns:a16="http://schemas.microsoft.com/office/drawing/2014/main" id="{F254C4EB-2D4B-4C48-A0CE-43FEC3113E05}"/>
              </a:ext>
            </a:extLst>
          </p:cNvPr>
          <p:cNvSpPr txBox="1"/>
          <p:nvPr/>
        </p:nvSpPr>
        <p:spPr>
          <a:xfrm>
            <a:off x="979131" y="4637694"/>
            <a:ext cx="328522" cy="201337"/>
          </a:xfrm>
          <a:prstGeom prst="rect">
            <a:avLst/>
          </a:prstGeom>
          <a:noFill/>
        </p:spPr>
        <p:txBody>
          <a:bodyPr wrap="square" lIns="0" rIns="0" rtlCol="0">
            <a:spAutoFit/>
          </a:bodyPr>
          <a:lstStyle/>
          <a:p>
            <a:pPr marL="0" marR="0" lvl="0" indent="0" defTabSz="914400" rtl="0" eaLnBrk="1" fontAlgn="auto" latinLnBrk="0" hangingPunct="1">
              <a:lnSpc>
                <a:spcPts val="900"/>
              </a:lnSpc>
              <a:spcBef>
                <a:spcPts val="0"/>
              </a:spcBef>
              <a:spcAft>
                <a:spcPts val="0"/>
              </a:spcAft>
              <a:buClrTx/>
              <a:buSzTx/>
              <a:buFontTx/>
              <a:buNone/>
              <a:tabLst/>
              <a:defRPr/>
            </a:pPr>
            <a:r>
              <a:rPr kumimoji="0" lang="en-US" sz="600" b="1"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rPr>
              <a:t>| </a:t>
            </a:r>
            <a:r>
              <a:rPr lang="en-US" sz="600" b="1">
                <a:solidFill>
                  <a:schemeClr val="bg2">
                    <a:lumMod val="50000"/>
                  </a:schemeClr>
                </a:solidFill>
                <a:latin typeface="Roboto" panose="02000000000000000000" pitchFamily="2" charset="0"/>
                <a:ea typeface="Roboto" panose="02000000000000000000" pitchFamily="2" charset="0"/>
              </a:rPr>
              <a:t>77</a:t>
            </a:r>
            <a:r>
              <a:rPr kumimoji="0" lang="en-US" sz="600" b="1"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rPr>
              <a:t>%</a:t>
            </a:r>
            <a:endParaRPr kumimoji="0" lang="en-US" sz="700" b="0"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endParaRPr>
          </a:p>
        </p:txBody>
      </p:sp>
      <p:sp>
        <p:nvSpPr>
          <p:cNvPr id="50" name="CaixaDeTexto 49">
            <a:extLst>
              <a:ext uri="{FF2B5EF4-FFF2-40B4-BE49-F238E27FC236}">
                <a16:creationId xmlns:a16="http://schemas.microsoft.com/office/drawing/2014/main" id="{8B80F4CD-FFAD-4DBA-94C5-7C9E9DE13F70}"/>
              </a:ext>
            </a:extLst>
          </p:cNvPr>
          <p:cNvSpPr txBox="1"/>
          <p:nvPr/>
        </p:nvSpPr>
        <p:spPr>
          <a:xfrm>
            <a:off x="979131" y="5047475"/>
            <a:ext cx="328522" cy="201337"/>
          </a:xfrm>
          <a:prstGeom prst="rect">
            <a:avLst/>
          </a:prstGeom>
          <a:noFill/>
        </p:spPr>
        <p:txBody>
          <a:bodyPr wrap="square" lIns="0" rIns="0" rtlCol="0">
            <a:spAutoFit/>
          </a:bodyPr>
          <a:lstStyle/>
          <a:p>
            <a:pPr marL="0" marR="0" lvl="0" indent="0" defTabSz="914400" rtl="0" eaLnBrk="1" fontAlgn="auto" latinLnBrk="0" hangingPunct="1">
              <a:lnSpc>
                <a:spcPts val="900"/>
              </a:lnSpc>
              <a:spcBef>
                <a:spcPts val="0"/>
              </a:spcBef>
              <a:spcAft>
                <a:spcPts val="0"/>
              </a:spcAft>
              <a:buClrTx/>
              <a:buSzTx/>
              <a:buFontTx/>
              <a:buNone/>
              <a:tabLst/>
              <a:defRPr/>
            </a:pPr>
            <a:r>
              <a:rPr kumimoji="0" lang="en-US" sz="600" b="1"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rPr>
              <a:t>| </a:t>
            </a:r>
            <a:r>
              <a:rPr lang="en-US" sz="600" b="1">
                <a:solidFill>
                  <a:schemeClr val="bg2">
                    <a:lumMod val="50000"/>
                  </a:schemeClr>
                </a:solidFill>
                <a:latin typeface="Roboto" panose="02000000000000000000" pitchFamily="2" charset="0"/>
                <a:ea typeface="Roboto" panose="02000000000000000000" pitchFamily="2" charset="0"/>
              </a:rPr>
              <a:t>11</a:t>
            </a:r>
            <a:r>
              <a:rPr kumimoji="0" lang="en-US" sz="600" b="1"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rPr>
              <a:t>%</a:t>
            </a:r>
            <a:endParaRPr kumimoji="0" lang="en-US" sz="700" b="0"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endParaRPr>
          </a:p>
        </p:txBody>
      </p:sp>
      <p:sp>
        <p:nvSpPr>
          <p:cNvPr id="52" name="CaixaDeTexto 51">
            <a:extLst>
              <a:ext uri="{FF2B5EF4-FFF2-40B4-BE49-F238E27FC236}">
                <a16:creationId xmlns:a16="http://schemas.microsoft.com/office/drawing/2014/main" id="{F51F1674-85C6-4550-83C0-42AAE4A8A858}"/>
              </a:ext>
            </a:extLst>
          </p:cNvPr>
          <p:cNvSpPr txBox="1"/>
          <p:nvPr/>
        </p:nvSpPr>
        <p:spPr>
          <a:xfrm>
            <a:off x="979131" y="5422090"/>
            <a:ext cx="328522" cy="201337"/>
          </a:xfrm>
          <a:prstGeom prst="rect">
            <a:avLst/>
          </a:prstGeom>
          <a:noFill/>
        </p:spPr>
        <p:txBody>
          <a:bodyPr wrap="square" lIns="0" rIns="0" rtlCol="0">
            <a:spAutoFit/>
          </a:bodyPr>
          <a:lstStyle/>
          <a:p>
            <a:pPr marL="0" marR="0" lvl="0" indent="0" defTabSz="914400" rtl="0" eaLnBrk="1" fontAlgn="auto" latinLnBrk="0" hangingPunct="1">
              <a:lnSpc>
                <a:spcPts val="900"/>
              </a:lnSpc>
              <a:spcBef>
                <a:spcPts val="0"/>
              </a:spcBef>
              <a:spcAft>
                <a:spcPts val="0"/>
              </a:spcAft>
              <a:buClrTx/>
              <a:buSzTx/>
              <a:buFontTx/>
              <a:buNone/>
              <a:tabLst/>
              <a:defRPr/>
            </a:pPr>
            <a:r>
              <a:rPr kumimoji="0" lang="en-US" sz="600" b="1"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rPr>
              <a:t>| </a:t>
            </a:r>
            <a:r>
              <a:rPr lang="en-US" sz="600" b="1">
                <a:solidFill>
                  <a:schemeClr val="bg2">
                    <a:lumMod val="50000"/>
                  </a:schemeClr>
                </a:solidFill>
                <a:latin typeface="Roboto" panose="02000000000000000000" pitchFamily="2" charset="0"/>
                <a:ea typeface="Roboto" panose="02000000000000000000" pitchFamily="2" charset="0"/>
              </a:rPr>
              <a:t>7</a:t>
            </a:r>
            <a:r>
              <a:rPr kumimoji="0" lang="en-US" sz="600" b="1"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rPr>
              <a:t>%</a:t>
            </a:r>
            <a:endParaRPr kumimoji="0" lang="en-US" sz="700" b="0"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endParaRPr>
          </a:p>
        </p:txBody>
      </p:sp>
      <p:sp>
        <p:nvSpPr>
          <p:cNvPr id="53" name="CaixaDeTexto 52">
            <a:extLst>
              <a:ext uri="{FF2B5EF4-FFF2-40B4-BE49-F238E27FC236}">
                <a16:creationId xmlns:a16="http://schemas.microsoft.com/office/drawing/2014/main" id="{C32ACED2-7694-440E-AB36-A18A4D5A722C}"/>
              </a:ext>
            </a:extLst>
          </p:cNvPr>
          <p:cNvSpPr txBox="1"/>
          <p:nvPr/>
        </p:nvSpPr>
        <p:spPr>
          <a:xfrm>
            <a:off x="979131" y="5825521"/>
            <a:ext cx="328522" cy="201337"/>
          </a:xfrm>
          <a:prstGeom prst="rect">
            <a:avLst/>
          </a:prstGeom>
          <a:noFill/>
        </p:spPr>
        <p:txBody>
          <a:bodyPr wrap="square" lIns="0" rIns="0" rtlCol="0">
            <a:spAutoFit/>
          </a:bodyPr>
          <a:lstStyle/>
          <a:p>
            <a:pPr marL="0" marR="0" lvl="0" indent="0" defTabSz="914400" rtl="0" eaLnBrk="1" fontAlgn="auto" latinLnBrk="0" hangingPunct="1">
              <a:lnSpc>
                <a:spcPts val="900"/>
              </a:lnSpc>
              <a:spcBef>
                <a:spcPts val="0"/>
              </a:spcBef>
              <a:spcAft>
                <a:spcPts val="0"/>
              </a:spcAft>
              <a:buClrTx/>
              <a:buSzTx/>
              <a:buFontTx/>
              <a:buNone/>
              <a:tabLst/>
              <a:defRPr/>
            </a:pPr>
            <a:r>
              <a:rPr kumimoji="0" lang="en-US" sz="600" b="1"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rPr>
              <a:t>| </a:t>
            </a:r>
            <a:r>
              <a:rPr lang="en-US" sz="600" b="1">
                <a:solidFill>
                  <a:schemeClr val="bg2">
                    <a:lumMod val="50000"/>
                  </a:schemeClr>
                </a:solidFill>
                <a:latin typeface="Roboto" panose="02000000000000000000" pitchFamily="2" charset="0"/>
                <a:ea typeface="Roboto" panose="02000000000000000000" pitchFamily="2" charset="0"/>
              </a:rPr>
              <a:t>3</a:t>
            </a:r>
            <a:r>
              <a:rPr kumimoji="0" lang="en-US" sz="600" b="1"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rPr>
              <a:t>%</a:t>
            </a:r>
            <a:endParaRPr kumimoji="0" lang="en-US" sz="700" b="0"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endParaRPr>
          </a:p>
        </p:txBody>
      </p:sp>
      <p:sp>
        <p:nvSpPr>
          <p:cNvPr id="54" name="CaixaDeTexto 53">
            <a:extLst>
              <a:ext uri="{FF2B5EF4-FFF2-40B4-BE49-F238E27FC236}">
                <a16:creationId xmlns:a16="http://schemas.microsoft.com/office/drawing/2014/main" id="{3E9DCFC8-B038-4C04-8D36-74EF60149BB3}"/>
              </a:ext>
            </a:extLst>
          </p:cNvPr>
          <p:cNvSpPr txBox="1"/>
          <p:nvPr/>
        </p:nvSpPr>
        <p:spPr>
          <a:xfrm>
            <a:off x="979131" y="6233047"/>
            <a:ext cx="328522" cy="201337"/>
          </a:xfrm>
          <a:prstGeom prst="rect">
            <a:avLst/>
          </a:prstGeom>
          <a:noFill/>
        </p:spPr>
        <p:txBody>
          <a:bodyPr wrap="square" lIns="0" rIns="0" rtlCol="0">
            <a:spAutoFit/>
          </a:bodyPr>
          <a:lstStyle/>
          <a:p>
            <a:pPr marL="0" marR="0" lvl="0" indent="0" defTabSz="914400" rtl="0" eaLnBrk="1" fontAlgn="auto" latinLnBrk="0" hangingPunct="1">
              <a:lnSpc>
                <a:spcPts val="900"/>
              </a:lnSpc>
              <a:spcBef>
                <a:spcPts val="0"/>
              </a:spcBef>
              <a:spcAft>
                <a:spcPts val="0"/>
              </a:spcAft>
              <a:buClrTx/>
              <a:buSzTx/>
              <a:buFontTx/>
              <a:buNone/>
              <a:tabLst/>
              <a:defRPr/>
            </a:pPr>
            <a:r>
              <a:rPr kumimoji="0" lang="en-US" sz="600" b="1"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rPr>
              <a:t>| 2%</a:t>
            </a:r>
            <a:endParaRPr kumimoji="0" lang="en-US" sz="700" b="0"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endParaRPr>
          </a:p>
        </p:txBody>
      </p:sp>
      <p:sp>
        <p:nvSpPr>
          <p:cNvPr id="57" name="CaixaDeTexto 56">
            <a:extLst>
              <a:ext uri="{FF2B5EF4-FFF2-40B4-BE49-F238E27FC236}">
                <a16:creationId xmlns:a16="http://schemas.microsoft.com/office/drawing/2014/main" id="{FA8A927B-C238-4C2D-8C15-BCAB26C75538}"/>
              </a:ext>
            </a:extLst>
          </p:cNvPr>
          <p:cNvSpPr txBox="1"/>
          <p:nvPr/>
        </p:nvSpPr>
        <p:spPr>
          <a:xfrm>
            <a:off x="6134419" y="4262292"/>
            <a:ext cx="1260000" cy="338554"/>
          </a:xfrm>
          <a:prstGeom prst="rect">
            <a:avLst/>
          </a:prstGeom>
          <a:noFill/>
        </p:spPr>
        <p:txBody>
          <a:bodyPr wrap="square" rtlCol="0">
            <a:spAutoFit/>
          </a:bodyPr>
          <a:lstStyle>
            <a:defPPr>
              <a:defRPr lang="de-DE"/>
            </a:defPPr>
            <a:lvl1pPr marR="0" lvl="0" indent="0" fontAlgn="auto">
              <a:lnSpc>
                <a:spcPct val="100000"/>
              </a:lnSpc>
              <a:spcBef>
                <a:spcPts val="0"/>
              </a:spcBef>
              <a:spcAft>
                <a:spcPts val="0"/>
              </a:spcAft>
              <a:buClrTx/>
              <a:buSzTx/>
              <a:buFontTx/>
              <a:buNone/>
              <a:tabLst/>
              <a:defRPr kumimoji="0" sz="900" b="0" i="0" u="none" strike="noStrike" cap="none" spc="0" normalizeH="0" baseline="0">
                <a:ln>
                  <a:noFill/>
                </a:ln>
                <a:solidFill>
                  <a:prstClr val="black"/>
                </a:solidFill>
                <a:effectLst/>
                <a:uLnTx/>
                <a:uFillTx/>
                <a:latin typeface="Roboto" panose="02000000000000000000" pitchFamily="2" charset="0"/>
                <a:ea typeface="Roboto" panose="02000000000000000000" pitchFamily="2" charset="0"/>
              </a:defRPr>
            </a:lvl1pPr>
          </a:lstStyle>
          <a:p>
            <a:r>
              <a:rPr lang="fr-FR" sz="800"/>
              <a:t>CE | Odyssey Monitores | E-mail | T1​</a:t>
            </a:r>
            <a:endParaRPr lang="en-US" sz="800"/>
          </a:p>
        </p:txBody>
      </p:sp>
      <p:sp>
        <p:nvSpPr>
          <p:cNvPr id="67" name="CaixaDeTexto 66">
            <a:extLst>
              <a:ext uri="{FF2B5EF4-FFF2-40B4-BE49-F238E27FC236}">
                <a16:creationId xmlns:a16="http://schemas.microsoft.com/office/drawing/2014/main" id="{FEF739A2-D942-4723-A765-346132BB3BAD}"/>
              </a:ext>
            </a:extLst>
          </p:cNvPr>
          <p:cNvSpPr txBox="1"/>
          <p:nvPr/>
        </p:nvSpPr>
        <p:spPr>
          <a:xfrm>
            <a:off x="6102937" y="5809480"/>
            <a:ext cx="1260000" cy="338554"/>
          </a:xfrm>
          <a:prstGeom prst="rect">
            <a:avLst/>
          </a:prstGeom>
          <a:noFill/>
        </p:spPr>
        <p:txBody>
          <a:bodyPr wrap="square" rtlCol="0">
            <a:spAutoFit/>
          </a:bodyPr>
          <a:lstStyle>
            <a:defPPr>
              <a:defRPr lang="de-DE"/>
            </a:defPPr>
            <a:lvl1pPr marR="0" lvl="0" indent="0" fontAlgn="auto">
              <a:lnSpc>
                <a:spcPct val="100000"/>
              </a:lnSpc>
              <a:spcBef>
                <a:spcPts val="0"/>
              </a:spcBef>
              <a:spcAft>
                <a:spcPts val="0"/>
              </a:spcAft>
              <a:buClrTx/>
              <a:buSzTx/>
              <a:buFontTx/>
              <a:buNone/>
              <a:tabLst/>
              <a:defRPr kumimoji="0" sz="900" b="0" i="0" u="none" strike="noStrike" cap="none" spc="0" normalizeH="0" baseline="0">
                <a:ln>
                  <a:noFill/>
                </a:ln>
                <a:solidFill>
                  <a:prstClr val="black"/>
                </a:solidFill>
                <a:effectLst/>
                <a:uLnTx/>
                <a:uFillTx/>
                <a:latin typeface="Roboto" panose="02000000000000000000" pitchFamily="2" charset="0"/>
                <a:ea typeface="Roboto" panose="02000000000000000000" pitchFamily="2" charset="0"/>
              </a:defRPr>
            </a:lvl1pPr>
          </a:lstStyle>
          <a:p>
            <a:pPr algn="r"/>
            <a:r>
              <a:rPr lang="fr-FR" sz="800"/>
              <a:t>CE | VD One | E-mail |  T1​ | Revenue: R$10k</a:t>
            </a:r>
            <a:endParaRPr lang="en-US" sz="800"/>
          </a:p>
        </p:txBody>
      </p:sp>
      <p:pic>
        <p:nvPicPr>
          <p:cNvPr id="16" name="Imagem 15">
            <a:extLst>
              <a:ext uri="{FF2B5EF4-FFF2-40B4-BE49-F238E27FC236}">
                <a16:creationId xmlns:a16="http://schemas.microsoft.com/office/drawing/2014/main" id="{CDA2BBE4-C96A-45E1-83D1-FB2B1D3353E2}"/>
              </a:ext>
            </a:extLst>
          </p:cNvPr>
          <p:cNvPicPr>
            <a:picLocks noChangeAspect="1"/>
          </p:cNvPicPr>
          <p:nvPr/>
        </p:nvPicPr>
        <p:blipFill>
          <a:blip r:embed="rId6"/>
          <a:stretch>
            <a:fillRect/>
          </a:stretch>
        </p:blipFill>
        <p:spPr>
          <a:xfrm>
            <a:off x="300599" y="3226112"/>
            <a:ext cx="4656218" cy="673847"/>
          </a:xfrm>
          <a:prstGeom prst="rect">
            <a:avLst/>
          </a:prstGeom>
        </p:spPr>
      </p:pic>
      <p:pic>
        <p:nvPicPr>
          <p:cNvPr id="19" name="Imagem 18">
            <a:extLst>
              <a:ext uri="{FF2B5EF4-FFF2-40B4-BE49-F238E27FC236}">
                <a16:creationId xmlns:a16="http://schemas.microsoft.com/office/drawing/2014/main" id="{83C5D4B1-816D-42CB-82D3-CF4651C0ED23}"/>
              </a:ext>
            </a:extLst>
          </p:cNvPr>
          <p:cNvPicPr>
            <a:picLocks noChangeAspect="1"/>
          </p:cNvPicPr>
          <p:nvPr/>
        </p:nvPicPr>
        <p:blipFill>
          <a:blip r:embed="rId7"/>
          <a:stretch>
            <a:fillRect/>
          </a:stretch>
        </p:blipFill>
        <p:spPr>
          <a:xfrm>
            <a:off x="1974890" y="2908402"/>
            <a:ext cx="2981927" cy="324487"/>
          </a:xfrm>
          <a:prstGeom prst="rect">
            <a:avLst/>
          </a:prstGeom>
        </p:spPr>
      </p:pic>
      <p:pic>
        <p:nvPicPr>
          <p:cNvPr id="1026" name="Picture 2">
            <a:extLst>
              <a:ext uri="{FF2B5EF4-FFF2-40B4-BE49-F238E27FC236}">
                <a16:creationId xmlns:a16="http://schemas.microsoft.com/office/drawing/2014/main" id="{BD4B87C1-3780-4D1D-BCCD-8517773F2221}"/>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751817" y="4245053"/>
            <a:ext cx="307030" cy="246079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80A0CE37-FDD7-4EC0-A1C2-B799DB23181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92674" y="4496442"/>
            <a:ext cx="600799" cy="21653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55913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9CB18-F219-4E87-8E1A-E3D673947FD9}"/>
            </a:ext>
          </a:extLst>
        </p:cNvPr>
        <p:cNvGrpSpPr/>
        <p:nvPr/>
      </p:nvGrpSpPr>
      <p:grpSpPr>
        <a:xfrm>
          <a:off x="0" y="0"/>
          <a:ext cx="0" cy="0"/>
          <a:chOff x="0" y="0"/>
          <a:chExt cx="0" cy="0"/>
        </a:xfrm>
      </p:grpSpPr>
      <p:pic>
        <p:nvPicPr>
          <p:cNvPr id="4" name="Imagem 3">
            <a:extLst>
              <a:ext uri="{FF2B5EF4-FFF2-40B4-BE49-F238E27FC236}">
                <a16:creationId xmlns:a16="http://schemas.microsoft.com/office/drawing/2014/main" id="{22A0EF97-E714-4A7E-9377-4FCEA4FAA79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25426" y="4465868"/>
            <a:ext cx="1106793" cy="1968515"/>
          </a:xfrm>
          <a:prstGeom prst="rect">
            <a:avLst/>
          </a:prstGeom>
        </p:spPr>
      </p:pic>
      <p:pic>
        <p:nvPicPr>
          <p:cNvPr id="52" name="Imagem 51">
            <a:extLst>
              <a:ext uri="{FF2B5EF4-FFF2-40B4-BE49-F238E27FC236}">
                <a16:creationId xmlns:a16="http://schemas.microsoft.com/office/drawing/2014/main" id="{E5D68054-1A6B-4236-B0FA-EF272D99920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8702698" y="2807506"/>
            <a:ext cx="3169537" cy="1137096"/>
          </a:xfrm>
          <a:prstGeom prst="rect">
            <a:avLst/>
          </a:prstGeom>
        </p:spPr>
      </p:pic>
      <p:pic>
        <p:nvPicPr>
          <p:cNvPr id="53" name="Imagem 52">
            <a:extLst>
              <a:ext uri="{FF2B5EF4-FFF2-40B4-BE49-F238E27FC236}">
                <a16:creationId xmlns:a16="http://schemas.microsoft.com/office/drawing/2014/main" id="{820603F9-486B-49A1-8633-0F1AE5471928}"/>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262256" y="2819531"/>
            <a:ext cx="3161672" cy="1110314"/>
          </a:xfrm>
          <a:prstGeom prst="rect">
            <a:avLst/>
          </a:prstGeom>
        </p:spPr>
      </p:pic>
      <p:sp>
        <p:nvSpPr>
          <p:cNvPr id="38" name="Retângulo 37">
            <a:extLst>
              <a:ext uri="{FF2B5EF4-FFF2-40B4-BE49-F238E27FC236}">
                <a16:creationId xmlns:a16="http://schemas.microsoft.com/office/drawing/2014/main" id="{D7175C55-0617-44FA-ACC2-FBDE362B7A60}"/>
              </a:ext>
            </a:extLst>
          </p:cNvPr>
          <p:cNvSpPr/>
          <p:nvPr/>
        </p:nvSpPr>
        <p:spPr>
          <a:xfrm>
            <a:off x="274613" y="4219583"/>
            <a:ext cx="3648993" cy="2484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Retângulo 40">
            <a:extLst>
              <a:ext uri="{FF2B5EF4-FFF2-40B4-BE49-F238E27FC236}">
                <a16:creationId xmlns:a16="http://schemas.microsoft.com/office/drawing/2014/main" id="{D4B1321F-7F58-4E2D-9CC9-BF4F7D84DD03}"/>
              </a:ext>
            </a:extLst>
          </p:cNvPr>
          <p:cNvSpPr/>
          <p:nvPr/>
        </p:nvSpPr>
        <p:spPr>
          <a:xfrm>
            <a:off x="4083620" y="4219584"/>
            <a:ext cx="4006237" cy="2484234"/>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CaixaDeTexto 38">
            <a:extLst>
              <a:ext uri="{FF2B5EF4-FFF2-40B4-BE49-F238E27FC236}">
                <a16:creationId xmlns:a16="http://schemas.microsoft.com/office/drawing/2014/main" id="{2AD55F3B-9EC8-4611-99F8-7708C7E9799C}"/>
              </a:ext>
            </a:extLst>
          </p:cNvPr>
          <p:cNvSpPr txBox="1"/>
          <p:nvPr/>
        </p:nvSpPr>
        <p:spPr>
          <a:xfrm>
            <a:off x="425427" y="4108404"/>
            <a:ext cx="1187840" cy="307777"/>
          </a:xfrm>
          <a:prstGeom prst="rect">
            <a:avLst/>
          </a:prstGeom>
          <a:solidFill>
            <a:schemeClr val="bg1"/>
          </a:solidFill>
        </p:spPr>
        <p:txBody>
          <a:bodyPr wrap="square" tIns="18000" bIns="0" rtlCol="0">
            <a:noAutofit/>
          </a:bodyPr>
          <a:lstStyle>
            <a:defPPr>
              <a:defRPr lang="de-DE"/>
            </a:defPPr>
            <a:lvl1pPr marR="0" lvl="0" indent="0" fontAlgn="auto">
              <a:lnSpc>
                <a:spcPct val="100000"/>
              </a:lnSpc>
              <a:spcBef>
                <a:spcPts val="0"/>
              </a:spcBef>
              <a:spcAft>
                <a:spcPts val="0"/>
              </a:spcAft>
              <a:buClrTx/>
              <a:buSzTx/>
              <a:buFontTx/>
              <a:buNone/>
              <a:tabLst/>
              <a:defRPr kumimoji="0" sz="1400" b="1" i="0" u="none" strike="noStrike" kern="0" cap="none" spc="0" normalizeH="0" baseline="0">
                <a:ln>
                  <a:noFill/>
                </a:ln>
                <a:solidFill>
                  <a:srgbClr val="002060"/>
                </a:solidFill>
                <a:effectLst/>
                <a:uLnTx/>
                <a:uFillTx/>
                <a:latin typeface="Samsung Sharp Sans Bold" panose="02000503000000020004"/>
              </a:defRPr>
            </a:lvl1pPr>
          </a:lstStyle>
          <a:p>
            <a:r>
              <a:rPr lang="en-US"/>
              <a:t>Channels</a:t>
            </a:r>
          </a:p>
        </p:txBody>
      </p:sp>
      <p:sp>
        <p:nvSpPr>
          <p:cNvPr id="17" name="CaixaDeTexto 16">
            <a:extLst>
              <a:ext uri="{FF2B5EF4-FFF2-40B4-BE49-F238E27FC236}">
                <a16:creationId xmlns:a16="http://schemas.microsoft.com/office/drawing/2014/main" id="{1599E762-144E-494D-BD91-907DFA8668D4}"/>
              </a:ext>
            </a:extLst>
          </p:cNvPr>
          <p:cNvSpPr txBox="1"/>
          <p:nvPr/>
        </p:nvSpPr>
        <p:spPr>
          <a:xfrm>
            <a:off x="4227531" y="4108404"/>
            <a:ext cx="1056721" cy="307777"/>
          </a:xfrm>
          <a:prstGeom prst="rect">
            <a:avLst/>
          </a:prstGeom>
          <a:solidFill>
            <a:schemeClr val="bg1"/>
          </a:solidFill>
        </p:spPr>
        <p:txBody>
          <a:bodyPr wrap="square" tIns="18000" bIns="0" rtlCol="0">
            <a:noAutofit/>
          </a:bodyPr>
          <a:lstStyle>
            <a:defPPr>
              <a:defRPr lang="de-DE"/>
            </a:defPPr>
            <a:lvl1pPr marR="0" lvl="0" indent="0" fontAlgn="auto">
              <a:lnSpc>
                <a:spcPct val="100000"/>
              </a:lnSpc>
              <a:spcBef>
                <a:spcPts val="0"/>
              </a:spcBef>
              <a:spcAft>
                <a:spcPts val="0"/>
              </a:spcAft>
              <a:buClrTx/>
              <a:buSzTx/>
              <a:buFontTx/>
              <a:buNone/>
              <a:tabLst/>
              <a:defRPr kumimoji="0" sz="1400" b="1" i="0" u="none" strike="noStrike" kern="0" cap="none" spc="0" normalizeH="0" baseline="0">
                <a:ln>
                  <a:noFill/>
                </a:ln>
                <a:solidFill>
                  <a:srgbClr val="002060"/>
                </a:solidFill>
                <a:effectLst/>
                <a:uLnTx/>
                <a:uFillTx/>
                <a:latin typeface="Samsung Sharp Sans Bold" panose="02000503000000020004"/>
              </a:defRPr>
            </a:lvl1pPr>
          </a:lstStyle>
          <a:p>
            <a:r>
              <a:rPr lang="en-US"/>
              <a:t>Top Assets</a:t>
            </a:r>
          </a:p>
        </p:txBody>
      </p:sp>
      <p:sp>
        <p:nvSpPr>
          <p:cNvPr id="7" name="Retângulo 6">
            <a:extLst>
              <a:ext uri="{FF2B5EF4-FFF2-40B4-BE49-F238E27FC236}">
                <a16:creationId xmlns:a16="http://schemas.microsoft.com/office/drawing/2014/main" id="{4FE8EBBF-6CD9-4874-9912-D6A2C55BFCB3}"/>
              </a:ext>
            </a:extLst>
          </p:cNvPr>
          <p:cNvSpPr/>
          <p:nvPr/>
        </p:nvSpPr>
        <p:spPr>
          <a:xfrm>
            <a:off x="274613" y="916744"/>
            <a:ext cx="11644677" cy="1065143"/>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CaixaDeTexto 8">
            <a:extLst>
              <a:ext uri="{FF2B5EF4-FFF2-40B4-BE49-F238E27FC236}">
                <a16:creationId xmlns:a16="http://schemas.microsoft.com/office/drawing/2014/main" id="{AC1FFC61-826C-4B77-94F0-DCE09D1889EC}"/>
              </a:ext>
            </a:extLst>
          </p:cNvPr>
          <p:cNvSpPr txBox="1"/>
          <p:nvPr/>
        </p:nvSpPr>
        <p:spPr>
          <a:xfrm>
            <a:off x="353128" y="789232"/>
            <a:ext cx="1394658" cy="307777"/>
          </a:xfrm>
          <a:prstGeom prst="rect">
            <a:avLst/>
          </a:prstGeom>
          <a:solidFill>
            <a:schemeClr val="bg1"/>
          </a:solidFill>
        </p:spPr>
        <p:txBody>
          <a:bodyPr wrap="square" tIns="18000" bIns="0" rtlCol="0">
            <a:noAutofit/>
          </a:bodyPr>
          <a:lstStyle>
            <a:defPPr>
              <a:defRPr lang="de-DE"/>
            </a:defPPr>
            <a:lvl1pPr marR="0" lvl="0" indent="0" fontAlgn="auto">
              <a:lnSpc>
                <a:spcPct val="100000"/>
              </a:lnSpc>
              <a:spcBef>
                <a:spcPts val="0"/>
              </a:spcBef>
              <a:spcAft>
                <a:spcPts val="0"/>
              </a:spcAft>
              <a:buClrTx/>
              <a:buSzTx/>
              <a:buFontTx/>
              <a:buNone/>
              <a:tabLst/>
              <a:defRPr kumimoji="0" sz="1400" b="1" i="0" u="none" strike="noStrike" kern="0" cap="none" spc="0" normalizeH="0" baseline="0">
                <a:ln>
                  <a:noFill/>
                </a:ln>
                <a:solidFill>
                  <a:srgbClr val="002060"/>
                </a:solidFill>
                <a:effectLst/>
                <a:uLnTx/>
                <a:uFillTx/>
                <a:latin typeface="Samsung Sharp Sans Bold" panose="02000503000000020004"/>
              </a:defRPr>
            </a:lvl1pPr>
          </a:lstStyle>
          <a:p>
            <a:r>
              <a:rPr lang="en-US"/>
              <a:t>Big Numbers</a:t>
            </a:r>
          </a:p>
        </p:txBody>
      </p:sp>
      <p:sp>
        <p:nvSpPr>
          <p:cNvPr id="11" name="CaixaDeTexto 10">
            <a:extLst>
              <a:ext uri="{FF2B5EF4-FFF2-40B4-BE49-F238E27FC236}">
                <a16:creationId xmlns:a16="http://schemas.microsoft.com/office/drawing/2014/main" id="{8AECF4CC-065C-46DB-BD0F-E0E658CBDAC7}"/>
              </a:ext>
            </a:extLst>
          </p:cNvPr>
          <p:cNvSpPr txBox="1"/>
          <p:nvPr/>
        </p:nvSpPr>
        <p:spPr>
          <a:xfrm>
            <a:off x="385561" y="2282232"/>
            <a:ext cx="4526544" cy="553998"/>
          </a:xfrm>
          <a:prstGeom prst="rect">
            <a:avLst/>
          </a:prstGeom>
          <a:noFill/>
        </p:spPr>
        <p:txBody>
          <a:bodyPr wrap="square" rtlCol="0">
            <a:spAutoFit/>
          </a:bodyPr>
          <a:lstStyle>
            <a:defPPr>
              <a:defRPr lang="de-DE"/>
            </a:defPPr>
            <a:lvl1pPr marR="0" lvl="0" indent="0" fontAlgn="auto">
              <a:lnSpc>
                <a:spcPct val="100000"/>
              </a:lnSpc>
              <a:spcBef>
                <a:spcPts val="0"/>
              </a:spcBef>
              <a:spcAft>
                <a:spcPts val="0"/>
              </a:spcAft>
              <a:buClrTx/>
              <a:buSzTx/>
              <a:buFontTx/>
              <a:buNone/>
              <a:tabLst/>
              <a:defRPr kumimoji="0" sz="1100" b="0" i="0" u="none" strike="noStrike" cap="none" spc="0" normalizeH="0" baseline="0">
                <a:ln>
                  <a:noFill/>
                </a:ln>
                <a:solidFill>
                  <a:prstClr val="black"/>
                </a:solidFill>
                <a:effectLst/>
                <a:uLnTx/>
                <a:uFillTx/>
                <a:latin typeface="Roboto" panose="02000000000000000000" pitchFamily="2" charset="0"/>
                <a:ea typeface="Roboto" panose="02000000000000000000" pitchFamily="2" charset="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HA generated R$</a:t>
            </a:r>
            <a:r>
              <a:rPr lang="en-US" sz="1000" b="1"/>
              <a:t>400</a:t>
            </a:r>
            <a:r>
              <a:rPr kumimoji="0" lang="en-US" sz="10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K </a:t>
            </a:r>
            <a:r>
              <a:rPr kumimoji="0" lang="en-US" sz="10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and </a:t>
            </a:r>
            <a:r>
              <a:rPr kumimoji="0" lang="en-US" sz="10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1.06 G/R</a:t>
            </a:r>
            <a:r>
              <a:rPr kumimoji="0" lang="en-US" sz="10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AC reached R$</a:t>
            </a:r>
            <a:r>
              <a:rPr lang="en-US" sz="1000" b="1"/>
              <a:t>95,8</a:t>
            </a:r>
            <a:r>
              <a:rPr kumimoji="0" lang="en-US" sz="10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K </a:t>
            </a:r>
            <a:r>
              <a:rPr kumimoji="0" lang="en-US" sz="10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and</a:t>
            </a:r>
            <a:r>
              <a:rPr kumimoji="0" lang="en-US" sz="10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1.24 G/R</a:t>
            </a:r>
            <a:r>
              <a:rPr kumimoji="0" lang="en-US" sz="10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showing potential to equilibrate DA share. </a:t>
            </a:r>
            <a:endParaRPr kumimoji="0" lang="pt-BR" sz="6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p:txBody>
      </p:sp>
      <p:sp>
        <p:nvSpPr>
          <p:cNvPr id="12" name="CaixaDeTexto 11">
            <a:extLst>
              <a:ext uri="{FF2B5EF4-FFF2-40B4-BE49-F238E27FC236}">
                <a16:creationId xmlns:a16="http://schemas.microsoft.com/office/drawing/2014/main" id="{90AB7E3D-DAE8-439D-94E6-D03F51BE285C}"/>
              </a:ext>
            </a:extLst>
          </p:cNvPr>
          <p:cNvSpPr txBox="1"/>
          <p:nvPr/>
        </p:nvSpPr>
        <p:spPr>
          <a:xfrm>
            <a:off x="274612" y="526008"/>
            <a:ext cx="11764987"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DA </a:t>
            </a:r>
            <a:r>
              <a:rPr kumimoji="0" lang="en-US" sz="1100" i="0" u="none" strike="noStrike" kern="1200" cap="none" spc="0" normalizeH="0" baseline="0" noProof="0">
                <a:ln>
                  <a:noFill/>
                </a:ln>
                <a:solidFill>
                  <a:prstClr val="black"/>
                </a:solidFill>
                <a:effectLst/>
                <a:uLnTx/>
                <a:uFillTx/>
                <a:latin typeface="Calibri" panose="020F0502020204030204"/>
                <a:ea typeface="+mn-ea"/>
                <a:cs typeface="+mn-cs"/>
              </a:rPr>
              <a:t>reached</a:t>
            </a: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 R$</a:t>
            </a:r>
            <a:r>
              <a:rPr lang="en-US" sz="1100" b="1">
                <a:solidFill>
                  <a:prstClr val="black"/>
                </a:solidFill>
                <a:latin typeface="Calibri" panose="020F0502020204030204"/>
              </a:rPr>
              <a:t>496</a:t>
            </a: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K </a:t>
            </a:r>
            <a:r>
              <a:rPr kumimoji="0" lang="en-US" sz="1100" i="0" u="none" strike="noStrike" kern="1200" cap="none" spc="0" normalizeH="0" baseline="0" noProof="0">
                <a:ln>
                  <a:noFill/>
                </a:ln>
                <a:solidFill>
                  <a:prstClr val="black"/>
                </a:solidFill>
                <a:effectLst/>
                <a:uLnTx/>
                <a:uFillTx/>
                <a:latin typeface="Calibri" panose="020F0502020204030204"/>
                <a:ea typeface="+mn-ea"/>
                <a:cs typeface="+mn-cs"/>
              </a:rPr>
              <a:t>and</a:t>
            </a: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 1.09 G/R, </a:t>
            </a:r>
            <a:r>
              <a:rPr kumimoji="0" lang="en-US" sz="1100" i="0" u="none" strike="noStrike" kern="1200" cap="none" spc="0" normalizeH="0" baseline="0" noProof="0">
                <a:ln>
                  <a:noFill/>
                </a:ln>
                <a:solidFill>
                  <a:prstClr val="black"/>
                </a:solidFill>
                <a:effectLst/>
                <a:uLnTx/>
                <a:uFillTx/>
                <a:latin typeface="Calibri" panose="020F0502020204030204"/>
                <a:ea typeface="+mn-ea"/>
                <a:cs typeface="+mn-cs"/>
              </a:rPr>
              <a:t>led by </a:t>
            </a: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Washer Dryer </a:t>
            </a:r>
            <a:r>
              <a:rPr kumimoji="0" lang="en-US" sz="1100" i="0" u="none" strike="noStrike" kern="1200" cap="none" spc="0" normalizeH="0" baseline="0" noProof="0">
                <a:ln>
                  <a:noFill/>
                </a:ln>
                <a:solidFill>
                  <a:prstClr val="black"/>
                </a:solidFill>
                <a:effectLst/>
                <a:uLnTx/>
                <a:uFillTx/>
                <a:latin typeface="Calibri" panose="020F0502020204030204"/>
                <a:ea typeface="+mn-ea"/>
                <a:cs typeface="+mn-cs"/>
              </a:rPr>
              <a:t>and</a:t>
            </a: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 </a:t>
            </a:r>
            <a:r>
              <a:rPr lang="en-US" sz="1100" b="1">
                <a:solidFill>
                  <a:prstClr val="black"/>
                </a:solidFill>
                <a:latin typeface="Calibri" panose="020F0502020204030204"/>
              </a:rPr>
              <a:t>Cook</a:t>
            </a: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 while Growth remained the main CRM commercial pillar.</a:t>
            </a:r>
            <a:endParaRPr kumimoji="0" lang="pt-BR" sz="11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p:txBody>
      </p:sp>
      <p:sp>
        <p:nvSpPr>
          <p:cNvPr id="33" name="Retângulo 32">
            <a:extLst>
              <a:ext uri="{FF2B5EF4-FFF2-40B4-BE49-F238E27FC236}">
                <a16:creationId xmlns:a16="http://schemas.microsoft.com/office/drawing/2014/main" id="{63DD639D-D419-4B27-B0B2-4BE7B14ACD68}"/>
              </a:ext>
            </a:extLst>
          </p:cNvPr>
          <p:cNvSpPr/>
          <p:nvPr/>
        </p:nvSpPr>
        <p:spPr>
          <a:xfrm>
            <a:off x="8745668" y="2641910"/>
            <a:ext cx="588952" cy="11906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prstClr val="black"/>
                </a:solidFill>
                <a:effectLst/>
                <a:uLnTx/>
                <a:uFillTx/>
                <a:latin typeface="Calibri" panose="020F0502020204030204"/>
                <a:ea typeface="+mn-ea"/>
                <a:cs typeface="+mn-cs"/>
              </a:rPr>
              <a:t>2026:</a:t>
            </a:r>
            <a:endParaRPr kumimoji="0" lang="pt-BR" sz="7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Retângulo 33">
            <a:extLst>
              <a:ext uri="{FF2B5EF4-FFF2-40B4-BE49-F238E27FC236}">
                <a16:creationId xmlns:a16="http://schemas.microsoft.com/office/drawing/2014/main" id="{B2E63628-7CFB-4977-AD85-A416C0BBD6F0}"/>
              </a:ext>
            </a:extLst>
          </p:cNvPr>
          <p:cNvSpPr/>
          <p:nvPr/>
        </p:nvSpPr>
        <p:spPr>
          <a:xfrm>
            <a:off x="5344460" y="2641910"/>
            <a:ext cx="588952" cy="11906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prstClr val="black"/>
                </a:solidFill>
                <a:effectLst/>
                <a:uLnTx/>
                <a:uFillTx/>
                <a:latin typeface="Calibri" panose="020F0502020204030204"/>
                <a:ea typeface="+mn-ea"/>
                <a:cs typeface="+mn-cs"/>
              </a:rPr>
              <a:t>2025:</a:t>
            </a:r>
            <a:endParaRPr kumimoji="0" lang="pt-BR" sz="7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riângulo isósceles 41">
            <a:extLst>
              <a:ext uri="{FF2B5EF4-FFF2-40B4-BE49-F238E27FC236}">
                <a16:creationId xmlns:a16="http://schemas.microsoft.com/office/drawing/2014/main" id="{15EAE065-AAFD-45B7-8F76-C6D738FD9A7C}"/>
              </a:ext>
            </a:extLst>
          </p:cNvPr>
          <p:cNvSpPr/>
          <p:nvPr/>
        </p:nvSpPr>
        <p:spPr>
          <a:xfrm rot="5400000">
            <a:off x="8359295" y="3326568"/>
            <a:ext cx="362211" cy="206648"/>
          </a:xfrm>
          <a:prstGeom prst="triangle">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AutoShape 2" descr="Resultado de imagem para Imagens Do Simbolo De Atenção">
            <a:extLst>
              <a:ext uri="{FF2B5EF4-FFF2-40B4-BE49-F238E27FC236}">
                <a16:creationId xmlns:a16="http://schemas.microsoft.com/office/drawing/2014/main" id="{E663F2B9-C773-4414-AC52-F7A1D0B2C189}"/>
              </a:ext>
            </a:extLst>
          </p:cNvPr>
          <p:cNvSpPr>
            <a:spLocks noChangeAspect="1" noChangeArrowheads="1"/>
          </p:cNvSpPr>
          <p:nvPr/>
        </p:nvSpPr>
        <p:spPr bwMode="auto">
          <a:xfrm>
            <a:off x="5195888" y="2433638"/>
            <a:ext cx="1857375" cy="18573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Retângulo 69">
            <a:extLst>
              <a:ext uri="{FF2B5EF4-FFF2-40B4-BE49-F238E27FC236}">
                <a16:creationId xmlns:a16="http://schemas.microsoft.com/office/drawing/2014/main" id="{BB8C171B-EA56-4211-AC9C-86F25E8F32A0}"/>
              </a:ext>
            </a:extLst>
          </p:cNvPr>
          <p:cNvSpPr/>
          <p:nvPr/>
        </p:nvSpPr>
        <p:spPr>
          <a:xfrm>
            <a:off x="5262254" y="2955027"/>
            <a:ext cx="3174821" cy="216468"/>
          </a:xfrm>
          <a:prstGeom prst="rect">
            <a:avLst/>
          </a:prstGeom>
          <a:noFill/>
          <a:ln w="28575">
            <a:solidFill>
              <a:srgbClr val="41A4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1" name="Retângulo 70">
            <a:extLst>
              <a:ext uri="{FF2B5EF4-FFF2-40B4-BE49-F238E27FC236}">
                <a16:creationId xmlns:a16="http://schemas.microsoft.com/office/drawing/2014/main" id="{BA17F88A-EF7D-4FB3-99ED-76F970CDA357}"/>
              </a:ext>
            </a:extLst>
          </p:cNvPr>
          <p:cNvSpPr/>
          <p:nvPr/>
        </p:nvSpPr>
        <p:spPr>
          <a:xfrm>
            <a:off x="8702697" y="2947408"/>
            <a:ext cx="3169537" cy="224088"/>
          </a:xfrm>
          <a:prstGeom prst="rect">
            <a:avLst/>
          </a:prstGeom>
          <a:noFill/>
          <a:ln w="28575">
            <a:solidFill>
              <a:srgbClr val="41A4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01" name="CaixaDeTexto 100">
            <a:extLst>
              <a:ext uri="{FF2B5EF4-FFF2-40B4-BE49-F238E27FC236}">
                <a16:creationId xmlns:a16="http://schemas.microsoft.com/office/drawing/2014/main" id="{D0F1935B-BFA1-4AFD-86C5-56F0C39192AE}"/>
              </a:ext>
            </a:extLst>
          </p:cNvPr>
          <p:cNvSpPr txBox="1"/>
          <p:nvPr/>
        </p:nvSpPr>
        <p:spPr>
          <a:xfrm>
            <a:off x="5284252" y="2237995"/>
            <a:ext cx="6522187" cy="400110"/>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Washer Dryer dominated </a:t>
            </a:r>
            <a:r>
              <a:rPr kumimoji="0" lang="en-US" sz="10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DA with </a:t>
            </a:r>
            <a:r>
              <a:rPr kumimoji="0" lang="en-US" sz="10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R$</a:t>
            </a:r>
            <a:r>
              <a:rPr lang="en-US" sz="1000" b="1">
                <a:solidFill>
                  <a:prstClr val="black"/>
                </a:solidFill>
                <a:latin typeface="Roboto" panose="02000000000000000000" pitchFamily="2" charset="0"/>
                <a:ea typeface="Roboto" panose="02000000000000000000" pitchFamily="2" charset="0"/>
              </a:rPr>
              <a:t>192,7</a:t>
            </a:r>
            <a:r>
              <a:rPr kumimoji="0" lang="en-US" sz="10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K, </a:t>
            </a:r>
            <a:r>
              <a:rPr lang="en-US" sz="1000" b="1">
                <a:solidFill>
                  <a:prstClr val="black"/>
                </a:solidFill>
                <a:latin typeface="Roboto" panose="02000000000000000000" pitchFamily="2" charset="0"/>
                <a:ea typeface="Roboto" panose="02000000000000000000" pitchFamily="2" charset="0"/>
              </a:rPr>
              <a:t>38,8</a:t>
            </a:r>
            <a:r>
              <a:rPr kumimoji="0" lang="en-US" sz="10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 </a:t>
            </a:r>
            <a:r>
              <a:rPr kumimoji="0" lang="en-US" sz="10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of family revenue.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Cook showed </a:t>
            </a:r>
            <a:r>
              <a:rPr lang="en-US" sz="1000">
                <a:solidFill>
                  <a:prstClr val="black"/>
                </a:solidFill>
                <a:latin typeface="Roboto" panose="02000000000000000000" pitchFamily="2" charset="0"/>
                <a:ea typeface="Roboto" panose="02000000000000000000" pitchFamily="2" charset="0"/>
              </a:rPr>
              <a:t>on</a:t>
            </a:r>
            <a:r>
              <a:rPr kumimoji="0" lang="en-US" sz="10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 second place with R$45K revenue, led by Trigger.</a:t>
            </a:r>
            <a:endParaRPr kumimoji="0" lang="pt-BR" sz="9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endParaRPr>
          </a:p>
        </p:txBody>
      </p:sp>
      <p:sp>
        <p:nvSpPr>
          <p:cNvPr id="102" name="CaixaDeTexto 101">
            <a:extLst>
              <a:ext uri="{FF2B5EF4-FFF2-40B4-BE49-F238E27FC236}">
                <a16:creationId xmlns:a16="http://schemas.microsoft.com/office/drawing/2014/main" id="{A39D4612-4F9D-441F-B000-1DFECDA04CA9}"/>
              </a:ext>
            </a:extLst>
          </p:cNvPr>
          <p:cNvSpPr txBox="1"/>
          <p:nvPr/>
        </p:nvSpPr>
        <p:spPr>
          <a:xfrm>
            <a:off x="1679605" y="4377366"/>
            <a:ext cx="2190468" cy="923330"/>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Email: </a:t>
            </a:r>
            <a:r>
              <a:rPr kumimoji="0" lang="en-US" sz="11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R$</a:t>
            </a:r>
            <a:r>
              <a:rPr lang="en-US" sz="1100">
                <a:solidFill>
                  <a:prstClr val="black"/>
                </a:solidFill>
                <a:latin typeface="Roboto" panose="02000000000000000000" pitchFamily="2" charset="0"/>
                <a:ea typeface="Roboto" panose="02000000000000000000" pitchFamily="2" charset="0"/>
              </a:rPr>
              <a:t>414,7</a:t>
            </a:r>
            <a:r>
              <a:rPr kumimoji="0" lang="en-US" sz="11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K </a:t>
            </a:r>
            <a:r>
              <a:rPr kumimoji="0" lang="en-US" sz="11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 83,5%</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App Push: R$</a:t>
            </a:r>
            <a:r>
              <a:rPr lang="en-US" sz="1100">
                <a:solidFill>
                  <a:prstClr val="black"/>
                </a:solidFill>
                <a:latin typeface="Roboto" panose="02000000000000000000" pitchFamily="2" charset="0"/>
                <a:ea typeface="Roboto" panose="02000000000000000000" pitchFamily="2" charset="0"/>
              </a:rPr>
              <a:t>50</a:t>
            </a:r>
            <a:r>
              <a:rPr kumimoji="0" lang="en-US" sz="11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K | 10%</a:t>
            </a:r>
          </a:p>
          <a:p>
            <a:pPr marR="0" lvl="0" algn="l" defTabSz="914400" rtl="0" eaLnBrk="1" fontAlgn="auto" latinLnBrk="0" hangingPunct="1">
              <a:lnSpc>
                <a:spcPct val="100000"/>
              </a:lnSpc>
              <a:spcBef>
                <a:spcPts val="600"/>
              </a:spcBef>
              <a:spcAft>
                <a:spcPts val="0"/>
              </a:spcAft>
              <a:buClrTx/>
              <a:buSzTx/>
              <a:tabLst/>
              <a:defRPr/>
            </a:pPr>
            <a:r>
              <a:rPr kumimoji="0" lang="en-US" sz="1100" b="1" i="0" u="none" strike="noStrike" kern="1200" cap="none" spc="0" normalizeH="0" baseline="0" noProof="0">
                <a:ln>
                  <a:noFill/>
                </a:ln>
                <a:solidFill>
                  <a:prstClr val="black"/>
                </a:solidFill>
                <a:effectLst/>
                <a:highlight>
                  <a:srgbClr val="FFFF00"/>
                </a:highlight>
                <a:uLnTx/>
                <a:uFillTx/>
                <a:latin typeface="Roboto" panose="02000000000000000000" pitchFamily="2" charset="0"/>
                <a:ea typeface="Roboto" panose="02000000000000000000" pitchFamily="2" charset="0"/>
              </a:rPr>
              <a:t>Email is a big driver of revenue in DA.</a:t>
            </a:r>
          </a:p>
        </p:txBody>
      </p:sp>
      <p:sp>
        <p:nvSpPr>
          <p:cNvPr id="56" name="Título 1">
            <a:extLst>
              <a:ext uri="{FF2B5EF4-FFF2-40B4-BE49-F238E27FC236}">
                <a16:creationId xmlns:a16="http://schemas.microsoft.com/office/drawing/2014/main" id="{9FF35CDA-3E81-4304-9349-A7B11B39F30D}"/>
              </a:ext>
            </a:extLst>
          </p:cNvPr>
          <p:cNvSpPr txBox="1"/>
          <p:nvPr/>
        </p:nvSpPr>
        <p:spPr>
          <a:xfrm>
            <a:off x="207355" y="86336"/>
            <a:ext cx="8453563" cy="483772"/>
          </a:xfrm>
          <a:prstGeom prst="rect">
            <a:avLst/>
          </a:prstGeom>
          <a:noFill/>
          <a:ln cap="flat">
            <a:noFill/>
          </a:ln>
        </p:spPr>
        <p:txBody>
          <a:bodyPr vert="horz" wrap="square" lIns="75730" tIns="37865" rIns="75730" bIns="37865" anchor="ctr" anchorCtr="0" compatLnSpc="1">
            <a:noAutofit/>
          </a:bodyPr>
          <a:lstStyle/>
          <a:p>
            <a:pPr marL="0" marR="0" lvl="0" indent="0" algn="l" defTabSz="914400" rtl="0" eaLnBrk="1" fontAlgn="auto" latinLnBrk="0" hangingPunct="1">
              <a:lnSpc>
                <a:spcPct val="90000"/>
              </a:lnSpc>
              <a:spcBef>
                <a:spcPts val="0"/>
              </a:spcBef>
              <a:spcAft>
                <a:spcPts val="0"/>
              </a:spcAft>
              <a:buClrTx/>
              <a:buSzTx/>
              <a:buFontTx/>
              <a:buNone/>
              <a:tabLst/>
              <a:defRPr sz="1800" b="0" i="0" u="none" strike="noStrike" kern="0" cap="none" spc="0" baseline="0">
                <a:solidFill>
                  <a:srgbClr val="000000"/>
                </a:solidFill>
                <a:uFillTx/>
              </a:defRPr>
            </a:pPr>
            <a:r>
              <a:rPr kumimoji="0" lang="en-GB" sz="2000" b="1" i="0" u="none" strike="noStrike" kern="0" cap="none" spc="0" normalizeH="0" baseline="0" noProof="0">
                <a:ln>
                  <a:noFill/>
                </a:ln>
                <a:solidFill>
                  <a:srgbClr val="000000"/>
                </a:solidFill>
                <a:effectLst/>
                <a:uLnTx/>
                <a:uFillTx/>
                <a:latin typeface="Roboto"/>
                <a:ea typeface="Roboto"/>
                <a:cs typeface="Samsung Sharp Sans Bold" pitchFamily="2"/>
              </a:rPr>
              <a:t>CRM </a:t>
            </a:r>
            <a:r>
              <a:rPr kumimoji="0" lang="en-GB" sz="2000" b="1" i="0" u="none" strike="noStrike" kern="1200" cap="none" spc="0" normalizeH="0" baseline="0" noProof="0">
                <a:ln>
                  <a:noFill/>
                </a:ln>
                <a:solidFill>
                  <a:srgbClr val="000000"/>
                </a:solidFill>
                <a:effectLst/>
                <a:uLnTx/>
                <a:uFillTx/>
                <a:latin typeface="Roboto"/>
                <a:ea typeface="Roboto"/>
                <a:cs typeface="Samsung Sharp Sans Bold" pitchFamily="2"/>
              </a:rPr>
              <a:t>| </a:t>
            </a:r>
            <a:r>
              <a:rPr kumimoji="0" lang="en-GB" sz="2000" b="1" i="0" u="none" strike="noStrike" kern="0" cap="none" spc="0" normalizeH="0" baseline="0" noProof="0">
                <a:ln>
                  <a:noFill/>
                </a:ln>
                <a:solidFill>
                  <a:srgbClr val="1428A0"/>
                </a:solidFill>
                <a:effectLst/>
                <a:uLnTx/>
                <a:uFillTx/>
                <a:latin typeface="Roboto"/>
                <a:ea typeface="Roboto"/>
                <a:cs typeface="Samsung Sharp Sans Bold" pitchFamily="2"/>
              </a:rPr>
              <a:t>DA – </a:t>
            </a:r>
            <a:r>
              <a:rPr lang="en-GB" sz="2000" b="1" kern="0">
                <a:solidFill>
                  <a:srgbClr val="1428A0"/>
                </a:solidFill>
                <a:latin typeface="Roboto"/>
                <a:ea typeface="Roboto"/>
                <a:cs typeface="Samsung Sharp Sans Bold" pitchFamily="2"/>
              </a:rPr>
              <a:t>Aug</a:t>
            </a:r>
            <a:r>
              <a:rPr kumimoji="0" lang="en-GB" sz="2000" b="1" i="0" u="none" strike="noStrike" kern="0" cap="none" spc="0" normalizeH="0" baseline="0" noProof="0">
                <a:ln>
                  <a:noFill/>
                </a:ln>
                <a:solidFill>
                  <a:srgbClr val="1428A0"/>
                </a:solidFill>
                <a:effectLst/>
                <a:uLnTx/>
                <a:uFillTx/>
                <a:latin typeface="Roboto"/>
                <a:ea typeface="Roboto"/>
                <a:cs typeface="Samsung Sharp Sans Bold" pitchFamily="2"/>
              </a:rPr>
              <a:t>’26 Sales Results</a:t>
            </a:r>
            <a:endParaRPr kumimoji="0" lang="en-GB" sz="2000" b="1" i="0" u="none" strike="noStrike" kern="1200" cap="none" spc="0" normalizeH="0" baseline="0" noProof="0">
              <a:ln>
                <a:noFill/>
              </a:ln>
              <a:solidFill>
                <a:srgbClr val="1428A0"/>
              </a:solidFill>
              <a:effectLst/>
              <a:uLnTx/>
              <a:uFillTx/>
              <a:latin typeface="Roboto"/>
              <a:ea typeface="Roboto"/>
              <a:cs typeface="Samsung Sharp Sans Bold" pitchFamily="2"/>
            </a:endParaRPr>
          </a:p>
        </p:txBody>
      </p:sp>
      <p:sp>
        <p:nvSpPr>
          <p:cNvPr id="65" name="Retângulo 64">
            <a:extLst>
              <a:ext uri="{FF2B5EF4-FFF2-40B4-BE49-F238E27FC236}">
                <a16:creationId xmlns:a16="http://schemas.microsoft.com/office/drawing/2014/main" id="{9EAF44FE-693B-4149-B5FC-E0090B03B2BF}"/>
              </a:ext>
            </a:extLst>
          </p:cNvPr>
          <p:cNvSpPr/>
          <p:nvPr/>
        </p:nvSpPr>
        <p:spPr>
          <a:xfrm>
            <a:off x="8249871" y="4219584"/>
            <a:ext cx="3674393" cy="2484234"/>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CaixaDeTexto 75">
            <a:extLst>
              <a:ext uri="{FF2B5EF4-FFF2-40B4-BE49-F238E27FC236}">
                <a16:creationId xmlns:a16="http://schemas.microsoft.com/office/drawing/2014/main" id="{52B015FB-A2FA-4E04-A533-0A9D2873064D}"/>
              </a:ext>
            </a:extLst>
          </p:cNvPr>
          <p:cNvSpPr txBox="1"/>
          <p:nvPr/>
        </p:nvSpPr>
        <p:spPr>
          <a:xfrm>
            <a:off x="8404072" y="4108404"/>
            <a:ext cx="1849731" cy="307777"/>
          </a:xfrm>
          <a:prstGeom prst="rect">
            <a:avLst/>
          </a:prstGeom>
          <a:solidFill>
            <a:schemeClr val="bg1"/>
          </a:solidFill>
        </p:spPr>
        <p:txBody>
          <a:bodyPr wrap="square" tIns="18000" bIns="0" rtlCol="0">
            <a:noAutofit/>
          </a:bodyPr>
          <a:lstStyle>
            <a:defPPr>
              <a:defRPr lang="de-DE"/>
            </a:defPPr>
            <a:lvl1pPr marR="0" lvl="0" indent="0" fontAlgn="auto">
              <a:lnSpc>
                <a:spcPct val="100000"/>
              </a:lnSpc>
              <a:spcBef>
                <a:spcPts val="0"/>
              </a:spcBef>
              <a:spcAft>
                <a:spcPts val="0"/>
              </a:spcAft>
              <a:buClrTx/>
              <a:buSzTx/>
              <a:buFontTx/>
              <a:buNone/>
              <a:tabLst/>
              <a:defRPr kumimoji="0" sz="1400" b="1" i="0" u="none" strike="noStrike" kern="0" cap="none" spc="0" normalizeH="0" baseline="0">
                <a:ln>
                  <a:noFill/>
                </a:ln>
                <a:solidFill>
                  <a:srgbClr val="002060"/>
                </a:solidFill>
                <a:effectLst/>
                <a:uLnTx/>
                <a:uFillTx/>
                <a:latin typeface="Samsung Sharp Sans Bold" panose="02000503000000020004"/>
              </a:defRPr>
            </a:lvl1pPr>
          </a:lstStyle>
          <a:p>
            <a:r>
              <a:rPr lang="en-US"/>
              <a:t>High &amp; Lowlights</a:t>
            </a:r>
          </a:p>
        </p:txBody>
      </p:sp>
      <p:sp>
        <p:nvSpPr>
          <p:cNvPr id="77" name="CaixaDeTexto 76">
            <a:extLst>
              <a:ext uri="{FF2B5EF4-FFF2-40B4-BE49-F238E27FC236}">
                <a16:creationId xmlns:a16="http://schemas.microsoft.com/office/drawing/2014/main" id="{C68A8AE5-8996-4D81-8344-3E53272C905E}"/>
              </a:ext>
            </a:extLst>
          </p:cNvPr>
          <p:cNvSpPr txBox="1"/>
          <p:nvPr/>
        </p:nvSpPr>
        <p:spPr>
          <a:xfrm>
            <a:off x="8282028" y="4388984"/>
            <a:ext cx="3648993" cy="2139047"/>
          </a:xfrm>
          <a:prstGeom prst="rect">
            <a:avLst/>
          </a:prstGeom>
          <a:noFill/>
        </p:spPr>
        <p:txBody>
          <a:bodyPr wrap="square" rtlCol="0">
            <a:spAutoFit/>
          </a:bodyPr>
          <a:lstStyle/>
          <a:p>
            <a:pPr marR="0" lvl="0" indent="0" fontAlgn="auto">
              <a:lnSpc>
                <a:spcPct val="100000"/>
              </a:lnSpc>
              <a:spcBef>
                <a:spcPts val="600"/>
              </a:spcBef>
              <a:spcAft>
                <a:spcPts val="0"/>
              </a:spcAft>
              <a:buClrTx/>
              <a:buSzTx/>
              <a:buFontTx/>
              <a:buNone/>
              <a:tabLst/>
              <a:defRPr/>
            </a:pPr>
            <a:r>
              <a:rPr lang="en-US" sz="1000" b="1">
                <a:solidFill>
                  <a:srgbClr val="061799"/>
                </a:solidFill>
                <a:latin typeface="Roboto" panose="02000000000000000000" pitchFamily="2" charset="0"/>
                <a:ea typeface="Roboto" panose="02000000000000000000" pitchFamily="2" charset="0"/>
              </a:rPr>
              <a:t>HIGHLIGHTS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DA: R$</a:t>
            </a:r>
            <a:r>
              <a:rPr lang="en-US" sz="900">
                <a:solidFill>
                  <a:prstClr val="black"/>
                </a:solidFill>
                <a:latin typeface="Roboto" panose="02000000000000000000" pitchFamily="2" charset="0"/>
                <a:ea typeface="Roboto" panose="02000000000000000000" pitchFamily="2" charset="0"/>
              </a:rPr>
              <a:t>496</a:t>
            </a:r>
            <a:r>
              <a:rPr kumimoji="0" lang="en-US" sz="9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K | 1.09 G/R.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Washer Dryer: key driver,  </a:t>
            </a:r>
            <a:r>
              <a:rPr kumimoji="0" lang="en-US" sz="9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R$</a:t>
            </a:r>
            <a:r>
              <a:rPr lang="en-US" sz="900">
                <a:solidFill>
                  <a:prstClr val="black"/>
                </a:solidFill>
                <a:latin typeface="Roboto" panose="02000000000000000000" pitchFamily="2" charset="0"/>
                <a:ea typeface="Roboto" panose="02000000000000000000" pitchFamily="2" charset="0"/>
              </a:rPr>
              <a:t>192,7</a:t>
            </a:r>
            <a:r>
              <a:rPr kumimoji="0" lang="en-US" sz="9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K.</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AC: growth opportunity, </a:t>
            </a:r>
            <a:r>
              <a:rPr kumimoji="0" lang="en-US" sz="9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R$</a:t>
            </a:r>
            <a:r>
              <a:rPr lang="en-US" sz="900">
                <a:solidFill>
                  <a:prstClr val="black"/>
                </a:solidFill>
                <a:latin typeface="Roboto" panose="02000000000000000000" pitchFamily="2" charset="0"/>
                <a:ea typeface="Roboto" panose="02000000000000000000" pitchFamily="2" charset="0"/>
              </a:rPr>
              <a:t>95,8</a:t>
            </a:r>
            <a:r>
              <a:rPr kumimoji="0" lang="en-US" sz="9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K | </a:t>
            </a:r>
            <a:r>
              <a:rPr lang="en-US" sz="900">
                <a:solidFill>
                  <a:prstClr val="black"/>
                </a:solidFill>
                <a:latin typeface="Roboto" panose="02000000000000000000" pitchFamily="2" charset="0"/>
                <a:ea typeface="Roboto" panose="02000000000000000000" pitchFamily="2" charset="0"/>
              </a:rPr>
              <a:t>1.24</a:t>
            </a:r>
            <a:r>
              <a:rPr kumimoji="0" lang="en-US" sz="9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 G/R, </a:t>
            </a:r>
            <a:r>
              <a:rPr lang="pt-BR" sz="900"/>
              <a:t>+213% </a:t>
            </a:r>
            <a:r>
              <a:rPr lang="pt-BR" sz="900" err="1"/>
              <a:t>WoW</a:t>
            </a:r>
            <a:r>
              <a:rPr lang="pt-BR" sz="900"/>
              <a:t> </a:t>
            </a:r>
            <a:r>
              <a:rPr lang="pt-BR" sz="900" err="1"/>
              <a:t>on</a:t>
            </a:r>
            <a:r>
              <a:rPr lang="pt-BR" sz="900"/>
              <a:t> W33</a:t>
            </a:r>
            <a:endParaRPr kumimoji="0" lang="en-US" sz="9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Growth was main </a:t>
            </a:r>
            <a:r>
              <a:rPr lang="en-US" sz="900">
                <a:solidFill>
                  <a:prstClr val="black"/>
                </a:solidFill>
                <a:latin typeface="Roboto" panose="02000000000000000000" pitchFamily="2" charset="0"/>
                <a:ea typeface="Roboto" panose="02000000000000000000" pitchFamily="2" charset="0"/>
              </a:rPr>
              <a:t>pillar</a:t>
            </a:r>
            <a:r>
              <a:rPr kumimoji="0" lang="en-US" sz="9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 drove 55% of revenue.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Triggers </a:t>
            </a:r>
            <a:r>
              <a:rPr kumimoji="0" lang="en-US" sz="9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support DA with R$202k revenue base.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endParaRPr>
          </a:p>
          <a:p>
            <a:pPr>
              <a:spcBef>
                <a:spcPts val="600"/>
              </a:spcBef>
              <a:defRPr/>
            </a:pPr>
            <a:r>
              <a:rPr lang="en-US" sz="1000" b="1">
                <a:solidFill>
                  <a:srgbClr val="061799"/>
                </a:solidFill>
                <a:latin typeface="Roboto" panose="02000000000000000000" pitchFamily="2" charset="0"/>
                <a:ea typeface="Roboto" panose="02000000000000000000" pitchFamily="2" charset="0"/>
              </a:rPr>
              <a:t>LOWLIGHTS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Channel diversification </a:t>
            </a:r>
            <a:r>
              <a:rPr lang="en-US" sz="900" b="1">
                <a:solidFill>
                  <a:prstClr val="black"/>
                </a:solidFill>
                <a:latin typeface="Roboto" panose="02000000000000000000" pitchFamily="2" charset="0"/>
                <a:ea typeface="Roboto" panose="02000000000000000000" pitchFamily="2" charset="0"/>
              </a:rPr>
              <a:t>needs improvement, APP Push and </a:t>
            </a:r>
            <a:r>
              <a:rPr lang="en-US" sz="900" b="1" err="1">
                <a:solidFill>
                  <a:prstClr val="black"/>
                </a:solidFill>
                <a:latin typeface="Roboto" panose="02000000000000000000" pitchFamily="2" charset="0"/>
                <a:ea typeface="Roboto" panose="02000000000000000000" pitchFamily="2" charset="0"/>
              </a:rPr>
              <a:t>Whatsapp</a:t>
            </a:r>
            <a:r>
              <a:rPr lang="en-US" sz="900" b="1">
                <a:solidFill>
                  <a:prstClr val="black"/>
                </a:solidFill>
                <a:latin typeface="Roboto" panose="02000000000000000000" pitchFamily="2" charset="0"/>
                <a:ea typeface="Roboto" panose="02000000000000000000" pitchFamily="2" charset="0"/>
              </a:rPr>
              <a:t> are possibly opportunities</a:t>
            </a:r>
            <a:r>
              <a:rPr lang="en-US" sz="900">
                <a:solidFill>
                  <a:prstClr val="black"/>
                </a:solidFill>
                <a:latin typeface="Roboto" panose="02000000000000000000" pitchFamily="2" charset="0"/>
                <a:ea typeface="Roboto" panose="02000000000000000000" pitchFamily="2" charset="0"/>
              </a:rPr>
              <a:t>.</a:t>
            </a:r>
            <a:endParaRPr kumimoji="0" lang="en-US" sz="9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Cook </a:t>
            </a:r>
            <a:r>
              <a:rPr lang="en-US" sz="900">
                <a:solidFill>
                  <a:prstClr val="black"/>
                </a:solidFill>
                <a:latin typeface="Roboto" panose="02000000000000000000" pitchFamily="2" charset="0"/>
                <a:ea typeface="Roboto" panose="02000000000000000000" pitchFamily="2" charset="0"/>
              </a:rPr>
              <a:t>appeared because of transactional trigger, not because of the pillar effort</a:t>
            </a:r>
            <a:r>
              <a:rPr lang="en-US" sz="900" b="1">
                <a:solidFill>
                  <a:prstClr val="black"/>
                </a:solidFill>
                <a:latin typeface="Roboto" panose="02000000000000000000" pitchFamily="2" charset="0"/>
                <a:ea typeface="Roboto" panose="02000000000000000000" pitchFamily="2" charset="0"/>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Ref </a:t>
            </a:r>
            <a:r>
              <a:rPr kumimoji="0" lang="en-US" sz="9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rPr>
              <a:t>almost zeroed on W33 and grew 8 times on W34, </a:t>
            </a:r>
            <a:r>
              <a:rPr lang="en-US" sz="900">
                <a:solidFill>
                  <a:prstClr val="black"/>
                </a:solidFill>
                <a:latin typeface="Roboto" panose="02000000000000000000" pitchFamily="2" charset="0"/>
                <a:ea typeface="Roboto" panose="02000000000000000000" pitchFamily="2" charset="0"/>
              </a:rPr>
              <a:t>being strongly volatile.</a:t>
            </a:r>
            <a:endParaRPr kumimoji="0" lang="en-US" sz="9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endParaRPr>
          </a:p>
        </p:txBody>
      </p:sp>
      <p:sp>
        <p:nvSpPr>
          <p:cNvPr id="8" name="Retângulo 7">
            <a:extLst>
              <a:ext uri="{FF2B5EF4-FFF2-40B4-BE49-F238E27FC236}">
                <a16:creationId xmlns:a16="http://schemas.microsoft.com/office/drawing/2014/main" id="{8055FFBB-36B9-41BF-B44F-68ECD35DE699}"/>
              </a:ext>
            </a:extLst>
          </p:cNvPr>
          <p:cNvSpPr/>
          <p:nvPr/>
        </p:nvSpPr>
        <p:spPr>
          <a:xfrm>
            <a:off x="274613" y="2109399"/>
            <a:ext cx="4736040" cy="1949317"/>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tângulo 29">
            <a:extLst>
              <a:ext uri="{FF2B5EF4-FFF2-40B4-BE49-F238E27FC236}">
                <a16:creationId xmlns:a16="http://schemas.microsoft.com/office/drawing/2014/main" id="{DDE5CBDC-0716-4F8C-9144-C5812570C6EA}"/>
              </a:ext>
            </a:extLst>
          </p:cNvPr>
          <p:cNvSpPr/>
          <p:nvPr/>
        </p:nvSpPr>
        <p:spPr>
          <a:xfrm>
            <a:off x="5195887" y="2104220"/>
            <a:ext cx="6728377" cy="1954497"/>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tângulo 77">
            <a:extLst>
              <a:ext uri="{FF2B5EF4-FFF2-40B4-BE49-F238E27FC236}">
                <a16:creationId xmlns:a16="http://schemas.microsoft.com/office/drawing/2014/main" id="{2C96AD2A-6A5B-49E0-8543-3762D8036903}"/>
              </a:ext>
            </a:extLst>
          </p:cNvPr>
          <p:cNvSpPr/>
          <p:nvPr/>
        </p:nvSpPr>
        <p:spPr>
          <a:xfrm>
            <a:off x="1387591" y="1041806"/>
            <a:ext cx="1586654" cy="63204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Revenue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rPr>
              <a:t>R$ </a:t>
            </a:r>
            <a:r>
              <a:rPr lang="en-US" sz="1600" b="1">
                <a:solidFill>
                  <a:srgbClr val="061799"/>
                </a:solidFill>
                <a:latin typeface="Roboto" panose="02000000000000000000" pitchFamily="2" charset="0"/>
                <a:ea typeface="Roboto" panose="02000000000000000000" pitchFamily="2" charset="0"/>
              </a:rPr>
              <a:t>496</a:t>
            </a:r>
            <a:r>
              <a:rPr kumimoji="0" lang="en-US" sz="160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rPr>
              <a:t>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1.09</a:t>
            </a:r>
          </a:p>
        </p:txBody>
      </p:sp>
      <p:sp>
        <p:nvSpPr>
          <p:cNvPr id="79" name="Retângulo 78">
            <a:extLst>
              <a:ext uri="{FF2B5EF4-FFF2-40B4-BE49-F238E27FC236}">
                <a16:creationId xmlns:a16="http://schemas.microsoft.com/office/drawing/2014/main" id="{C08262A1-9604-4129-BFC7-CA67BCB19A9E}"/>
              </a:ext>
            </a:extLst>
          </p:cNvPr>
          <p:cNvSpPr/>
          <p:nvPr/>
        </p:nvSpPr>
        <p:spPr>
          <a:xfrm>
            <a:off x="3519006" y="1041806"/>
            <a:ext cx="1586654" cy="63204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Unit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a:solidFill>
                  <a:srgbClr val="061799"/>
                </a:solidFill>
                <a:latin typeface="Roboto" panose="02000000000000000000" pitchFamily="2" charset="0"/>
                <a:ea typeface="Roboto" panose="02000000000000000000" pitchFamily="2" charset="0"/>
              </a:rPr>
              <a:t>132</a:t>
            </a:r>
            <a:endParaRPr kumimoji="0" lang="en-US" sz="160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1.11</a:t>
            </a:r>
          </a:p>
        </p:txBody>
      </p:sp>
      <p:grpSp>
        <p:nvGrpSpPr>
          <p:cNvPr id="80" name="Agrupar 79">
            <a:extLst>
              <a:ext uri="{FF2B5EF4-FFF2-40B4-BE49-F238E27FC236}">
                <a16:creationId xmlns:a16="http://schemas.microsoft.com/office/drawing/2014/main" id="{4E018585-994B-408F-855D-E441FB4D3956}"/>
              </a:ext>
            </a:extLst>
          </p:cNvPr>
          <p:cNvGrpSpPr/>
          <p:nvPr/>
        </p:nvGrpSpPr>
        <p:grpSpPr>
          <a:xfrm>
            <a:off x="6096000" y="1048520"/>
            <a:ext cx="4211776" cy="632048"/>
            <a:chOff x="3885359" y="393917"/>
            <a:chExt cx="4881131" cy="1123168"/>
          </a:xfrm>
        </p:grpSpPr>
        <p:sp>
          <p:nvSpPr>
            <p:cNvPr id="81" name="Retângulo 80">
              <a:extLst>
                <a:ext uri="{FF2B5EF4-FFF2-40B4-BE49-F238E27FC236}">
                  <a16:creationId xmlns:a16="http://schemas.microsoft.com/office/drawing/2014/main" id="{2F62183F-1085-44FF-B2C4-10929C65233F}"/>
                </a:ext>
              </a:extLst>
            </p:cNvPr>
            <p:cNvSpPr/>
            <p:nvPr/>
          </p:nvSpPr>
          <p:spPr>
            <a:xfrm>
              <a:off x="3885359" y="393917"/>
              <a:ext cx="2442885" cy="11231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Portion Shop/App (R$)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a:solidFill>
                    <a:srgbClr val="061799"/>
                  </a:solidFill>
                  <a:latin typeface="Roboto" panose="02000000000000000000" pitchFamily="2" charset="0"/>
                  <a:ea typeface="Roboto" panose="02000000000000000000" pitchFamily="2" charset="0"/>
                </a:rPr>
                <a:t>4,27</a:t>
              </a:r>
              <a:r>
                <a:rPr kumimoji="0" lang="en-US" sz="160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rPr>
                <a:t>%</a:t>
              </a:r>
            </a:p>
          </p:txBody>
        </p:sp>
        <p:sp>
          <p:nvSpPr>
            <p:cNvPr id="82" name="Retângulo 81">
              <a:extLst>
                <a:ext uri="{FF2B5EF4-FFF2-40B4-BE49-F238E27FC236}">
                  <a16:creationId xmlns:a16="http://schemas.microsoft.com/office/drawing/2014/main" id="{6EA3FA3C-DD44-4A06-BB30-CD13900B83AC}"/>
                </a:ext>
              </a:extLst>
            </p:cNvPr>
            <p:cNvSpPr/>
            <p:nvPr/>
          </p:nvSpPr>
          <p:spPr>
            <a:xfrm>
              <a:off x="6323605" y="393917"/>
              <a:ext cx="2442885" cy="11231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Portion Shop/App (units)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a:solidFill>
                    <a:srgbClr val="061799"/>
                  </a:solidFill>
                  <a:latin typeface="Roboto" panose="02000000000000000000" pitchFamily="2" charset="0"/>
                  <a:ea typeface="Roboto" panose="02000000000000000000" pitchFamily="2" charset="0"/>
                </a:rPr>
                <a:t>3,97</a:t>
              </a:r>
              <a:r>
                <a:rPr kumimoji="0" lang="en-US" sz="160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rPr>
                <a:t>%</a:t>
              </a:r>
            </a:p>
          </p:txBody>
        </p:sp>
      </p:grpSp>
      <p:sp>
        <p:nvSpPr>
          <p:cNvPr id="83" name="Retângulo 82">
            <a:extLst>
              <a:ext uri="{FF2B5EF4-FFF2-40B4-BE49-F238E27FC236}">
                <a16:creationId xmlns:a16="http://schemas.microsoft.com/office/drawing/2014/main" id="{0AABCA69-C4A9-415F-8E20-BFD65FE8D097}"/>
              </a:ext>
            </a:extLst>
          </p:cNvPr>
          <p:cNvSpPr/>
          <p:nvPr/>
        </p:nvSpPr>
        <p:spPr>
          <a:xfrm>
            <a:off x="1387591" y="1671561"/>
            <a:ext cx="1586654" cy="221863"/>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grpSp>
        <p:nvGrpSpPr>
          <p:cNvPr id="84" name="Agrupar 83">
            <a:extLst>
              <a:ext uri="{FF2B5EF4-FFF2-40B4-BE49-F238E27FC236}">
                <a16:creationId xmlns:a16="http://schemas.microsoft.com/office/drawing/2014/main" id="{350DD105-EBDE-44F2-8836-CBFCE2ECD387}"/>
              </a:ext>
            </a:extLst>
          </p:cNvPr>
          <p:cNvGrpSpPr/>
          <p:nvPr/>
        </p:nvGrpSpPr>
        <p:grpSpPr>
          <a:xfrm>
            <a:off x="1452871" y="1623054"/>
            <a:ext cx="1538619" cy="323166"/>
            <a:chOff x="558428" y="2190859"/>
            <a:chExt cx="1586654" cy="323166"/>
          </a:xfrm>
        </p:grpSpPr>
        <p:sp>
          <p:nvSpPr>
            <p:cNvPr id="85" name="CaixaDeTexto 84">
              <a:extLst>
                <a:ext uri="{FF2B5EF4-FFF2-40B4-BE49-F238E27FC236}">
                  <a16:creationId xmlns:a16="http://schemas.microsoft.com/office/drawing/2014/main" id="{6DAA1DDB-D179-4A59-B962-96C65F158E04}"/>
                </a:ext>
              </a:extLst>
            </p:cNvPr>
            <p:cNvSpPr txBox="1"/>
            <p:nvPr/>
          </p:nvSpPr>
          <p:spPr>
            <a:xfrm>
              <a:off x="558428" y="2190860"/>
              <a:ext cx="576000" cy="323165"/>
            </a:xfrm>
            <a:prstGeom prst="rect">
              <a:avLst/>
            </a:prstGeom>
            <a:noFill/>
          </p:spPr>
          <p:txBody>
            <a:bodyPr wrap="square" lIns="0" rIns="0" rtlCol="0">
              <a:spAutoFit/>
            </a:bodyPr>
            <a:lstStyle/>
            <a:p>
              <a:pPr marL="0" marR="0" lvl="0" indent="0" algn="ctr" defTabSz="914400" rtl="0" eaLnBrk="1" fontAlgn="auto" latinLnBrk="0" hangingPunct="1">
                <a:lnSpc>
                  <a:spcPts val="9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GROWTH</a:t>
              </a:r>
              <a:endParaRPr kumimoji="0" lang="en-US" sz="7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a:p>
              <a:pPr marL="0" marR="0" lvl="0" indent="0" algn="ctr" defTabSz="914400" rtl="0" eaLnBrk="1" fontAlgn="auto" latinLnBrk="0" hangingPunct="1">
                <a:lnSpc>
                  <a:spcPts val="9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55%</a:t>
              </a:r>
            </a:p>
          </p:txBody>
        </p:sp>
        <p:sp>
          <p:nvSpPr>
            <p:cNvPr id="86" name="CaixaDeTexto 85">
              <a:extLst>
                <a:ext uri="{FF2B5EF4-FFF2-40B4-BE49-F238E27FC236}">
                  <a16:creationId xmlns:a16="http://schemas.microsoft.com/office/drawing/2014/main" id="{6F2D1DE5-D6AD-49A2-8A31-D4EF1627E375}"/>
                </a:ext>
              </a:extLst>
            </p:cNvPr>
            <p:cNvSpPr txBox="1"/>
            <p:nvPr/>
          </p:nvSpPr>
          <p:spPr>
            <a:xfrm>
              <a:off x="1063755" y="2190859"/>
              <a:ext cx="576000" cy="323165"/>
            </a:xfrm>
            <a:prstGeom prst="rect">
              <a:avLst/>
            </a:prstGeom>
            <a:noFill/>
          </p:spPr>
          <p:txBody>
            <a:bodyPr wrap="square" lIns="0" rIns="0" rtlCol="0">
              <a:spAutoFit/>
            </a:bodyPr>
            <a:lstStyle/>
            <a:p>
              <a:pPr marL="0" marR="0" lvl="0" indent="0" algn="ctr" defTabSz="914400" rtl="0" eaLnBrk="1" fontAlgn="auto" latinLnBrk="0" hangingPunct="1">
                <a:lnSpc>
                  <a:spcPts val="9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GTM</a:t>
              </a:r>
              <a:endParaRPr kumimoji="0" lang="en-US" sz="7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a:p>
              <a:pPr marL="0" marR="0" lvl="0" indent="0" algn="ctr" defTabSz="914400" rtl="0" eaLnBrk="1" fontAlgn="auto" latinLnBrk="0" hangingPunct="1">
                <a:lnSpc>
                  <a:spcPts val="9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4%</a:t>
              </a:r>
            </a:p>
          </p:txBody>
        </p:sp>
        <p:sp>
          <p:nvSpPr>
            <p:cNvPr id="87" name="CaixaDeTexto 86">
              <a:extLst>
                <a:ext uri="{FF2B5EF4-FFF2-40B4-BE49-F238E27FC236}">
                  <a16:creationId xmlns:a16="http://schemas.microsoft.com/office/drawing/2014/main" id="{ECF1EA73-FBF0-4EA4-AEE1-F7466EB32A48}"/>
                </a:ext>
              </a:extLst>
            </p:cNvPr>
            <p:cNvSpPr txBox="1"/>
            <p:nvPr/>
          </p:nvSpPr>
          <p:spPr>
            <a:xfrm>
              <a:off x="1569082" y="2190860"/>
              <a:ext cx="576000" cy="323165"/>
            </a:xfrm>
            <a:prstGeom prst="rect">
              <a:avLst/>
            </a:prstGeom>
            <a:noFill/>
          </p:spPr>
          <p:txBody>
            <a:bodyPr wrap="square" lIns="0" rIns="0" rtlCol="0">
              <a:spAutoFit/>
            </a:bodyPr>
            <a:lstStyle/>
            <a:p>
              <a:pPr marL="0" marR="0" lvl="0" indent="0" algn="ctr" defTabSz="914400" rtl="0" eaLnBrk="1" fontAlgn="auto" latinLnBrk="0" hangingPunct="1">
                <a:lnSpc>
                  <a:spcPts val="9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TRIGGER</a:t>
              </a:r>
              <a:endParaRPr kumimoji="0" lang="en-US" sz="7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a:p>
              <a:pPr marL="0" marR="0" lvl="0" indent="0" algn="ctr" defTabSz="914400" rtl="0" eaLnBrk="1" fontAlgn="auto" latinLnBrk="0" hangingPunct="1">
                <a:lnSpc>
                  <a:spcPts val="9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41%</a:t>
              </a:r>
            </a:p>
          </p:txBody>
        </p:sp>
      </p:grpSp>
      <p:sp>
        <p:nvSpPr>
          <p:cNvPr id="88" name="CaixaDeTexto 87">
            <a:extLst>
              <a:ext uri="{FF2B5EF4-FFF2-40B4-BE49-F238E27FC236}">
                <a16:creationId xmlns:a16="http://schemas.microsoft.com/office/drawing/2014/main" id="{FF8C8FAC-8F39-49ED-AF35-0F50ECBE7248}"/>
              </a:ext>
            </a:extLst>
          </p:cNvPr>
          <p:cNvSpPr txBox="1"/>
          <p:nvPr/>
        </p:nvSpPr>
        <p:spPr>
          <a:xfrm>
            <a:off x="1041130" y="1433184"/>
            <a:ext cx="823481" cy="230832"/>
          </a:xfrm>
          <a:prstGeom prst="rect">
            <a:avLst/>
          </a:prstGeom>
          <a:noFill/>
        </p:spPr>
        <p:txBody>
          <a:bodyPr wrap="square" rtlCol="0">
            <a:spAutoFit/>
          </a:bodyPr>
          <a:lstStyle>
            <a:defPPr>
              <a:defRPr lang="de-DE"/>
            </a:defPPr>
            <a:lvl1pPr marR="0" lvl="0" indent="0" fontAlgn="auto">
              <a:lnSpc>
                <a:spcPct val="100000"/>
              </a:lnSpc>
              <a:spcBef>
                <a:spcPts val="0"/>
              </a:spcBef>
              <a:spcAft>
                <a:spcPts val="0"/>
              </a:spcAft>
              <a:buClrTx/>
              <a:buSzTx/>
              <a:buFontTx/>
              <a:buNone/>
              <a:tabLst/>
              <a:defRPr kumimoji="0" sz="1100" b="0" i="0" u="none" strike="noStrike" cap="none" spc="0" normalizeH="0" baseline="0">
                <a:ln>
                  <a:noFill/>
                </a:ln>
                <a:solidFill>
                  <a:prstClr val="black"/>
                </a:solidFill>
                <a:effectLst/>
                <a:uLnTx/>
                <a:uFillTx/>
                <a:latin typeface="Roboto" panose="02000000000000000000" pitchFamily="2" charset="0"/>
                <a:ea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G/R</a:t>
            </a:r>
          </a:p>
        </p:txBody>
      </p:sp>
      <p:cxnSp>
        <p:nvCxnSpPr>
          <p:cNvPr id="89" name="Conector reto 88">
            <a:extLst>
              <a:ext uri="{FF2B5EF4-FFF2-40B4-BE49-F238E27FC236}">
                <a16:creationId xmlns:a16="http://schemas.microsoft.com/office/drawing/2014/main" id="{0FC3ED7C-0047-4D3B-AA68-04EC037EEE59}"/>
              </a:ext>
            </a:extLst>
          </p:cNvPr>
          <p:cNvCxnSpPr/>
          <p:nvPr/>
        </p:nvCxnSpPr>
        <p:spPr>
          <a:xfrm>
            <a:off x="1143392" y="1469964"/>
            <a:ext cx="3960000" cy="0"/>
          </a:xfrm>
          <a:prstGeom prst="line">
            <a:avLst/>
          </a:prstGeom>
          <a:ln w="6350">
            <a:solidFill>
              <a:schemeClr val="bg2">
                <a:lumMod val="90000"/>
              </a:schemeClr>
            </a:solidFill>
            <a:prstDash val="dash"/>
          </a:ln>
        </p:spPr>
        <p:style>
          <a:lnRef idx="2">
            <a:schemeClr val="accent1"/>
          </a:lnRef>
          <a:fillRef idx="0">
            <a:schemeClr val="accent1"/>
          </a:fillRef>
          <a:effectRef idx="1">
            <a:schemeClr val="accent1"/>
          </a:effectRef>
          <a:fontRef idx="minor">
            <a:schemeClr val="tx1"/>
          </a:fontRef>
        </p:style>
      </p:cxnSp>
      <p:sp>
        <p:nvSpPr>
          <p:cNvPr id="10" name="CaixaDeTexto 9">
            <a:extLst>
              <a:ext uri="{FF2B5EF4-FFF2-40B4-BE49-F238E27FC236}">
                <a16:creationId xmlns:a16="http://schemas.microsoft.com/office/drawing/2014/main" id="{48D110B9-B9C6-49E0-9779-FC6F2DFC2DA1}"/>
              </a:ext>
            </a:extLst>
          </p:cNvPr>
          <p:cNvSpPr txBox="1"/>
          <p:nvPr/>
        </p:nvSpPr>
        <p:spPr>
          <a:xfrm>
            <a:off x="425427" y="2011921"/>
            <a:ext cx="1357185" cy="266907"/>
          </a:xfrm>
          <a:prstGeom prst="rect">
            <a:avLst/>
          </a:prstGeom>
          <a:solidFill>
            <a:schemeClr val="bg1"/>
          </a:solidFill>
        </p:spPr>
        <p:txBody>
          <a:bodyPr wrap="square" tIns="1800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2060"/>
                </a:solidFill>
                <a:effectLst/>
                <a:uLnTx/>
                <a:uFillTx/>
                <a:latin typeface="Samsung Sharp Sans Bold" panose="02000503000000020004"/>
                <a:ea typeface="+mn-ea"/>
                <a:cs typeface="+mn-cs"/>
              </a:rPr>
              <a:t>Categories</a:t>
            </a:r>
          </a:p>
        </p:txBody>
      </p:sp>
      <p:sp>
        <p:nvSpPr>
          <p:cNvPr id="31" name="CaixaDeTexto 30">
            <a:extLst>
              <a:ext uri="{FF2B5EF4-FFF2-40B4-BE49-F238E27FC236}">
                <a16:creationId xmlns:a16="http://schemas.microsoft.com/office/drawing/2014/main" id="{57AEB173-3770-41CB-B9F2-6FCAE4DEBBAA}"/>
              </a:ext>
            </a:extLst>
          </p:cNvPr>
          <p:cNvSpPr txBox="1"/>
          <p:nvPr/>
        </p:nvSpPr>
        <p:spPr>
          <a:xfrm>
            <a:off x="5432657" y="2011921"/>
            <a:ext cx="1238866" cy="259036"/>
          </a:xfrm>
          <a:prstGeom prst="rect">
            <a:avLst/>
          </a:prstGeom>
          <a:solidFill>
            <a:schemeClr val="bg1"/>
          </a:solidFill>
        </p:spPr>
        <p:txBody>
          <a:bodyPr wrap="square" tIns="1800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2060"/>
                </a:solidFill>
                <a:effectLst/>
                <a:uLnTx/>
                <a:uFillTx/>
                <a:latin typeface="Samsung Sharp Sans Bold" panose="02000503000000020004"/>
                <a:ea typeface="+mn-ea"/>
                <a:cs typeface="+mn-cs"/>
              </a:rPr>
              <a:t>Products</a:t>
            </a:r>
          </a:p>
        </p:txBody>
      </p:sp>
      <p:sp>
        <p:nvSpPr>
          <p:cNvPr id="45" name="CaixaDeTexto 44">
            <a:extLst>
              <a:ext uri="{FF2B5EF4-FFF2-40B4-BE49-F238E27FC236}">
                <a16:creationId xmlns:a16="http://schemas.microsoft.com/office/drawing/2014/main" id="{406C9801-AC3C-416D-BC21-43F71F55663C}"/>
              </a:ext>
            </a:extLst>
          </p:cNvPr>
          <p:cNvSpPr txBox="1"/>
          <p:nvPr/>
        </p:nvSpPr>
        <p:spPr>
          <a:xfrm>
            <a:off x="979131" y="4637694"/>
            <a:ext cx="328522" cy="201337"/>
          </a:xfrm>
          <a:prstGeom prst="rect">
            <a:avLst/>
          </a:prstGeom>
          <a:noFill/>
        </p:spPr>
        <p:txBody>
          <a:bodyPr wrap="square" lIns="0" rIns="0" rtlCol="0">
            <a:spAutoFit/>
          </a:bodyPr>
          <a:lstStyle/>
          <a:p>
            <a:pPr marL="0" marR="0" lvl="0" indent="0" defTabSz="914400" rtl="0" eaLnBrk="1" fontAlgn="auto" latinLnBrk="0" hangingPunct="1">
              <a:lnSpc>
                <a:spcPts val="900"/>
              </a:lnSpc>
              <a:spcBef>
                <a:spcPts val="0"/>
              </a:spcBef>
              <a:spcAft>
                <a:spcPts val="0"/>
              </a:spcAft>
              <a:buClrTx/>
              <a:buSzTx/>
              <a:buFontTx/>
              <a:buNone/>
              <a:tabLst/>
              <a:defRPr/>
            </a:pPr>
            <a:r>
              <a:rPr kumimoji="0" lang="en-US" sz="600" b="1"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rPr>
              <a:t>| 83,5%</a:t>
            </a:r>
            <a:endParaRPr kumimoji="0" lang="en-US" sz="700" b="0"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endParaRPr>
          </a:p>
        </p:txBody>
      </p:sp>
      <p:sp>
        <p:nvSpPr>
          <p:cNvPr id="46" name="CaixaDeTexto 45">
            <a:extLst>
              <a:ext uri="{FF2B5EF4-FFF2-40B4-BE49-F238E27FC236}">
                <a16:creationId xmlns:a16="http://schemas.microsoft.com/office/drawing/2014/main" id="{6EBFF415-D6C2-46AD-B12A-6A01F2DC5869}"/>
              </a:ext>
            </a:extLst>
          </p:cNvPr>
          <p:cNvSpPr txBox="1"/>
          <p:nvPr/>
        </p:nvSpPr>
        <p:spPr>
          <a:xfrm>
            <a:off x="979131" y="5047475"/>
            <a:ext cx="328522" cy="201337"/>
          </a:xfrm>
          <a:prstGeom prst="rect">
            <a:avLst/>
          </a:prstGeom>
          <a:noFill/>
        </p:spPr>
        <p:txBody>
          <a:bodyPr wrap="square" lIns="0" rIns="0" rtlCol="0">
            <a:spAutoFit/>
          </a:bodyPr>
          <a:lstStyle/>
          <a:p>
            <a:pPr marL="0" marR="0" lvl="0" indent="0" defTabSz="914400" rtl="0" eaLnBrk="1" fontAlgn="auto" latinLnBrk="0" hangingPunct="1">
              <a:lnSpc>
                <a:spcPts val="900"/>
              </a:lnSpc>
              <a:spcBef>
                <a:spcPts val="0"/>
              </a:spcBef>
              <a:spcAft>
                <a:spcPts val="0"/>
              </a:spcAft>
              <a:buClrTx/>
              <a:buSzTx/>
              <a:buFontTx/>
              <a:buNone/>
              <a:tabLst/>
              <a:defRPr/>
            </a:pPr>
            <a:r>
              <a:rPr kumimoji="0" lang="en-US" sz="600" b="1"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rPr>
              <a:t>| 10%</a:t>
            </a:r>
            <a:endParaRPr kumimoji="0" lang="en-US" sz="700" b="0"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endParaRPr>
          </a:p>
        </p:txBody>
      </p:sp>
      <p:sp>
        <p:nvSpPr>
          <p:cNvPr id="47" name="CaixaDeTexto 46">
            <a:extLst>
              <a:ext uri="{FF2B5EF4-FFF2-40B4-BE49-F238E27FC236}">
                <a16:creationId xmlns:a16="http://schemas.microsoft.com/office/drawing/2014/main" id="{9E960C72-95D7-4759-8FCE-4C2A2069D565}"/>
              </a:ext>
            </a:extLst>
          </p:cNvPr>
          <p:cNvSpPr txBox="1"/>
          <p:nvPr/>
        </p:nvSpPr>
        <p:spPr>
          <a:xfrm>
            <a:off x="979131" y="5422090"/>
            <a:ext cx="328522" cy="201337"/>
          </a:xfrm>
          <a:prstGeom prst="rect">
            <a:avLst/>
          </a:prstGeom>
          <a:noFill/>
        </p:spPr>
        <p:txBody>
          <a:bodyPr wrap="square" lIns="0" rIns="0" rtlCol="0">
            <a:spAutoFit/>
          </a:bodyPr>
          <a:lstStyle/>
          <a:p>
            <a:pPr marL="0" marR="0" lvl="0" indent="0" defTabSz="914400" rtl="0" eaLnBrk="1" fontAlgn="auto" latinLnBrk="0" hangingPunct="1">
              <a:lnSpc>
                <a:spcPts val="900"/>
              </a:lnSpc>
              <a:spcBef>
                <a:spcPts val="0"/>
              </a:spcBef>
              <a:spcAft>
                <a:spcPts val="0"/>
              </a:spcAft>
              <a:buClrTx/>
              <a:buSzTx/>
              <a:buFontTx/>
              <a:buNone/>
              <a:tabLst/>
              <a:defRPr/>
            </a:pPr>
            <a:r>
              <a:rPr kumimoji="0" lang="en-US" sz="600" b="1"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rPr>
              <a:t>| 4%</a:t>
            </a:r>
            <a:endParaRPr kumimoji="0" lang="en-US" sz="700" b="0"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endParaRPr>
          </a:p>
        </p:txBody>
      </p:sp>
      <p:sp>
        <p:nvSpPr>
          <p:cNvPr id="48" name="CaixaDeTexto 47">
            <a:extLst>
              <a:ext uri="{FF2B5EF4-FFF2-40B4-BE49-F238E27FC236}">
                <a16:creationId xmlns:a16="http://schemas.microsoft.com/office/drawing/2014/main" id="{99EA43D1-0819-4272-928E-FD6768D07CFB}"/>
              </a:ext>
            </a:extLst>
          </p:cNvPr>
          <p:cNvSpPr txBox="1"/>
          <p:nvPr/>
        </p:nvSpPr>
        <p:spPr>
          <a:xfrm>
            <a:off x="979131" y="5825521"/>
            <a:ext cx="328522" cy="201337"/>
          </a:xfrm>
          <a:prstGeom prst="rect">
            <a:avLst/>
          </a:prstGeom>
          <a:noFill/>
        </p:spPr>
        <p:txBody>
          <a:bodyPr wrap="square" lIns="0" rIns="0" rtlCol="0">
            <a:spAutoFit/>
          </a:bodyPr>
          <a:lstStyle/>
          <a:p>
            <a:pPr marL="0" marR="0" lvl="0" indent="0" defTabSz="914400" rtl="0" eaLnBrk="1" fontAlgn="auto" latinLnBrk="0" hangingPunct="1">
              <a:lnSpc>
                <a:spcPts val="900"/>
              </a:lnSpc>
              <a:spcBef>
                <a:spcPts val="0"/>
              </a:spcBef>
              <a:spcAft>
                <a:spcPts val="0"/>
              </a:spcAft>
              <a:buClrTx/>
              <a:buSzTx/>
              <a:buFontTx/>
              <a:buNone/>
              <a:tabLst/>
              <a:defRPr/>
            </a:pPr>
            <a:r>
              <a:rPr kumimoji="0" lang="en-US" sz="600" b="1"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rPr>
              <a:t>| </a:t>
            </a:r>
            <a:r>
              <a:rPr lang="en-US" sz="600" b="1">
                <a:solidFill>
                  <a:schemeClr val="bg2">
                    <a:lumMod val="50000"/>
                  </a:schemeClr>
                </a:solidFill>
                <a:latin typeface="Roboto" panose="02000000000000000000" pitchFamily="2" charset="0"/>
                <a:ea typeface="Roboto" panose="02000000000000000000" pitchFamily="2" charset="0"/>
              </a:rPr>
              <a:t>2</a:t>
            </a:r>
            <a:r>
              <a:rPr kumimoji="0" lang="en-US" sz="600" b="1"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rPr>
              <a:t>%</a:t>
            </a:r>
            <a:endParaRPr kumimoji="0" lang="en-US" sz="700" b="0"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endParaRPr>
          </a:p>
        </p:txBody>
      </p:sp>
      <p:sp>
        <p:nvSpPr>
          <p:cNvPr id="49" name="CaixaDeTexto 48">
            <a:extLst>
              <a:ext uri="{FF2B5EF4-FFF2-40B4-BE49-F238E27FC236}">
                <a16:creationId xmlns:a16="http://schemas.microsoft.com/office/drawing/2014/main" id="{5EAB3C20-9740-47E0-B5B0-D441005D6595}"/>
              </a:ext>
            </a:extLst>
          </p:cNvPr>
          <p:cNvSpPr txBox="1"/>
          <p:nvPr/>
        </p:nvSpPr>
        <p:spPr>
          <a:xfrm>
            <a:off x="979131" y="6233047"/>
            <a:ext cx="328522" cy="201337"/>
          </a:xfrm>
          <a:prstGeom prst="rect">
            <a:avLst/>
          </a:prstGeom>
          <a:noFill/>
        </p:spPr>
        <p:txBody>
          <a:bodyPr wrap="square" lIns="0" rIns="0" rtlCol="0">
            <a:spAutoFit/>
          </a:bodyPr>
          <a:lstStyle/>
          <a:p>
            <a:pPr marL="0" marR="0" lvl="0" indent="0" defTabSz="914400" rtl="0" eaLnBrk="1" fontAlgn="auto" latinLnBrk="0" hangingPunct="1">
              <a:lnSpc>
                <a:spcPts val="900"/>
              </a:lnSpc>
              <a:spcBef>
                <a:spcPts val="0"/>
              </a:spcBef>
              <a:spcAft>
                <a:spcPts val="0"/>
              </a:spcAft>
              <a:buClrTx/>
              <a:buSzTx/>
              <a:buFontTx/>
              <a:buNone/>
              <a:tabLst/>
              <a:defRPr/>
            </a:pPr>
            <a:r>
              <a:rPr kumimoji="0" lang="en-US" sz="600" b="1"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rPr>
              <a:t>| 0,5%</a:t>
            </a:r>
            <a:endParaRPr kumimoji="0" lang="en-US" sz="700" b="0" i="0" u="none" strike="noStrike" kern="1200" cap="none" spc="0" normalizeH="0" baseline="0" noProof="0">
              <a:ln>
                <a:noFill/>
              </a:ln>
              <a:solidFill>
                <a:schemeClr val="bg2">
                  <a:lumMod val="50000"/>
                </a:schemeClr>
              </a:solidFill>
              <a:effectLst/>
              <a:uLnTx/>
              <a:uFillTx/>
              <a:latin typeface="Roboto" panose="02000000000000000000" pitchFamily="2" charset="0"/>
              <a:ea typeface="Roboto" panose="02000000000000000000" pitchFamily="2" charset="0"/>
              <a:cs typeface="+mn-cs"/>
            </a:endParaRPr>
          </a:p>
        </p:txBody>
      </p:sp>
      <p:sp>
        <p:nvSpPr>
          <p:cNvPr id="54" name="CaixaDeTexto 53">
            <a:extLst>
              <a:ext uri="{FF2B5EF4-FFF2-40B4-BE49-F238E27FC236}">
                <a16:creationId xmlns:a16="http://schemas.microsoft.com/office/drawing/2014/main" id="{0E62867D-40DB-4552-BFE5-A06B8DBB5F9E}"/>
              </a:ext>
            </a:extLst>
          </p:cNvPr>
          <p:cNvSpPr txBox="1"/>
          <p:nvPr/>
        </p:nvSpPr>
        <p:spPr>
          <a:xfrm>
            <a:off x="5199012" y="4609778"/>
            <a:ext cx="1565235" cy="338554"/>
          </a:xfrm>
          <a:prstGeom prst="rect">
            <a:avLst/>
          </a:prstGeom>
          <a:noFill/>
        </p:spPr>
        <p:txBody>
          <a:bodyPr wrap="square" rtlCol="0">
            <a:spAutoFit/>
          </a:bodyPr>
          <a:lstStyle>
            <a:defPPr>
              <a:defRPr lang="de-DE"/>
            </a:defPPr>
            <a:lvl1pPr marR="0" lvl="0" indent="0" fontAlgn="auto">
              <a:lnSpc>
                <a:spcPct val="100000"/>
              </a:lnSpc>
              <a:spcBef>
                <a:spcPts val="0"/>
              </a:spcBef>
              <a:spcAft>
                <a:spcPts val="0"/>
              </a:spcAft>
              <a:buClrTx/>
              <a:buSzTx/>
              <a:buFontTx/>
              <a:buNone/>
              <a:tabLst/>
              <a:defRPr kumimoji="0" sz="900" b="0" i="0" u="none" strike="noStrike" cap="none" spc="0" normalizeH="0" baseline="0">
                <a:ln>
                  <a:noFill/>
                </a:ln>
                <a:solidFill>
                  <a:prstClr val="black"/>
                </a:solidFill>
                <a:effectLst/>
                <a:uLnTx/>
                <a:uFillTx/>
                <a:latin typeface="Roboto" panose="02000000000000000000" pitchFamily="2" charset="0"/>
                <a:ea typeface="Roboto" panose="02000000000000000000" pitchFamily="2" charset="0"/>
              </a:defRPr>
            </a:lvl1pPr>
          </a:lstStyle>
          <a:p>
            <a:pPr algn="ctr"/>
            <a:r>
              <a:rPr lang="fr-FR" sz="800"/>
              <a:t>CE | Winter Promo | App Push |  T3​ | Revenue: R$18,4k</a:t>
            </a:r>
            <a:endParaRPr lang="en-US" sz="800"/>
          </a:p>
        </p:txBody>
      </p:sp>
      <p:pic>
        <p:nvPicPr>
          <p:cNvPr id="3" name="Imagem 2">
            <a:extLst>
              <a:ext uri="{FF2B5EF4-FFF2-40B4-BE49-F238E27FC236}">
                <a16:creationId xmlns:a16="http://schemas.microsoft.com/office/drawing/2014/main" id="{1053A84B-82F3-458E-B2D7-9FAD60902876}"/>
              </a:ext>
            </a:extLst>
          </p:cNvPr>
          <p:cNvPicPr>
            <a:picLocks noChangeAspect="1"/>
          </p:cNvPicPr>
          <p:nvPr/>
        </p:nvPicPr>
        <p:blipFill>
          <a:blip r:embed="rId5"/>
          <a:stretch>
            <a:fillRect/>
          </a:stretch>
        </p:blipFill>
        <p:spPr>
          <a:xfrm>
            <a:off x="319765" y="3318995"/>
            <a:ext cx="4650572" cy="517406"/>
          </a:xfrm>
          <a:prstGeom prst="rect">
            <a:avLst/>
          </a:prstGeom>
        </p:spPr>
      </p:pic>
      <p:pic>
        <p:nvPicPr>
          <p:cNvPr id="14" name="Imagem 13">
            <a:extLst>
              <a:ext uri="{FF2B5EF4-FFF2-40B4-BE49-F238E27FC236}">
                <a16:creationId xmlns:a16="http://schemas.microsoft.com/office/drawing/2014/main" id="{EF6F13AF-D057-4111-B7A9-38608814E953}"/>
              </a:ext>
            </a:extLst>
          </p:cNvPr>
          <p:cNvPicPr>
            <a:picLocks noChangeAspect="1"/>
          </p:cNvPicPr>
          <p:nvPr/>
        </p:nvPicPr>
        <p:blipFill>
          <a:blip r:embed="rId6"/>
          <a:stretch>
            <a:fillRect/>
          </a:stretch>
        </p:blipFill>
        <p:spPr>
          <a:xfrm>
            <a:off x="1942900" y="3033550"/>
            <a:ext cx="3011164" cy="285445"/>
          </a:xfrm>
          <a:prstGeom prst="rect">
            <a:avLst/>
          </a:prstGeom>
        </p:spPr>
      </p:pic>
      <p:pic>
        <p:nvPicPr>
          <p:cNvPr id="2050" name="Picture 2">
            <a:extLst>
              <a:ext uri="{FF2B5EF4-FFF2-40B4-BE49-F238E27FC236}">
                <a16:creationId xmlns:a16="http://schemas.microsoft.com/office/drawing/2014/main" id="{01EAE7C0-3925-4341-BC42-6B0AE853102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11843" y="4949841"/>
            <a:ext cx="1475849" cy="11103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58228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heil-Logo(black).png" descr="Cheil-Logo(black).png">
            <a:extLst>
              <a:ext uri="{FF2B5EF4-FFF2-40B4-BE49-F238E27FC236}">
                <a16:creationId xmlns:a16="http://schemas.microsoft.com/office/drawing/2014/main" id="{DF344D88-4EA9-4E92-ADF7-61B55EE4B848}"/>
              </a:ext>
            </a:extLst>
          </p:cNvPr>
          <p:cNvPicPr>
            <a:picLocks noChangeAspect="1"/>
          </p:cNvPicPr>
          <p:nvPr/>
        </p:nvPicPr>
        <p:blipFill>
          <a:blip r:embed="rId2"/>
          <a:stretch>
            <a:fillRect/>
          </a:stretch>
        </p:blipFill>
        <p:spPr>
          <a:xfrm>
            <a:off x="254148" y="6329579"/>
            <a:ext cx="655342" cy="290146"/>
          </a:xfrm>
          <a:prstGeom prst="rect">
            <a:avLst/>
          </a:prstGeom>
          <a:ln w="12700">
            <a:miter lim="400000"/>
          </a:ln>
        </p:spPr>
      </p:pic>
      <p:sp>
        <p:nvSpPr>
          <p:cNvPr id="5" name="Galaxy A06…">
            <a:extLst>
              <a:ext uri="{FF2B5EF4-FFF2-40B4-BE49-F238E27FC236}">
                <a16:creationId xmlns:a16="http://schemas.microsoft.com/office/drawing/2014/main" id="{3C75C3A0-FAE2-4BE8-B90C-87B911D7AE60}"/>
              </a:ext>
            </a:extLst>
          </p:cNvPr>
          <p:cNvSpPr txBox="1"/>
          <p:nvPr/>
        </p:nvSpPr>
        <p:spPr>
          <a:xfrm>
            <a:off x="1061304" y="3079994"/>
            <a:ext cx="7392413" cy="69801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45719" tIns="45719" rIns="45719" bIns="45719" anchor="ctr">
            <a:spAutoFit/>
          </a:bodyPr>
          <a:lstStyle>
            <a:lvl1pPr defTabSz="1828800">
              <a:lnSpc>
                <a:spcPct val="80000"/>
              </a:lnSpc>
              <a:spcBef>
                <a:spcPts val="0"/>
              </a:spcBef>
              <a:defRPr sz="15000" spc="-450">
                <a:solidFill>
                  <a:srgbClr val="FFFFFF"/>
                </a:solidFill>
                <a:latin typeface="SamsungSharpSans-Medium"/>
                <a:ea typeface="SamsungSharpSans-Medium"/>
                <a:cs typeface="SamsungSharpSans-Medium"/>
                <a:sym typeface="SamsungSharpSans-Medium"/>
              </a:defRPr>
            </a:lvl1pPr>
          </a:lstStyle>
          <a:p>
            <a:pPr marL="0" marR="0" lvl="0" indent="0" defTabSz="1828800" eaLnBrk="1" fontAlgn="auto" latinLnBrk="0" hangingPunct="0">
              <a:lnSpc>
                <a:spcPct val="80000"/>
              </a:lnSpc>
              <a:spcBef>
                <a:spcPts val="0"/>
              </a:spcBef>
              <a:spcAft>
                <a:spcPts val="0"/>
              </a:spcAft>
              <a:buClrTx/>
              <a:buSzTx/>
              <a:buFontTx/>
              <a:buNone/>
              <a:tabLst/>
              <a:defRPr/>
            </a:pPr>
            <a:r>
              <a:rPr lang="pt-BR" sz="4800" kern="0" spc="0"/>
              <a:t>TRIGGERS</a:t>
            </a:r>
            <a:endParaRPr kumimoji="0" lang="pt-BR" sz="4800" b="0" i="0" u="none" strike="noStrike" kern="0" cap="none" spc="0" normalizeH="0" baseline="0" noProof="0">
              <a:ln>
                <a:noFill/>
              </a:ln>
              <a:solidFill>
                <a:srgbClr val="FFFFFF"/>
              </a:solidFill>
              <a:effectLst/>
              <a:uLnTx/>
              <a:uFillTx/>
              <a:latin typeface="SamsungSharpSans-Medium"/>
              <a:ea typeface="SamsungSharpSans-Medium"/>
              <a:cs typeface="SamsungSharpSans-Medium"/>
              <a:sym typeface="SamsungSharpSans-Medium"/>
            </a:endParaRPr>
          </a:p>
        </p:txBody>
      </p:sp>
    </p:spTree>
    <p:extLst>
      <p:ext uri="{BB962C8B-B14F-4D97-AF65-F5344CB8AC3E}">
        <p14:creationId xmlns:p14="http://schemas.microsoft.com/office/powerpoint/2010/main" val="1513962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8855CDE1-B3AF-4CBB-826B-8E238495B60A}"/>
              </a:ext>
            </a:extLst>
          </p:cNvPr>
          <p:cNvPicPr>
            <a:picLocks noChangeAspect="1"/>
          </p:cNvPicPr>
          <p:nvPr/>
        </p:nvPicPr>
        <p:blipFill rotWithShape="1">
          <a:blip r:embed="rId3"/>
          <a:srcRect t="7498"/>
          <a:stretch/>
        </p:blipFill>
        <p:spPr>
          <a:xfrm>
            <a:off x="2507616" y="3249918"/>
            <a:ext cx="6407878" cy="3345867"/>
          </a:xfrm>
          <a:prstGeom prst="rect">
            <a:avLst/>
          </a:prstGeom>
        </p:spPr>
      </p:pic>
      <p:sp>
        <p:nvSpPr>
          <p:cNvPr id="205" name="CaixaDeTexto 204">
            <a:extLst>
              <a:ext uri="{FF2B5EF4-FFF2-40B4-BE49-F238E27FC236}">
                <a16:creationId xmlns:a16="http://schemas.microsoft.com/office/drawing/2014/main" id="{8D4990BE-1762-4384-AB23-0F1906DF0787}"/>
              </a:ext>
            </a:extLst>
          </p:cNvPr>
          <p:cNvSpPr txBox="1"/>
          <p:nvPr/>
        </p:nvSpPr>
        <p:spPr>
          <a:xfrm>
            <a:off x="6591104" y="1293047"/>
            <a:ext cx="549112" cy="246221"/>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000" b="0" i="1" u="none" strike="noStrike" kern="1200" cap="none" spc="0" normalizeH="0" baseline="0" noProof="0">
                <a:ln>
                  <a:noFill/>
                </a:ln>
                <a:solidFill>
                  <a:srgbClr val="00B050"/>
                </a:solidFill>
                <a:effectLst/>
                <a:uLnTx/>
                <a:uFillTx/>
                <a:latin typeface="Aptos" panose="020B0004020202020204"/>
                <a:ea typeface="+mn-ea"/>
                <a:cs typeface="+mn-cs"/>
              </a:rPr>
              <a:t>1.47</a:t>
            </a:r>
          </a:p>
        </p:txBody>
      </p:sp>
      <p:cxnSp>
        <p:nvCxnSpPr>
          <p:cNvPr id="80" name="Conector: Angulado 79">
            <a:extLst>
              <a:ext uri="{FF2B5EF4-FFF2-40B4-BE49-F238E27FC236}">
                <a16:creationId xmlns:a16="http://schemas.microsoft.com/office/drawing/2014/main" id="{FFA356E3-5286-4E2F-82A8-1C1E8B8902CB}"/>
              </a:ext>
            </a:extLst>
          </p:cNvPr>
          <p:cNvCxnSpPr>
            <a:cxnSpLocks/>
          </p:cNvCxnSpPr>
          <p:nvPr/>
        </p:nvCxnSpPr>
        <p:spPr>
          <a:xfrm flipV="1">
            <a:off x="4339107" y="2945118"/>
            <a:ext cx="2154480" cy="642947"/>
          </a:xfrm>
          <a:prstGeom prst="bentConnector3">
            <a:avLst>
              <a:gd name="adj1" fmla="val 13"/>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1" name="Conector: Angulado 80">
            <a:extLst>
              <a:ext uri="{FF2B5EF4-FFF2-40B4-BE49-F238E27FC236}">
                <a16:creationId xmlns:a16="http://schemas.microsoft.com/office/drawing/2014/main" id="{EEB92156-9780-43AC-B96E-45D5535F1D53}"/>
              </a:ext>
            </a:extLst>
          </p:cNvPr>
          <p:cNvCxnSpPr>
            <a:cxnSpLocks/>
          </p:cNvCxnSpPr>
          <p:nvPr/>
        </p:nvCxnSpPr>
        <p:spPr>
          <a:xfrm>
            <a:off x="6862120" y="2945118"/>
            <a:ext cx="1584000" cy="648000"/>
          </a:xfrm>
          <a:prstGeom prst="bentConnector3">
            <a:avLst>
              <a:gd name="adj1" fmla="val 101006"/>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82" name="Elipse 81">
            <a:extLst>
              <a:ext uri="{FF2B5EF4-FFF2-40B4-BE49-F238E27FC236}">
                <a16:creationId xmlns:a16="http://schemas.microsoft.com/office/drawing/2014/main" id="{325E11C4-078E-425D-9AC8-518D1D6CE200}"/>
              </a:ext>
            </a:extLst>
          </p:cNvPr>
          <p:cNvSpPr/>
          <p:nvPr/>
        </p:nvSpPr>
        <p:spPr>
          <a:xfrm>
            <a:off x="6098999" y="2764801"/>
            <a:ext cx="756678" cy="36063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400">
                <a:solidFill>
                  <a:sysClr val="windowText" lastClr="000000"/>
                </a:solidFill>
                <a:latin typeface="Aptos" panose="020B0004020202020204"/>
              </a:rPr>
              <a:t>0.97</a:t>
            </a:r>
            <a:endParaRPr kumimoji="0" lang="pt-BR" sz="1400" b="0" i="0" u="none" strike="noStrike" kern="1200" cap="none" spc="0" normalizeH="0" baseline="0" noProof="0">
              <a:ln>
                <a:noFill/>
              </a:ln>
              <a:solidFill>
                <a:sysClr val="windowText" lastClr="000000"/>
              </a:solidFill>
              <a:effectLst/>
              <a:uLnTx/>
              <a:uFillTx/>
              <a:latin typeface="Aptos" panose="020B0004020202020204"/>
              <a:ea typeface="+mn-ea"/>
              <a:cs typeface="+mn-cs"/>
            </a:endParaRPr>
          </a:p>
        </p:txBody>
      </p:sp>
      <p:sp>
        <p:nvSpPr>
          <p:cNvPr id="76" name="Google Shape;333;p27">
            <a:extLst>
              <a:ext uri="{FF2B5EF4-FFF2-40B4-BE49-F238E27FC236}">
                <a16:creationId xmlns:a16="http://schemas.microsoft.com/office/drawing/2014/main" id="{532CA792-6582-4384-81E7-252D6456C1BB}"/>
              </a:ext>
            </a:extLst>
          </p:cNvPr>
          <p:cNvSpPr/>
          <p:nvPr/>
        </p:nvSpPr>
        <p:spPr>
          <a:xfrm>
            <a:off x="207355" y="558387"/>
            <a:ext cx="11256067" cy="252000"/>
          </a:xfrm>
          <a:prstGeom prst="roundRect">
            <a:avLst>
              <a:gd name="adj" fmla="val 0"/>
            </a:avLst>
          </a:prstGeom>
          <a:noFill/>
          <a:ln w="9525" cap="flat" cmpd="sng">
            <a:noFill/>
            <a:prstDash val="solid"/>
            <a:round/>
            <a:headEnd type="none" w="sm" len="sm"/>
            <a:tailEnd type="none" w="sm" len="sm"/>
          </a:ln>
        </p:spPr>
        <p:txBody>
          <a:bodyPr spcFirstLastPara="1" wrap="square" lIns="72000" tIns="36000" rIns="72000" bIns="36000" anchor="t" anchorCtr="0">
            <a:noAutofit/>
          </a:bodyPr>
          <a:lstStyle>
            <a:defPPr marL="0" marR="0" indent="0" algn="l" defTabSz="914400" rtl="0" fontAlgn="auto" latinLnBrk="1" hangingPunct="0">
              <a:lnSpc>
                <a:spcPct val="100000"/>
              </a:lnSpc>
              <a:spcBef>
                <a:spcPts val="0"/>
              </a:spcBef>
              <a:spcAft>
                <a:spcPts val="0"/>
              </a:spcAft>
              <a:buClrTx/>
              <a:buSzTx/>
              <a:buFontTx/>
              <a:buNone/>
              <a:tabLst/>
              <a:defRPr kumimoji="0" lang="de-DE" sz="1800" b="0" i="0" u="none" strike="noStrike" cap="none" spc="0" normalizeH="0" baseline="0">
                <a:ln>
                  <a:noFill/>
                </a:ln>
                <a:solidFill>
                  <a:srgbClr val="000000"/>
                </a:solidFill>
                <a:effectLst/>
                <a:uFillTx/>
              </a:defRPr>
            </a:defPPr>
            <a:lvl1pPr marL="0" marR="0" indent="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1pPr>
            <a:lvl2pPr marL="0" marR="0" indent="4572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2pPr>
            <a:lvl3pPr marL="0" marR="0" indent="9144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3pPr>
            <a:lvl4pPr marL="0" marR="0" indent="13716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4pPr>
            <a:lvl5pPr marL="0" marR="0" indent="18288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5pPr>
            <a:lvl6pPr marL="0" marR="0" indent="22860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6pPr>
            <a:lvl7pPr marL="0" marR="0" indent="27432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7pPr>
            <a:lvl8pPr marL="0" marR="0" indent="32004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8pPr>
            <a:lvl9pPr marL="0" marR="0" indent="36576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9pPr>
          </a:lstStyle>
          <a:p>
            <a:pPr defTabSz="912114" hangingPunct="1">
              <a:defRPr/>
            </a:pPr>
            <a:r>
              <a:rPr kumimoji="0" lang="en-US" sz="1100" b="0" i="0" u="none" strike="noStrike" kern="1200" cap="none" spc="0" normalizeH="0" baseline="0" noProof="0">
                <a:ln>
                  <a:noFill/>
                </a:ln>
                <a:solidFill>
                  <a:srgbClr val="000000"/>
                </a:solidFill>
                <a:effectLst/>
                <a:uLnTx/>
                <a:uFillTx/>
                <a:latin typeface="Roboto"/>
                <a:ea typeface="Roboto"/>
                <a:cs typeface="Roboto"/>
                <a:sym typeface="SamsungOne 400"/>
              </a:rPr>
              <a:t>Triggers reached </a:t>
            </a:r>
            <a:r>
              <a:rPr kumimoji="0" lang="en-US" sz="1100" b="1" i="0" u="none" strike="noStrike" kern="1200" cap="none" spc="0" normalizeH="0" baseline="0" noProof="0">
                <a:ln>
                  <a:noFill/>
                </a:ln>
                <a:solidFill>
                  <a:srgbClr val="000000"/>
                </a:solidFill>
                <a:effectLst/>
                <a:uLnTx/>
                <a:uFillTx/>
                <a:latin typeface="Roboto"/>
                <a:ea typeface="Roboto"/>
                <a:cs typeface="Roboto"/>
                <a:sym typeface="SamsungOne 400"/>
              </a:rPr>
              <a:t>R$3.64M </a:t>
            </a:r>
            <a:r>
              <a:rPr kumimoji="0" lang="en-US" sz="1100" b="0" i="0" u="none" strike="noStrike" kern="1200" cap="none" spc="0" normalizeH="0" baseline="0" noProof="0">
                <a:ln>
                  <a:noFill/>
                </a:ln>
                <a:solidFill>
                  <a:srgbClr val="000000"/>
                </a:solidFill>
                <a:effectLst/>
                <a:uLnTx/>
                <a:uFillTx/>
                <a:latin typeface="Roboto"/>
                <a:ea typeface="Roboto"/>
                <a:cs typeface="Roboto"/>
                <a:sym typeface="SamsungOne 400"/>
              </a:rPr>
              <a:t>and </a:t>
            </a:r>
            <a:r>
              <a:rPr kumimoji="0" lang="en-US" sz="1100" b="1" i="0" u="none" strike="noStrike" kern="1200" cap="none" spc="0" normalizeH="0" baseline="0" noProof="0">
                <a:ln>
                  <a:noFill/>
                </a:ln>
                <a:solidFill>
                  <a:srgbClr val="000000"/>
                </a:solidFill>
                <a:effectLst/>
                <a:uLnTx/>
                <a:uFillTx/>
                <a:latin typeface="Roboto"/>
                <a:ea typeface="Roboto"/>
                <a:cs typeface="Roboto"/>
                <a:sym typeface="SamsungOne 400"/>
              </a:rPr>
              <a:t>1.74 G/R, Transactional </a:t>
            </a:r>
            <a:r>
              <a:rPr kumimoji="0" lang="en-US" sz="1100" i="0" u="none" strike="noStrike" kern="1200" cap="none" spc="0" normalizeH="0" baseline="0" noProof="0">
                <a:ln>
                  <a:noFill/>
                </a:ln>
                <a:solidFill>
                  <a:srgbClr val="000000"/>
                </a:solidFill>
                <a:effectLst/>
                <a:uLnTx/>
                <a:uFillTx/>
                <a:latin typeface="Roboto"/>
                <a:ea typeface="Roboto"/>
                <a:cs typeface="Roboto"/>
                <a:sym typeface="SamsungOne 400"/>
              </a:rPr>
              <a:t>reduced Cart dependency</a:t>
            </a:r>
            <a:r>
              <a:rPr kumimoji="0" lang="en-US" sz="1100" b="1" i="0" u="none" strike="noStrike" kern="1200" cap="none" spc="0" normalizeH="0" baseline="0" noProof="0">
                <a:ln>
                  <a:noFill/>
                </a:ln>
                <a:solidFill>
                  <a:srgbClr val="000000"/>
                </a:solidFill>
                <a:effectLst/>
                <a:uLnTx/>
                <a:uFillTx/>
                <a:latin typeface="Roboto"/>
                <a:ea typeface="Roboto"/>
                <a:cs typeface="Roboto"/>
                <a:sym typeface="SamsungOne 400"/>
              </a:rPr>
              <a:t>.</a:t>
            </a:r>
            <a:endParaRPr kumimoji="0" lang="en-US" sz="100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a:sym typeface="SamsungOne 400"/>
            </a:endParaRPr>
          </a:p>
        </p:txBody>
      </p:sp>
      <p:sp>
        <p:nvSpPr>
          <p:cNvPr id="77" name="Retângulo: Cantos Arredondados 76">
            <a:extLst>
              <a:ext uri="{FF2B5EF4-FFF2-40B4-BE49-F238E27FC236}">
                <a16:creationId xmlns:a16="http://schemas.microsoft.com/office/drawing/2014/main" id="{57AC8193-24B8-4458-B649-59BCB7DB8C0F}"/>
              </a:ext>
            </a:extLst>
          </p:cNvPr>
          <p:cNvSpPr/>
          <p:nvPr/>
        </p:nvSpPr>
        <p:spPr>
          <a:xfrm>
            <a:off x="9105205" y="2237540"/>
            <a:ext cx="2984587" cy="4508462"/>
          </a:xfrm>
          <a:prstGeom prst="roundRect">
            <a:avLst>
              <a:gd name="adj" fmla="val 4184"/>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105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rPr>
              <a:t>HIGHLIGHT</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05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Triggers: R$3.64M | 1.74 G/R</a:t>
            </a: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was the principal growth engine.</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All KPIs grew last month, delivering a bigger conversion rate.</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05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Cart </a:t>
            </a:r>
            <a:r>
              <a:rPr kumimoji="0" lang="en-US" sz="105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is responsible for 50%-80% of revenue every week.</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05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S25+</a:t>
            </a:r>
            <a:r>
              <a:rPr kumimoji="0" lang="en-US" sz="105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had the best increase (10.12 G/R) in trigger.</a:t>
            </a:r>
            <a:br>
              <a:rPr kumimoji="0" lang="pt-BR" sz="1050" b="0" i="0" u="none" strike="noStrike" kern="1200" cap="none" spc="0" normalizeH="0" baseline="0" noProof="0">
                <a:ln>
                  <a:noFill/>
                </a:ln>
                <a:solidFill>
                  <a:prstClr val="black"/>
                </a:solidFill>
                <a:effectLst/>
                <a:highlight>
                  <a:srgbClr val="FFFF00"/>
                </a:highlight>
                <a:uLnTx/>
                <a:uFillTx/>
                <a:latin typeface="Roboto" panose="02000000000000000000" pitchFamily="2" charset="0"/>
                <a:ea typeface="Roboto" panose="02000000000000000000" pitchFamily="2" charset="0"/>
                <a:cs typeface="+mn-cs"/>
              </a:rPr>
            </a:br>
            <a:endParaRPr kumimoji="0" lang="pt-BR" sz="1050" b="0" i="0" u="none" strike="noStrike" kern="1200" cap="none" spc="0" normalizeH="0" baseline="0" noProof="0">
              <a:ln>
                <a:noFill/>
              </a:ln>
              <a:solidFill>
                <a:prstClr val="black"/>
              </a:solidFill>
              <a:effectLst/>
              <a:highlight>
                <a:srgbClr val="FFFF00"/>
              </a:highlight>
              <a:uLnTx/>
              <a:uFillTx/>
              <a:latin typeface="Roboto" panose="02000000000000000000" pitchFamily="2" charset="0"/>
              <a:ea typeface="Roboto" panose="02000000000000000000" pitchFamily="2" charset="0"/>
              <a:cs typeface="+mn-cs"/>
            </a:endParaRP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105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rPr>
              <a:t>LOWLIGHT</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Transactional and PPX Onboarding </a:t>
            </a:r>
            <a:r>
              <a:rPr lang="en-US" sz="1050">
                <a:solidFill>
                  <a:prstClr val="black"/>
                </a:solidFill>
                <a:latin typeface="Roboto" panose="02000000000000000000" pitchFamily="2" charset="0"/>
                <a:ea typeface="Roboto" panose="02000000000000000000" pitchFamily="2" charset="0"/>
              </a:rPr>
              <a:t>supported</a:t>
            </a: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the revenue diversification </a:t>
            </a:r>
            <a:r>
              <a:rPr lang="en-US" sz="1050">
                <a:solidFill>
                  <a:prstClr val="black"/>
                </a:solidFill>
                <a:latin typeface="Roboto" panose="02000000000000000000" pitchFamily="2" charset="0"/>
                <a:ea typeface="Roboto" panose="02000000000000000000" pitchFamily="2" charset="0"/>
              </a:rPr>
              <a:t>on triggers.</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Inactive Users presents </a:t>
            </a:r>
            <a:r>
              <a:rPr lang="en-US" sz="1050">
                <a:solidFill>
                  <a:prstClr val="black"/>
                </a:solidFill>
                <a:latin typeface="Roboto" panose="02000000000000000000" pitchFamily="2" charset="0"/>
                <a:ea typeface="Roboto" panose="02000000000000000000" pitchFamily="2" charset="0"/>
              </a:rPr>
              <a:t>returns for the first time on W31, but zeroed after W35.</a:t>
            </a:r>
            <a:endPar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05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Despite revenue increase, trigger didn’t reach </a:t>
            </a:r>
            <a:r>
              <a:rPr lang="en-US" sz="1050">
                <a:solidFill>
                  <a:prstClr val="black"/>
                </a:solidFill>
                <a:latin typeface="Roboto" panose="02000000000000000000" pitchFamily="2" charset="0"/>
                <a:ea typeface="Roboto" panose="02000000000000000000" pitchFamily="2" charset="0"/>
              </a:rPr>
              <a:t>the </a:t>
            </a:r>
            <a:r>
              <a:rPr kumimoji="0" lang="en-US" sz="105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target last month.</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Triggers still showing irregular functioning, Browser Abandonment zeroed on W33 and W34, now under LAO revision.</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050">
                <a:solidFill>
                  <a:prstClr val="black"/>
                </a:solidFill>
                <a:latin typeface="Roboto" panose="02000000000000000000" pitchFamily="2" charset="0"/>
                <a:ea typeface="Roboto" panose="02000000000000000000" pitchFamily="2" charset="0"/>
              </a:rPr>
              <a:t>Deliveries fell because of fails, resulting in artificial CVR growth.</a:t>
            </a:r>
            <a:endPar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p:txBody>
      </p:sp>
      <p:cxnSp>
        <p:nvCxnSpPr>
          <p:cNvPr id="226" name="Straight Arrow Connector 4">
            <a:extLst>
              <a:ext uri="{FF2B5EF4-FFF2-40B4-BE49-F238E27FC236}">
                <a16:creationId xmlns:a16="http://schemas.microsoft.com/office/drawing/2014/main" id="{88ABB3CD-2811-44FB-86F5-039ABDCC3A61}"/>
              </a:ext>
            </a:extLst>
          </p:cNvPr>
          <p:cNvCxnSpPr>
            <a:cxnSpLocks/>
          </p:cNvCxnSpPr>
          <p:nvPr/>
        </p:nvCxnSpPr>
        <p:spPr>
          <a:xfrm>
            <a:off x="8963179" y="2228850"/>
            <a:ext cx="7554" cy="4281017"/>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172" name="Título 1">
            <a:extLst>
              <a:ext uri="{FF2B5EF4-FFF2-40B4-BE49-F238E27FC236}">
                <a16:creationId xmlns:a16="http://schemas.microsoft.com/office/drawing/2014/main" id="{FB902C50-15D1-4EBB-B37C-E5C7479E1B29}"/>
              </a:ext>
            </a:extLst>
          </p:cNvPr>
          <p:cNvSpPr txBox="1"/>
          <p:nvPr/>
        </p:nvSpPr>
        <p:spPr>
          <a:xfrm>
            <a:off x="207355" y="86336"/>
            <a:ext cx="8453563" cy="483772"/>
          </a:xfrm>
          <a:prstGeom prst="rect">
            <a:avLst/>
          </a:prstGeom>
          <a:noFill/>
          <a:ln cap="flat">
            <a:noFill/>
          </a:ln>
        </p:spPr>
        <p:txBody>
          <a:bodyPr vert="horz" wrap="square" lIns="75730" tIns="37865" rIns="75730" bIns="37865" anchor="ctr" anchorCtr="0" compatLnSpc="1">
            <a:noAutofit/>
          </a:bodyPr>
          <a:lstStyle/>
          <a:p>
            <a:pPr marL="0" marR="0" lvl="0" indent="0" algn="l" defTabSz="914400" rtl="0" eaLnBrk="1" fontAlgn="auto" latinLnBrk="0" hangingPunct="1">
              <a:lnSpc>
                <a:spcPct val="90000"/>
              </a:lnSpc>
              <a:spcBef>
                <a:spcPts val="0"/>
              </a:spcBef>
              <a:spcAft>
                <a:spcPts val="0"/>
              </a:spcAft>
              <a:buClrTx/>
              <a:buSzTx/>
              <a:buFontTx/>
              <a:buNone/>
              <a:tabLst/>
              <a:defRPr sz="1800" b="0" i="0" u="none" strike="noStrike" kern="0" cap="none" spc="0" baseline="0">
                <a:solidFill>
                  <a:srgbClr val="000000"/>
                </a:solidFill>
                <a:uFillTx/>
              </a:defRPr>
            </a:pPr>
            <a:r>
              <a:rPr kumimoji="0" lang="en-GB" sz="2000" b="1" i="0" u="none" strike="noStrike" kern="0" cap="none" spc="0" normalizeH="0" baseline="0" noProof="0">
                <a:ln>
                  <a:noFill/>
                </a:ln>
                <a:solidFill>
                  <a:srgbClr val="000000"/>
                </a:solidFill>
                <a:effectLst/>
                <a:uLnTx/>
                <a:uFillTx/>
                <a:latin typeface="Roboto"/>
                <a:ea typeface="Roboto"/>
                <a:cs typeface="Samsung Sharp Sans Bold" pitchFamily="2"/>
              </a:rPr>
              <a:t>BIG NUMBERS</a:t>
            </a:r>
            <a:r>
              <a:rPr kumimoji="0" lang="en-GB" sz="2000" b="1" i="0" u="none" strike="noStrike" kern="1200" cap="none" spc="0" normalizeH="0" baseline="0" noProof="0">
                <a:ln>
                  <a:noFill/>
                </a:ln>
                <a:solidFill>
                  <a:srgbClr val="000000"/>
                </a:solidFill>
                <a:effectLst/>
                <a:uLnTx/>
                <a:uFillTx/>
                <a:latin typeface="Roboto"/>
                <a:ea typeface="Roboto"/>
                <a:cs typeface="Samsung Sharp Sans Bold" pitchFamily="2"/>
              </a:rPr>
              <a:t> | </a:t>
            </a:r>
            <a:r>
              <a:rPr kumimoji="0" lang="en-GB" sz="2000" b="1" i="0" u="none" strike="noStrike" kern="1200" cap="none" spc="0" normalizeH="0" baseline="0" noProof="0">
                <a:ln>
                  <a:noFill/>
                </a:ln>
                <a:solidFill>
                  <a:srgbClr val="1428A0"/>
                </a:solidFill>
                <a:effectLst/>
                <a:uLnTx/>
                <a:uFillTx/>
                <a:latin typeface="Roboto"/>
                <a:ea typeface="Roboto"/>
                <a:cs typeface="Samsung Sharp Sans Bold" pitchFamily="2"/>
              </a:rPr>
              <a:t>TRIGGERS </a:t>
            </a:r>
            <a:r>
              <a:rPr kumimoji="0" lang="en-GB" sz="2000" b="1" i="0" u="none" strike="noStrike" kern="0" cap="none" spc="0" normalizeH="0" baseline="0" noProof="0">
                <a:ln>
                  <a:noFill/>
                </a:ln>
                <a:solidFill>
                  <a:srgbClr val="1428A0"/>
                </a:solidFill>
                <a:effectLst/>
                <a:uLnTx/>
                <a:uFillTx/>
                <a:latin typeface="Roboto"/>
                <a:ea typeface="Roboto"/>
                <a:cs typeface="Samsung Sharp Sans Bold" pitchFamily="2"/>
              </a:rPr>
              <a:t>- KPIs </a:t>
            </a:r>
            <a:r>
              <a:rPr lang="en-GB" sz="2000" b="1" kern="0">
                <a:solidFill>
                  <a:srgbClr val="1428A0"/>
                </a:solidFill>
                <a:latin typeface="Roboto"/>
                <a:ea typeface="Roboto"/>
                <a:cs typeface="Samsung Sharp Sans Bold" pitchFamily="2"/>
              </a:rPr>
              <a:t>AUG</a:t>
            </a:r>
            <a:r>
              <a:rPr kumimoji="0" lang="en-GB" sz="2000" b="1" i="0" u="none" strike="noStrike" kern="0" cap="none" spc="0" normalizeH="0" baseline="0" noProof="0">
                <a:ln>
                  <a:noFill/>
                </a:ln>
                <a:solidFill>
                  <a:srgbClr val="1428A0"/>
                </a:solidFill>
                <a:effectLst/>
                <a:uLnTx/>
                <a:uFillTx/>
                <a:latin typeface="Roboto"/>
                <a:ea typeface="Roboto"/>
                <a:cs typeface="Samsung Sharp Sans Bold" pitchFamily="2"/>
              </a:rPr>
              <a:t>/2026</a:t>
            </a:r>
            <a:endParaRPr kumimoji="0" lang="en-GB" sz="2000" b="1" i="0" u="none" strike="noStrike" kern="1200" cap="none" spc="0" normalizeH="0" baseline="0" noProof="0">
              <a:ln>
                <a:noFill/>
              </a:ln>
              <a:solidFill>
                <a:srgbClr val="1428A0"/>
              </a:solidFill>
              <a:effectLst/>
              <a:uLnTx/>
              <a:uFillTx/>
              <a:latin typeface="Roboto"/>
              <a:ea typeface="Roboto"/>
              <a:cs typeface="Samsung Sharp Sans Bold" pitchFamily="2"/>
            </a:endParaRPr>
          </a:p>
        </p:txBody>
      </p:sp>
      <p:sp>
        <p:nvSpPr>
          <p:cNvPr id="173" name="Retângulo 172">
            <a:extLst>
              <a:ext uri="{FF2B5EF4-FFF2-40B4-BE49-F238E27FC236}">
                <a16:creationId xmlns:a16="http://schemas.microsoft.com/office/drawing/2014/main" id="{381E1EDA-3752-4F15-B36E-B27A0074D470}"/>
              </a:ext>
            </a:extLst>
          </p:cNvPr>
          <p:cNvSpPr/>
          <p:nvPr/>
        </p:nvSpPr>
        <p:spPr>
          <a:xfrm>
            <a:off x="999242" y="1761588"/>
            <a:ext cx="10348876" cy="258315"/>
          </a:xfrm>
          <a:prstGeom prst="rect">
            <a:avLst/>
          </a:prstGeom>
          <a:noFill/>
          <a:ln>
            <a:solidFill>
              <a:srgbClr val="1428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100" b="1" i="0" u="none" strike="noStrike" kern="1200" cap="none" spc="0" normalizeH="0" baseline="0" noProof="0">
                <a:ln>
                  <a:noFill/>
                </a:ln>
                <a:solidFill>
                  <a:prstClr val="black"/>
                </a:solidFill>
                <a:effectLst/>
                <a:uLnTx/>
                <a:uFillTx/>
                <a:latin typeface="Aptos" panose="020B0004020202020204"/>
                <a:ea typeface="+mn-ea"/>
                <a:cs typeface="+mn-cs"/>
              </a:rPr>
              <a:t>G/R</a:t>
            </a:r>
          </a:p>
        </p:txBody>
      </p:sp>
      <p:sp>
        <p:nvSpPr>
          <p:cNvPr id="188" name="Retângulo 187">
            <a:extLst>
              <a:ext uri="{FF2B5EF4-FFF2-40B4-BE49-F238E27FC236}">
                <a16:creationId xmlns:a16="http://schemas.microsoft.com/office/drawing/2014/main" id="{8CDBEA2D-EF78-480D-976D-E871EE891A68}"/>
              </a:ext>
            </a:extLst>
          </p:cNvPr>
          <p:cNvSpPr/>
          <p:nvPr/>
        </p:nvSpPr>
        <p:spPr>
          <a:xfrm>
            <a:off x="7329047" y="982498"/>
            <a:ext cx="1457285" cy="721195"/>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Samsung Sharp Sans Bold" pitchFamily="2" charset="0"/>
              <a:ea typeface="Samsung Sharp Sans Bold" pitchFamily="2" charset="0"/>
              <a:cs typeface="Samsung Sharp Sans Bold" pitchFamily="2" charset="0"/>
            </a:endParaRPr>
          </a:p>
        </p:txBody>
      </p:sp>
      <p:sp>
        <p:nvSpPr>
          <p:cNvPr id="189" name="CaixaDeTexto 188">
            <a:extLst>
              <a:ext uri="{FF2B5EF4-FFF2-40B4-BE49-F238E27FC236}">
                <a16:creationId xmlns:a16="http://schemas.microsoft.com/office/drawing/2014/main" id="{8B465603-8129-4DFB-9F99-309D10225764}"/>
              </a:ext>
            </a:extLst>
          </p:cNvPr>
          <p:cNvSpPr txBox="1"/>
          <p:nvPr/>
        </p:nvSpPr>
        <p:spPr>
          <a:xfrm>
            <a:off x="3475884" y="1036328"/>
            <a:ext cx="99286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2800" b="1" i="0" u="none" strike="noStrike" kern="1200" cap="none" spc="0" normalizeH="0" baseline="0" noProof="0">
                <a:ln>
                  <a:noFill/>
                </a:ln>
                <a:solidFill>
                  <a:prstClr val="black"/>
                </a:solidFill>
                <a:effectLst/>
                <a:uLnTx/>
                <a:uFillTx/>
                <a:latin typeface="Aptos" panose="020B0004020202020204"/>
                <a:ea typeface="+mn-ea"/>
                <a:cs typeface="+mn-cs"/>
              </a:rPr>
              <a:t>156K</a:t>
            </a:r>
          </a:p>
        </p:txBody>
      </p:sp>
      <p:sp>
        <p:nvSpPr>
          <p:cNvPr id="190" name="CaixaDeTexto 189">
            <a:extLst>
              <a:ext uri="{FF2B5EF4-FFF2-40B4-BE49-F238E27FC236}">
                <a16:creationId xmlns:a16="http://schemas.microsoft.com/office/drawing/2014/main" id="{00749544-9EF9-4591-AA92-B51F5628C38D}"/>
              </a:ext>
            </a:extLst>
          </p:cNvPr>
          <p:cNvSpPr txBox="1"/>
          <p:nvPr/>
        </p:nvSpPr>
        <p:spPr>
          <a:xfrm>
            <a:off x="3696309" y="1429806"/>
            <a:ext cx="549113"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200" b="0" i="1" u="none" strike="noStrike" kern="1200" cap="none" spc="0" normalizeH="0" baseline="0" noProof="0">
                <a:ln>
                  <a:noFill/>
                </a:ln>
                <a:solidFill>
                  <a:prstClr val="black"/>
                </a:solidFill>
                <a:effectLst/>
                <a:uLnTx/>
                <a:uFillTx/>
                <a:latin typeface="Aptos" panose="020B0004020202020204"/>
                <a:ea typeface="+mn-ea"/>
                <a:cs typeface="+mn-cs"/>
              </a:rPr>
              <a:t>Visits</a:t>
            </a:r>
          </a:p>
        </p:txBody>
      </p:sp>
      <p:sp>
        <p:nvSpPr>
          <p:cNvPr id="191" name="CaixaDeTexto 190">
            <a:extLst>
              <a:ext uri="{FF2B5EF4-FFF2-40B4-BE49-F238E27FC236}">
                <a16:creationId xmlns:a16="http://schemas.microsoft.com/office/drawing/2014/main" id="{CA3E4137-DA1C-44E8-93C2-A45E14BA6059}"/>
              </a:ext>
            </a:extLst>
          </p:cNvPr>
          <p:cNvSpPr txBox="1"/>
          <p:nvPr/>
        </p:nvSpPr>
        <p:spPr>
          <a:xfrm>
            <a:off x="4988242" y="1036328"/>
            <a:ext cx="955619" cy="523220"/>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2800" b="1">
                <a:solidFill>
                  <a:prstClr val="black"/>
                </a:solidFill>
                <a:latin typeface="Aptos" panose="020B0004020202020204"/>
              </a:rPr>
              <a:t>934</a:t>
            </a:r>
            <a:endParaRPr kumimoji="0" lang="pt-BR" sz="2800" b="1"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92" name="CaixaDeTexto 191">
            <a:extLst>
              <a:ext uri="{FF2B5EF4-FFF2-40B4-BE49-F238E27FC236}">
                <a16:creationId xmlns:a16="http://schemas.microsoft.com/office/drawing/2014/main" id="{7B6BC95D-602C-4402-A362-813AE25BDC32}"/>
              </a:ext>
            </a:extLst>
          </p:cNvPr>
          <p:cNvSpPr txBox="1"/>
          <p:nvPr/>
        </p:nvSpPr>
        <p:spPr>
          <a:xfrm>
            <a:off x="5129620" y="1429806"/>
            <a:ext cx="67286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200" b="0" i="1" u="none" strike="noStrike" kern="1200" cap="none" spc="0" normalizeH="0" baseline="0" noProof="0">
                <a:ln>
                  <a:noFill/>
                </a:ln>
                <a:solidFill>
                  <a:prstClr val="black"/>
                </a:solidFill>
                <a:effectLst/>
                <a:uLnTx/>
                <a:uFillTx/>
                <a:latin typeface="Aptos" panose="020B0004020202020204"/>
                <a:ea typeface="+mn-ea"/>
                <a:cs typeface="+mn-cs"/>
              </a:rPr>
              <a:t>Orders</a:t>
            </a:r>
          </a:p>
        </p:txBody>
      </p:sp>
      <p:sp>
        <p:nvSpPr>
          <p:cNvPr id="193" name="CaixaDeTexto 192">
            <a:extLst>
              <a:ext uri="{FF2B5EF4-FFF2-40B4-BE49-F238E27FC236}">
                <a16:creationId xmlns:a16="http://schemas.microsoft.com/office/drawing/2014/main" id="{FCE2EE77-1A5F-473B-80D0-7BD36E98D578}"/>
              </a:ext>
            </a:extLst>
          </p:cNvPr>
          <p:cNvSpPr txBox="1"/>
          <p:nvPr/>
        </p:nvSpPr>
        <p:spPr>
          <a:xfrm>
            <a:off x="7329048" y="1028034"/>
            <a:ext cx="1637908" cy="52322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2800" b="1" i="0" u="none" strike="noStrike" kern="1200" cap="none" spc="0" normalizeH="0" baseline="0" noProof="0">
                <a:ln>
                  <a:noFill/>
                </a:ln>
                <a:solidFill>
                  <a:prstClr val="white"/>
                </a:solidFill>
                <a:effectLst/>
                <a:uLnTx/>
                <a:uFillTx/>
                <a:latin typeface="Aptos" panose="020B0004020202020204"/>
                <a:ea typeface="+mn-ea"/>
                <a:cs typeface="+mn-cs"/>
              </a:rPr>
              <a:t>R$3,64M</a:t>
            </a:r>
          </a:p>
        </p:txBody>
      </p:sp>
      <p:sp>
        <p:nvSpPr>
          <p:cNvPr id="194" name="CaixaDeTexto 193">
            <a:extLst>
              <a:ext uri="{FF2B5EF4-FFF2-40B4-BE49-F238E27FC236}">
                <a16:creationId xmlns:a16="http://schemas.microsoft.com/office/drawing/2014/main" id="{F8FB8F27-9F14-47E5-9E93-DE0D2F69B2FD}"/>
              </a:ext>
            </a:extLst>
          </p:cNvPr>
          <p:cNvSpPr txBox="1"/>
          <p:nvPr/>
        </p:nvSpPr>
        <p:spPr>
          <a:xfrm>
            <a:off x="7638754" y="1418601"/>
            <a:ext cx="829224" cy="276999"/>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200" i="1" err="1">
                <a:solidFill>
                  <a:prstClr val="white"/>
                </a:solidFill>
                <a:latin typeface="Aptos" panose="020B0004020202020204"/>
              </a:rPr>
              <a:t>Revenue</a:t>
            </a:r>
            <a:endParaRPr lang="pt-BR" sz="1200" b="0" i="1" u="none" strike="noStrike" kern="1200" cap="none" spc="0" normalizeH="0" baseline="0" noProof="0" err="1">
              <a:ln>
                <a:noFill/>
              </a:ln>
              <a:solidFill>
                <a:prstClr val="white"/>
              </a:solidFill>
              <a:effectLst/>
              <a:uLnTx/>
              <a:uFillTx/>
              <a:latin typeface="Aptos" panose="020B0004020202020204"/>
            </a:endParaRPr>
          </a:p>
        </p:txBody>
      </p:sp>
      <p:sp>
        <p:nvSpPr>
          <p:cNvPr id="195" name="CaixaDeTexto 194">
            <a:extLst>
              <a:ext uri="{FF2B5EF4-FFF2-40B4-BE49-F238E27FC236}">
                <a16:creationId xmlns:a16="http://schemas.microsoft.com/office/drawing/2014/main" id="{6D01BA8E-B1D6-4272-8E95-530F68253ADE}"/>
              </a:ext>
            </a:extLst>
          </p:cNvPr>
          <p:cNvSpPr txBox="1"/>
          <p:nvPr/>
        </p:nvSpPr>
        <p:spPr>
          <a:xfrm>
            <a:off x="3696309" y="1748622"/>
            <a:ext cx="549112" cy="276999"/>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200" i="1">
                <a:solidFill>
                  <a:srgbClr val="00B050"/>
                </a:solidFill>
                <a:latin typeface="Aptos" panose="020B0004020202020204"/>
              </a:rPr>
              <a:t>1</a:t>
            </a:r>
            <a:r>
              <a:rPr kumimoji="0" lang="pt-BR" sz="1200" b="0" i="1" u="none" strike="noStrike" kern="1200" cap="none" spc="0" normalizeH="0" baseline="0" noProof="0">
                <a:ln>
                  <a:noFill/>
                </a:ln>
                <a:solidFill>
                  <a:srgbClr val="00B050"/>
                </a:solidFill>
                <a:effectLst/>
                <a:uLnTx/>
                <a:uFillTx/>
                <a:latin typeface="Aptos" panose="020B0004020202020204"/>
                <a:ea typeface="+mn-ea"/>
                <a:cs typeface="+mn-cs"/>
              </a:rPr>
              <a:t>.19</a:t>
            </a:r>
          </a:p>
        </p:txBody>
      </p:sp>
      <p:sp>
        <p:nvSpPr>
          <p:cNvPr id="196" name="CaixaDeTexto 195">
            <a:extLst>
              <a:ext uri="{FF2B5EF4-FFF2-40B4-BE49-F238E27FC236}">
                <a16:creationId xmlns:a16="http://schemas.microsoft.com/office/drawing/2014/main" id="{366A52F3-F756-4608-A0C8-25BAC7C582BF}"/>
              </a:ext>
            </a:extLst>
          </p:cNvPr>
          <p:cNvSpPr txBox="1"/>
          <p:nvPr/>
        </p:nvSpPr>
        <p:spPr>
          <a:xfrm>
            <a:off x="5179477" y="1748622"/>
            <a:ext cx="549112"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200" b="0" i="1" u="none" strike="noStrike" kern="1200" cap="none" spc="0" normalizeH="0" baseline="0" noProof="0">
                <a:ln>
                  <a:noFill/>
                </a:ln>
                <a:solidFill>
                  <a:srgbClr val="00B050"/>
                </a:solidFill>
                <a:effectLst/>
                <a:uLnTx/>
                <a:uFillTx/>
                <a:latin typeface="Aptos" panose="020B0004020202020204"/>
                <a:ea typeface="+mn-ea"/>
                <a:cs typeface="+mn-cs"/>
              </a:rPr>
              <a:t>1.48</a:t>
            </a:r>
          </a:p>
        </p:txBody>
      </p:sp>
      <p:sp>
        <p:nvSpPr>
          <p:cNvPr id="197" name="CaixaDeTexto 196">
            <a:extLst>
              <a:ext uri="{FF2B5EF4-FFF2-40B4-BE49-F238E27FC236}">
                <a16:creationId xmlns:a16="http://schemas.microsoft.com/office/drawing/2014/main" id="{8C4F21CB-4D92-42F4-8AA4-36334000DC8F}"/>
              </a:ext>
            </a:extLst>
          </p:cNvPr>
          <p:cNvSpPr txBox="1"/>
          <p:nvPr/>
        </p:nvSpPr>
        <p:spPr>
          <a:xfrm>
            <a:off x="7671540" y="1748622"/>
            <a:ext cx="549112"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200" b="0" i="1" u="none" strike="noStrike" kern="1200" cap="none" spc="0" normalizeH="0" baseline="0" noProof="0">
                <a:ln>
                  <a:noFill/>
                </a:ln>
                <a:solidFill>
                  <a:srgbClr val="00B050"/>
                </a:solidFill>
                <a:effectLst/>
                <a:uLnTx/>
                <a:uFillTx/>
                <a:latin typeface="Aptos" panose="020B0004020202020204"/>
                <a:ea typeface="+mn-ea"/>
                <a:cs typeface="+mn-cs"/>
              </a:rPr>
              <a:t>1.74</a:t>
            </a:r>
          </a:p>
        </p:txBody>
      </p:sp>
      <p:cxnSp>
        <p:nvCxnSpPr>
          <p:cNvPr id="198" name="Conector de Seta Reta 197">
            <a:extLst>
              <a:ext uri="{FF2B5EF4-FFF2-40B4-BE49-F238E27FC236}">
                <a16:creationId xmlns:a16="http://schemas.microsoft.com/office/drawing/2014/main" id="{53E1C6C2-D046-42F3-97B9-552B1EA00A5B}"/>
              </a:ext>
            </a:extLst>
          </p:cNvPr>
          <p:cNvCxnSpPr>
            <a:cxnSpLocks/>
            <a:stCxn id="189" idx="3"/>
            <a:endCxn id="191" idx="1"/>
          </p:cNvCxnSpPr>
          <p:nvPr/>
        </p:nvCxnSpPr>
        <p:spPr>
          <a:xfrm>
            <a:off x="4468750" y="1297938"/>
            <a:ext cx="5194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9" name="CaixaDeTexto 198">
            <a:extLst>
              <a:ext uri="{FF2B5EF4-FFF2-40B4-BE49-F238E27FC236}">
                <a16:creationId xmlns:a16="http://schemas.microsoft.com/office/drawing/2014/main" id="{C4932AD4-058C-458A-87D0-FBC181FD3DD7}"/>
              </a:ext>
            </a:extLst>
          </p:cNvPr>
          <p:cNvSpPr txBox="1"/>
          <p:nvPr/>
        </p:nvSpPr>
        <p:spPr>
          <a:xfrm>
            <a:off x="4405904" y="1063288"/>
            <a:ext cx="540533"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100" b="1" i="0" u="none" strike="noStrike" kern="1200" cap="none" spc="0" normalizeH="0" baseline="0" noProof="0">
                <a:ln>
                  <a:noFill/>
                </a:ln>
                <a:solidFill>
                  <a:prstClr val="black"/>
                </a:solidFill>
                <a:effectLst/>
                <a:uLnTx/>
                <a:uFillTx/>
                <a:latin typeface="Aptos" panose="020B0004020202020204"/>
                <a:ea typeface="+mn-ea"/>
                <a:cs typeface="+mn-cs"/>
              </a:rPr>
              <a:t>0,39%</a:t>
            </a:r>
          </a:p>
        </p:txBody>
      </p:sp>
      <p:sp>
        <p:nvSpPr>
          <p:cNvPr id="200" name="CaixaDeTexto 199">
            <a:extLst>
              <a:ext uri="{FF2B5EF4-FFF2-40B4-BE49-F238E27FC236}">
                <a16:creationId xmlns:a16="http://schemas.microsoft.com/office/drawing/2014/main" id="{C5985A92-A7C0-4C85-B67F-B9D28997A761}"/>
              </a:ext>
            </a:extLst>
          </p:cNvPr>
          <p:cNvSpPr txBox="1"/>
          <p:nvPr/>
        </p:nvSpPr>
        <p:spPr>
          <a:xfrm>
            <a:off x="4422517" y="1293047"/>
            <a:ext cx="549112"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000" i="1">
                <a:solidFill>
                  <a:srgbClr val="00B050"/>
                </a:solidFill>
                <a:latin typeface="Aptos" panose="020B0004020202020204"/>
              </a:rPr>
              <a:t>1.65</a:t>
            </a:r>
            <a:endParaRPr kumimoji="0" lang="pt-BR" sz="1000" b="0" i="1" u="none" strike="noStrike" kern="1200" cap="none" spc="0" normalizeH="0" baseline="0" noProof="0">
              <a:ln>
                <a:noFill/>
              </a:ln>
              <a:solidFill>
                <a:srgbClr val="00B050"/>
              </a:solidFill>
              <a:effectLst/>
              <a:uLnTx/>
              <a:uFillTx/>
              <a:latin typeface="Aptos" panose="020B0004020202020204"/>
              <a:ea typeface="+mn-ea"/>
              <a:cs typeface="+mn-cs"/>
            </a:endParaRPr>
          </a:p>
        </p:txBody>
      </p:sp>
      <p:cxnSp>
        <p:nvCxnSpPr>
          <p:cNvPr id="201" name="Conector de Seta Reta 200">
            <a:extLst>
              <a:ext uri="{FF2B5EF4-FFF2-40B4-BE49-F238E27FC236}">
                <a16:creationId xmlns:a16="http://schemas.microsoft.com/office/drawing/2014/main" id="{31CD6409-D05B-4A54-9F62-0795BC9AB327}"/>
              </a:ext>
            </a:extLst>
          </p:cNvPr>
          <p:cNvCxnSpPr>
            <a:cxnSpLocks/>
            <a:stCxn id="191" idx="3"/>
            <a:endCxn id="193" idx="1"/>
          </p:cNvCxnSpPr>
          <p:nvPr/>
        </p:nvCxnSpPr>
        <p:spPr>
          <a:xfrm flipV="1">
            <a:off x="5943861" y="1289644"/>
            <a:ext cx="1385187" cy="82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2" name="CaixaDeTexto 201">
            <a:extLst>
              <a:ext uri="{FF2B5EF4-FFF2-40B4-BE49-F238E27FC236}">
                <a16:creationId xmlns:a16="http://schemas.microsoft.com/office/drawing/2014/main" id="{B78F799D-2945-47F1-988F-7C52FD117CA2}"/>
              </a:ext>
            </a:extLst>
          </p:cNvPr>
          <p:cNvSpPr txBox="1"/>
          <p:nvPr/>
        </p:nvSpPr>
        <p:spPr>
          <a:xfrm>
            <a:off x="5958258" y="1063288"/>
            <a:ext cx="595035" cy="261610"/>
          </a:xfrm>
          <a:prstGeom prst="rect">
            <a:avLst/>
          </a:prstGeom>
          <a:noFill/>
        </p:spPr>
        <p:txBody>
          <a:bodyPr wrap="non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100" b="1" i="0" u="none" strike="noStrike" kern="1200" cap="none" spc="0" normalizeH="0" baseline="0" noProof="0">
                <a:ln>
                  <a:noFill/>
                </a:ln>
                <a:solidFill>
                  <a:prstClr val="black"/>
                </a:solidFill>
                <a:effectLst/>
                <a:uLnTx/>
                <a:uFillTx/>
                <a:latin typeface="Aptos" panose="020B0004020202020204"/>
                <a:ea typeface="+mn-ea"/>
                <a:cs typeface="+mn-cs"/>
              </a:rPr>
              <a:t>R$3,9K</a:t>
            </a:r>
          </a:p>
        </p:txBody>
      </p:sp>
      <p:sp>
        <p:nvSpPr>
          <p:cNvPr id="203" name="CaixaDeTexto 202">
            <a:extLst>
              <a:ext uri="{FF2B5EF4-FFF2-40B4-BE49-F238E27FC236}">
                <a16:creationId xmlns:a16="http://schemas.microsoft.com/office/drawing/2014/main" id="{9B683ABE-B1F2-4204-8B47-D39BEF357C55}"/>
              </a:ext>
            </a:extLst>
          </p:cNvPr>
          <p:cNvSpPr txBox="1"/>
          <p:nvPr/>
        </p:nvSpPr>
        <p:spPr>
          <a:xfrm>
            <a:off x="6020929" y="1293047"/>
            <a:ext cx="549112"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000" i="1">
                <a:solidFill>
                  <a:srgbClr val="00B050"/>
                </a:solidFill>
                <a:latin typeface="Aptos" panose="020B0004020202020204"/>
              </a:rPr>
              <a:t>1.16</a:t>
            </a:r>
            <a:endParaRPr kumimoji="0" lang="pt-BR" sz="1000" b="0" i="1" u="none" strike="noStrike" kern="1200" cap="none" spc="0" normalizeH="0" baseline="0" noProof="0">
              <a:ln>
                <a:noFill/>
              </a:ln>
              <a:solidFill>
                <a:srgbClr val="00B050"/>
              </a:solidFill>
              <a:effectLst/>
              <a:uLnTx/>
              <a:uFillTx/>
              <a:latin typeface="Aptos" panose="020B0004020202020204"/>
              <a:ea typeface="+mn-ea"/>
              <a:cs typeface="+mn-cs"/>
            </a:endParaRPr>
          </a:p>
        </p:txBody>
      </p:sp>
      <p:sp>
        <p:nvSpPr>
          <p:cNvPr id="204" name="CaixaDeTexto 203">
            <a:extLst>
              <a:ext uri="{FF2B5EF4-FFF2-40B4-BE49-F238E27FC236}">
                <a16:creationId xmlns:a16="http://schemas.microsoft.com/office/drawing/2014/main" id="{847FA89E-E0F1-44BD-9362-69EB7A5FE27F}"/>
              </a:ext>
            </a:extLst>
          </p:cNvPr>
          <p:cNvSpPr txBox="1"/>
          <p:nvPr/>
        </p:nvSpPr>
        <p:spPr>
          <a:xfrm>
            <a:off x="6574063" y="1063288"/>
            <a:ext cx="583194" cy="261610"/>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100" b="1">
                <a:solidFill>
                  <a:prstClr val="black"/>
                </a:solidFill>
                <a:latin typeface="Aptos" panose="020B0004020202020204"/>
              </a:rPr>
              <a:t>1163</a:t>
            </a:r>
            <a:endParaRPr kumimoji="0" lang="pt-BR" sz="1100" b="1"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6" name="CaixaDeTexto 205">
            <a:extLst>
              <a:ext uri="{FF2B5EF4-FFF2-40B4-BE49-F238E27FC236}">
                <a16:creationId xmlns:a16="http://schemas.microsoft.com/office/drawing/2014/main" id="{D23F73AD-37B6-4965-B71B-779E2A782CF6}"/>
              </a:ext>
            </a:extLst>
          </p:cNvPr>
          <p:cNvSpPr txBox="1"/>
          <p:nvPr/>
        </p:nvSpPr>
        <p:spPr>
          <a:xfrm>
            <a:off x="4336943" y="888487"/>
            <a:ext cx="671053"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00" b="1" i="1" u="none" strike="noStrike" kern="1200" cap="none" spc="0" normalizeH="0" baseline="0" noProof="0">
                <a:ln>
                  <a:noFill/>
                </a:ln>
                <a:solidFill>
                  <a:srgbClr val="196B24"/>
                </a:solidFill>
                <a:effectLst/>
                <a:uLnTx/>
                <a:uFillTx/>
                <a:latin typeface="Aptos" panose="020B0004020202020204"/>
                <a:ea typeface="+mn-ea"/>
                <a:cs typeface="+mn-cs"/>
              </a:rPr>
              <a:t>CVR</a:t>
            </a:r>
          </a:p>
        </p:txBody>
      </p:sp>
      <p:sp>
        <p:nvSpPr>
          <p:cNvPr id="207" name="CaixaDeTexto 206">
            <a:extLst>
              <a:ext uri="{FF2B5EF4-FFF2-40B4-BE49-F238E27FC236}">
                <a16:creationId xmlns:a16="http://schemas.microsoft.com/office/drawing/2014/main" id="{E1148A4A-E1DA-44DA-B7F1-67D74EEE145C}"/>
              </a:ext>
            </a:extLst>
          </p:cNvPr>
          <p:cNvSpPr txBox="1"/>
          <p:nvPr/>
        </p:nvSpPr>
        <p:spPr>
          <a:xfrm>
            <a:off x="5945694" y="888487"/>
            <a:ext cx="671053"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00" b="1" i="1" u="none" strike="noStrike" kern="1200" cap="none" spc="0" normalizeH="0" baseline="0" noProof="0">
                <a:ln>
                  <a:noFill/>
                </a:ln>
                <a:solidFill>
                  <a:srgbClr val="196B24"/>
                </a:solidFill>
                <a:effectLst/>
                <a:uLnTx/>
                <a:uFillTx/>
                <a:latin typeface="Aptos" panose="020B0004020202020204"/>
                <a:ea typeface="+mn-ea"/>
                <a:cs typeface="+mn-cs"/>
              </a:rPr>
              <a:t>AOV</a:t>
            </a:r>
          </a:p>
        </p:txBody>
      </p:sp>
      <p:sp>
        <p:nvSpPr>
          <p:cNvPr id="208" name="CaixaDeTexto 207">
            <a:extLst>
              <a:ext uri="{FF2B5EF4-FFF2-40B4-BE49-F238E27FC236}">
                <a16:creationId xmlns:a16="http://schemas.microsoft.com/office/drawing/2014/main" id="{D93B8431-99BB-4477-85A0-DD9F5BB8220B}"/>
              </a:ext>
            </a:extLst>
          </p:cNvPr>
          <p:cNvSpPr txBox="1"/>
          <p:nvPr/>
        </p:nvSpPr>
        <p:spPr>
          <a:xfrm>
            <a:off x="6530134" y="888487"/>
            <a:ext cx="671053"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00" b="1" i="1" u="none" strike="noStrike" kern="1200" cap="none" spc="0" normalizeH="0" baseline="0" noProof="0">
                <a:ln>
                  <a:noFill/>
                </a:ln>
                <a:solidFill>
                  <a:srgbClr val="196B24"/>
                </a:solidFill>
                <a:effectLst/>
                <a:uLnTx/>
                <a:uFillTx/>
                <a:latin typeface="Aptos" panose="020B0004020202020204"/>
                <a:ea typeface="+mn-ea"/>
                <a:cs typeface="+mn-cs"/>
              </a:rPr>
              <a:t>Units</a:t>
            </a:r>
          </a:p>
        </p:txBody>
      </p:sp>
      <p:sp>
        <p:nvSpPr>
          <p:cNvPr id="209" name="Retângulo 208">
            <a:extLst>
              <a:ext uri="{FF2B5EF4-FFF2-40B4-BE49-F238E27FC236}">
                <a16:creationId xmlns:a16="http://schemas.microsoft.com/office/drawing/2014/main" id="{E14A3C97-9B76-4AF8-847E-AFA7DB74EB1F}"/>
              </a:ext>
            </a:extLst>
          </p:cNvPr>
          <p:cNvSpPr/>
          <p:nvPr/>
        </p:nvSpPr>
        <p:spPr>
          <a:xfrm>
            <a:off x="3230794" y="1164117"/>
            <a:ext cx="1190495" cy="6001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10" name="Retângulo 209">
            <a:extLst>
              <a:ext uri="{FF2B5EF4-FFF2-40B4-BE49-F238E27FC236}">
                <a16:creationId xmlns:a16="http://schemas.microsoft.com/office/drawing/2014/main" id="{E67617F4-A181-47A5-B9CF-1D34CCDCCDC1}"/>
              </a:ext>
            </a:extLst>
          </p:cNvPr>
          <p:cNvSpPr/>
          <p:nvPr/>
        </p:nvSpPr>
        <p:spPr>
          <a:xfrm>
            <a:off x="4940399" y="1164117"/>
            <a:ext cx="827642" cy="6001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15" name="Retângulo 214">
            <a:extLst>
              <a:ext uri="{FF2B5EF4-FFF2-40B4-BE49-F238E27FC236}">
                <a16:creationId xmlns:a16="http://schemas.microsoft.com/office/drawing/2014/main" id="{A355D2CB-D63E-4713-B5B1-3832C27DE240}"/>
              </a:ext>
            </a:extLst>
          </p:cNvPr>
          <p:cNvSpPr/>
          <p:nvPr/>
        </p:nvSpPr>
        <p:spPr>
          <a:xfrm>
            <a:off x="3553947" y="1107046"/>
            <a:ext cx="837500" cy="6001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16" name="Retângulo 215">
            <a:extLst>
              <a:ext uri="{FF2B5EF4-FFF2-40B4-BE49-F238E27FC236}">
                <a16:creationId xmlns:a16="http://schemas.microsoft.com/office/drawing/2014/main" id="{E22E53C4-3AA5-42CC-AF35-DF7E655871A2}"/>
              </a:ext>
            </a:extLst>
          </p:cNvPr>
          <p:cNvSpPr/>
          <p:nvPr/>
        </p:nvSpPr>
        <p:spPr>
          <a:xfrm>
            <a:off x="5085064" y="1100043"/>
            <a:ext cx="783991" cy="6001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98" name="Espaço Reservado para Conteúdo 2">
            <a:extLst>
              <a:ext uri="{FF2B5EF4-FFF2-40B4-BE49-F238E27FC236}">
                <a16:creationId xmlns:a16="http://schemas.microsoft.com/office/drawing/2014/main" id="{C83FC9E3-B7F0-485E-9504-39475034BDD6}"/>
              </a:ext>
            </a:extLst>
          </p:cNvPr>
          <p:cNvSpPr txBox="1"/>
          <p:nvPr/>
        </p:nvSpPr>
        <p:spPr>
          <a:xfrm>
            <a:off x="6794119" y="6569534"/>
            <a:ext cx="2145478" cy="215444"/>
          </a:xfrm>
          <a:prstGeom prst="rect">
            <a:avLst/>
          </a:prstGeom>
          <a:noFill/>
          <a:ln cap="flat">
            <a:noFill/>
          </a:ln>
        </p:spPr>
        <p:txBody>
          <a:bodyPr vert="horz" wrap="square" lIns="91440" tIns="45720" rIns="91440" bIns="45720" anchor="t" anchorCtr="0" compatLnSpc="1">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700" b="0" i="0" u="none" strike="noStrike" kern="1200" cap="none" spc="0" normalizeH="0" baseline="0" noProof="0">
                <a:ln>
                  <a:noFill/>
                </a:ln>
                <a:solidFill>
                  <a:srgbClr val="000000"/>
                </a:solidFill>
                <a:effectLst/>
                <a:uLnTx/>
                <a:uFillTx/>
                <a:latin typeface="SamsungSharpSans-Medium"/>
                <a:ea typeface="SamsungSharpSans-Medium" pitchFamily="2"/>
                <a:cs typeface="SamsungSharpSans-Medium" pitchFamily="2"/>
              </a:rPr>
              <a:t>*Valores de canais  /</a:t>
            </a:r>
            <a:r>
              <a:rPr kumimoji="0" lang="pt-BR" sz="700" b="0" i="0" u="none" strike="noStrike" kern="0" cap="none" spc="0" normalizeH="0" baseline="0" noProof="0">
                <a:ln>
                  <a:noFill/>
                </a:ln>
                <a:solidFill>
                  <a:srgbClr val="000000"/>
                </a:solidFill>
                <a:effectLst/>
                <a:uLnTx/>
                <a:uFillTx/>
                <a:latin typeface="Aptos" panose="020B0004020202020204"/>
                <a:ea typeface="+mn-ea"/>
                <a:cs typeface="+mn-cs"/>
              </a:rPr>
              <a:t>1.000.000</a:t>
            </a:r>
            <a:endParaRPr kumimoji="0" lang="en-US" sz="700" b="1" i="0" u="none" strike="noStrike" kern="1200" cap="none" spc="0" normalizeH="0" baseline="0" noProof="0">
              <a:ln>
                <a:noFill/>
              </a:ln>
              <a:solidFill>
                <a:srgbClr val="000000"/>
              </a:solidFill>
              <a:effectLst/>
              <a:uLnTx/>
              <a:uFillTx/>
              <a:latin typeface="SamsungSharpSans-Medium"/>
              <a:ea typeface="SamsungSharpSans-Medium" pitchFamily="2"/>
              <a:cs typeface="SamsungSharpSans-Medium" pitchFamily="2"/>
            </a:endParaRPr>
          </a:p>
        </p:txBody>
      </p:sp>
      <p:sp>
        <p:nvSpPr>
          <p:cNvPr id="99" name="Retângulo 98">
            <a:extLst>
              <a:ext uri="{FF2B5EF4-FFF2-40B4-BE49-F238E27FC236}">
                <a16:creationId xmlns:a16="http://schemas.microsoft.com/office/drawing/2014/main" id="{74FE83EB-545E-4077-A6CB-4BC43D572743}"/>
              </a:ext>
            </a:extLst>
          </p:cNvPr>
          <p:cNvSpPr/>
          <p:nvPr/>
        </p:nvSpPr>
        <p:spPr>
          <a:xfrm>
            <a:off x="356520" y="2237540"/>
            <a:ext cx="2004668" cy="4524599"/>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0" name="CaixaDeTexto 99">
            <a:extLst>
              <a:ext uri="{FF2B5EF4-FFF2-40B4-BE49-F238E27FC236}">
                <a16:creationId xmlns:a16="http://schemas.microsoft.com/office/drawing/2014/main" id="{1D16EC80-1555-44E7-88F2-C7347B89ACA4}"/>
              </a:ext>
            </a:extLst>
          </p:cNvPr>
          <p:cNvSpPr txBox="1"/>
          <p:nvPr/>
        </p:nvSpPr>
        <p:spPr>
          <a:xfrm>
            <a:off x="543775" y="2064137"/>
            <a:ext cx="936000" cy="307777"/>
          </a:xfrm>
          <a:prstGeom prst="rect">
            <a:avLst/>
          </a:prstGeom>
          <a:solidFill>
            <a:sysClr val="window" lastClr="FFFFF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2060"/>
                </a:solidFill>
                <a:effectLst/>
                <a:uLnTx/>
                <a:uFillTx/>
                <a:latin typeface="Samsung Sharp Sans Bold" panose="02000503000000020004"/>
                <a:ea typeface="+mn-ea"/>
                <a:cs typeface="+mn-cs"/>
              </a:rPr>
              <a:t>Target</a:t>
            </a:r>
          </a:p>
        </p:txBody>
      </p:sp>
      <p:sp>
        <p:nvSpPr>
          <p:cNvPr id="101" name="Retângulo 100">
            <a:extLst>
              <a:ext uri="{FF2B5EF4-FFF2-40B4-BE49-F238E27FC236}">
                <a16:creationId xmlns:a16="http://schemas.microsoft.com/office/drawing/2014/main" id="{46609120-783D-4643-83A0-30D12B6C7E3E}"/>
              </a:ext>
            </a:extLst>
          </p:cNvPr>
          <p:cNvSpPr/>
          <p:nvPr/>
        </p:nvSpPr>
        <p:spPr>
          <a:xfrm>
            <a:off x="2456557" y="2237540"/>
            <a:ext cx="6514176" cy="4524599"/>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2" name="CaixaDeTexto 101">
            <a:extLst>
              <a:ext uri="{FF2B5EF4-FFF2-40B4-BE49-F238E27FC236}">
                <a16:creationId xmlns:a16="http://schemas.microsoft.com/office/drawing/2014/main" id="{E9CE2110-7247-4440-8BA7-45F988C05CBE}"/>
              </a:ext>
            </a:extLst>
          </p:cNvPr>
          <p:cNvSpPr txBox="1"/>
          <p:nvPr/>
        </p:nvSpPr>
        <p:spPr>
          <a:xfrm>
            <a:off x="2579893" y="2087459"/>
            <a:ext cx="1116415" cy="307777"/>
          </a:xfrm>
          <a:prstGeom prst="rect">
            <a:avLst/>
          </a:prstGeom>
          <a:solidFill>
            <a:sysClr val="window" lastClr="FFFFF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2060"/>
                </a:solidFill>
                <a:effectLst/>
                <a:uLnTx/>
                <a:uFillTx/>
                <a:latin typeface="Samsung Sharp Sans Bold" panose="02000503000000020004"/>
                <a:ea typeface="+mn-ea"/>
                <a:cs typeface="+mn-cs"/>
              </a:rPr>
              <a:t>R$(M) YoY</a:t>
            </a:r>
          </a:p>
        </p:txBody>
      </p:sp>
      <p:grpSp>
        <p:nvGrpSpPr>
          <p:cNvPr id="105" name="Agrupar 104">
            <a:extLst>
              <a:ext uri="{FF2B5EF4-FFF2-40B4-BE49-F238E27FC236}">
                <a16:creationId xmlns:a16="http://schemas.microsoft.com/office/drawing/2014/main" id="{E46DF9B0-B5D7-4945-A662-417B039B5E4E}"/>
              </a:ext>
            </a:extLst>
          </p:cNvPr>
          <p:cNvGrpSpPr/>
          <p:nvPr/>
        </p:nvGrpSpPr>
        <p:grpSpPr>
          <a:xfrm>
            <a:off x="501612" y="2406935"/>
            <a:ext cx="1729993" cy="4311842"/>
            <a:chOff x="501612" y="2406935"/>
            <a:chExt cx="1729993" cy="4311842"/>
          </a:xfrm>
        </p:grpSpPr>
        <p:grpSp>
          <p:nvGrpSpPr>
            <p:cNvPr id="106" name="Agrupar 105">
              <a:extLst>
                <a:ext uri="{FF2B5EF4-FFF2-40B4-BE49-F238E27FC236}">
                  <a16:creationId xmlns:a16="http://schemas.microsoft.com/office/drawing/2014/main" id="{FFEB536F-94EB-473E-BF56-C94DAA4AA7BA}"/>
                </a:ext>
              </a:extLst>
            </p:cNvPr>
            <p:cNvGrpSpPr/>
            <p:nvPr/>
          </p:nvGrpSpPr>
          <p:grpSpPr>
            <a:xfrm>
              <a:off x="520224" y="2406935"/>
              <a:ext cx="1711381" cy="571751"/>
              <a:chOff x="519811" y="2333047"/>
              <a:chExt cx="1711381" cy="571751"/>
            </a:xfrm>
          </p:grpSpPr>
          <p:sp>
            <p:nvSpPr>
              <p:cNvPr id="163" name="Retângulo 28">
                <a:extLst>
                  <a:ext uri="{FF2B5EF4-FFF2-40B4-BE49-F238E27FC236}">
                    <a16:creationId xmlns:a16="http://schemas.microsoft.com/office/drawing/2014/main" id="{1800A97E-5DB8-4D13-A6CD-2BF736856596}"/>
                  </a:ext>
                </a:extLst>
              </p:cNvPr>
              <p:cNvSpPr/>
              <p:nvPr/>
            </p:nvSpPr>
            <p:spPr>
              <a:xfrm>
                <a:off x="531367" y="2333047"/>
                <a:ext cx="1692975" cy="185818"/>
              </a:xfrm>
              <a:prstGeom prst="rect">
                <a:avLst/>
              </a:prstGeom>
              <a:solidFill>
                <a:srgbClr val="000000"/>
              </a:solidFill>
              <a:ln cap="flat">
                <a:noFill/>
                <a:prstDash val="solid"/>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000" b="0" i="0" u="none" strike="noStrike" kern="1200" cap="none" spc="0" normalizeH="0" baseline="0" noProof="0">
                    <a:ln>
                      <a:noFill/>
                    </a:ln>
                    <a:solidFill>
                      <a:srgbClr val="FFFFFF"/>
                    </a:solidFill>
                    <a:effectLst/>
                    <a:uLnTx/>
                    <a:uFillTx/>
                    <a:latin typeface="SamsungOne 400"/>
                    <a:ea typeface="SamsungOneKoreanOTF 400"/>
                    <a:cs typeface="+mn-cs"/>
                  </a:rPr>
                  <a:t>REVENUE        </a:t>
                </a:r>
                <a:r>
                  <a:rPr kumimoji="0" lang="pt-BR" sz="1000" b="0" i="0" u="none" strike="noStrike" kern="0" cap="none" spc="0" normalizeH="0" baseline="0" noProof="0">
                    <a:ln>
                      <a:noFill/>
                    </a:ln>
                    <a:solidFill>
                      <a:srgbClr val="FFFFFF"/>
                    </a:solidFill>
                    <a:effectLst/>
                    <a:uLnTx/>
                    <a:uFillTx/>
                    <a:latin typeface="SamsungOne 400"/>
                    <a:ea typeface="SamsungOneKoreanOTF 400"/>
                    <a:cs typeface="+mn-cs"/>
                  </a:rPr>
                  <a:t> |       G/R</a:t>
                </a:r>
                <a:endParaRPr kumimoji="0" lang="pt-BR" sz="1000" b="0" i="0" u="none" strike="noStrike" kern="1200" cap="none" spc="0" normalizeH="0" baseline="0" noProof="0">
                  <a:ln>
                    <a:noFill/>
                  </a:ln>
                  <a:solidFill>
                    <a:srgbClr val="FFFFFF"/>
                  </a:solidFill>
                  <a:effectLst/>
                  <a:uLnTx/>
                  <a:uFillTx/>
                  <a:latin typeface="SamsungOne 400"/>
                  <a:ea typeface="SamsungOneKoreanOTF 400"/>
                  <a:cs typeface="+mn-cs"/>
                </a:endParaRPr>
              </a:p>
            </p:txBody>
          </p:sp>
          <p:grpSp>
            <p:nvGrpSpPr>
              <p:cNvPr id="164" name="Agrupar 163">
                <a:extLst>
                  <a:ext uri="{FF2B5EF4-FFF2-40B4-BE49-F238E27FC236}">
                    <a16:creationId xmlns:a16="http://schemas.microsoft.com/office/drawing/2014/main" id="{AFF8652B-7B43-44EE-BE40-DD946C007260}"/>
                  </a:ext>
                </a:extLst>
              </p:cNvPr>
              <p:cNvGrpSpPr/>
              <p:nvPr/>
            </p:nvGrpSpPr>
            <p:grpSpPr>
              <a:xfrm>
                <a:off x="519811" y="2535303"/>
                <a:ext cx="1711381" cy="369495"/>
                <a:chOff x="528183" y="2535303"/>
                <a:chExt cx="1711381" cy="369495"/>
              </a:xfrm>
            </p:grpSpPr>
            <p:sp>
              <p:nvSpPr>
                <p:cNvPr id="165" name="Retângulo 29">
                  <a:extLst>
                    <a:ext uri="{FF2B5EF4-FFF2-40B4-BE49-F238E27FC236}">
                      <a16:creationId xmlns:a16="http://schemas.microsoft.com/office/drawing/2014/main" id="{AF402C1D-C64F-4D55-81F0-DE38393B7772}"/>
                    </a:ext>
                  </a:extLst>
                </p:cNvPr>
                <p:cNvSpPr/>
                <p:nvPr/>
              </p:nvSpPr>
              <p:spPr>
                <a:xfrm>
                  <a:off x="546589" y="2535303"/>
                  <a:ext cx="1692975" cy="369495"/>
                </a:xfrm>
                <a:prstGeom prst="rect">
                  <a:avLst/>
                </a:prstGeom>
                <a:solidFill>
                  <a:srgbClr val="D9D9D9"/>
                </a:solidFill>
                <a:ln cap="flat">
                  <a:noFill/>
                  <a:prstDash val="solid"/>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pt-BR" sz="1600" b="0" i="0" u="none" strike="noStrike" kern="1200" cap="none" spc="0" normalizeH="0" baseline="0" noProof="0">
                    <a:ln>
                      <a:noFill/>
                    </a:ln>
                    <a:solidFill>
                      <a:srgbClr val="FFFFFF"/>
                    </a:solidFill>
                    <a:effectLst/>
                    <a:uLnTx/>
                    <a:uFillTx/>
                    <a:latin typeface="SamsungOne 400"/>
                    <a:ea typeface="SamsungOneKoreanOTF 400"/>
                    <a:cs typeface="+mn-cs"/>
                  </a:endParaRPr>
                </a:p>
              </p:txBody>
            </p:sp>
            <p:sp>
              <p:nvSpPr>
                <p:cNvPr id="166" name="CaixaDeTexto 8">
                  <a:extLst>
                    <a:ext uri="{FF2B5EF4-FFF2-40B4-BE49-F238E27FC236}">
                      <a16:creationId xmlns:a16="http://schemas.microsoft.com/office/drawing/2014/main" id="{9821ECE9-5B7A-4558-B920-9204E4C4B4ED}"/>
                    </a:ext>
                  </a:extLst>
                </p:cNvPr>
                <p:cNvSpPr txBox="1"/>
                <p:nvPr/>
              </p:nvSpPr>
              <p:spPr>
                <a:xfrm>
                  <a:off x="1575015" y="2563754"/>
                  <a:ext cx="576000" cy="338554"/>
                </a:xfrm>
                <a:prstGeom prst="rect">
                  <a:avLst/>
                </a:prstGeom>
                <a:noFill/>
                <a:ln cap="flat">
                  <a:noFill/>
                </a:ln>
              </p:spPr>
              <p:txBody>
                <a:bodyPr vert="horz" wrap="square" lIns="91440" tIns="45720" rIns="91440" bIns="45720" anchor="t" anchorCtr="0" compatLnSpc="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600" b="1" i="0" u="none" strike="noStrike" kern="0" cap="none" spc="0" normalizeH="0" baseline="0" noProof="0">
                      <a:ln>
                        <a:noFill/>
                      </a:ln>
                      <a:solidFill>
                        <a:srgbClr val="000000"/>
                      </a:solidFill>
                      <a:effectLst/>
                      <a:uLnTx/>
                      <a:uFillTx/>
                      <a:latin typeface="SamsungOne 400"/>
                      <a:ea typeface="SamsungOneKoreanOTF 400"/>
                      <a:cs typeface="+mn-cs"/>
                    </a:rPr>
                    <a:t>1.74</a:t>
                  </a:r>
                  <a:endParaRPr kumimoji="0" lang="pt-BR" sz="1600" b="1" i="0" u="none" strike="noStrike" kern="1200" cap="none" spc="0" normalizeH="0" baseline="0" noProof="0">
                    <a:ln>
                      <a:noFill/>
                    </a:ln>
                    <a:solidFill>
                      <a:srgbClr val="000000"/>
                    </a:solidFill>
                    <a:effectLst/>
                    <a:uLnTx/>
                    <a:uFillTx/>
                    <a:latin typeface="SamsungOne 400"/>
                    <a:ea typeface="SamsungOneKoreanOTF 400"/>
                    <a:cs typeface="+mn-cs"/>
                  </a:endParaRPr>
                </a:p>
              </p:txBody>
            </p:sp>
            <p:sp>
              <p:nvSpPr>
                <p:cNvPr id="167" name="CaixaDeTexto 7">
                  <a:extLst>
                    <a:ext uri="{FF2B5EF4-FFF2-40B4-BE49-F238E27FC236}">
                      <a16:creationId xmlns:a16="http://schemas.microsoft.com/office/drawing/2014/main" id="{E0D3B809-2494-4BD6-A700-B7B57C92CE33}"/>
                    </a:ext>
                  </a:extLst>
                </p:cNvPr>
                <p:cNvSpPr txBox="1"/>
                <p:nvPr/>
              </p:nvSpPr>
              <p:spPr>
                <a:xfrm>
                  <a:off x="528183" y="2563754"/>
                  <a:ext cx="1046832" cy="338554"/>
                </a:xfrm>
                <a:prstGeom prst="rect">
                  <a:avLst/>
                </a:prstGeom>
                <a:noFill/>
                <a:ln cap="flat">
                  <a:noFill/>
                </a:ln>
              </p:spPr>
              <p:txBody>
                <a:bodyPr vert="horz" wrap="square" lIns="91440" tIns="45720" rIns="91440" bIns="45720"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600" b="0" i="0" u="none" strike="noStrike" kern="0" cap="none" spc="0" normalizeH="0" baseline="0" noProof="0">
                      <a:ln>
                        <a:noFill/>
                      </a:ln>
                      <a:solidFill>
                        <a:srgbClr val="000000"/>
                      </a:solidFill>
                      <a:effectLst/>
                      <a:uLnTx/>
                      <a:uFillTx/>
                      <a:latin typeface="SamsungOne 400"/>
                      <a:ea typeface="SamsungOneKoreanOTF 400"/>
                      <a:cs typeface="+mn-cs"/>
                    </a:rPr>
                    <a:t>R$ 3,64M</a:t>
                  </a:r>
                  <a:endParaRPr kumimoji="0" lang="pt-BR" sz="1600" b="0" i="0" u="none" strike="noStrike" kern="1200" cap="none" spc="0" normalizeH="0" baseline="0" noProof="0">
                    <a:ln>
                      <a:noFill/>
                    </a:ln>
                    <a:solidFill>
                      <a:srgbClr val="000000"/>
                    </a:solidFill>
                    <a:effectLst/>
                    <a:uLnTx/>
                    <a:uFillTx/>
                    <a:latin typeface="SamsungOne 400"/>
                    <a:ea typeface="SamsungOneKoreanOTF 400"/>
                    <a:cs typeface="+mn-cs"/>
                  </a:endParaRPr>
                </a:p>
              </p:txBody>
            </p:sp>
          </p:grpSp>
        </p:grpSp>
        <p:grpSp>
          <p:nvGrpSpPr>
            <p:cNvPr id="107" name="Agrupar 106">
              <a:extLst>
                <a:ext uri="{FF2B5EF4-FFF2-40B4-BE49-F238E27FC236}">
                  <a16:creationId xmlns:a16="http://schemas.microsoft.com/office/drawing/2014/main" id="{BBC16A64-B6C9-4AE0-80A1-3233B19D7983}"/>
                </a:ext>
              </a:extLst>
            </p:cNvPr>
            <p:cNvGrpSpPr/>
            <p:nvPr/>
          </p:nvGrpSpPr>
          <p:grpSpPr>
            <a:xfrm>
              <a:off x="501612" y="2994040"/>
              <a:ext cx="1729993" cy="1003477"/>
              <a:chOff x="501612" y="2920152"/>
              <a:chExt cx="1729993" cy="1003477"/>
            </a:xfrm>
          </p:grpSpPr>
          <p:sp>
            <p:nvSpPr>
              <p:cNvPr id="150" name="Retângulo 27">
                <a:extLst>
                  <a:ext uri="{FF2B5EF4-FFF2-40B4-BE49-F238E27FC236}">
                    <a16:creationId xmlns:a16="http://schemas.microsoft.com/office/drawing/2014/main" id="{148B22EC-1670-4AB9-B179-7FBCBCE36BE6}"/>
                  </a:ext>
                </a:extLst>
              </p:cNvPr>
              <p:cNvSpPr/>
              <p:nvPr/>
            </p:nvSpPr>
            <p:spPr>
              <a:xfrm>
                <a:off x="531367" y="2920152"/>
                <a:ext cx="1692975" cy="332228"/>
              </a:xfrm>
              <a:prstGeom prst="rect">
                <a:avLst/>
              </a:prstGeom>
              <a:solidFill>
                <a:srgbClr val="000000"/>
              </a:solidFill>
              <a:ln cap="flat">
                <a:noFill/>
                <a:prstDash val="solid"/>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000" b="0" i="0" u="none" strike="noStrike" kern="1200" cap="none" spc="0" normalizeH="0" baseline="0" noProof="0">
                    <a:ln>
                      <a:noFill/>
                    </a:ln>
                    <a:solidFill>
                      <a:srgbClr val="FFFFFF"/>
                    </a:solidFill>
                    <a:effectLst/>
                    <a:uLnTx/>
                    <a:uFillTx/>
                    <a:latin typeface="SamsungOne 400"/>
                    <a:ea typeface="SamsungOneKoreanOTF 400"/>
                    <a:cs typeface="+mn-cs"/>
                  </a:rPr>
                  <a:t>CRM CHANNELS</a:t>
                </a:r>
              </a:p>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000" b="0" i="0" u="none" strike="noStrike" kern="1200" cap="none" spc="0" normalizeH="0" baseline="0" noProof="0">
                    <a:ln>
                      <a:noFill/>
                    </a:ln>
                    <a:solidFill>
                      <a:srgbClr val="FFFFFF"/>
                    </a:solidFill>
                    <a:effectLst/>
                    <a:uLnTx/>
                    <a:uFillTx/>
                    <a:latin typeface="SamsungOne 400"/>
                    <a:ea typeface="SamsungOneKoreanOTF 400"/>
                    <a:cs typeface="+mn-cs"/>
                  </a:rPr>
                  <a:t>REVENUE        </a:t>
                </a:r>
                <a:r>
                  <a:rPr kumimoji="0" lang="pt-BR" sz="1000" b="0" i="0" u="none" strike="noStrike" kern="0" cap="none" spc="0" normalizeH="0" baseline="0" noProof="0">
                    <a:ln>
                      <a:noFill/>
                    </a:ln>
                    <a:solidFill>
                      <a:srgbClr val="FFFFFF"/>
                    </a:solidFill>
                    <a:effectLst/>
                    <a:uLnTx/>
                    <a:uFillTx/>
                    <a:latin typeface="SamsungOne 400"/>
                    <a:ea typeface="SamsungOneKoreanOTF 400"/>
                    <a:cs typeface="+mn-cs"/>
                  </a:rPr>
                  <a:t> |       G/R</a:t>
                </a:r>
                <a:endParaRPr kumimoji="0" lang="pt-BR" sz="1000" b="0" i="0" u="none" strike="noStrike" kern="1200" cap="none" spc="0" normalizeH="0" baseline="0" noProof="0">
                  <a:ln>
                    <a:noFill/>
                  </a:ln>
                  <a:solidFill>
                    <a:srgbClr val="FFFFFF"/>
                  </a:solidFill>
                  <a:effectLst/>
                  <a:uLnTx/>
                  <a:uFillTx/>
                  <a:latin typeface="SamsungOne 400"/>
                  <a:ea typeface="SamsungOneKoreanOTF 400"/>
                  <a:cs typeface="+mn-cs"/>
                </a:endParaRPr>
              </a:p>
            </p:txBody>
          </p:sp>
          <p:grpSp>
            <p:nvGrpSpPr>
              <p:cNvPr id="151" name="Agrupar 150">
                <a:extLst>
                  <a:ext uri="{FF2B5EF4-FFF2-40B4-BE49-F238E27FC236}">
                    <a16:creationId xmlns:a16="http://schemas.microsoft.com/office/drawing/2014/main" id="{F1E4C9EF-53C8-48A1-B9CF-FE43D44CA7DD}"/>
                  </a:ext>
                </a:extLst>
              </p:cNvPr>
              <p:cNvGrpSpPr/>
              <p:nvPr/>
            </p:nvGrpSpPr>
            <p:grpSpPr>
              <a:xfrm>
                <a:off x="501612" y="3270489"/>
                <a:ext cx="1729993" cy="653140"/>
                <a:chOff x="501612" y="3270489"/>
                <a:chExt cx="1729993" cy="653140"/>
              </a:xfrm>
            </p:grpSpPr>
            <p:grpSp>
              <p:nvGrpSpPr>
                <p:cNvPr id="152" name="Agrupar 151">
                  <a:extLst>
                    <a:ext uri="{FF2B5EF4-FFF2-40B4-BE49-F238E27FC236}">
                      <a16:creationId xmlns:a16="http://schemas.microsoft.com/office/drawing/2014/main" id="{BDEEB419-6FD7-4C2C-961F-6FA83CE260F0}"/>
                    </a:ext>
                  </a:extLst>
                </p:cNvPr>
                <p:cNvGrpSpPr/>
                <p:nvPr/>
              </p:nvGrpSpPr>
              <p:grpSpPr>
                <a:xfrm>
                  <a:off x="501612" y="3455629"/>
                  <a:ext cx="1729993" cy="468000"/>
                  <a:chOff x="510396" y="3455629"/>
                  <a:chExt cx="1729993" cy="468000"/>
                </a:xfrm>
              </p:grpSpPr>
              <p:sp>
                <p:nvSpPr>
                  <p:cNvPr id="160" name="Retângulo 14">
                    <a:extLst>
                      <a:ext uri="{FF2B5EF4-FFF2-40B4-BE49-F238E27FC236}">
                        <a16:creationId xmlns:a16="http://schemas.microsoft.com/office/drawing/2014/main" id="{7BAC67F9-342E-46EB-B835-D22099BE0C12}"/>
                      </a:ext>
                    </a:extLst>
                  </p:cNvPr>
                  <p:cNvSpPr/>
                  <p:nvPr/>
                </p:nvSpPr>
                <p:spPr>
                  <a:xfrm>
                    <a:off x="547414" y="3455629"/>
                    <a:ext cx="1692975" cy="468000"/>
                  </a:xfrm>
                  <a:prstGeom prst="rect">
                    <a:avLst/>
                  </a:prstGeom>
                  <a:solidFill>
                    <a:schemeClr val="bg2">
                      <a:lumMod val="90000"/>
                    </a:schemeClr>
                  </a:solidFill>
                  <a:ln cap="flat">
                    <a:noFill/>
                    <a:prstDash val="solid"/>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pt-BR" sz="1600" b="0" i="0" u="none" strike="noStrike" kern="1200" cap="none" spc="0" normalizeH="0" baseline="0" noProof="0">
                      <a:ln>
                        <a:noFill/>
                      </a:ln>
                      <a:solidFill>
                        <a:prstClr val="white"/>
                      </a:solidFill>
                      <a:effectLst/>
                      <a:uLnTx/>
                      <a:uFillTx/>
                      <a:latin typeface="SamsungOne 400"/>
                      <a:ea typeface="SamsungOneKoreanOTF 400"/>
                      <a:cs typeface="+mn-cs"/>
                    </a:endParaRPr>
                  </a:p>
                </p:txBody>
              </p:sp>
              <p:sp>
                <p:nvSpPr>
                  <p:cNvPr id="161" name="CaixaDeTexto 8">
                    <a:extLst>
                      <a:ext uri="{FF2B5EF4-FFF2-40B4-BE49-F238E27FC236}">
                        <a16:creationId xmlns:a16="http://schemas.microsoft.com/office/drawing/2014/main" id="{B86DF490-8D3E-4F84-B186-86288A85C29F}"/>
                      </a:ext>
                    </a:extLst>
                  </p:cNvPr>
                  <p:cNvSpPr txBox="1"/>
                  <p:nvPr/>
                </p:nvSpPr>
                <p:spPr>
                  <a:xfrm>
                    <a:off x="1599177" y="3506114"/>
                    <a:ext cx="576000" cy="338554"/>
                  </a:xfrm>
                  <a:prstGeom prst="rect">
                    <a:avLst/>
                  </a:prstGeom>
                  <a:noFill/>
                  <a:ln cap="flat">
                    <a:noFill/>
                  </a:ln>
                </p:spPr>
                <p:txBody>
                  <a:bodyPr vert="horz" wrap="square" lIns="91440" tIns="45720" rIns="91440" bIns="45720" anchor="t" anchorCtr="0" compatLnSpc="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600" b="1" i="0" u="none" strike="noStrike" kern="0" cap="none" spc="0" normalizeH="0" baseline="0" noProof="0">
                        <a:ln>
                          <a:noFill/>
                        </a:ln>
                        <a:solidFill>
                          <a:srgbClr val="1428A0"/>
                        </a:solidFill>
                        <a:effectLst/>
                        <a:uLnTx/>
                        <a:uFillTx/>
                        <a:latin typeface="SamsungOne 400"/>
                        <a:ea typeface="SamsungOneKoreanOTF 400"/>
                        <a:cs typeface="+mn-cs"/>
                      </a:rPr>
                      <a:t>1.01</a:t>
                    </a:r>
                    <a:endParaRPr kumimoji="0" lang="pt-BR" sz="1600" b="1" i="0" u="none" strike="noStrike" kern="1200" cap="none" spc="0" normalizeH="0" baseline="0" noProof="0">
                      <a:ln>
                        <a:noFill/>
                      </a:ln>
                      <a:solidFill>
                        <a:srgbClr val="1428A0"/>
                      </a:solidFill>
                      <a:effectLst/>
                      <a:uLnTx/>
                      <a:uFillTx/>
                      <a:latin typeface="SamsungOne 400"/>
                      <a:ea typeface="SamsungOneKoreanOTF 400"/>
                      <a:cs typeface="+mn-cs"/>
                    </a:endParaRPr>
                  </a:p>
                </p:txBody>
              </p:sp>
              <p:sp>
                <p:nvSpPr>
                  <p:cNvPr id="162" name="CaixaDeTexto 7">
                    <a:extLst>
                      <a:ext uri="{FF2B5EF4-FFF2-40B4-BE49-F238E27FC236}">
                        <a16:creationId xmlns:a16="http://schemas.microsoft.com/office/drawing/2014/main" id="{440F518F-8DA9-4361-A50E-32135374496B}"/>
                      </a:ext>
                    </a:extLst>
                  </p:cNvPr>
                  <p:cNvSpPr txBox="1"/>
                  <p:nvPr/>
                </p:nvSpPr>
                <p:spPr>
                  <a:xfrm>
                    <a:off x="510396" y="3515529"/>
                    <a:ext cx="1087077" cy="338554"/>
                  </a:xfrm>
                  <a:prstGeom prst="rect">
                    <a:avLst/>
                  </a:prstGeom>
                  <a:noFill/>
                  <a:ln cap="flat">
                    <a:noFill/>
                  </a:ln>
                </p:spPr>
                <p:txBody>
                  <a:bodyPr vert="horz" wrap="square" lIns="91440" tIns="45720" rIns="91440" bIns="45720"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600" b="0" i="0" u="none" strike="noStrike" kern="0" cap="none" spc="0" normalizeH="0" baseline="0" noProof="0">
                        <a:ln>
                          <a:noFill/>
                        </a:ln>
                        <a:solidFill>
                          <a:srgbClr val="000000"/>
                        </a:solidFill>
                        <a:effectLst/>
                        <a:uLnTx/>
                        <a:uFillTx/>
                        <a:latin typeface="SamsungOne 400"/>
                        <a:ea typeface="SamsungOneKoreanOTF 400"/>
                        <a:cs typeface="+mn-cs"/>
                      </a:rPr>
                      <a:t>R$ </a:t>
                    </a:r>
                    <a:r>
                      <a:rPr lang="pt-BR" sz="1600" kern="0">
                        <a:solidFill>
                          <a:srgbClr val="000000"/>
                        </a:solidFill>
                        <a:latin typeface="SamsungOne 400"/>
                        <a:ea typeface="SamsungOneKoreanOTF 400"/>
                      </a:rPr>
                      <a:t>883k</a:t>
                    </a:r>
                    <a:endParaRPr kumimoji="0" lang="pt-BR" sz="1600" b="0" i="0" u="none" strike="noStrike" kern="1200" cap="none" spc="0" normalizeH="0" baseline="0" noProof="0">
                      <a:ln>
                        <a:noFill/>
                      </a:ln>
                      <a:solidFill>
                        <a:srgbClr val="000000"/>
                      </a:solidFill>
                      <a:effectLst/>
                      <a:uLnTx/>
                      <a:uFillTx/>
                      <a:latin typeface="SamsungOne 400"/>
                      <a:ea typeface="SamsungOneKoreanOTF 400"/>
                      <a:cs typeface="+mn-cs"/>
                    </a:endParaRPr>
                  </a:p>
                </p:txBody>
              </p:sp>
            </p:grpSp>
            <p:sp>
              <p:nvSpPr>
                <p:cNvPr id="153" name="Retângulo 27">
                  <a:extLst>
                    <a:ext uri="{FF2B5EF4-FFF2-40B4-BE49-F238E27FC236}">
                      <a16:creationId xmlns:a16="http://schemas.microsoft.com/office/drawing/2014/main" id="{F2AA4C02-C3CD-47B6-AF8B-98E0B391B80F}"/>
                    </a:ext>
                  </a:extLst>
                </p:cNvPr>
                <p:cNvSpPr/>
                <p:nvPr/>
              </p:nvSpPr>
              <p:spPr>
                <a:xfrm>
                  <a:off x="531367" y="3270489"/>
                  <a:ext cx="1692975" cy="185818"/>
                </a:xfrm>
                <a:prstGeom prst="rect">
                  <a:avLst/>
                </a:prstGeom>
                <a:solidFill>
                  <a:srgbClr val="203764"/>
                </a:solidFill>
                <a:ln cap="flat">
                  <a:noFill/>
                  <a:prstDash val="solid"/>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000" b="0" i="0" u="none" strike="noStrike" kern="0" cap="none" spc="0" normalizeH="0" baseline="0" noProof="0">
                      <a:ln>
                        <a:noFill/>
                      </a:ln>
                      <a:solidFill>
                        <a:srgbClr val="FFFFFF"/>
                      </a:solidFill>
                      <a:effectLst/>
                      <a:uLnTx/>
                      <a:uFillTx/>
                      <a:latin typeface="SamsungOne 400"/>
                      <a:ea typeface="SamsungOneKoreanOTF 400"/>
                      <a:cs typeface="+mn-cs"/>
                    </a:rPr>
                    <a:t>APP PUSH</a:t>
                  </a:r>
                  <a:endParaRPr kumimoji="0" lang="pt-BR" sz="1000" b="0" i="0" u="none" strike="noStrike" kern="1200" cap="none" spc="0" normalizeH="0" baseline="0" noProof="0">
                    <a:ln>
                      <a:noFill/>
                    </a:ln>
                    <a:solidFill>
                      <a:srgbClr val="FFFFFF"/>
                    </a:solidFill>
                    <a:effectLst/>
                    <a:uLnTx/>
                    <a:uFillTx/>
                    <a:latin typeface="SamsungOne 400"/>
                    <a:ea typeface="SamsungOneKoreanOTF 400"/>
                    <a:cs typeface="+mn-cs"/>
                  </a:endParaRPr>
                </a:p>
              </p:txBody>
            </p:sp>
          </p:grpSp>
        </p:grpSp>
        <p:grpSp>
          <p:nvGrpSpPr>
            <p:cNvPr id="108" name="Agrupar 107">
              <a:extLst>
                <a:ext uri="{FF2B5EF4-FFF2-40B4-BE49-F238E27FC236}">
                  <a16:creationId xmlns:a16="http://schemas.microsoft.com/office/drawing/2014/main" id="{F1331C12-37A0-4649-82AB-24680829C54D}"/>
                </a:ext>
              </a:extLst>
            </p:cNvPr>
            <p:cNvGrpSpPr/>
            <p:nvPr/>
          </p:nvGrpSpPr>
          <p:grpSpPr>
            <a:xfrm>
              <a:off x="534430" y="4026857"/>
              <a:ext cx="1697175" cy="653140"/>
              <a:chOff x="527167" y="3926917"/>
              <a:chExt cx="1697175" cy="653140"/>
            </a:xfrm>
          </p:grpSpPr>
          <p:grpSp>
            <p:nvGrpSpPr>
              <p:cNvPr id="139" name="Agrupar 138">
                <a:extLst>
                  <a:ext uri="{FF2B5EF4-FFF2-40B4-BE49-F238E27FC236}">
                    <a16:creationId xmlns:a16="http://schemas.microsoft.com/office/drawing/2014/main" id="{9FB1E260-B3CB-41BB-A923-D250B302D87A}"/>
                  </a:ext>
                </a:extLst>
              </p:cNvPr>
              <p:cNvGrpSpPr/>
              <p:nvPr/>
            </p:nvGrpSpPr>
            <p:grpSpPr>
              <a:xfrm>
                <a:off x="527167" y="4112057"/>
                <a:ext cx="1692975" cy="468000"/>
                <a:chOff x="524489" y="4112057"/>
                <a:chExt cx="1692975" cy="468000"/>
              </a:xfrm>
            </p:grpSpPr>
            <p:sp>
              <p:nvSpPr>
                <p:cNvPr id="141" name="Retângulo 14">
                  <a:extLst>
                    <a:ext uri="{FF2B5EF4-FFF2-40B4-BE49-F238E27FC236}">
                      <a16:creationId xmlns:a16="http://schemas.microsoft.com/office/drawing/2014/main" id="{4A34D042-79E3-4624-ACC4-2F234343DD83}"/>
                    </a:ext>
                  </a:extLst>
                </p:cNvPr>
                <p:cNvSpPr/>
                <p:nvPr/>
              </p:nvSpPr>
              <p:spPr>
                <a:xfrm>
                  <a:off x="524489" y="4112057"/>
                  <a:ext cx="1692975" cy="468000"/>
                </a:xfrm>
                <a:prstGeom prst="rect">
                  <a:avLst/>
                </a:prstGeom>
                <a:solidFill>
                  <a:schemeClr val="bg2">
                    <a:lumMod val="90000"/>
                  </a:schemeClr>
                </a:solidFill>
                <a:ln cap="flat">
                  <a:noFill/>
                  <a:prstDash val="solid"/>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pt-BR" sz="1600" b="0" i="0" u="none" strike="noStrike" kern="1200" cap="none" spc="0" normalizeH="0" baseline="0" noProof="0">
                    <a:ln>
                      <a:noFill/>
                    </a:ln>
                    <a:solidFill>
                      <a:prstClr val="white"/>
                    </a:solidFill>
                    <a:effectLst/>
                    <a:uLnTx/>
                    <a:uFillTx/>
                    <a:latin typeface="SamsungOne 400"/>
                    <a:ea typeface="SamsungOneKoreanOTF 400"/>
                    <a:cs typeface="+mn-cs"/>
                  </a:endParaRPr>
                </a:p>
              </p:txBody>
            </p:sp>
            <p:sp>
              <p:nvSpPr>
                <p:cNvPr id="148" name="CaixaDeTexto 8">
                  <a:extLst>
                    <a:ext uri="{FF2B5EF4-FFF2-40B4-BE49-F238E27FC236}">
                      <a16:creationId xmlns:a16="http://schemas.microsoft.com/office/drawing/2014/main" id="{F84780E4-4F28-4CFE-A13E-CC0A6F4E2477}"/>
                    </a:ext>
                  </a:extLst>
                </p:cNvPr>
                <p:cNvSpPr txBox="1"/>
                <p:nvPr/>
              </p:nvSpPr>
              <p:spPr>
                <a:xfrm>
                  <a:off x="1570061" y="4182168"/>
                  <a:ext cx="576000" cy="338554"/>
                </a:xfrm>
                <a:prstGeom prst="rect">
                  <a:avLst/>
                </a:prstGeom>
                <a:noFill/>
                <a:ln cap="flat">
                  <a:noFill/>
                </a:ln>
              </p:spPr>
              <p:txBody>
                <a:bodyPr vert="horz" wrap="square" lIns="91440" tIns="45720" rIns="91440" bIns="45720" anchor="t" anchorCtr="0" compatLnSpc="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600" b="1" i="0" u="none" strike="noStrike" kern="0" cap="none" spc="0" normalizeH="0" baseline="0" noProof="0">
                      <a:ln>
                        <a:noFill/>
                      </a:ln>
                      <a:solidFill>
                        <a:srgbClr val="1428A0"/>
                      </a:solidFill>
                      <a:effectLst/>
                      <a:uLnTx/>
                      <a:uFillTx/>
                      <a:latin typeface="SamsungOne 400"/>
                      <a:ea typeface="SamsungOneKoreanOTF 400"/>
                      <a:cs typeface="+mn-cs"/>
                    </a:rPr>
                    <a:t>1.81</a:t>
                  </a:r>
                  <a:endParaRPr kumimoji="0" lang="pt-BR" sz="1600" b="1" i="0" u="none" strike="noStrike" kern="1200" cap="none" spc="0" normalizeH="0" baseline="0" noProof="0">
                    <a:ln>
                      <a:noFill/>
                    </a:ln>
                    <a:solidFill>
                      <a:srgbClr val="1428A0"/>
                    </a:solidFill>
                    <a:effectLst/>
                    <a:uLnTx/>
                    <a:uFillTx/>
                    <a:latin typeface="SamsungOne 400"/>
                    <a:ea typeface="SamsungOneKoreanOTF 400"/>
                    <a:cs typeface="+mn-cs"/>
                  </a:endParaRPr>
                </a:p>
              </p:txBody>
            </p:sp>
            <p:sp>
              <p:nvSpPr>
                <p:cNvPr id="149" name="CaixaDeTexto 7">
                  <a:extLst>
                    <a:ext uri="{FF2B5EF4-FFF2-40B4-BE49-F238E27FC236}">
                      <a16:creationId xmlns:a16="http://schemas.microsoft.com/office/drawing/2014/main" id="{2887BEB7-85F3-421F-980C-0F4DCB1E984E}"/>
                    </a:ext>
                  </a:extLst>
                </p:cNvPr>
                <p:cNvSpPr txBox="1"/>
                <p:nvPr/>
              </p:nvSpPr>
              <p:spPr>
                <a:xfrm>
                  <a:off x="533834" y="4184385"/>
                  <a:ext cx="1000596" cy="338554"/>
                </a:xfrm>
                <a:prstGeom prst="rect">
                  <a:avLst/>
                </a:prstGeom>
                <a:noFill/>
                <a:ln cap="flat">
                  <a:noFill/>
                </a:ln>
              </p:spPr>
              <p:txBody>
                <a:bodyPr vert="horz" wrap="square" lIns="91440" tIns="45720" rIns="91440" bIns="45720"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600" b="0" i="0" u="none" strike="noStrike" kern="0" cap="none" spc="0" normalizeH="0" baseline="0" noProof="0">
                      <a:ln>
                        <a:noFill/>
                      </a:ln>
                      <a:solidFill>
                        <a:srgbClr val="000000"/>
                      </a:solidFill>
                      <a:effectLst/>
                      <a:uLnTx/>
                      <a:uFillTx/>
                      <a:latin typeface="SamsungOne 400"/>
                      <a:ea typeface="SamsungOneKoreanOTF 400"/>
                      <a:cs typeface="+mn-cs"/>
                    </a:rPr>
                    <a:t>R$ </a:t>
                  </a:r>
                  <a:r>
                    <a:rPr lang="pt-BR" sz="1600" kern="0">
                      <a:solidFill>
                        <a:srgbClr val="000000"/>
                      </a:solidFill>
                      <a:latin typeface="SamsungOne 400"/>
                      <a:ea typeface="SamsungOneKoreanOTF 400"/>
                    </a:rPr>
                    <a:t>2,07</a:t>
                  </a:r>
                  <a:r>
                    <a:rPr kumimoji="0" lang="pt-BR" sz="1600" b="0" i="0" u="none" strike="noStrike" kern="0" cap="none" spc="0" normalizeH="0" baseline="0" noProof="0">
                      <a:ln>
                        <a:noFill/>
                      </a:ln>
                      <a:solidFill>
                        <a:srgbClr val="000000"/>
                      </a:solidFill>
                      <a:effectLst/>
                      <a:uLnTx/>
                      <a:uFillTx/>
                      <a:latin typeface="SamsungOne 400"/>
                      <a:ea typeface="SamsungOneKoreanOTF 400"/>
                      <a:cs typeface="+mn-cs"/>
                    </a:rPr>
                    <a:t>M</a:t>
                  </a:r>
                  <a:endParaRPr kumimoji="0" lang="pt-BR" sz="1600" b="0" i="0" u="none" strike="noStrike" kern="1200" cap="none" spc="0" normalizeH="0" baseline="0" noProof="0">
                    <a:ln>
                      <a:noFill/>
                    </a:ln>
                    <a:solidFill>
                      <a:srgbClr val="000000"/>
                    </a:solidFill>
                    <a:effectLst/>
                    <a:uLnTx/>
                    <a:uFillTx/>
                    <a:latin typeface="SamsungOne 400"/>
                    <a:ea typeface="SamsungOneKoreanOTF 400"/>
                    <a:cs typeface="+mn-cs"/>
                  </a:endParaRPr>
                </a:p>
              </p:txBody>
            </p:sp>
          </p:grpSp>
          <p:sp>
            <p:nvSpPr>
              <p:cNvPr id="140" name="Retângulo 27">
                <a:extLst>
                  <a:ext uri="{FF2B5EF4-FFF2-40B4-BE49-F238E27FC236}">
                    <a16:creationId xmlns:a16="http://schemas.microsoft.com/office/drawing/2014/main" id="{A68CC9F9-EE4E-4923-9663-995AA7D42F35}"/>
                  </a:ext>
                </a:extLst>
              </p:cNvPr>
              <p:cNvSpPr/>
              <p:nvPr/>
            </p:nvSpPr>
            <p:spPr>
              <a:xfrm>
                <a:off x="531367" y="3926917"/>
                <a:ext cx="1692975" cy="185818"/>
              </a:xfrm>
              <a:prstGeom prst="rect">
                <a:avLst/>
              </a:prstGeom>
              <a:solidFill>
                <a:srgbClr val="203764"/>
              </a:solidFill>
              <a:ln cap="flat">
                <a:noFill/>
                <a:prstDash val="solid"/>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000" b="0" i="0" u="none" strike="noStrike" kern="0" cap="none" spc="0" normalizeH="0" baseline="0" noProof="0">
                    <a:ln>
                      <a:noFill/>
                    </a:ln>
                    <a:solidFill>
                      <a:srgbClr val="FFFFFF"/>
                    </a:solidFill>
                    <a:effectLst/>
                    <a:uLnTx/>
                    <a:uFillTx/>
                    <a:latin typeface="SamsungOne 400"/>
                    <a:ea typeface="SamsungOneKoreanOTF 400"/>
                    <a:cs typeface="+mn-cs"/>
                  </a:rPr>
                  <a:t>E-MAIL</a:t>
                </a:r>
                <a:endParaRPr kumimoji="0" lang="pt-BR" sz="1000" b="0" i="0" u="none" strike="noStrike" kern="1200" cap="none" spc="0" normalizeH="0" baseline="0" noProof="0">
                  <a:ln>
                    <a:noFill/>
                  </a:ln>
                  <a:solidFill>
                    <a:srgbClr val="FFFFFF"/>
                  </a:solidFill>
                  <a:effectLst/>
                  <a:uLnTx/>
                  <a:uFillTx/>
                  <a:latin typeface="SamsungOne 400"/>
                  <a:ea typeface="SamsungOneKoreanOTF 400"/>
                  <a:cs typeface="+mn-cs"/>
                </a:endParaRPr>
              </a:p>
            </p:txBody>
          </p:sp>
        </p:grpSp>
        <p:grpSp>
          <p:nvGrpSpPr>
            <p:cNvPr id="114" name="Agrupar 113">
              <a:extLst>
                <a:ext uri="{FF2B5EF4-FFF2-40B4-BE49-F238E27FC236}">
                  <a16:creationId xmlns:a16="http://schemas.microsoft.com/office/drawing/2014/main" id="{94C56C82-70F5-4038-A776-38E8BE5E8563}"/>
                </a:ext>
              </a:extLst>
            </p:cNvPr>
            <p:cNvGrpSpPr/>
            <p:nvPr/>
          </p:nvGrpSpPr>
          <p:grpSpPr>
            <a:xfrm>
              <a:off x="534045" y="4709337"/>
              <a:ext cx="1697560" cy="653429"/>
              <a:chOff x="531367" y="4602374"/>
              <a:chExt cx="1697560" cy="653429"/>
            </a:xfrm>
          </p:grpSpPr>
          <p:sp>
            <p:nvSpPr>
              <p:cNvPr id="136" name="Retângulo 14">
                <a:extLst>
                  <a:ext uri="{FF2B5EF4-FFF2-40B4-BE49-F238E27FC236}">
                    <a16:creationId xmlns:a16="http://schemas.microsoft.com/office/drawing/2014/main" id="{67807947-1518-4252-9A04-2A0051ED31BD}"/>
                  </a:ext>
                </a:extLst>
              </p:cNvPr>
              <p:cNvSpPr/>
              <p:nvPr/>
            </p:nvSpPr>
            <p:spPr>
              <a:xfrm>
                <a:off x="535952" y="4787803"/>
                <a:ext cx="1692975" cy="468000"/>
              </a:xfrm>
              <a:prstGeom prst="rect">
                <a:avLst/>
              </a:prstGeom>
              <a:solidFill>
                <a:schemeClr val="bg2">
                  <a:lumMod val="90000"/>
                </a:schemeClr>
              </a:solidFill>
              <a:ln cap="flat">
                <a:noFill/>
                <a:prstDash val="solid"/>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pt-BR" sz="1600" b="0" i="0" u="none" strike="noStrike" kern="1200" cap="none" spc="0" normalizeH="0" baseline="0" noProof="0">
                  <a:ln>
                    <a:noFill/>
                  </a:ln>
                  <a:solidFill>
                    <a:prstClr val="white"/>
                  </a:solidFill>
                  <a:effectLst/>
                  <a:uLnTx/>
                  <a:uFillTx/>
                  <a:latin typeface="SamsungOne 400"/>
                  <a:ea typeface="SamsungOneKoreanOTF 400"/>
                  <a:cs typeface="+mn-cs"/>
                </a:endParaRPr>
              </a:p>
            </p:txBody>
          </p:sp>
          <p:sp>
            <p:nvSpPr>
              <p:cNvPr id="135" name="Retângulo 27">
                <a:extLst>
                  <a:ext uri="{FF2B5EF4-FFF2-40B4-BE49-F238E27FC236}">
                    <a16:creationId xmlns:a16="http://schemas.microsoft.com/office/drawing/2014/main" id="{2C2CBBED-E01C-44BC-970B-A2440CCF321A}"/>
                  </a:ext>
                </a:extLst>
              </p:cNvPr>
              <p:cNvSpPr/>
              <p:nvPr/>
            </p:nvSpPr>
            <p:spPr>
              <a:xfrm>
                <a:off x="531367" y="4602374"/>
                <a:ext cx="1692975" cy="185818"/>
              </a:xfrm>
              <a:prstGeom prst="rect">
                <a:avLst/>
              </a:prstGeom>
              <a:solidFill>
                <a:srgbClr val="203764"/>
              </a:solidFill>
              <a:ln cap="flat">
                <a:noFill/>
                <a:prstDash val="solid"/>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000" b="0" i="0" u="none" strike="noStrike" kern="0" cap="none" spc="0" normalizeH="0" baseline="0" noProof="0">
                    <a:ln>
                      <a:noFill/>
                    </a:ln>
                    <a:solidFill>
                      <a:srgbClr val="FFFFFF"/>
                    </a:solidFill>
                    <a:effectLst/>
                    <a:uLnTx/>
                    <a:uFillTx/>
                    <a:latin typeface="SamsungOne 400"/>
                    <a:ea typeface="SamsungOneKoreanOTF 400"/>
                    <a:cs typeface="+mn-cs"/>
                  </a:rPr>
                  <a:t>PUSH</a:t>
                </a:r>
                <a:endParaRPr kumimoji="0" lang="pt-BR" sz="1000" b="0" i="0" u="none" strike="noStrike" kern="1200" cap="none" spc="0" normalizeH="0" baseline="0" noProof="0">
                  <a:ln>
                    <a:noFill/>
                  </a:ln>
                  <a:solidFill>
                    <a:srgbClr val="FFFFFF"/>
                  </a:solidFill>
                  <a:effectLst/>
                  <a:uLnTx/>
                  <a:uFillTx/>
                  <a:latin typeface="SamsungOne 400"/>
                  <a:ea typeface="SamsungOneKoreanOTF 400"/>
                  <a:cs typeface="+mn-cs"/>
                </a:endParaRPr>
              </a:p>
            </p:txBody>
          </p:sp>
        </p:grpSp>
        <p:grpSp>
          <p:nvGrpSpPr>
            <p:cNvPr id="115" name="Agrupar 114">
              <a:extLst>
                <a:ext uri="{FF2B5EF4-FFF2-40B4-BE49-F238E27FC236}">
                  <a16:creationId xmlns:a16="http://schemas.microsoft.com/office/drawing/2014/main" id="{3410A057-CAB0-40BD-B03C-3E78394D8374}"/>
                </a:ext>
              </a:extLst>
            </p:cNvPr>
            <p:cNvGrpSpPr/>
            <p:nvPr/>
          </p:nvGrpSpPr>
          <p:grpSpPr>
            <a:xfrm>
              <a:off x="534012" y="5392106"/>
              <a:ext cx="1697593" cy="653429"/>
              <a:chOff x="526749" y="5283352"/>
              <a:chExt cx="1697593" cy="653429"/>
            </a:xfrm>
          </p:grpSpPr>
          <p:grpSp>
            <p:nvGrpSpPr>
              <p:cNvPr id="125" name="Agrupar 124">
                <a:extLst>
                  <a:ext uri="{FF2B5EF4-FFF2-40B4-BE49-F238E27FC236}">
                    <a16:creationId xmlns:a16="http://schemas.microsoft.com/office/drawing/2014/main" id="{04F7E830-CE6C-46D8-AF65-D97EA36B129F}"/>
                  </a:ext>
                </a:extLst>
              </p:cNvPr>
              <p:cNvGrpSpPr/>
              <p:nvPr/>
            </p:nvGrpSpPr>
            <p:grpSpPr>
              <a:xfrm>
                <a:off x="526749" y="5468781"/>
                <a:ext cx="1692975" cy="468000"/>
                <a:chOff x="520957" y="5468781"/>
                <a:chExt cx="1692975" cy="468000"/>
              </a:xfrm>
            </p:grpSpPr>
            <p:sp>
              <p:nvSpPr>
                <p:cNvPr id="127" name="Retângulo 14">
                  <a:extLst>
                    <a:ext uri="{FF2B5EF4-FFF2-40B4-BE49-F238E27FC236}">
                      <a16:creationId xmlns:a16="http://schemas.microsoft.com/office/drawing/2014/main" id="{216AB687-A258-40CA-A1E3-F25F20093CDD}"/>
                    </a:ext>
                  </a:extLst>
                </p:cNvPr>
                <p:cNvSpPr/>
                <p:nvPr/>
              </p:nvSpPr>
              <p:spPr>
                <a:xfrm>
                  <a:off x="520957" y="5468781"/>
                  <a:ext cx="1692975" cy="468000"/>
                </a:xfrm>
                <a:prstGeom prst="rect">
                  <a:avLst/>
                </a:prstGeom>
                <a:solidFill>
                  <a:schemeClr val="bg2">
                    <a:lumMod val="90000"/>
                  </a:schemeClr>
                </a:solidFill>
                <a:ln cap="flat">
                  <a:noFill/>
                  <a:prstDash val="solid"/>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pt-BR" sz="1600" b="0" i="0" u="none" strike="noStrike" kern="1200" cap="none" spc="0" normalizeH="0" baseline="0" noProof="0">
                    <a:ln>
                      <a:noFill/>
                    </a:ln>
                    <a:solidFill>
                      <a:prstClr val="white"/>
                    </a:solidFill>
                    <a:effectLst/>
                    <a:uLnTx/>
                    <a:uFillTx/>
                    <a:latin typeface="SamsungOne 400"/>
                    <a:ea typeface="SamsungOneKoreanOTF 400"/>
                    <a:cs typeface="+mn-cs"/>
                  </a:endParaRPr>
                </a:p>
              </p:txBody>
            </p:sp>
            <p:sp>
              <p:nvSpPr>
                <p:cNvPr id="133" name="CaixaDeTexto 7">
                  <a:extLst>
                    <a:ext uri="{FF2B5EF4-FFF2-40B4-BE49-F238E27FC236}">
                      <a16:creationId xmlns:a16="http://schemas.microsoft.com/office/drawing/2014/main" id="{F8FA8BD4-2A91-4054-BD6E-BCAAAAE5B3AE}"/>
                    </a:ext>
                  </a:extLst>
                </p:cNvPr>
                <p:cNvSpPr txBox="1"/>
                <p:nvPr/>
              </p:nvSpPr>
              <p:spPr>
                <a:xfrm>
                  <a:off x="525574" y="5528770"/>
                  <a:ext cx="1001391" cy="338554"/>
                </a:xfrm>
                <a:prstGeom prst="rect">
                  <a:avLst/>
                </a:prstGeom>
                <a:noFill/>
                <a:ln cap="flat">
                  <a:noFill/>
                </a:ln>
              </p:spPr>
              <p:txBody>
                <a:bodyPr vert="horz" wrap="square" lIns="91440" tIns="45720" rIns="91440" bIns="45720"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600" b="0" i="0" u="none" strike="noStrike" kern="0" cap="none" spc="0" normalizeH="0" baseline="0" noProof="0">
                      <a:ln>
                        <a:noFill/>
                      </a:ln>
                      <a:solidFill>
                        <a:srgbClr val="000000"/>
                      </a:solidFill>
                      <a:effectLst/>
                      <a:uLnTx/>
                      <a:uFillTx/>
                      <a:latin typeface="SamsungOne 400"/>
                      <a:ea typeface="SamsungOneKoreanOTF 400"/>
                      <a:cs typeface="+mn-cs"/>
                    </a:rPr>
                    <a:t>R$ </a:t>
                  </a:r>
                  <a:r>
                    <a:rPr lang="pt-BR" sz="1600" kern="0">
                      <a:solidFill>
                        <a:srgbClr val="000000"/>
                      </a:solidFill>
                      <a:latin typeface="SamsungOne 400"/>
                      <a:ea typeface="SamsungOneKoreanOTF 400"/>
                    </a:rPr>
                    <a:t>138</a:t>
                  </a:r>
                  <a:r>
                    <a:rPr kumimoji="0" lang="pt-BR" sz="1600" b="0" i="0" u="none" strike="noStrike" kern="0" cap="none" spc="0" normalizeH="0" baseline="0" noProof="0">
                      <a:ln>
                        <a:noFill/>
                      </a:ln>
                      <a:solidFill>
                        <a:srgbClr val="000000"/>
                      </a:solidFill>
                      <a:effectLst/>
                      <a:uLnTx/>
                      <a:uFillTx/>
                      <a:latin typeface="SamsungOne 400"/>
                      <a:ea typeface="SamsungOneKoreanOTF 400"/>
                      <a:cs typeface="+mn-cs"/>
                    </a:rPr>
                    <a:t>k</a:t>
                  </a:r>
                  <a:endParaRPr kumimoji="0" lang="pt-BR" sz="1600" b="0" i="0" u="none" strike="noStrike" kern="1200" cap="none" spc="0" normalizeH="0" baseline="0" noProof="0">
                    <a:ln>
                      <a:noFill/>
                    </a:ln>
                    <a:solidFill>
                      <a:srgbClr val="000000"/>
                    </a:solidFill>
                    <a:effectLst/>
                    <a:uLnTx/>
                    <a:uFillTx/>
                    <a:latin typeface="SamsungOne 400"/>
                    <a:ea typeface="SamsungOneKoreanOTF 400"/>
                    <a:cs typeface="+mn-cs"/>
                  </a:endParaRPr>
                </a:p>
              </p:txBody>
            </p:sp>
          </p:grpSp>
          <p:sp>
            <p:nvSpPr>
              <p:cNvPr id="126" name="Retângulo 27">
                <a:extLst>
                  <a:ext uri="{FF2B5EF4-FFF2-40B4-BE49-F238E27FC236}">
                    <a16:creationId xmlns:a16="http://schemas.microsoft.com/office/drawing/2014/main" id="{E7F9A9E0-C18D-4012-BA04-147788755628}"/>
                  </a:ext>
                </a:extLst>
              </p:cNvPr>
              <p:cNvSpPr/>
              <p:nvPr/>
            </p:nvSpPr>
            <p:spPr>
              <a:xfrm>
                <a:off x="531367" y="5283352"/>
                <a:ext cx="1692975" cy="185818"/>
              </a:xfrm>
              <a:prstGeom prst="rect">
                <a:avLst/>
              </a:prstGeom>
              <a:solidFill>
                <a:srgbClr val="203764"/>
              </a:solidFill>
              <a:ln cap="flat">
                <a:noFill/>
                <a:prstDash val="solid"/>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000" b="0" i="0" u="none" strike="noStrike" kern="0" cap="none" spc="0" normalizeH="0" baseline="0" noProof="0">
                    <a:ln>
                      <a:noFill/>
                    </a:ln>
                    <a:solidFill>
                      <a:srgbClr val="FFFFFF"/>
                    </a:solidFill>
                    <a:effectLst/>
                    <a:uLnTx/>
                    <a:uFillTx/>
                    <a:latin typeface="SamsungOne 400"/>
                    <a:ea typeface="SamsungOneKoreanOTF 400"/>
                    <a:cs typeface="+mn-cs"/>
                  </a:rPr>
                  <a:t>WEB PUSH</a:t>
                </a:r>
                <a:endParaRPr kumimoji="0" lang="pt-BR" sz="1000" b="0" i="0" u="none" strike="noStrike" kern="1200" cap="none" spc="0" normalizeH="0" baseline="0" noProof="0">
                  <a:ln>
                    <a:noFill/>
                  </a:ln>
                  <a:solidFill>
                    <a:srgbClr val="FFFFFF"/>
                  </a:solidFill>
                  <a:effectLst/>
                  <a:uLnTx/>
                  <a:uFillTx/>
                  <a:latin typeface="SamsungOne 400"/>
                  <a:ea typeface="SamsungOneKoreanOTF 400"/>
                  <a:cs typeface="+mn-cs"/>
                </a:endParaRPr>
              </a:p>
            </p:txBody>
          </p:sp>
        </p:grpSp>
        <p:grpSp>
          <p:nvGrpSpPr>
            <p:cNvPr id="116" name="Agrupar 115">
              <a:extLst>
                <a:ext uri="{FF2B5EF4-FFF2-40B4-BE49-F238E27FC236}">
                  <a16:creationId xmlns:a16="http://schemas.microsoft.com/office/drawing/2014/main" id="{48E183C9-4837-406A-BB80-D698ADD2D1D1}"/>
                </a:ext>
              </a:extLst>
            </p:cNvPr>
            <p:cNvGrpSpPr/>
            <p:nvPr/>
          </p:nvGrpSpPr>
          <p:grpSpPr>
            <a:xfrm>
              <a:off x="534012" y="6065348"/>
              <a:ext cx="1697593" cy="653429"/>
              <a:chOff x="526749" y="5991460"/>
              <a:chExt cx="1697593" cy="653429"/>
            </a:xfrm>
          </p:grpSpPr>
          <p:sp>
            <p:nvSpPr>
              <p:cNvPr id="123" name="Retângulo 14">
                <a:extLst>
                  <a:ext uri="{FF2B5EF4-FFF2-40B4-BE49-F238E27FC236}">
                    <a16:creationId xmlns:a16="http://schemas.microsoft.com/office/drawing/2014/main" id="{DAE3D171-EAA7-4823-BDF5-019E34983C5E}"/>
                  </a:ext>
                </a:extLst>
              </p:cNvPr>
              <p:cNvSpPr/>
              <p:nvPr/>
            </p:nvSpPr>
            <p:spPr>
              <a:xfrm>
                <a:off x="526749" y="6176889"/>
                <a:ext cx="1692975" cy="468000"/>
              </a:xfrm>
              <a:prstGeom prst="rect">
                <a:avLst/>
              </a:prstGeom>
              <a:solidFill>
                <a:schemeClr val="bg2">
                  <a:lumMod val="90000"/>
                </a:schemeClr>
              </a:solidFill>
              <a:ln cap="flat">
                <a:noFill/>
                <a:prstDash val="solid"/>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pt-BR" sz="1600" b="0" i="0" u="none" strike="noStrike" kern="1200" cap="none" spc="0" normalizeH="0" baseline="0" noProof="0">
                  <a:ln>
                    <a:noFill/>
                  </a:ln>
                  <a:solidFill>
                    <a:prstClr val="white"/>
                  </a:solidFill>
                  <a:effectLst/>
                  <a:uLnTx/>
                  <a:uFillTx/>
                  <a:latin typeface="SamsungOne 400"/>
                  <a:ea typeface="SamsungOneKoreanOTF 400"/>
                  <a:cs typeface="+mn-cs"/>
                </a:endParaRPr>
              </a:p>
            </p:txBody>
          </p:sp>
          <p:sp>
            <p:nvSpPr>
              <p:cNvPr id="124" name="Retângulo 27">
                <a:extLst>
                  <a:ext uri="{FF2B5EF4-FFF2-40B4-BE49-F238E27FC236}">
                    <a16:creationId xmlns:a16="http://schemas.microsoft.com/office/drawing/2014/main" id="{A3AF8011-CC76-4B2B-9BA7-E90B3B15A71B}"/>
                  </a:ext>
                </a:extLst>
              </p:cNvPr>
              <p:cNvSpPr/>
              <p:nvPr/>
            </p:nvSpPr>
            <p:spPr>
              <a:xfrm>
                <a:off x="531367" y="5991460"/>
                <a:ext cx="1692975" cy="185818"/>
              </a:xfrm>
              <a:prstGeom prst="rect">
                <a:avLst/>
              </a:prstGeom>
              <a:solidFill>
                <a:srgbClr val="203764"/>
              </a:solidFill>
              <a:ln cap="flat">
                <a:noFill/>
                <a:prstDash val="solid"/>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000" b="0" i="0" u="none" strike="noStrike" kern="0" cap="none" spc="0" normalizeH="0" baseline="0" noProof="0">
                    <a:ln>
                      <a:noFill/>
                    </a:ln>
                    <a:solidFill>
                      <a:srgbClr val="FFFFFF"/>
                    </a:solidFill>
                    <a:effectLst/>
                    <a:uLnTx/>
                    <a:uFillTx/>
                    <a:latin typeface="SamsungOne 400"/>
                    <a:ea typeface="SamsungOneKoreanOTF 400"/>
                    <a:cs typeface="+mn-cs"/>
                  </a:rPr>
                  <a:t>WHATSAPP</a:t>
                </a:r>
                <a:endParaRPr kumimoji="0" lang="pt-BR" sz="1000" b="0" i="0" u="none" strike="noStrike" kern="1200" cap="none" spc="0" normalizeH="0" baseline="0" noProof="0">
                  <a:ln>
                    <a:noFill/>
                  </a:ln>
                  <a:solidFill>
                    <a:srgbClr val="FFFFFF"/>
                  </a:solidFill>
                  <a:effectLst/>
                  <a:uLnTx/>
                  <a:uFillTx/>
                  <a:latin typeface="SamsungOne 400"/>
                  <a:ea typeface="SamsungOneKoreanOTF 400"/>
                  <a:cs typeface="+mn-cs"/>
                </a:endParaRPr>
              </a:p>
            </p:txBody>
          </p:sp>
        </p:grpSp>
      </p:grpSp>
      <p:sp>
        <p:nvSpPr>
          <p:cNvPr id="168" name="CaixaDeTexto 7">
            <a:extLst>
              <a:ext uri="{FF2B5EF4-FFF2-40B4-BE49-F238E27FC236}">
                <a16:creationId xmlns:a16="http://schemas.microsoft.com/office/drawing/2014/main" id="{D1AF2CEF-3970-46AA-8DD8-1CFC19DF7147}"/>
              </a:ext>
            </a:extLst>
          </p:cNvPr>
          <p:cNvSpPr txBox="1"/>
          <p:nvPr/>
        </p:nvSpPr>
        <p:spPr>
          <a:xfrm>
            <a:off x="574825" y="6315694"/>
            <a:ext cx="936000" cy="338554"/>
          </a:xfrm>
          <a:prstGeom prst="rect">
            <a:avLst/>
          </a:prstGeom>
          <a:noFill/>
          <a:ln cap="flat">
            <a:noFill/>
          </a:ln>
        </p:spPr>
        <p:txBody>
          <a:bodyPr vert="horz" wrap="square" lIns="91440" tIns="45720" rIns="91440" bIns="45720"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600" b="0" i="0" u="none" strike="noStrike" kern="0" cap="none" spc="0" normalizeH="0" baseline="0" noProof="0">
                <a:ln>
                  <a:noFill/>
                </a:ln>
                <a:solidFill>
                  <a:srgbClr val="000000"/>
                </a:solidFill>
                <a:effectLst/>
                <a:uLnTx/>
                <a:uFillTx/>
                <a:latin typeface="SamsungOne 400"/>
                <a:ea typeface="SamsungOneKoreanOTF 400"/>
                <a:cs typeface="+mn-cs"/>
              </a:rPr>
              <a:t>R$ </a:t>
            </a:r>
            <a:r>
              <a:rPr lang="pt-BR" sz="1600" kern="0">
                <a:solidFill>
                  <a:srgbClr val="000000"/>
                </a:solidFill>
                <a:latin typeface="SamsungOne 400"/>
                <a:ea typeface="SamsungOneKoreanOTF 400"/>
              </a:rPr>
              <a:t>554</a:t>
            </a:r>
            <a:r>
              <a:rPr kumimoji="0" lang="pt-BR" sz="1600" b="0" i="0" u="none" strike="noStrike" kern="0" cap="none" spc="0" normalizeH="0" baseline="0" noProof="0">
                <a:ln>
                  <a:noFill/>
                </a:ln>
                <a:solidFill>
                  <a:srgbClr val="000000"/>
                </a:solidFill>
                <a:effectLst/>
                <a:uLnTx/>
                <a:uFillTx/>
                <a:latin typeface="SamsungOne 400"/>
                <a:ea typeface="SamsungOneKoreanOTF 400"/>
                <a:cs typeface="+mn-cs"/>
              </a:rPr>
              <a:t>k</a:t>
            </a:r>
            <a:endParaRPr kumimoji="0" lang="pt-BR" sz="1600" b="0" i="0" u="none" strike="noStrike" kern="1200" cap="none" spc="0" normalizeH="0" baseline="0" noProof="0">
              <a:ln>
                <a:noFill/>
              </a:ln>
              <a:solidFill>
                <a:srgbClr val="000000"/>
              </a:solidFill>
              <a:effectLst/>
              <a:uLnTx/>
              <a:uFillTx/>
              <a:latin typeface="SamsungOne 400"/>
              <a:ea typeface="SamsungOneKoreanOTF 400"/>
              <a:cs typeface="+mn-cs"/>
            </a:endParaRPr>
          </a:p>
        </p:txBody>
      </p:sp>
      <p:sp>
        <p:nvSpPr>
          <p:cNvPr id="88" name="CaixaDeTexto 8">
            <a:extLst>
              <a:ext uri="{FF2B5EF4-FFF2-40B4-BE49-F238E27FC236}">
                <a16:creationId xmlns:a16="http://schemas.microsoft.com/office/drawing/2014/main" id="{37DDD210-CF9A-4A62-A23B-A781B056E6C5}"/>
              </a:ext>
            </a:extLst>
          </p:cNvPr>
          <p:cNvSpPr txBox="1"/>
          <p:nvPr/>
        </p:nvSpPr>
        <p:spPr>
          <a:xfrm>
            <a:off x="1575652" y="4983457"/>
            <a:ext cx="576000" cy="338554"/>
          </a:xfrm>
          <a:prstGeom prst="rect">
            <a:avLst/>
          </a:prstGeom>
          <a:noFill/>
          <a:ln cap="flat">
            <a:noFill/>
          </a:ln>
        </p:spPr>
        <p:txBody>
          <a:bodyPr vert="horz" wrap="square" lIns="91440" tIns="45720" rIns="91440" bIns="45720" anchor="t" anchorCtr="0" compatLnSpc="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600" b="1" i="0" u="none" strike="noStrike" kern="0" cap="none" spc="0" normalizeH="0" baseline="0" noProof="0">
                <a:ln>
                  <a:noFill/>
                </a:ln>
                <a:solidFill>
                  <a:srgbClr val="1428A0"/>
                </a:solidFill>
                <a:effectLst/>
                <a:uLnTx/>
                <a:uFillTx/>
                <a:latin typeface="SamsungOne 400"/>
                <a:ea typeface="SamsungOneKoreanOTF 400"/>
                <a:cs typeface="+mn-cs"/>
              </a:rPr>
              <a:t>-</a:t>
            </a:r>
            <a:endParaRPr kumimoji="0" lang="pt-BR" sz="1600" b="1" i="0" u="none" strike="noStrike" kern="1200" cap="none" spc="0" normalizeH="0" baseline="0" noProof="0">
              <a:ln>
                <a:noFill/>
              </a:ln>
              <a:solidFill>
                <a:srgbClr val="1428A0"/>
              </a:solidFill>
              <a:effectLst/>
              <a:uLnTx/>
              <a:uFillTx/>
              <a:latin typeface="SamsungOne 400"/>
              <a:ea typeface="SamsungOneKoreanOTF 400"/>
              <a:cs typeface="+mn-cs"/>
            </a:endParaRPr>
          </a:p>
        </p:txBody>
      </p:sp>
      <p:sp>
        <p:nvSpPr>
          <p:cNvPr id="89" name="CaixaDeTexto 7">
            <a:extLst>
              <a:ext uri="{FF2B5EF4-FFF2-40B4-BE49-F238E27FC236}">
                <a16:creationId xmlns:a16="http://schemas.microsoft.com/office/drawing/2014/main" id="{638AA811-E609-43D9-A89A-F3E705E0E65D}"/>
              </a:ext>
            </a:extLst>
          </p:cNvPr>
          <p:cNvSpPr txBox="1"/>
          <p:nvPr/>
        </p:nvSpPr>
        <p:spPr>
          <a:xfrm>
            <a:off x="539425" y="4985674"/>
            <a:ext cx="1000596" cy="338554"/>
          </a:xfrm>
          <a:prstGeom prst="rect">
            <a:avLst/>
          </a:prstGeom>
          <a:noFill/>
          <a:ln cap="flat">
            <a:noFill/>
          </a:ln>
        </p:spPr>
        <p:txBody>
          <a:bodyPr vert="horz" wrap="square" lIns="91440" tIns="45720" rIns="91440" bIns="45720"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600" b="0" i="0" u="none" strike="noStrike" kern="0" cap="none" spc="0" normalizeH="0" baseline="0" noProof="0">
                <a:ln>
                  <a:noFill/>
                </a:ln>
                <a:solidFill>
                  <a:srgbClr val="000000"/>
                </a:solidFill>
                <a:effectLst/>
                <a:uLnTx/>
                <a:uFillTx/>
                <a:latin typeface="SamsungOne 400"/>
                <a:ea typeface="SamsungOneKoreanOTF 400"/>
                <a:cs typeface="+mn-cs"/>
              </a:rPr>
              <a:t>-</a:t>
            </a:r>
            <a:endParaRPr kumimoji="0" lang="pt-BR" sz="1600" b="0" i="0" u="none" strike="noStrike" kern="1200" cap="none" spc="0" normalizeH="0" baseline="0" noProof="0">
              <a:ln>
                <a:noFill/>
              </a:ln>
              <a:solidFill>
                <a:srgbClr val="000000"/>
              </a:solidFill>
              <a:effectLst/>
              <a:uLnTx/>
              <a:uFillTx/>
              <a:latin typeface="SamsungOne 400"/>
              <a:ea typeface="SamsungOneKoreanOTF 400"/>
              <a:cs typeface="+mn-cs"/>
            </a:endParaRPr>
          </a:p>
        </p:txBody>
      </p:sp>
      <p:sp>
        <p:nvSpPr>
          <p:cNvPr id="4" name="CaixaDeTexto 3">
            <a:extLst>
              <a:ext uri="{FF2B5EF4-FFF2-40B4-BE49-F238E27FC236}">
                <a16:creationId xmlns:a16="http://schemas.microsoft.com/office/drawing/2014/main" id="{515357F2-E150-47D6-B17E-DEABFE868E78}"/>
              </a:ext>
            </a:extLst>
          </p:cNvPr>
          <p:cNvSpPr txBox="1"/>
          <p:nvPr/>
        </p:nvSpPr>
        <p:spPr>
          <a:xfrm>
            <a:off x="4875629" y="2394829"/>
            <a:ext cx="2136464"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prstClr val="white">
                    <a:lumMod val="65000"/>
                  </a:prstClr>
                </a:solidFill>
                <a:effectLst/>
                <a:uLnTx/>
                <a:uFillTx/>
                <a:latin typeface="Aptos" panose="020B0004020202020204"/>
                <a:ea typeface="+mn-ea"/>
                <a:cs typeface="+mn-cs"/>
              </a:rPr>
              <a:t>Cascata de Canais</a:t>
            </a:r>
            <a:endParaRPr kumimoji="0" lang="en-US" sz="1600" b="0" i="0" u="none" strike="noStrike" kern="1200" cap="none" spc="0" normalizeH="0" baseline="0" noProof="0">
              <a:ln>
                <a:noFill/>
              </a:ln>
              <a:solidFill>
                <a:prstClr val="white">
                  <a:lumMod val="65000"/>
                </a:prstClr>
              </a:solidFill>
              <a:effectLst/>
              <a:uLnTx/>
              <a:uFillTx/>
              <a:latin typeface="Aptos" panose="020B0004020202020204"/>
              <a:ea typeface="+mn-ea"/>
              <a:cs typeface="+mn-cs"/>
            </a:endParaRPr>
          </a:p>
        </p:txBody>
      </p:sp>
      <p:sp>
        <p:nvSpPr>
          <p:cNvPr id="87" name="CaixaDeTexto 8">
            <a:extLst>
              <a:ext uri="{FF2B5EF4-FFF2-40B4-BE49-F238E27FC236}">
                <a16:creationId xmlns:a16="http://schemas.microsoft.com/office/drawing/2014/main" id="{A208500B-37E7-41C2-B021-B1F4379E2570}"/>
              </a:ext>
            </a:extLst>
          </p:cNvPr>
          <p:cNvSpPr txBox="1"/>
          <p:nvPr/>
        </p:nvSpPr>
        <p:spPr>
          <a:xfrm>
            <a:off x="1540020" y="6334918"/>
            <a:ext cx="622949" cy="338554"/>
          </a:xfrm>
          <a:prstGeom prst="rect">
            <a:avLst/>
          </a:prstGeom>
          <a:noFill/>
          <a:ln cap="flat">
            <a:noFill/>
          </a:ln>
        </p:spPr>
        <p:txBody>
          <a:bodyPr vert="horz" wrap="square" lIns="91440" tIns="45720" rIns="91440" bIns="45720" anchor="t" anchorCtr="0" compatLnSpc="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600" b="1" i="0" u="none" strike="noStrike" kern="0" cap="none" spc="0" normalizeH="0" baseline="0" noProof="0">
                <a:ln>
                  <a:noFill/>
                </a:ln>
                <a:solidFill>
                  <a:srgbClr val="1428A0"/>
                </a:solidFill>
                <a:effectLst/>
                <a:uLnTx/>
                <a:uFillTx/>
                <a:latin typeface="SamsungOne 400"/>
                <a:ea typeface="SamsungOneKoreanOTF 400"/>
                <a:cs typeface="+mn-cs"/>
              </a:rPr>
              <a:t>0.50</a:t>
            </a:r>
            <a:endParaRPr kumimoji="0" lang="pt-BR" sz="1600" b="1" i="0" u="none" strike="noStrike" kern="1200" cap="none" spc="0" normalizeH="0" baseline="0" noProof="0">
              <a:ln>
                <a:noFill/>
              </a:ln>
              <a:solidFill>
                <a:srgbClr val="1428A0"/>
              </a:solidFill>
              <a:effectLst/>
              <a:uLnTx/>
              <a:uFillTx/>
              <a:latin typeface="SamsungOne 400"/>
              <a:ea typeface="SamsungOneKoreanOTF 400"/>
              <a:cs typeface="+mn-cs"/>
            </a:endParaRPr>
          </a:p>
        </p:txBody>
      </p:sp>
      <p:sp>
        <p:nvSpPr>
          <p:cNvPr id="90" name="CaixaDeTexto 8">
            <a:extLst>
              <a:ext uri="{FF2B5EF4-FFF2-40B4-BE49-F238E27FC236}">
                <a16:creationId xmlns:a16="http://schemas.microsoft.com/office/drawing/2014/main" id="{30E823A4-77AF-49CB-9FD2-C3C707F78633}"/>
              </a:ext>
            </a:extLst>
          </p:cNvPr>
          <p:cNvSpPr txBox="1"/>
          <p:nvPr/>
        </p:nvSpPr>
        <p:spPr>
          <a:xfrm>
            <a:off x="1595503" y="5642258"/>
            <a:ext cx="576000" cy="338554"/>
          </a:xfrm>
          <a:prstGeom prst="rect">
            <a:avLst/>
          </a:prstGeom>
          <a:noFill/>
          <a:ln cap="flat">
            <a:noFill/>
          </a:ln>
        </p:spPr>
        <p:txBody>
          <a:bodyPr vert="horz" wrap="square" lIns="91440" tIns="45720" rIns="91440" bIns="45720" anchor="t" anchorCtr="0" compatLnSpc="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pt-BR" sz="1600" b="1" i="0" u="none" strike="noStrike" kern="0" cap="none" spc="0" normalizeH="0" baseline="0" noProof="0">
                <a:ln>
                  <a:noFill/>
                </a:ln>
                <a:solidFill>
                  <a:srgbClr val="1428A0"/>
                </a:solidFill>
                <a:effectLst/>
                <a:uLnTx/>
                <a:uFillTx/>
                <a:latin typeface="SamsungOne 400"/>
                <a:ea typeface="SamsungOneKoreanOTF 400"/>
                <a:cs typeface="+mn-cs"/>
              </a:rPr>
              <a:t>2.30</a:t>
            </a:r>
            <a:endParaRPr kumimoji="0" lang="pt-BR" sz="1600" b="1" i="0" u="none" strike="noStrike" kern="1200" cap="none" spc="0" normalizeH="0" baseline="0" noProof="0">
              <a:ln>
                <a:noFill/>
              </a:ln>
              <a:solidFill>
                <a:srgbClr val="1428A0"/>
              </a:solidFill>
              <a:effectLst/>
              <a:uLnTx/>
              <a:uFillTx/>
              <a:latin typeface="SamsungOne 400"/>
              <a:ea typeface="SamsungOneKoreanOTF 400"/>
              <a:cs typeface="+mn-cs"/>
            </a:endParaRPr>
          </a:p>
        </p:txBody>
      </p:sp>
    </p:spTree>
    <p:extLst>
      <p:ext uri="{BB962C8B-B14F-4D97-AF65-F5344CB8AC3E}">
        <p14:creationId xmlns:p14="http://schemas.microsoft.com/office/powerpoint/2010/main" val="2198060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A3564D23-4C88-4AE5-A21B-17CABB53AAAB}"/>
              </a:ext>
            </a:extLst>
          </p:cNvPr>
          <p:cNvSpPr txBox="1"/>
          <p:nvPr/>
        </p:nvSpPr>
        <p:spPr>
          <a:xfrm>
            <a:off x="251634" y="155387"/>
            <a:ext cx="2772224" cy="483772"/>
          </a:xfrm>
          <a:prstGeom prst="rect">
            <a:avLst/>
          </a:prstGeom>
          <a:noFill/>
          <a:ln cap="flat">
            <a:noFill/>
          </a:ln>
        </p:spPr>
        <p:txBody>
          <a:bodyPr vert="horz" wrap="square" lIns="75730" tIns="37865" rIns="75730" bIns="37865" anchor="ctr" anchorCtr="0" compatLnSpc="1">
            <a:noAutofit/>
          </a:bodyPr>
          <a:lstStyle/>
          <a:p>
            <a:pPr marL="0" marR="0" lvl="0" indent="0" algn="l" defTabSz="914400" rtl="0" eaLnBrk="1" fontAlgn="auto" latinLnBrk="0" hangingPunct="1">
              <a:lnSpc>
                <a:spcPct val="90000"/>
              </a:lnSpc>
              <a:spcBef>
                <a:spcPts val="0"/>
              </a:spcBef>
              <a:spcAft>
                <a:spcPts val="0"/>
              </a:spcAft>
              <a:buClrTx/>
              <a:buSzTx/>
              <a:buFontTx/>
              <a:buNone/>
              <a:tabLst/>
              <a:defRPr sz="1800" b="0" i="0" u="none" strike="noStrike" kern="0" cap="none" spc="0" baseline="0">
                <a:solidFill>
                  <a:srgbClr val="000000"/>
                </a:solidFill>
                <a:uFillTx/>
              </a:defRPr>
            </a:pPr>
            <a:r>
              <a:rPr kumimoji="0" lang="en-GB" sz="2000" b="1" i="0" u="none" strike="noStrike" kern="0" cap="none" spc="0" normalizeH="0" baseline="0" noProof="0">
                <a:ln>
                  <a:noFill/>
                </a:ln>
                <a:solidFill>
                  <a:srgbClr val="000000"/>
                </a:solidFill>
                <a:effectLst/>
                <a:uLnTx/>
                <a:uFillTx/>
                <a:latin typeface="Roboto"/>
                <a:ea typeface="Roboto"/>
                <a:cs typeface="Samsung Sharp Sans Bold" pitchFamily="2"/>
              </a:rPr>
              <a:t>TRIGGERS</a:t>
            </a:r>
            <a:r>
              <a:rPr kumimoji="0" lang="en-GB" sz="2000" b="1" i="0" u="none" strike="noStrike" kern="1200" cap="none" spc="0" normalizeH="0" baseline="0" noProof="0">
                <a:ln>
                  <a:noFill/>
                </a:ln>
                <a:solidFill>
                  <a:srgbClr val="000000"/>
                </a:solidFill>
                <a:effectLst/>
                <a:uLnTx/>
                <a:uFillTx/>
                <a:latin typeface="Roboto"/>
                <a:ea typeface="Roboto"/>
                <a:cs typeface="Samsung Sharp Sans Bold" pitchFamily="2"/>
              </a:rPr>
              <a:t> | </a:t>
            </a:r>
            <a:r>
              <a:rPr kumimoji="0" lang="en-GB" sz="2000" b="1" i="0" u="none" strike="noStrike" kern="0" cap="none" spc="0" normalizeH="0" baseline="0" noProof="0">
                <a:ln>
                  <a:noFill/>
                </a:ln>
                <a:solidFill>
                  <a:srgbClr val="1428A0"/>
                </a:solidFill>
                <a:effectLst/>
                <a:uLnTx/>
                <a:uFillTx/>
                <a:latin typeface="Roboto"/>
                <a:ea typeface="Roboto"/>
                <a:cs typeface="Samsung Sharp Sans Bold" pitchFamily="2"/>
              </a:rPr>
              <a:t>Overview</a:t>
            </a:r>
            <a:endParaRPr kumimoji="0" lang="en-GB" sz="2000" b="1" i="0" u="none" strike="noStrike" kern="1200" cap="none" spc="0" normalizeH="0" baseline="0" noProof="0">
              <a:ln>
                <a:noFill/>
              </a:ln>
              <a:solidFill>
                <a:srgbClr val="1428A0"/>
              </a:solidFill>
              <a:effectLst/>
              <a:uLnTx/>
              <a:uFillTx/>
              <a:latin typeface="Roboto"/>
              <a:ea typeface="Roboto"/>
              <a:cs typeface="Samsung Sharp Sans Bold" pitchFamily="2"/>
            </a:endParaRPr>
          </a:p>
        </p:txBody>
      </p:sp>
      <p:sp>
        <p:nvSpPr>
          <p:cNvPr id="42" name="Espaço Reservado para Conteúdo 2">
            <a:extLst>
              <a:ext uri="{FF2B5EF4-FFF2-40B4-BE49-F238E27FC236}">
                <a16:creationId xmlns:a16="http://schemas.microsoft.com/office/drawing/2014/main" id="{46C358D2-D6C1-437C-AA6A-991B5235AAAE}"/>
              </a:ext>
            </a:extLst>
          </p:cNvPr>
          <p:cNvSpPr txBox="1"/>
          <p:nvPr/>
        </p:nvSpPr>
        <p:spPr>
          <a:xfrm>
            <a:off x="251632" y="616395"/>
            <a:ext cx="9389518" cy="355582"/>
          </a:xfrm>
          <a:prstGeom prst="rect">
            <a:avLst/>
          </a:prstGeom>
          <a:noFill/>
          <a:ln cap="flat">
            <a:noFill/>
          </a:ln>
        </p:spPr>
        <p:txBody>
          <a:bodyPr vert="horz" wrap="square" lIns="91440" tIns="45720" rIns="91440" bIns="45720" anchor="t" anchorCtr="0" compatLnSpc="1">
            <a:noAutofit/>
          </a:bodyPr>
          <a:lstStyle/>
          <a:p>
            <a:pPr defTabSz="912114">
              <a:defRPr/>
            </a:pPr>
            <a:r>
              <a:rPr kumimoji="0" lang="en-US" sz="1100" b="0" i="0" u="none" strike="noStrike" kern="1200" cap="none" spc="0" normalizeH="0" baseline="0" noProof="0">
                <a:ln>
                  <a:noFill/>
                </a:ln>
                <a:solidFill>
                  <a:srgbClr val="000000"/>
                </a:solidFill>
                <a:effectLst/>
                <a:uLnTx/>
                <a:uFillTx/>
                <a:latin typeface="SamsungOne 400"/>
                <a:ea typeface="SamsungOne 400"/>
                <a:cs typeface="+mn-cs"/>
                <a:sym typeface="SamsungOne 400"/>
              </a:rPr>
              <a:t>Trigger diversification </a:t>
            </a:r>
            <a:r>
              <a:rPr lang="en-US" sz="1100">
                <a:solidFill>
                  <a:srgbClr val="000000"/>
                </a:solidFill>
                <a:latin typeface="SamsungOne 400"/>
                <a:ea typeface="SamsungOne 400"/>
                <a:sym typeface="SamsungOne 400"/>
              </a:rPr>
              <a:t>gained new actors like PPX Onboarding.</a:t>
            </a:r>
            <a:endParaRPr lang="en-US" sz="1100" i="0" u="none" strike="noStrike" kern="1200" cap="none" spc="0" normalizeH="0" baseline="0" noProof="0">
              <a:ln>
                <a:noFill/>
              </a:ln>
              <a:solidFill>
                <a:srgbClr val="000000"/>
              </a:solidFill>
              <a:effectLst/>
              <a:uLnTx/>
              <a:uFillTx/>
              <a:latin typeface="SamsungOne 400"/>
              <a:ea typeface="SamsungOne 400"/>
            </a:endParaRPr>
          </a:p>
        </p:txBody>
      </p:sp>
      <p:grpSp>
        <p:nvGrpSpPr>
          <p:cNvPr id="44" name="Agrupar 43">
            <a:extLst>
              <a:ext uri="{FF2B5EF4-FFF2-40B4-BE49-F238E27FC236}">
                <a16:creationId xmlns:a16="http://schemas.microsoft.com/office/drawing/2014/main" id="{A54BA103-FE0A-4B34-931F-CF1556D9D29E}"/>
              </a:ext>
            </a:extLst>
          </p:cNvPr>
          <p:cNvGrpSpPr/>
          <p:nvPr/>
        </p:nvGrpSpPr>
        <p:grpSpPr>
          <a:xfrm>
            <a:off x="251632" y="1168531"/>
            <a:ext cx="4249887" cy="2491703"/>
            <a:chOff x="251632" y="1406529"/>
            <a:chExt cx="4133126" cy="2491703"/>
          </a:xfrm>
        </p:grpSpPr>
        <p:sp>
          <p:nvSpPr>
            <p:cNvPr id="45" name="Retângulo 44">
              <a:extLst>
                <a:ext uri="{FF2B5EF4-FFF2-40B4-BE49-F238E27FC236}">
                  <a16:creationId xmlns:a16="http://schemas.microsoft.com/office/drawing/2014/main" id="{A6F72C85-AF4F-4169-8F8F-9D3BEB10DA28}"/>
                </a:ext>
              </a:extLst>
            </p:cNvPr>
            <p:cNvSpPr/>
            <p:nvPr/>
          </p:nvSpPr>
          <p:spPr>
            <a:xfrm>
              <a:off x="251632" y="1560418"/>
              <a:ext cx="4133126" cy="2337814"/>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 name="CaixaDeTexto 45">
              <a:extLst>
                <a:ext uri="{FF2B5EF4-FFF2-40B4-BE49-F238E27FC236}">
                  <a16:creationId xmlns:a16="http://schemas.microsoft.com/office/drawing/2014/main" id="{F22D6782-FA27-4DD9-A5EC-10F729937862}"/>
                </a:ext>
              </a:extLst>
            </p:cNvPr>
            <p:cNvSpPr txBox="1"/>
            <p:nvPr/>
          </p:nvSpPr>
          <p:spPr>
            <a:xfrm>
              <a:off x="402446" y="1406529"/>
              <a:ext cx="2295703" cy="307777"/>
            </a:xfrm>
            <a:prstGeom prst="rect">
              <a:avLst/>
            </a:prstGeom>
            <a:solidFill>
              <a:sysClr val="window" lastClr="FFFFF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2060"/>
                  </a:solidFill>
                  <a:effectLst/>
                  <a:uLnTx/>
                  <a:uFillTx/>
                  <a:latin typeface="Samsung Sharp Sans Bold" panose="02000503000000020004"/>
                  <a:ea typeface="+mn-ea"/>
                  <a:cs typeface="+mn-cs"/>
                </a:rPr>
                <a:t>Roadmap</a:t>
              </a:r>
            </a:p>
          </p:txBody>
        </p:sp>
      </p:grpSp>
      <p:grpSp>
        <p:nvGrpSpPr>
          <p:cNvPr id="47" name="Agrupar 46">
            <a:extLst>
              <a:ext uri="{FF2B5EF4-FFF2-40B4-BE49-F238E27FC236}">
                <a16:creationId xmlns:a16="http://schemas.microsoft.com/office/drawing/2014/main" id="{D035AA09-DBF8-4091-A542-A0F415C0E08B}"/>
              </a:ext>
            </a:extLst>
          </p:cNvPr>
          <p:cNvGrpSpPr/>
          <p:nvPr/>
        </p:nvGrpSpPr>
        <p:grpSpPr>
          <a:xfrm>
            <a:off x="4694122" y="1168531"/>
            <a:ext cx="4249887" cy="2491703"/>
            <a:chOff x="251632" y="1406529"/>
            <a:chExt cx="4133126" cy="2491703"/>
          </a:xfrm>
        </p:grpSpPr>
        <p:sp>
          <p:nvSpPr>
            <p:cNvPr id="48" name="Retângulo 47">
              <a:extLst>
                <a:ext uri="{FF2B5EF4-FFF2-40B4-BE49-F238E27FC236}">
                  <a16:creationId xmlns:a16="http://schemas.microsoft.com/office/drawing/2014/main" id="{CC1A8C38-7318-4E71-B99C-031C812C3775}"/>
                </a:ext>
              </a:extLst>
            </p:cNvPr>
            <p:cNvSpPr/>
            <p:nvPr/>
          </p:nvSpPr>
          <p:spPr>
            <a:xfrm>
              <a:off x="251632" y="1560418"/>
              <a:ext cx="4133126" cy="2337814"/>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 name="CaixaDeTexto 48">
              <a:extLst>
                <a:ext uri="{FF2B5EF4-FFF2-40B4-BE49-F238E27FC236}">
                  <a16:creationId xmlns:a16="http://schemas.microsoft.com/office/drawing/2014/main" id="{D78CE325-00C0-488B-AFAB-39CC832B22FA}"/>
                </a:ext>
              </a:extLst>
            </p:cNvPr>
            <p:cNvSpPr txBox="1"/>
            <p:nvPr/>
          </p:nvSpPr>
          <p:spPr>
            <a:xfrm>
              <a:off x="402446" y="1406529"/>
              <a:ext cx="2295703" cy="307777"/>
            </a:xfrm>
            <a:prstGeom prst="rect">
              <a:avLst/>
            </a:prstGeom>
            <a:solidFill>
              <a:sysClr val="window" lastClr="FFFFF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2060"/>
                  </a:solidFill>
                  <a:effectLst/>
                  <a:uLnTx/>
                  <a:uFillTx/>
                  <a:latin typeface="Samsung Sharp Sans Bold" panose="02000503000000020004"/>
                  <a:ea typeface="+mn-ea"/>
                  <a:cs typeface="+mn-cs"/>
                </a:rPr>
                <a:t>Triggers by Week</a:t>
              </a:r>
            </a:p>
          </p:txBody>
        </p:sp>
      </p:grpSp>
      <p:grpSp>
        <p:nvGrpSpPr>
          <p:cNvPr id="50" name="Agrupar 49">
            <a:extLst>
              <a:ext uri="{FF2B5EF4-FFF2-40B4-BE49-F238E27FC236}">
                <a16:creationId xmlns:a16="http://schemas.microsoft.com/office/drawing/2014/main" id="{14EC9BA0-04D7-409E-A86C-3A36D37C9F48}"/>
              </a:ext>
            </a:extLst>
          </p:cNvPr>
          <p:cNvGrpSpPr/>
          <p:nvPr/>
        </p:nvGrpSpPr>
        <p:grpSpPr>
          <a:xfrm>
            <a:off x="251632" y="3742096"/>
            <a:ext cx="4249887" cy="2491703"/>
            <a:chOff x="251632" y="1406529"/>
            <a:chExt cx="4133126" cy="2491703"/>
          </a:xfrm>
        </p:grpSpPr>
        <p:sp>
          <p:nvSpPr>
            <p:cNvPr id="51" name="Retângulo 50">
              <a:extLst>
                <a:ext uri="{FF2B5EF4-FFF2-40B4-BE49-F238E27FC236}">
                  <a16:creationId xmlns:a16="http://schemas.microsoft.com/office/drawing/2014/main" id="{3E83A352-A250-4046-B02D-D28895F87DD5}"/>
                </a:ext>
              </a:extLst>
            </p:cNvPr>
            <p:cNvSpPr/>
            <p:nvPr/>
          </p:nvSpPr>
          <p:spPr>
            <a:xfrm>
              <a:off x="251632" y="1560418"/>
              <a:ext cx="4133126" cy="2337814"/>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2" name="CaixaDeTexto 51">
              <a:extLst>
                <a:ext uri="{FF2B5EF4-FFF2-40B4-BE49-F238E27FC236}">
                  <a16:creationId xmlns:a16="http://schemas.microsoft.com/office/drawing/2014/main" id="{8FD2E4C9-66B4-4D9A-AF02-7A1878A7AF68}"/>
                </a:ext>
              </a:extLst>
            </p:cNvPr>
            <p:cNvSpPr txBox="1"/>
            <p:nvPr/>
          </p:nvSpPr>
          <p:spPr>
            <a:xfrm>
              <a:off x="402446" y="1406529"/>
              <a:ext cx="2649009" cy="307777"/>
            </a:xfrm>
            <a:prstGeom prst="rect">
              <a:avLst/>
            </a:prstGeom>
            <a:solidFill>
              <a:sysClr val="window" lastClr="FFFFF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2060"/>
                  </a:solidFill>
                  <a:effectLst/>
                  <a:uLnTx/>
                  <a:uFillTx/>
                  <a:latin typeface="Samsung Sharp Sans Bold" panose="02000503000000020004"/>
                  <a:ea typeface="+mn-ea"/>
                  <a:cs typeface="+mn-cs"/>
                </a:rPr>
                <a:t>Products performance</a:t>
              </a:r>
            </a:p>
          </p:txBody>
        </p:sp>
      </p:grpSp>
      <p:grpSp>
        <p:nvGrpSpPr>
          <p:cNvPr id="53" name="Agrupar 52">
            <a:extLst>
              <a:ext uri="{FF2B5EF4-FFF2-40B4-BE49-F238E27FC236}">
                <a16:creationId xmlns:a16="http://schemas.microsoft.com/office/drawing/2014/main" id="{0635A7F6-78AB-461F-A641-B7A64B0A1FB2}"/>
              </a:ext>
            </a:extLst>
          </p:cNvPr>
          <p:cNvGrpSpPr/>
          <p:nvPr/>
        </p:nvGrpSpPr>
        <p:grpSpPr>
          <a:xfrm>
            <a:off x="4694122" y="3742096"/>
            <a:ext cx="4249887" cy="2491703"/>
            <a:chOff x="251632" y="1406529"/>
            <a:chExt cx="4133126" cy="2491703"/>
          </a:xfrm>
        </p:grpSpPr>
        <p:sp>
          <p:nvSpPr>
            <p:cNvPr id="54" name="Retângulo 53">
              <a:extLst>
                <a:ext uri="{FF2B5EF4-FFF2-40B4-BE49-F238E27FC236}">
                  <a16:creationId xmlns:a16="http://schemas.microsoft.com/office/drawing/2014/main" id="{741060DE-D9AE-4CC0-8529-67B4A6FA8CCA}"/>
                </a:ext>
              </a:extLst>
            </p:cNvPr>
            <p:cNvSpPr/>
            <p:nvPr/>
          </p:nvSpPr>
          <p:spPr>
            <a:xfrm>
              <a:off x="251632" y="1560418"/>
              <a:ext cx="4133126" cy="2337814"/>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 name="CaixaDeTexto 54">
              <a:extLst>
                <a:ext uri="{FF2B5EF4-FFF2-40B4-BE49-F238E27FC236}">
                  <a16:creationId xmlns:a16="http://schemas.microsoft.com/office/drawing/2014/main" id="{27C579F9-0DB6-47E7-B3FA-7DA9B391C6DD}"/>
                </a:ext>
              </a:extLst>
            </p:cNvPr>
            <p:cNvSpPr txBox="1"/>
            <p:nvPr/>
          </p:nvSpPr>
          <p:spPr>
            <a:xfrm>
              <a:off x="402446" y="1406529"/>
              <a:ext cx="1429391" cy="307777"/>
            </a:xfrm>
            <a:prstGeom prst="rect">
              <a:avLst/>
            </a:prstGeom>
            <a:solidFill>
              <a:sysClr val="window" lastClr="FFFFF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2060"/>
                  </a:solidFill>
                  <a:effectLst/>
                  <a:uLnTx/>
                  <a:uFillTx/>
                  <a:latin typeface="Samsung Sharp Sans Bold" panose="02000503000000020004"/>
                  <a:ea typeface="+mn-ea"/>
                  <a:cs typeface="+mn-cs"/>
                </a:rPr>
                <a:t>New Triggers</a:t>
              </a:r>
            </a:p>
          </p:txBody>
        </p:sp>
      </p:grpSp>
      <p:sp>
        <p:nvSpPr>
          <p:cNvPr id="56" name="CaixaDeTexto 55">
            <a:extLst>
              <a:ext uri="{FF2B5EF4-FFF2-40B4-BE49-F238E27FC236}">
                <a16:creationId xmlns:a16="http://schemas.microsoft.com/office/drawing/2014/main" id="{DF107BEE-1536-4922-A5CD-BB1C3B811FB7}"/>
              </a:ext>
            </a:extLst>
          </p:cNvPr>
          <p:cNvSpPr txBox="1"/>
          <p:nvPr/>
        </p:nvSpPr>
        <p:spPr>
          <a:xfrm>
            <a:off x="4738748" y="1415031"/>
            <a:ext cx="4205261" cy="577081"/>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Abandoned Cart: </a:t>
            </a: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main revenue engine, peaking again in W32.</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Browser Abandonment and Transactional: strongest secondary </a:t>
            </a: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support, represent 18% share.</a:t>
            </a:r>
            <a:endParaRPr kumimoji="0" lang="pt-BR"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p:txBody>
      </p:sp>
      <p:sp>
        <p:nvSpPr>
          <p:cNvPr id="81" name="CaixaDeTexto 80">
            <a:extLst>
              <a:ext uri="{FF2B5EF4-FFF2-40B4-BE49-F238E27FC236}">
                <a16:creationId xmlns:a16="http://schemas.microsoft.com/office/drawing/2014/main" id="{00CAA365-2424-4066-9FF0-18FDB7C20A9E}"/>
              </a:ext>
            </a:extLst>
          </p:cNvPr>
          <p:cNvSpPr txBox="1"/>
          <p:nvPr/>
        </p:nvSpPr>
        <p:spPr>
          <a:xfrm>
            <a:off x="275926" y="4023239"/>
            <a:ext cx="4185890" cy="6001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Z FOLD 8 led </a:t>
            </a:r>
            <a:r>
              <a:rPr kumimoji="0" lang="en-US" sz="11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with R$</a:t>
            </a:r>
            <a:r>
              <a:rPr lang="en-US" sz="1100">
                <a:solidFill>
                  <a:prstClr val="black"/>
                </a:solidFill>
                <a:latin typeface="Roboto" panose="02000000000000000000" pitchFamily="2" charset="0"/>
                <a:ea typeface="Roboto" panose="02000000000000000000" pitchFamily="2" charset="0"/>
              </a:rPr>
              <a:t>783</a:t>
            </a:r>
            <a:r>
              <a:rPr kumimoji="0" lang="en-US" sz="11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K, followed by </a:t>
            </a:r>
            <a:r>
              <a:rPr kumimoji="0" lang="en-US" sz="11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S25</a:t>
            </a:r>
            <a:r>
              <a:rPr kumimoji="0" lang="en-US" sz="11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at R$</a:t>
            </a:r>
            <a:r>
              <a:rPr lang="en-US" sz="1100">
                <a:solidFill>
                  <a:prstClr val="black"/>
                </a:solidFill>
                <a:latin typeface="Roboto" panose="02000000000000000000" pitchFamily="2" charset="0"/>
                <a:ea typeface="Roboto" panose="02000000000000000000" pitchFamily="2" charset="0"/>
              </a:rPr>
              <a:t>443</a:t>
            </a:r>
            <a:r>
              <a:rPr kumimoji="0" lang="en-US" sz="11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K.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Watch Ultra2 </a:t>
            </a:r>
            <a:r>
              <a:rPr kumimoji="0" lang="en-US" sz="11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and</a:t>
            </a:r>
            <a:r>
              <a:rPr kumimoji="0" lang="en-US" sz="11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Tab S10 </a:t>
            </a:r>
            <a:r>
              <a:rPr kumimoji="0" lang="en-US" sz="11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Lite appearing as product diversification</a:t>
            </a:r>
            <a:r>
              <a:rPr kumimoji="0" lang="en-US" sz="11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a:t>
            </a:r>
            <a:endParaRPr kumimoji="0" lang="pt-BR" sz="11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p:txBody>
      </p:sp>
      <p:sp>
        <p:nvSpPr>
          <p:cNvPr id="82" name="CaixaDeTexto 81">
            <a:extLst>
              <a:ext uri="{FF2B5EF4-FFF2-40B4-BE49-F238E27FC236}">
                <a16:creationId xmlns:a16="http://schemas.microsoft.com/office/drawing/2014/main" id="{2BE6554D-2C30-48EA-9541-843DF00FD17A}"/>
              </a:ext>
            </a:extLst>
          </p:cNvPr>
          <p:cNvSpPr txBox="1"/>
          <p:nvPr/>
        </p:nvSpPr>
        <p:spPr>
          <a:xfrm>
            <a:off x="264835" y="1442237"/>
            <a:ext cx="4281293" cy="2062103"/>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100"/>
              </a:spcBef>
              <a:spcAft>
                <a:spcPts val="0"/>
              </a:spcAft>
              <a:buClrTx/>
              <a:buSzTx/>
              <a:buFont typeface="Arial" panose="020B0604020202020204" pitchFamily="34" charset="0"/>
              <a:buChar char="•"/>
              <a:tabLst/>
              <a:defRPr/>
            </a:pPr>
            <a:r>
              <a:rPr kumimoji="0" lang="en-US" sz="105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5 triggers activated </a:t>
            </a: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29 total active.</a:t>
            </a:r>
          </a:p>
          <a:p>
            <a:pPr marL="628650" marR="0" lvl="1" indent="-171450" algn="l" defTabSz="914400" rtl="0" eaLnBrk="1" fontAlgn="auto" latinLnBrk="0" hangingPunct="1">
              <a:lnSpc>
                <a:spcPct val="100000"/>
              </a:lnSpc>
              <a:spcBef>
                <a:spcPts val="10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3 SEDA activations: </a:t>
            </a:r>
            <a:r>
              <a:rPr lang="en-US" sz="1050">
                <a:solidFill>
                  <a:prstClr val="black"/>
                </a:solidFill>
                <a:latin typeface="Roboto" panose="02000000000000000000" pitchFamily="2" charset="0"/>
                <a:ea typeface="Roboto" panose="02000000000000000000" pitchFamily="2" charset="0"/>
              </a:rPr>
              <a:t>Onboarding SMTP, Cross sell, </a:t>
            </a:r>
            <a:r>
              <a:rPr lang="en-US" sz="1050" err="1">
                <a:solidFill>
                  <a:prstClr val="black"/>
                </a:solidFill>
                <a:latin typeface="Roboto" panose="02000000000000000000" pitchFamily="2" charset="0"/>
                <a:ea typeface="Roboto" panose="02000000000000000000" pitchFamily="2" charset="0"/>
              </a:rPr>
              <a:t>Campanha</a:t>
            </a:r>
            <a:r>
              <a:rPr lang="en-US" sz="1050">
                <a:solidFill>
                  <a:prstClr val="black"/>
                </a:solidFill>
                <a:latin typeface="Roboto" panose="02000000000000000000" pitchFamily="2" charset="0"/>
                <a:ea typeface="Roboto" panose="02000000000000000000" pitchFamily="2" charset="0"/>
              </a:rPr>
              <a:t> Serie A57/37</a:t>
            </a:r>
            <a:endPar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a:p>
            <a:pPr marL="628650" marR="0" lvl="1" indent="-171450" algn="l" defTabSz="914400" rtl="0" eaLnBrk="1" fontAlgn="auto" latinLnBrk="0" hangingPunct="1">
              <a:lnSpc>
                <a:spcPct val="100000"/>
              </a:lnSpc>
              <a:spcBef>
                <a:spcPts val="10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4 LAO activations: Cart and Browser Ab per Category, Purchase Anniversary, 45 Days without engagement</a:t>
            </a:r>
          </a:p>
          <a:p>
            <a:pPr marL="171450" marR="0" lvl="0" indent="-171450" algn="l" defTabSz="914400" rtl="0" eaLnBrk="1" fontAlgn="auto" latinLnBrk="0" hangingPunct="1">
              <a:lnSpc>
                <a:spcPct val="100000"/>
              </a:lnSpc>
              <a:spcBef>
                <a:spcPts val="100"/>
              </a:spcBef>
              <a:spcAft>
                <a:spcPts val="0"/>
              </a:spcAft>
              <a:buClrTx/>
              <a:buSzTx/>
              <a:buFont typeface="Arial" panose="020B0604020202020204" pitchFamily="34" charset="0"/>
              <a:buChar char="•"/>
              <a:tabLst/>
              <a:defRPr/>
            </a:pPr>
            <a:r>
              <a:rPr kumimoji="0" lang="en-US" sz="105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Strategy adjustments:​</a:t>
            </a:r>
          </a:p>
          <a:p>
            <a:pPr marL="628650" marR="0" lvl="1" indent="-171450" algn="l" defTabSz="914400" rtl="0" eaLnBrk="1" fontAlgn="auto" latinLnBrk="0" hangingPunct="1">
              <a:lnSpc>
                <a:spcPct val="100000"/>
              </a:lnSpc>
              <a:spcBef>
                <a:spcPts val="10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Wishlist</a:t>
            </a:r>
          </a:p>
          <a:p>
            <a:pPr marL="171450" marR="0" lvl="0" indent="-171450" algn="l" defTabSz="914400" rtl="0" eaLnBrk="1" fontAlgn="auto" latinLnBrk="0" hangingPunct="1">
              <a:lnSpc>
                <a:spcPct val="100000"/>
              </a:lnSpc>
              <a:spcBef>
                <a:spcPts val="100"/>
              </a:spcBef>
              <a:spcAft>
                <a:spcPts val="0"/>
              </a:spcAft>
              <a:buClrTx/>
              <a:buSzTx/>
              <a:buFont typeface="Arial" panose="020B0604020202020204" pitchFamily="34" charset="0"/>
              <a:buChar char="•"/>
              <a:tabLst/>
              <a:defRPr/>
            </a:pPr>
            <a:r>
              <a:rPr kumimoji="0" lang="pt-BR" sz="1100" b="1"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mn-cs"/>
              </a:rPr>
              <a:t>SEDA​ - New </a:t>
            </a:r>
            <a:r>
              <a:rPr kumimoji="0" lang="pt-BR" sz="1100" b="1" i="0" u="none" strike="noStrike" kern="1200" cap="none" spc="0" normalizeH="0" baseline="0" noProof="0" err="1">
                <a:ln>
                  <a:noFill/>
                </a:ln>
                <a:solidFill>
                  <a:srgbClr val="000000"/>
                </a:solidFill>
                <a:effectLst/>
                <a:uLnTx/>
                <a:uFillTx/>
                <a:latin typeface="Roboto" panose="02000000000000000000" pitchFamily="2" charset="0"/>
                <a:ea typeface="Roboto" panose="02000000000000000000" pitchFamily="2" charset="0"/>
                <a:cs typeface="+mn-cs"/>
              </a:rPr>
              <a:t>implementation</a:t>
            </a:r>
            <a:endParaRPr kumimoji="0" lang="pt-BR" sz="1100" b="1"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mn-cs"/>
            </a:endParaRPr>
          </a:p>
          <a:p>
            <a:pPr marL="180000" marR="0" lvl="1" indent="0" algn="l" defTabSz="914400" rtl="0" eaLnBrk="1" fontAlgn="base" latinLnBrk="0" hangingPunct="1">
              <a:lnSpc>
                <a:spcPct val="100000"/>
              </a:lnSpc>
              <a:spcBef>
                <a:spcPts val="100"/>
              </a:spcBef>
              <a:spcAft>
                <a:spcPts val="0"/>
              </a:spcAft>
              <a:buClrTx/>
              <a:buSzTx/>
              <a:buFont typeface="Arial" panose="020B0604020202020204" pitchFamily="34" charset="0"/>
              <a:buChar char="•"/>
              <a:tabLst/>
              <a:defRPr/>
            </a:pPr>
            <a:r>
              <a:rPr kumimoji="0" lang="pt-BR" sz="9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mn-cs"/>
              </a:rPr>
              <a:t>Stock </a:t>
            </a:r>
            <a:r>
              <a:rPr kumimoji="0" lang="pt-BR" sz="900" b="0" i="0" u="none" strike="noStrike" kern="1200" cap="none" spc="0" normalizeH="0" baseline="0" noProof="0" err="1">
                <a:ln>
                  <a:noFill/>
                </a:ln>
                <a:solidFill>
                  <a:srgbClr val="000000"/>
                </a:solidFill>
                <a:effectLst/>
                <a:uLnTx/>
                <a:uFillTx/>
                <a:latin typeface="Roboto" panose="02000000000000000000" pitchFamily="2" charset="0"/>
                <a:ea typeface="Roboto" panose="02000000000000000000" pitchFamily="2" charset="0"/>
                <a:cs typeface="+mn-cs"/>
              </a:rPr>
              <a:t>alert</a:t>
            </a:r>
            <a:endParaRPr kumimoji="0" lang="pt-BR" sz="9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mn-cs"/>
            </a:endParaRPr>
          </a:p>
          <a:p>
            <a:pPr marL="180000" marR="0" lvl="1" indent="0" algn="l" defTabSz="914400" rtl="0" eaLnBrk="1" fontAlgn="base" latinLnBrk="0" hangingPunct="1">
              <a:lnSpc>
                <a:spcPct val="100000"/>
              </a:lnSpc>
              <a:spcBef>
                <a:spcPts val="100"/>
              </a:spcBef>
              <a:spcAft>
                <a:spcPts val="0"/>
              </a:spcAft>
              <a:buClrTx/>
              <a:buSzTx/>
              <a:buFont typeface="Arial" panose="020B0604020202020204" pitchFamily="34" charset="0"/>
              <a:buChar char="•"/>
              <a:tabLst/>
              <a:defRPr/>
            </a:pPr>
            <a:r>
              <a:rPr lang="pt-BR" sz="900" err="1">
                <a:solidFill>
                  <a:srgbClr val="000000"/>
                </a:solidFill>
                <a:latin typeface="Roboto" panose="02000000000000000000" pitchFamily="2" charset="0"/>
                <a:ea typeface="Roboto" panose="02000000000000000000" pitchFamily="2" charset="0"/>
              </a:rPr>
              <a:t>Repurchase</a:t>
            </a:r>
            <a:endParaRPr lang="pt-BR" sz="900">
              <a:solidFill>
                <a:srgbClr val="000000"/>
              </a:solidFill>
              <a:latin typeface="Roboto" panose="02000000000000000000" pitchFamily="2" charset="0"/>
              <a:ea typeface="Roboto" panose="02000000000000000000" pitchFamily="2" charset="0"/>
            </a:endParaRPr>
          </a:p>
          <a:p>
            <a:pPr marL="180000" marR="0" lvl="1" indent="0" algn="l" defTabSz="914400" rtl="0" eaLnBrk="1" fontAlgn="base" latinLnBrk="0" hangingPunct="1">
              <a:lnSpc>
                <a:spcPct val="100000"/>
              </a:lnSpc>
              <a:spcBef>
                <a:spcPts val="100"/>
              </a:spcBef>
              <a:spcAft>
                <a:spcPts val="0"/>
              </a:spcAft>
              <a:buClrTx/>
              <a:buSzTx/>
              <a:buFont typeface="Arial" panose="020B0604020202020204" pitchFamily="34" charset="0"/>
              <a:buChar char="•"/>
              <a:tabLst/>
              <a:defRPr/>
            </a:pPr>
            <a:r>
              <a:rPr kumimoji="0" lang="pt-BR" sz="900" b="0" i="0" u="none" strike="noStrike" kern="1200" cap="none" spc="0" normalizeH="0" baseline="0" noProof="0" err="1">
                <a:ln>
                  <a:noFill/>
                </a:ln>
                <a:solidFill>
                  <a:srgbClr val="000000"/>
                </a:solidFill>
                <a:effectLst/>
                <a:uLnTx/>
                <a:uFillTx/>
                <a:latin typeface="Roboto" panose="02000000000000000000" pitchFamily="2" charset="0"/>
                <a:ea typeface="Roboto" panose="02000000000000000000" pitchFamily="2" charset="0"/>
                <a:cs typeface="+mn-cs"/>
              </a:rPr>
              <a:t>Onboarding</a:t>
            </a:r>
            <a:r>
              <a:rPr kumimoji="0" lang="pt-BR" sz="9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mn-cs"/>
              </a:rPr>
              <a:t> Monitor </a:t>
            </a:r>
            <a:r>
              <a:rPr kumimoji="0" lang="pt-BR" sz="900" b="0" i="0" u="none" strike="noStrike" kern="1200" cap="none" spc="0" normalizeH="0" baseline="0" noProof="0" err="1">
                <a:ln>
                  <a:noFill/>
                </a:ln>
                <a:solidFill>
                  <a:srgbClr val="000000"/>
                </a:solidFill>
                <a:effectLst/>
                <a:uLnTx/>
                <a:uFillTx/>
                <a:latin typeface="Roboto" panose="02000000000000000000" pitchFamily="2" charset="0"/>
                <a:ea typeface="Roboto" panose="02000000000000000000" pitchFamily="2" charset="0"/>
                <a:cs typeface="+mn-cs"/>
              </a:rPr>
              <a:t>and</a:t>
            </a:r>
            <a:r>
              <a:rPr kumimoji="0" lang="pt-BR" sz="9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mn-cs"/>
              </a:rPr>
              <a:t> </a:t>
            </a:r>
            <a:r>
              <a:rPr kumimoji="0" lang="pt-BR" sz="900" b="0" i="0" u="none" strike="noStrike" kern="1200" cap="none" spc="0" normalizeH="0" baseline="0" noProof="0" err="1">
                <a:ln>
                  <a:noFill/>
                </a:ln>
                <a:solidFill>
                  <a:srgbClr val="000000"/>
                </a:solidFill>
                <a:effectLst/>
                <a:uLnTx/>
                <a:uFillTx/>
                <a:latin typeface="Roboto" panose="02000000000000000000" pitchFamily="2" charset="0"/>
                <a:ea typeface="Roboto" panose="02000000000000000000" pitchFamily="2" charset="0"/>
                <a:cs typeface="+mn-cs"/>
              </a:rPr>
              <a:t>Ref</a:t>
            </a:r>
            <a:endParaRPr kumimoji="0" lang="pt-BR" sz="9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mn-cs"/>
            </a:endParaRPr>
          </a:p>
          <a:p>
            <a:pPr marL="180000" marR="0" lvl="1" indent="0" algn="l" defTabSz="914400" rtl="0" eaLnBrk="1" fontAlgn="base" latinLnBrk="0" hangingPunct="1">
              <a:lnSpc>
                <a:spcPct val="100000"/>
              </a:lnSpc>
              <a:spcBef>
                <a:spcPts val="100"/>
              </a:spcBef>
              <a:spcAft>
                <a:spcPts val="0"/>
              </a:spcAft>
              <a:buClrTx/>
              <a:buSzTx/>
              <a:buFont typeface="Arial" panose="020B0604020202020204" pitchFamily="34" charset="0"/>
              <a:buChar char="•"/>
              <a:tabLst/>
              <a:defRPr/>
            </a:pPr>
            <a:r>
              <a:rPr lang="pt-BR" sz="900">
                <a:solidFill>
                  <a:srgbClr val="000000"/>
                </a:solidFill>
                <a:latin typeface="Roboto" panose="02000000000000000000" pitchFamily="2" charset="0"/>
                <a:ea typeface="Roboto" panose="02000000000000000000" pitchFamily="2" charset="0"/>
              </a:rPr>
              <a:t>Recuperação de </a:t>
            </a:r>
            <a:r>
              <a:rPr lang="pt-BR" sz="900" err="1">
                <a:solidFill>
                  <a:srgbClr val="000000"/>
                </a:solidFill>
                <a:latin typeface="Roboto" panose="02000000000000000000" pitchFamily="2" charset="0"/>
                <a:ea typeface="Roboto" panose="02000000000000000000" pitchFamily="2" charset="0"/>
              </a:rPr>
              <a:t>Churn</a:t>
            </a:r>
            <a:endParaRPr kumimoji="0" lang="en-US" sz="9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mn-cs"/>
            </a:endParaRPr>
          </a:p>
        </p:txBody>
      </p:sp>
      <p:sp>
        <p:nvSpPr>
          <p:cNvPr id="60" name="Retângulo: Cantos Arredondados 59">
            <a:extLst>
              <a:ext uri="{FF2B5EF4-FFF2-40B4-BE49-F238E27FC236}">
                <a16:creationId xmlns:a16="http://schemas.microsoft.com/office/drawing/2014/main" id="{8F222E55-4D5B-4964-83FD-E90C101C6B3F}"/>
              </a:ext>
            </a:extLst>
          </p:cNvPr>
          <p:cNvSpPr/>
          <p:nvPr/>
        </p:nvSpPr>
        <p:spPr>
          <a:xfrm>
            <a:off x="9099084" y="1322419"/>
            <a:ext cx="2984587" cy="5291047"/>
          </a:xfrm>
          <a:prstGeom prst="roundRect">
            <a:avLst>
              <a:gd name="adj" fmla="val 4184"/>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rPr>
              <a:t>HIGHLIGHT</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Browser Abandonment + Transactional added R$</a:t>
            </a:r>
            <a:r>
              <a:rPr lang="en-US" sz="1050">
                <a:solidFill>
                  <a:prstClr val="black"/>
                </a:solidFill>
                <a:latin typeface="Roboto" panose="02000000000000000000" pitchFamily="2" charset="0"/>
                <a:ea typeface="Roboto" panose="02000000000000000000" pitchFamily="2" charset="0"/>
              </a:rPr>
              <a:t>685</a:t>
            </a: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K, expanding revenue beyond Cart.</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5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PPX Onboarding </a:t>
            </a:r>
            <a:r>
              <a:rPr kumimoji="0" lang="en-US" sz="105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gained relevancy on W32 and W35</a:t>
            </a:r>
            <a:r>
              <a:rPr kumimoji="0" lang="en-US" sz="105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a:t>
            </a:r>
            <a:endPar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pt-BR" sz="105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12 triggers </a:t>
            </a:r>
            <a:r>
              <a:rPr lang="pt-BR" sz="1050" err="1">
                <a:solidFill>
                  <a:prstClr val="black"/>
                </a:solidFill>
                <a:latin typeface="Roboto" panose="02000000000000000000" pitchFamily="2" charset="0"/>
                <a:ea typeface="Roboto" panose="02000000000000000000" pitchFamily="2" charset="0"/>
              </a:rPr>
              <a:t>were</a:t>
            </a:r>
            <a:r>
              <a:rPr kumimoji="0" lang="pt-BR"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a:t>
            </a:r>
            <a:r>
              <a:rPr kumimoji="0" lang="pt-BR" sz="1050" b="0" i="0" u="none" strike="noStrike" kern="1200" cap="none" spc="0" normalizeH="0" baseline="0" noProof="0" err="1">
                <a:ln>
                  <a:noFill/>
                </a:ln>
                <a:solidFill>
                  <a:prstClr val="black"/>
                </a:solidFill>
                <a:effectLst/>
                <a:uLnTx/>
                <a:uFillTx/>
                <a:latin typeface="Roboto" panose="02000000000000000000" pitchFamily="2" charset="0"/>
                <a:ea typeface="Roboto" panose="02000000000000000000" pitchFamily="2" charset="0"/>
                <a:cs typeface="+mn-cs"/>
              </a:rPr>
              <a:t>generated</a:t>
            </a:r>
            <a:r>
              <a:rPr kumimoji="0" lang="pt-BR"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a:t>
            </a:r>
            <a:r>
              <a:rPr kumimoji="0" lang="pt-BR" sz="1050" b="0" i="0" u="none" strike="noStrike" kern="1200" cap="none" spc="0" normalizeH="0" baseline="0" noProof="0" err="1">
                <a:ln>
                  <a:noFill/>
                </a:ln>
                <a:solidFill>
                  <a:prstClr val="black"/>
                </a:solidFill>
                <a:effectLst/>
                <a:uLnTx/>
                <a:uFillTx/>
                <a:latin typeface="Roboto" panose="02000000000000000000" pitchFamily="2" charset="0"/>
                <a:ea typeface="Roboto" panose="02000000000000000000" pitchFamily="2" charset="0"/>
                <a:cs typeface="+mn-cs"/>
              </a:rPr>
              <a:t>revenue</a:t>
            </a:r>
            <a:r>
              <a:rPr kumimoji="0" lang="pt-BR"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a:t>
            </a:r>
            <a:r>
              <a:rPr kumimoji="0" lang="pt-BR" sz="1050" b="0" i="0" u="none" strike="noStrike" kern="1200" cap="none" spc="0" normalizeH="0" baseline="0" noProof="0" err="1">
                <a:ln>
                  <a:noFill/>
                </a:ln>
                <a:solidFill>
                  <a:prstClr val="black"/>
                </a:solidFill>
                <a:effectLst/>
                <a:uLnTx/>
                <a:uFillTx/>
                <a:latin typeface="Roboto" panose="02000000000000000000" pitchFamily="2" charset="0"/>
                <a:ea typeface="Roboto" panose="02000000000000000000" pitchFamily="2" charset="0"/>
                <a:cs typeface="+mn-cs"/>
              </a:rPr>
              <a:t>last</a:t>
            </a:r>
            <a:r>
              <a:rPr kumimoji="0" lang="pt-BR"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a:t>
            </a:r>
            <a:r>
              <a:rPr kumimoji="0" lang="pt-BR" sz="1050" b="0" i="0" u="none" strike="noStrike" kern="1200" cap="none" spc="0" normalizeH="0" baseline="0" noProof="0" err="1">
                <a:ln>
                  <a:noFill/>
                </a:ln>
                <a:solidFill>
                  <a:prstClr val="black"/>
                </a:solidFill>
                <a:effectLst/>
                <a:uLnTx/>
                <a:uFillTx/>
                <a:latin typeface="Roboto" panose="02000000000000000000" pitchFamily="2" charset="0"/>
                <a:ea typeface="Roboto" panose="02000000000000000000" pitchFamily="2" charset="0"/>
                <a:cs typeface="+mn-cs"/>
              </a:rPr>
              <a:t>month</a:t>
            </a:r>
            <a:r>
              <a:rPr kumimoji="0" lang="pt-BR"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pt-BR" sz="1050" err="1">
                <a:solidFill>
                  <a:prstClr val="black"/>
                </a:solidFill>
                <a:latin typeface="Roboto" panose="02000000000000000000" pitchFamily="2" charset="0"/>
                <a:ea typeface="Roboto" panose="02000000000000000000" pitchFamily="2" charset="0"/>
              </a:rPr>
              <a:t>First</a:t>
            </a:r>
            <a:r>
              <a:rPr lang="pt-BR" sz="1050">
                <a:solidFill>
                  <a:prstClr val="black"/>
                </a:solidFill>
                <a:latin typeface="Roboto" panose="02000000000000000000" pitchFamily="2" charset="0"/>
                <a:ea typeface="Roboto" panose="02000000000000000000" pitchFamily="2" charset="0"/>
              </a:rPr>
              <a:t> </a:t>
            </a:r>
            <a:r>
              <a:rPr lang="pt-BR" sz="1050" err="1">
                <a:solidFill>
                  <a:prstClr val="black"/>
                </a:solidFill>
                <a:latin typeface="Roboto" panose="02000000000000000000" pitchFamily="2" charset="0"/>
                <a:ea typeface="Roboto" panose="02000000000000000000" pitchFamily="2" charset="0"/>
              </a:rPr>
              <a:t>Purchase</a:t>
            </a:r>
            <a:r>
              <a:rPr lang="pt-BR" sz="1050">
                <a:solidFill>
                  <a:prstClr val="black"/>
                </a:solidFill>
                <a:latin typeface="Roboto" panose="02000000000000000000" pitchFamily="2" charset="0"/>
                <a:ea typeface="Roboto" panose="02000000000000000000" pitchFamily="2" charset="0"/>
              </a:rPr>
              <a:t> </a:t>
            </a:r>
            <a:r>
              <a:rPr lang="pt-BR" sz="1050" err="1">
                <a:solidFill>
                  <a:prstClr val="black"/>
                </a:solidFill>
                <a:latin typeface="Roboto" panose="02000000000000000000" pitchFamily="2" charset="0"/>
                <a:ea typeface="Roboto" panose="02000000000000000000" pitchFamily="2" charset="0"/>
              </a:rPr>
              <a:t>is</a:t>
            </a:r>
            <a:r>
              <a:rPr lang="pt-BR" sz="1050">
                <a:solidFill>
                  <a:prstClr val="black"/>
                </a:solidFill>
                <a:latin typeface="Roboto" panose="02000000000000000000" pitchFamily="2" charset="0"/>
                <a:ea typeface="Roboto" panose="02000000000000000000" pitchFamily="2" charset="0"/>
              </a:rPr>
              <a:t> </a:t>
            </a:r>
            <a:r>
              <a:rPr lang="pt-BR" sz="1050" err="1">
                <a:solidFill>
                  <a:prstClr val="black"/>
                </a:solidFill>
                <a:latin typeface="Roboto" panose="02000000000000000000" pitchFamily="2" charset="0"/>
                <a:ea typeface="Roboto" panose="02000000000000000000" pitchFamily="2" charset="0"/>
              </a:rPr>
              <a:t>on</a:t>
            </a:r>
            <a:r>
              <a:rPr lang="pt-BR" sz="1050">
                <a:solidFill>
                  <a:prstClr val="black"/>
                </a:solidFill>
                <a:latin typeface="Roboto" panose="02000000000000000000" pitchFamily="2" charset="0"/>
                <a:ea typeface="Roboto" panose="02000000000000000000" pitchFamily="2" charset="0"/>
              </a:rPr>
              <a:t> TOP5 trigger.</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pt-BR"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T</a:t>
            </a:r>
            <a:r>
              <a:rPr lang="pt-BR" sz="1050">
                <a:solidFill>
                  <a:prstClr val="black"/>
                </a:solidFill>
                <a:latin typeface="Roboto" panose="02000000000000000000" pitchFamily="2" charset="0"/>
                <a:ea typeface="Roboto" panose="02000000000000000000" pitchFamily="2" charset="0"/>
              </a:rPr>
              <a:t>est A/B </a:t>
            </a:r>
            <a:r>
              <a:rPr lang="pt-BR" sz="1050" err="1">
                <a:solidFill>
                  <a:prstClr val="black"/>
                </a:solidFill>
                <a:latin typeface="Roboto" panose="02000000000000000000" pitchFamily="2" charset="0"/>
                <a:ea typeface="Roboto" panose="02000000000000000000" pitchFamily="2" charset="0"/>
              </a:rPr>
              <a:t>on</a:t>
            </a:r>
            <a:r>
              <a:rPr lang="pt-BR" sz="1050">
                <a:solidFill>
                  <a:prstClr val="black"/>
                </a:solidFill>
                <a:latin typeface="Roboto" panose="02000000000000000000" pitchFamily="2" charset="0"/>
                <a:ea typeface="Roboto" panose="02000000000000000000" pitchFamily="2" charset="0"/>
              </a:rPr>
              <a:t> </a:t>
            </a:r>
            <a:r>
              <a:rPr lang="pt-BR" sz="1050" err="1">
                <a:solidFill>
                  <a:prstClr val="black"/>
                </a:solidFill>
                <a:latin typeface="Roboto" panose="02000000000000000000" pitchFamily="2" charset="0"/>
                <a:ea typeface="Roboto" panose="02000000000000000000" pitchFamily="2" charset="0"/>
              </a:rPr>
              <a:t>Price</a:t>
            </a:r>
            <a:r>
              <a:rPr lang="pt-BR" sz="1050">
                <a:solidFill>
                  <a:prstClr val="black"/>
                </a:solidFill>
                <a:latin typeface="Roboto" panose="02000000000000000000" pitchFamily="2" charset="0"/>
                <a:ea typeface="Roboto" panose="02000000000000000000" pitchFamily="2" charset="0"/>
              </a:rPr>
              <a:t> </a:t>
            </a:r>
            <a:r>
              <a:rPr lang="pt-BR" sz="1050" err="1">
                <a:solidFill>
                  <a:prstClr val="black"/>
                </a:solidFill>
                <a:latin typeface="Roboto" panose="02000000000000000000" pitchFamily="2" charset="0"/>
                <a:ea typeface="Roboto" panose="02000000000000000000" pitchFamily="2" charset="0"/>
              </a:rPr>
              <a:t>Drop</a:t>
            </a:r>
            <a:r>
              <a:rPr lang="pt-BR" sz="1050">
                <a:solidFill>
                  <a:prstClr val="black"/>
                </a:solidFill>
                <a:latin typeface="Roboto" panose="02000000000000000000" pitchFamily="2" charset="0"/>
                <a:ea typeface="Roboto" panose="02000000000000000000" pitchFamily="2" charset="0"/>
              </a:rPr>
              <a:t>: </a:t>
            </a:r>
            <a:r>
              <a:rPr lang="pt-BR" sz="1050" err="1">
                <a:solidFill>
                  <a:prstClr val="black"/>
                </a:solidFill>
                <a:latin typeface="Roboto" panose="02000000000000000000" pitchFamily="2" charset="0"/>
                <a:ea typeface="Roboto" panose="02000000000000000000" pitchFamily="2" charset="0"/>
              </a:rPr>
              <a:t>subjects</a:t>
            </a:r>
            <a:r>
              <a:rPr lang="pt-BR" sz="1050">
                <a:solidFill>
                  <a:prstClr val="black"/>
                </a:solidFill>
                <a:latin typeface="Roboto" panose="02000000000000000000" pitchFamily="2" charset="0"/>
                <a:ea typeface="Roboto" panose="02000000000000000000" pitchFamily="2" charset="0"/>
              </a:rPr>
              <a:t> more </a:t>
            </a:r>
            <a:r>
              <a:rPr lang="pt-BR" sz="1050" err="1">
                <a:solidFill>
                  <a:prstClr val="black"/>
                </a:solidFill>
                <a:latin typeface="Roboto" panose="02000000000000000000" pitchFamily="2" charset="0"/>
                <a:ea typeface="Roboto" panose="02000000000000000000" pitchFamily="2" charset="0"/>
              </a:rPr>
              <a:t>attractive</a:t>
            </a:r>
            <a:r>
              <a:rPr lang="pt-BR" sz="1050">
                <a:solidFill>
                  <a:prstClr val="black"/>
                </a:solidFill>
                <a:latin typeface="Roboto" panose="02000000000000000000" pitchFamily="2" charset="0"/>
                <a:ea typeface="Roboto" panose="02000000000000000000" pitchFamily="2" charset="0"/>
              </a:rPr>
              <a:t> (</a:t>
            </a:r>
            <a:r>
              <a:rPr lang="pt-BR" sz="1050" err="1">
                <a:solidFill>
                  <a:prstClr val="black"/>
                </a:solidFill>
                <a:latin typeface="Roboto" panose="02000000000000000000" pitchFamily="2" charset="0"/>
                <a:ea typeface="Roboto" panose="02000000000000000000" pitchFamily="2" charset="0"/>
              </a:rPr>
              <a:t>emojis</a:t>
            </a:r>
            <a:r>
              <a:rPr lang="pt-BR" sz="1050">
                <a:solidFill>
                  <a:prstClr val="black"/>
                </a:solidFill>
                <a:latin typeface="Roboto" panose="02000000000000000000" pitchFamily="2" charset="0"/>
                <a:ea typeface="Roboto" panose="02000000000000000000" pitchFamily="2" charset="0"/>
              </a:rPr>
              <a:t> </a:t>
            </a:r>
            <a:r>
              <a:rPr lang="pt-BR" sz="1050" err="1">
                <a:solidFill>
                  <a:prstClr val="black"/>
                </a:solidFill>
                <a:latin typeface="Roboto" panose="02000000000000000000" pitchFamily="2" charset="0"/>
                <a:ea typeface="Roboto" panose="02000000000000000000" pitchFamily="2" charset="0"/>
              </a:rPr>
              <a:t>and</a:t>
            </a:r>
            <a:r>
              <a:rPr lang="pt-BR" sz="1050">
                <a:solidFill>
                  <a:prstClr val="black"/>
                </a:solidFill>
                <a:latin typeface="Roboto" panose="02000000000000000000" pitchFamily="2" charset="0"/>
                <a:ea typeface="Roboto" panose="02000000000000000000" pitchFamily="2" charset="0"/>
              </a:rPr>
              <a:t> Caps) </a:t>
            </a:r>
            <a:r>
              <a:rPr lang="pt-BR" sz="1050" err="1">
                <a:solidFill>
                  <a:prstClr val="black"/>
                </a:solidFill>
                <a:latin typeface="Roboto" panose="02000000000000000000" pitchFamily="2" charset="0"/>
                <a:ea typeface="Roboto" panose="02000000000000000000" pitchFamily="2" charset="0"/>
              </a:rPr>
              <a:t>had</a:t>
            </a:r>
            <a:r>
              <a:rPr lang="pt-BR" sz="1050">
                <a:solidFill>
                  <a:prstClr val="black"/>
                </a:solidFill>
                <a:latin typeface="Roboto" panose="02000000000000000000" pitchFamily="2" charset="0"/>
                <a:ea typeface="Roboto" panose="02000000000000000000" pitchFamily="2" charset="0"/>
              </a:rPr>
              <a:t> 35% more </a:t>
            </a:r>
            <a:r>
              <a:rPr lang="pt-BR" sz="1050" err="1">
                <a:solidFill>
                  <a:prstClr val="black"/>
                </a:solidFill>
                <a:latin typeface="Roboto" panose="02000000000000000000" pitchFamily="2" charset="0"/>
                <a:ea typeface="Roboto" panose="02000000000000000000" pitchFamily="2" charset="0"/>
              </a:rPr>
              <a:t>engagement</a:t>
            </a:r>
            <a:r>
              <a:rPr lang="pt-BR" sz="1050">
                <a:solidFill>
                  <a:prstClr val="black"/>
                </a:solidFill>
                <a:latin typeface="Roboto" panose="02000000000000000000" pitchFamily="2" charset="0"/>
                <a:ea typeface="Roboto" panose="02000000000000000000" pitchFamily="2" charset="0"/>
              </a:rPr>
              <a:t>.</a:t>
            </a:r>
            <a:br>
              <a:rPr kumimoji="0" lang="pt-BR"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br>
            <a:endParaRPr kumimoji="0" lang="pt-BR"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rPr>
              <a:t>LOWLIGHT</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Revenue diversification is </a:t>
            </a:r>
            <a:r>
              <a:rPr kumimoji="0" lang="en-US" sz="105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still limited</a:t>
            </a: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with Cart remaining the dominant journey.</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Inactive Users had instable performance last month.</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5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Wishlist </a:t>
            </a:r>
            <a:r>
              <a:rPr kumimoji="0" lang="en-US" sz="105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revenue </a:t>
            </a:r>
            <a:r>
              <a:rPr lang="en-US" sz="1050">
                <a:solidFill>
                  <a:prstClr val="black"/>
                </a:solidFill>
                <a:latin typeface="Roboto" panose="02000000000000000000" pitchFamily="2" charset="0"/>
                <a:ea typeface="Roboto" panose="02000000000000000000" pitchFamily="2" charset="0"/>
              </a:rPr>
              <a:t>is</a:t>
            </a:r>
            <a:r>
              <a:rPr kumimoji="0" lang="en-US" sz="105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too small, trigger needs revision.</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5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Only 4 automations deliveries revenue bigger than R$100k.</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p:txBody>
      </p:sp>
      <p:sp>
        <p:nvSpPr>
          <p:cNvPr id="63" name="CaixaDeTexto 62">
            <a:extLst>
              <a:ext uri="{FF2B5EF4-FFF2-40B4-BE49-F238E27FC236}">
                <a16:creationId xmlns:a16="http://schemas.microsoft.com/office/drawing/2014/main" id="{219851DF-13C0-4D4F-A6C0-CA59B72700AF}"/>
              </a:ext>
            </a:extLst>
          </p:cNvPr>
          <p:cNvSpPr txBox="1"/>
          <p:nvPr/>
        </p:nvSpPr>
        <p:spPr>
          <a:xfrm>
            <a:off x="2368871" y="2481836"/>
            <a:ext cx="2061556" cy="1023357"/>
          </a:xfrm>
          <a:prstGeom prst="rect">
            <a:avLst/>
          </a:prstGeom>
          <a:noFill/>
        </p:spPr>
        <p:txBody>
          <a:bodyPr wrap="square">
            <a:spAutoFit/>
          </a:bodyPr>
          <a:lstStyle/>
          <a:p>
            <a:pPr marL="171450" marR="0" lvl="0" indent="-1714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endParaRPr kumimoji="0" lang="pt-BR" sz="1100" b="1" i="0" u="none" strike="noStrike" kern="1200" cap="none" spc="0" normalizeH="0" baseline="0" noProof="0">
              <a:ln>
                <a:noFill/>
              </a:ln>
              <a:solidFill>
                <a:srgbClr val="000000"/>
              </a:solidFill>
              <a:effectLst/>
              <a:highlight>
                <a:srgbClr val="FFFF00"/>
              </a:highlight>
              <a:uLnTx/>
              <a:uFillTx/>
              <a:latin typeface="Roboto" panose="02000000000000000000" pitchFamily="2" charset="0"/>
              <a:ea typeface="Roboto" panose="02000000000000000000" pitchFamily="2" charset="0"/>
              <a:cs typeface="+mn-cs"/>
            </a:endParaRPr>
          </a:p>
          <a:p>
            <a:pPr marL="171450" marR="0" lvl="0" indent="-1714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pt-BR" sz="1100" b="1"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mn-cs"/>
              </a:rPr>
              <a:t>LAO​ - New </a:t>
            </a:r>
            <a:r>
              <a:rPr kumimoji="0" lang="pt-BR" sz="1100" b="1" i="0" u="none" strike="noStrike" kern="1200" cap="none" spc="0" normalizeH="0" baseline="0" noProof="0" err="1">
                <a:ln>
                  <a:noFill/>
                </a:ln>
                <a:solidFill>
                  <a:srgbClr val="000000"/>
                </a:solidFill>
                <a:effectLst/>
                <a:uLnTx/>
                <a:uFillTx/>
                <a:latin typeface="Roboto" panose="02000000000000000000" pitchFamily="2" charset="0"/>
                <a:ea typeface="Roboto" panose="02000000000000000000" pitchFamily="2" charset="0"/>
                <a:cs typeface="+mn-cs"/>
              </a:rPr>
              <a:t>implementation</a:t>
            </a:r>
            <a:endParaRPr kumimoji="0" lang="pt-BR" sz="1100" b="1"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mn-cs"/>
            </a:endParaRPr>
          </a:p>
          <a:p>
            <a:pPr marL="180000" marR="0" lvl="1" indent="-171450" algn="l" defTabSz="914400" rtl="0" eaLnBrk="1" fontAlgn="base" latinLnBrk="0" hangingPunct="1">
              <a:lnSpc>
                <a:spcPct val="100000"/>
              </a:lnSpc>
              <a:spcBef>
                <a:spcPts val="1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mn-cs"/>
              </a:rPr>
              <a:t>Browser and Cart Abandonment </a:t>
            </a:r>
            <a:r>
              <a:rPr lang="en-US" sz="900">
                <a:solidFill>
                  <a:srgbClr val="000000"/>
                </a:solidFill>
                <a:latin typeface="Roboto" panose="02000000000000000000" pitchFamily="2" charset="0"/>
                <a:ea typeface="Roboto" panose="02000000000000000000" pitchFamily="2" charset="0"/>
              </a:rPr>
              <a:t>EPP</a:t>
            </a:r>
            <a:r>
              <a:rPr kumimoji="0" lang="en-US" sz="9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mn-cs"/>
              </a:rPr>
              <a:t>​</a:t>
            </a:r>
            <a:endParaRPr lang="en-US" sz="900">
              <a:solidFill>
                <a:srgbClr val="000000"/>
              </a:solidFill>
              <a:latin typeface="Roboto" panose="02000000000000000000" pitchFamily="2" charset="0"/>
              <a:ea typeface="Roboto" panose="02000000000000000000" pitchFamily="2" charset="0"/>
            </a:endParaRPr>
          </a:p>
          <a:p>
            <a:pPr marL="180000" marR="0" lvl="1" indent="-171450" algn="l" defTabSz="914400" rtl="0" eaLnBrk="1" fontAlgn="base" latinLnBrk="0" hangingPunct="1">
              <a:lnSpc>
                <a:spcPct val="100000"/>
              </a:lnSpc>
              <a:spcBef>
                <a:spcPts val="100"/>
              </a:spcBef>
              <a:spcAft>
                <a:spcPts val="0"/>
              </a:spcAft>
              <a:buClrTx/>
              <a:buSzTx/>
              <a:buFont typeface="Arial" panose="020B0604020202020204" pitchFamily="34" charset="0"/>
              <a:buChar char="•"/>
              <a:tabLst/>
              <a:defRPr/>
            </a:pPr>
            <a:r>
              <a:rPr lang="en-US" sz="900">
                <a:solidFill>
                  <a:srgbClr val="000000"/>
                </a:solidFill>
                <a:latin typeface="Roboto" panose="02000000000000000000" pitchFamily="2" charset="0"/>
                <a:ea typeface="Roboto" panose="02000000000000000000" pitchFamily="2" charset="0"/>
              </a:rPr>
              <a:t>Repurchase/Upgrade</a:t>
            </a:r>
          </a:p>
          <a:p>
            <a:pPr marL="180000" marR="0" lvl="1" indent="-171450" algn="l" defTabSz="914400" rtl="0" eaLnBrk="1" fontAlgn="base" latinLnBrk="0" hangingPunct="1">
              <a:lnSpc>
                <a:spcPct val="100000"/>
              </a:lnSpc>
              <a:spcBef>
                <a:spcPts val="1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mn-cs"/>
              </a:rPr>
              <a:t>PPX onboarding</a:t>
            </a:r>
          </a:p>
        </p:txBody>
      </p:sp>
      <p:graphicFrame>
        <p:nvGraphicFramePr>
          <p:cNvPr id="74" name="Gráfico 73">
            <a:extLst>
              <a:ext uri="{FF2B5EF4-FFF2-40B4-BE49-F238E27FC236}">
                <a16:creationId xmlns:a16="http://schemas.microsoft.com/office/drawing/2014/main" id="{1BA1252C-F94F-4C9E-BFCA-069237C56E83}"/>
              </a:ext>
            </a:extLst>
          </p:cNvPr>
          <p:cNvGraphicFramePr/>
          <p:nvPr>
            <p:extLst>
              <p:ext uri="{D42A27DB-BD31-4B8C-83A1-F6EECF244321}">
                <p14:modId xmlns:p14="http://schemas.microsoft.com/office/powerpoint/2010/main" val="2783653387"/>
              </p:ext>
            </p:extLst>
          </p:nvPr>
        </p:nvGraphicFramePr>
        <p:xfrm>
          <a:off x="4714323" y="1965130"/>
          <a:ext cx="4205261" cy="1739440"/>
        </p:xfrm>
        <a:graphic>
          <a:graphicData uri="http://schemas.openxmlformats.org/drawingml/2006/chart">
            <c:chart xmlns:c="http://schemas.openxmlformats.org/drawingml/2006/chart" xmlns:r="http://schemas.openxmlformats.org/officeDocument/2006/relationships" r:id="rId2"/>
          </a:graphicData>
        </a:graphic>
      </p:graphicFrame>
      <p:grpSp>
        <p:nvGrpSpPr>
          <p:cNvPr id="14" name="Agrupar 13">
            <a:extLst>
              <a:ext uri="{FF2B5EF4-FFF2-40B4-BE49-F238E27FC236}">
                <a16:creationId xmlns:a16="http://schemas.microsoft.com/office/drawing/2014/main" id="{97DD0B37-EEF3-43DA-8F2C-AAE12AB72B9C}"/>
              </a:ext>
            </a:extLst>
          </p:cNvPr>
          <p:cNvGrpSpPr/>
          <p:nvPr/>
        </p:nvGrpSpPr>
        <p:grpSpPr>
          <a:xfrm>
            <a:off x="4656594" y="3271490"/>
            <a:ext cx="3951709" cy="169277"/>
            <a:chOff x="4617856" y="3227154"/>
            <a:chExt cx="3951709" cy="169277"/>
          </a:xfrm>
        </p:grpSpPr>
        <p:sp>
          <p:nvSpPr>
            <p:cNvPr id="75" name="CaixaDeTexto 74">
              <a:extLst>
                <a:ext uri="{FF2B5EF4-FFF2-40B4-BE49-F238E27FC236}">
                  <a16:creationId xmlns:a16="http://schemas.microsoft.com/office/drawing/2014/main" id="{99FD3897-4C6E-4A47-B5AF-C19A8794FAD7}"/>
                </a:ext>
              </a:extLst>
            </p:cNvPr>
            <p:cNvSpPr txBox="1"/>
            <p:nvPr/>
          </p:nvSpPr>
          <p:spPr>
            <a:xfrm>
              <a:off x="4969433" y="3227154"/>
              <a:ext cx="568581" cy="1692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0" i="0" u="none" strike="noStrike" kern="1200" cap="none" spc="0" normalizeH="0" baseline="0" noProof="0">
                  <a:ln>
                    <a:noFill/>
                  </a:ln>
                  <a:solidFill>
                    <a:srgbClr val="C00000"/>
                  </a:solidFill>
                  <a:effectLst/>
                  <a:uLnTx/>
                  <a:uFillTx/>
                  <a:latin typeface="Roboto" panose="02000000000000000000" pitchFamily="2" charset="0"/>
                  <a:ea typeface="Roboto" panose="02000000000000000000" pitchFamily="2" charset="0"/>
                  <a:cs typeface="+mn-cs"/>
                </a:rPr>
                <a:t>R$ </a:t>
              </a:r>
              <a:r>
                <a:rPr lang="en-US" sz="500">
                  <a:solidFill>
                    <a:srgbClr val="C00000"/>
                  </a:solidFill>
                  <a:latin typeface="Roboto" panose="02000000000000000000" pitchFamily="2" charset="0"/>
                  <a:ea typeface="Roboto" panose="02000000000000000000" pitchFamily="2" charset="0"/>
                </a:rPr>
                <a:t>150,5</a:t>
              </a:r>
              <a:r>
                <a:rPr kumimoji="0" lang="en-US" sz="500" b="0" i="0" u="none" strike="noStrike" kern="1200" cap="none" spc="0" normalizeH="0" baseline="0" noProof="0">
                  <a:ln>
                    <a:noFill/>
                  </a:ln>
                  <a:solidFill>
                    <a:srgbClr val="C00000"/>
                  </a:solidFill>
                  <a:effectLst/>
                  <a:uLnTx/>
                  <a:uFillTx/>
                  <a:latin typeface="Roboto" panose="02000000000000000000" pitchFamily="2" charset="0"/>
                  <a:ea typeface="Roboto" panose="02000000000000000000" pitchFamily="2" charset="0"/>
                  <a:cs typeface="+mn-cs"/>
                </a:rPr>
                <a:t>k</a:t>
              </a:r>
              <a:endParaRPr kumimoji="0" lang="pt-BR" sz="500" b="0" i="0" u="none" strike="noStrike" kern="1200" cap="none" spc="0" normalizeH="0" baseline="0" noProof="0">
                <a:ln>
                  <a:noFill/>
                </a:ln>
                <a:solidFill>
                  <a:srgbClr val="C00000"/>
                </a:solidFill>
                <a:effectLst/>
                <a:uLnTx/>
                <a:uFillTx/>
                <a:latin typeface="Roboto" panose="02000000000000000000" pitchFamily="2" charset="0"/>
                <a:ea typeface="Roboto" panose="02000000000000000000" pitchFamily="2" charset="0"/>
                <a:cs typeface="+mn-cs"/>
              </a:endParaRPr>
            </a:p>
          </p:txBody>
        </p:sp>
        <p:sp>
          <p:nvSpPr>
            <p:cNvPr id="76" name="CaixaDeTexto 75">
              <a:extLst>
                <a:ext uri="{FF2B5EF4-FFF2-40B4-BE49-F238E27FC236}">
                  <a16:creationId xmlns:a16="http://schemas.microsoft.com/office/drawing/2014/main" id="{20D9B6B4-3D27-4444-8764-E774460380FC}"/>
                </a:ext>
              </a:extLst>
            </p:cNvPr>
            <p:cNvSpPr txBox="1"/>
            <p:nvPr/>
          </p:nvSpPr>
          <p:spPr>
            <a:xfrm>
              <a:off x="6196713" y="3227154"/>
              <a:ext cx="568581" cy="1692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0" i="0" u="none" strike="noStrike" kern="1200" cap="none" spc="0" normalizeH="0" baseline="0" noProof="0">
                  <a:ln>
                    <a:noFill/>
                  </a:ln>
                  <a:solidFill>
                    <a:srgbClr val="C00000"/>
                  </a:solidFill>
                  <a:effectLst/>
                  <a:uLnTx/>
                  <a:uFillTx/>
                  <a:latin typeface="Roboto" panose="02000000000000000000" pitchFamily="2" charset="0"/>
                  <a:ea typeface="Roboto" panose="02000000000000000000" pitchFamily="2" charset="0"/>
                  <a:cs typeface="+mn-cs"/>
                </a:rPr>
                <a:t>R$ </a:t>
              </a:r>
              <a:r>
                <a:rPr lang="en-US" sz="500">
                  <a:solidFill>
                    <a:srgbClr val="C00000"/>
                  </a:solidFill>
                  <a:latin typeface="Roboto" panose="02000000000000000000" pitchFamily="2" charset="0"/>
                  <a:ea typeface="Roboto" panose="02000000000000000000" pitchFamily="2" charset="0"/>
                </a:rPr>
                <a:t>445,5</a:t>
              </a:r>
              <a:r>
                <a:rPr kumimoji="0" lang="en-US" sz="500" b="0" i="0" u="none" strike="noStrike" kern="1200" cap="none" spc="0" normalizeH="0" baseline="0" noProof="0">
                  <a:ln>
                    <a:noFill/>
                  </a:ln>
                  <a:solidFill>
                    <a:srgbClr val="C00000"/>
                  </a:solidFill>
                  <a:effectLst/>
                  <a:uLnTx/>
                  <a:uFillTx/>
                  <a:latin typeface="Roboto" panose="02000000000000000000" pitchFamily="2" charset="0"/>
                  <a:ea typeface="Roboto" panose="02000000000000000000" pitchFamily="2" charset="0"/>
                  <a:cs typeface="+mn-cs"/>
                </a:rPr>
                <a:t>k</a:t>
              </a:r>
              <a:endParaRPr kumimoji="0" lang="pt-BR" sz="500" b="0" i="0" u="none" strike="noStrike" kern="1200" cap="none" spc="0" normalizeH="0" baseline="0" noProof="0">
                <a:ln>
                  <a:noFill/>
                </a:ln>
                <a:solidFill>
                  <a:srgbClr val="C00000"/>
                </a:solidFill>
                <a:effectLst/>
                <a:uLnTx/>
                <a:uFillTx/>
                <a:latin typeface="Roboto" panose="02000000000000000000" pitchFamily="2" charset="0"/>
                <a:ea typeface="Roboto" panose="02000000000000000000" pitchFamily="2" charset="0"/>
                <a:cs typeface="+mn-cs"/>
              </a:endParaRPr>
            </a:p>
          </p:txBody>
        </p:sp>
        <p:sp>
          <p:nvSpPr>
            <p:cNvPr id="77" name="CaixaDeTexto 76">
              <a:extLst>
                <a:ext uri="{FF2B5EF4-FFF2-40B4-BE49-F238E27FC236}">
                  <a16:creationId xmlns:a16="http://schemas.microsoft.com/office/drawing/2014/main" id="{980991E0-665F-4852-9057-3452AFB7EA2F}"/>
                </a:ext>
              </a:extLst>
            </p:cNvPr>
            <p:cNvSpPr txBox="1"/>
            <p:nvPr/>
          </p:nvSpPr>
          <p:spPr>
            <a:xfrm>
              <a:off x="6802201" y="3227154"/>
              <a:ext cx="568581" cy="1692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0" i="0" u="none" strike="noStrike" kern="1200" cap="none" spc="0" normalizeH="0" baseline="0" noProof="0">
                  <a:ln>
                    <a:noFill/>
                  </a:ln>
                  <a:solidFill>
                    <a:srgbClr val="C00000"/>
                  </a:solidFill>
                  <a:effectLst/>
                  <a:uLnTx/>
                  <a:uFillTx/>
                  <a:latin typeface="Roboto" panose="02000000000000000000" pitchFamily="2" charset="0"/>
                  <a:ea typeface="Roboto" panose="02000000000000000000" pitchFamily="2" charset="0"/>
                  <a:cs typeface="+mn-cs"/>
                </a:rPr>
                <a:t>R$ </a:t>
              </a:r>
              <a:r>
                <a:rPr lang="en-US" sz="500">
                  <a:solidFill>
                    <a:srgbClr val="C00000"/>
                  </a:solidFill>
                  <a:latin typeface="Roboto" panose="02000000000000000000" pitchFamily="2" charset="0"/>
                  <a:ea typeface="Roboto" panose="02000000000000000000" pitchFamily="2" charset="0"/>
                </a:rPr>
                <a:t>556,8</a:t>
              </a:r>
              <a:r>
                <a:rPr kumimoji="0" lang="en-US" sz="500" b="0" i="0" u="none" strike="noStrike" kern="1200" cap="none" spc="0" normalizeH="0" baseline="0" noProof="0">
                  <a:ln>
                    <a:noFill/>
                  </a:ln>
                  <a:solidFill>
                    <a:srgbClr val="C00000"/>
                  </a:solidFill>
                  <a:effectLst/>
                  <a:uLnTx/>
                  <a:uFillTx/>
                  <a:latin typeface="Roboto" panose="02000000000000000000" pitchFamily="2" charset="0"/>
                  <a:ea typeface="Roboto" panose="02000000000000000000" pitchFamily="2" charset="0"/>
                  <a:cs typeface="+mn-cs"/>
                </a:rPr>
                <a:t>k</a:t>
              </a:r>
              <a:endParaRPr kumimoji="0" lang="pt-BR" sz="500" b="0" i="0" u="none" strike="noStrike" kern="1200" cap="none" spc="0" normalizeH="0" baseline="0" noProof="0">
                <a:ln>
                  <a:noFill/>
                </a:ln>
                <a:solidFill>
                  <a:srgbClr val="C00000"/>
                </a:solidFill>
                <a:effectLst/>
                <a:uLnTx/>
                <a:uFillTx/>
                <a:latin typeface="Roboto" panose="02000000000000000000" pitchFamily="2" charset="0"/>
                <a:ea typeface="Roboto" panose="02000000000000000000" pitchFamily="2" charset="0"/>
                <a:cs typeface="+mn-cs"/>
              </a:endParaRPr>
            </a:p>
          </p:txBody>
        </p:sp>
        <p:sp>
          <p:nvSpPr>
            <p:cNvPr id="78" name="CaixaDeTexto 77">
              <a:extLst>
                <a:ext uri="{FF2B5EF4-FFF2-40B4-BE49-F238E27FC236}">
                  <a16:creationId xmlns:a16="http://schemas.microsoft.com/office/drawing/2014/main" id="{384337FC-019F-4EE2-9882-9C5DD3BE958D}"/>
                </a:ext>
              </a:extLst>
            </p:cNvPr>
            <p:cNvSpPr txBox="1"/>
            <p:nvPr/>
          </p:nvSpPr>
          <p:spPr>
            <a:xfrm>
              <a:off x="7401593" y="3227154"/>
              <a:ext cx="568581" cy="1692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0" i="0" u="none" strike="noStrike" kern="1200" cap="none" spc="0" normalizeH="0" baseline="0" noProof="0">
                  <a:ln>
                    <a:noFill/>
                  </a:ln>
                  <a:solidFill>
                    <a:srgbClr val="C00000"/>
                  </a:solidFill>
                  <a:effectLst/>
                  <a:uLnTx/>
                  <a:uFillTx/>
                  <a:latin typeface="Roboto" panose="02000000000000000000" pitchFamily="2" charset="0"/>
                  <a:ea typeface="Roboto" panose="02000000000000000000" pitchFamily="2" charset="0"/>
                  <a:cs typeface="+mn-cs"/>
                </a:rPr>
                <a:t>R$ </a:t>
              </a:r>
              <a:r>
                <a:rPr lang="en-US" sz="500">
                  <a:solidFill>
                    <a:srgbClr val="C00000"/>
                  </a:solidFill>
                  <a:latin typeface="Roboto" panose="02000000000000000000" pitchFamily="2" charset="0"/>
                  <a:ea typeface="Roboto" panose="02000000000000000000" pitchFamily="2" charset="0"/>
                </a:rPr>
                <a:t>596,3</a:t>
              </a:r>
              <a:r>
                <a:rPr kumimoji="0" lang="en-US" sz="500" b="0" i="0" u="none" strike="noStrike" kern="1200" cap="none" spc="0" normalizeH="0" baseline="0" noProof="0">
                  <a:ln>
                    <a:noFill/>
                  </a:ln>
                  <a:solidFill>
                    <a:srgbClr val="C00000"/>
                  </a:solidFill>
                  <a:effectLst/>
                  <a:uLnTx/>
                  <a:uFillTx/>
                  <a:latin typeface="Roboto" panose="02000000000000000000" pitchFamily="2" charset="0"/>
                  <a:ea typeface="Roboto" panose="02000000000000000000" pitchFamily="2" charset="0"/>
                  <a:cs typeface="+mn-cs"/>
                </a:rPr>
                <a:t>k</a:t>
              </a:r>
              <a:endParaRPr kumimoji="0" lang="pt-BR" sz="500" b="0" i="0" u="none" strike="noStrike" kern="1200" cap="none" spc="0" normalizeH="0" baseline="0" noProof="0">
                <a:ln>
                  <a:noFill/>
                </a:ln>
                <a:solidFill>
                  <a:srgbClr val="C00000"/>
                </a:solidFill>
                <a:effectLst/>
                <a:uLnTx/>
                <a:uFillTx/>
                <a:latin typeface="Roboto" panose="02000000000000000000" pitchFamily="2" charset="0"/>
                <a:ea typeface="Roboto" panose="02000000000000000000" pitchFamily="2" charset="0"/>
                <a:cs typeface="+mn-cs"/>
              </a:endParaRPr>
            </a:p>
          </p:txBody>
        </p:sp>
        <p:sp>
          <p:nvSpPr>
            <p:cNvPr id="79" name="CaixaDeTexto 78">
              <a:extLst>
                <a:ext uri="{FF2B5EF4-FFF2-40B4-BE49-F238E27FC236}">
                  <a16:creationId xmlns:a16="http://schemas.microsoft.com/office/drawing/2014/main" id="{2E0E969C-B105-41C1-AFD1-CAF8102722BC}"/>
                </a:ext>
              </a:extLst>
            </p:cNvPr>
            <p:cNvSpPr txBox="1"/>
            <p:nvPr/>
          </p:nvSpPr>
          <p:spPr>
            <a:xfrm>
              <a:off x="8000984" y="3227154"/>
              <a:ext cx="568581" cy="1692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0" i="0" u="none" strike="noStrike" kern="1200" cap="none" spc="0" normalizeH="0" baseline="0" noProof="0">
                  <a:ln>
                    <a:noFill/>
                  </a:ln>
                  <a:solidFill>
                    <a:srgbClr val="C00000"/>
                  </a:solidFill>
                  <a:effectLst/>
                  <a:uLnTx/>
                  <a:uFillTx/>
                  <a:latin typeface="Roboto" panose="02000000000000000000" pitchFamily="2" charset="0"/>
                  <a:ea typeface="Roboto" panose="02000000000000000000" pitchFamily="2" charset="0"/>
                  <a:cs typeface="+mn-cs"/>
                </a:rPr>
                <a:t>R$ </a:t>
              </a:r>
              <a:r>
                <a:rPr lang="en-US" sz="500">
                  <a:solidFill>
                    <a:srgbClr val="C00000"/>
                  </a:solidFill>
                  <a:latin typeface="Roboto" panose="02000000000000000000" pitchFamily="2" charset="0"/>
                  <a:ea typeface="Roboto" panose="02000000000000000000" pitchFamily="2" charset="0"/>
                </a:rPr>
                <a:t>63.255</a:t>
              </a:r>
              <a:r>
                <a:rPr kumimoji="0" lang="en-US" sz="500" b="0" i="0" u="none" strike="noStrike" kern="1200" cap="none" spc="0" normalizeH="0" baseline="0" noProof="0">
                  <a:ln>
                    <a:noFill/>
                  </a:ln>
                  <a:solidFill>
                    <a:srgbClr val="C00000"/>
                  </a:solidFill>
                  <a:effectLst/>
                  <a:uLnTx/>
                  <a:uFillTx/>
                  <a:latin typeface="Roboto" panose="02000000000000000000" pitchFamily="2" charset="0"/>
                  <a:ea typeface="Roboto" panose="02000000000000000000" pitchFamily="2" charset="0"/>
                  <a:cs typeface="+mn-cs"/>
                </a:rPr>
                <a:t>k</a:t>
              </a:r>
              <a:endParaRPr kumimoji="0" lang="pt-BR" sz="500" b="0" i="0" u="none" strike="noStrike" kern="1200" cap="none" spc="0" normalizeH="0" baseline="0" noProof="0">
                <a:ln>
                  <a:noFill/>
                </a:ln>
                <a:solidFill>
                  <a:srgbClr val="C00000"/>
                </a:solidFill>
                <a:effectLst/>
                <a:uLnTx/>
                <a:uFillTx/>
                <a:latin typeface="Roboto" panose="02000000000000000000" pitchFamily="2" charset="0"/>
                <a:ea typeface="Roboto" panose="02000000000000000000" pitchFamily="2" charset="0"/>
                <a:cs typeface="+mn-cs"/>
              </a:endParaRPr>
            </a:p>
          </p:txBody>
        </p:sp>
        <p:sp>
          <p:nvSpPr>
            <p:cNvPr id="83" name="CaixaDeTexto 82">
              <a:extLst>
                <a:ext uri="{FF2B5EF4-FFF2-40B4-BE49-F238E27FC236}">
                  <a16:creationId xmlns:a16="http://schemas.microsoft.com/office/drawing/2014/main" id="{1E3DAD51-C817-4B8C-AF1B-AA70F794108A}"/>
                </a:ext>
              </a:extLst>
            </p:cNvPr>
            <p:cNvSpPr txBox="1"/>
            <p:nvPr/>
          </p:nvSpPr>
          <p:spPr>
            <a:xfrm>
              <a:off x="4617856" y="3227154"/>
              <a:ext cx="568581" cy="1692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0" i="0" u="none" strike="noStrike" kern="1200" cap="none" spc="0" normalizeH="0" baseline="0" noProof="0">
                  <a:ln>
                    <a:noFill/>
                  </a:ln>
                  <a:solidFill>
                    <a:srgbClr val="C00000"/>
                  </a:solidFill>
                  <a:effectLst/>
                  <a:uLnTx/>
                  <a:uFillTx/>
                  <a:latin typeface="Roboto" panose="02000000000000000000" pitchFamily="2" charset="0"/>
                  <a:ea typeface="Roboto" panose="02000000000000000000" pitchFamily="2" charset="0"/>
                  <a:cs typeface="+mn-cs"/>
                </a:rPr>
                <a:t>Cart. Ab.</a:t>
              </a:r>
              <a:endParaRPr kumimoji="0" lang="pt-BR" sz="500" b="0" i="0" u="none" strike="noStrike" kern="1200" cap="none" spc="0" normalizeH="0" baseline="0" noProof="0">
                <a:ln>
                  <a:noFill/>
                </a:ln>
                <a:solidFill>
                  <a:srgbClr val="C00000"/>
                </a:solidFill>
                <a:effectLst/>
                <a:uLnTx/>
                <a:uFillTx/>
                <a:latin typeface="Roboto" panose="02000000000000000000" pitchFamily="2" charset="0"/>
                <a:ea typeface="Roboto" panose="02000000000000000000" pitchFamily="2" charset="0"/>
                <a:cs typeface="+mn-cs"/>
              </a:endParaRPr>
            </a:p>
          </p:txBody>
        </p:sp>
      </p:grpSp>
      <p:sp>
        <p:nvSpPr>
          <p:cNvPr id="43" name="CaixaDeTexto 42">
            <a:extLst>
              <a:ext uri="{FF2B5EF4-FFF2-40B4-BE49-F238E27FC236}">
                <a16:creationId xmlns:a16="http://schemas.microsoft.com/office/drawing/2014/main" id="{6FBA1DBC-9938-4D49-9195-7132D503EEE6}"/>
              </a:ext>
            </a:extLst>
          </p:cNvPr>
          <p:cNvSpPr txBox="1"/>
          <p:nvPr/>
        </p:nvSpPr>
        <p:spPr>
          <a:xfrm>
            <a:off x="5613659" y="3277586"/>
            <a:ext cx="568581" cy="1692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0" i="0" u="none" strike="noStrike" kern="1200" cap="none" spc="0" normalizeH="0" baseline="0" noProof="0">
                <a:ln>
                  <a:noFill/>
                </a:ln>
                <a:solidFill>
                  <a:srgbClr val="C00000"/>
                </a:solidFill>
                <a:effectLst/>
                <a:uLnTx/>
                <a:uFillTx/>
                <a:latin typeface="Roboto" panose="02000000000000000000" pitchFamily="2" charset="0"/>
                <a:ea typeface="Roboto" panose="02000000000000000000" pitchFamily="2" charset="0"/>
                <a:cs typeface="+mn-cs"/>
              </a:rPr>
              <a:t>R$ 733,5k</a:t>
            </a:r>
            <a:endParaRPr kumimoji="0" lang="pt-BR" sz="500" b="0" i="0" u="none" strike="noStrike" kern="1200" cap="none" spc="0" normalizeH="0" baseline="0" noProof="0">
              <a:ln>
                <a:noFill/>
              </a:ln>
              <a:solidFill>
                <a:srgbClr val="C00000"/>
              </a:solidFill>
              <a:effectLst/>
              <a:uLnTx/>
              <a:uFillTx/>
              <a:latin typeface="Roboto" panose="02000000000000000000" pitchFamily="2" charset="0"/>
              <a:ea typeface="Roboto" panose="02000000000000000000" pitchFamily="2" charset="0"/>
              <a:cs typeface="+mn-cs"/>
            </a:endParaRPr>
          </a:p>
        </p:txBody>
      </p:sp>
      <p:pic>
        <p:nvPicPr>
          <p:cNvPr id="11" name="Imagem 10">
            <a:extLst>
              <a:ext uri="{FF2B5EF4-FFF2-40B4-BE49-F238E27FC236}">
                <a16:creationId xmlns:a16="http://schemas.microsoft.com/office/drawing/2014/main" id="{928FB0D3-858C-460F-91BD-05D4A7462578}"/>
              </a:ext>
            </a:extLst>
          </p:cNvPr>
          <p:cNvPicPr>
            <a:picLocks noChangeAspect="1"/>
          </p:cNvPicPr>
          <p:nvPr/>
        </p:nvPicPr>
        <p:blipFill>
          <a:blip r:embed="rId3"/>
          <a:stretch>
            <a:fillRect/>
          </a:stretch>
        </p:blipFill>
        <p:spPr>
          <a:xfrm>
            <a:off x="413371" y="4912713"/>
            <a:ext cx="3979347" cy="1139838"/>
          </a:xfrm>
          <a:prstGeom prst="rect">
            <a:avLst/>
          </a:prstGeom>
        </p:spPr>
      </p:pic>
      <p:pic>
        <p:nvPicPr>
          <p:cNvPr id="4" name="Imagem 3">
            <a:extLst>
              <a:ext uri="{FF2B5EF4-FFF2-40B4-BE49-F238E27FC236}">
                <a16:creationId xmlns:a16="http://schemas.microsoft.com/office/drawing/2014/main" id="{6BFA291C-4992-4AE3-97B2-E6FD52D2CDB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29886" y="4082241"/>
            <a:ext cx="524847" cy="2004257"/>
          </a:xfrm>
          <a:prstGeom prst="rect">
            <a:avLst/>
          </a:prstGeom>
        </p:spPr>
      </p:pic>
      <p:pic>
        <p:nvPicPr>
          <p:cNvPr id="8" name="Imagem 7">
            <a:extLst>
              <a:ext uri="{FF2B5EF4-FFF2-40B4-BE49-F238E27FC236}">
                <a16:creationId xmlns:a16="http://schemas.microsoft.com/office/drawing/2014/main" id="{C6C30BBC-027D-45A7-8EF7-0B1E4219C9C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111364" y="4055582"/>
            <a:ext cx="686472" cy="2024020"/>
          </a:xfrm>
          <a:prstGeom prst="rect">
            <a:avLst/>
          </a:prstGeom>
        </p:spPr>
      </p:pic>
      <p:pic>
        <p:nvPicPr>
          <p:cNvPr id="10" name="Imagem 9">
            <a:extLst>
              <a:ext uri="{FF2B5EF4-FFF2-40B4-BE49-F238E27FC236}">
                <a16:creationId xmlns:a16="http://schemas.microsoft.com/office/drawing/2014/main" id="{8D4F1CD4-3D32-452A-85B6-9AC663027DA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172834" y="4087983"/>
            <a:ext cx="1477254" cy="1168531"/>
          </a:xfrm>
          <a:prstGeom prst="rect">
            <a:avLst/>
          </a:prstGeom>
        </p:spPr>
      </p:pic>
    </p:spTree>
    <p:extLst>
      <p:ext uri="{BB962C8B-B14F-4D97-AF65-F5344CB8AC3E}">
        <p14:creationId xmlns:p14="http://schemas.microsoft.com/office/powerpoint/2010/main" val="6585490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heil-Logo(black).png" descr="Cheil-Logo(black).png">
            <a:extLst>
              <a:ext uri="{FF2B5EF4-FFF2-40B4-BE49-F238E27FC236}">
                <a16:creationId xmlns:a16="http://schemas.microsoft.com/office/drawing/2014/main" id="{DF344D88-4EA9-4E92-ADF7-61B55EE4B848}"/>
              </a:ext>
            </a:extLst>
          </p:cNvPr>
          <p:cNvPicPr>
            <a:picLocks noChangeAspect="1"/>
          </p:cNvPicPr>
          <p:nvPr/>
        </p:nvPicPr>
        <p:blipFill>
          <a:blip r:embed="rId2"/>
          <a:stretch>
            <a:fillRect/>
          </a:stretch>
        </p:blipFill>
        <p:spPr>
          <a:xfrm>
            <a:off x="254148" y="6329579"/>
            <a:ext cx="655342" cy="290146"/>
          </a:xfrm>
          <a:prstGeom prst="rect">
            <a:avLst/>
          </a:prstGeom>
          <a:ln w="12700">
            <a:miter lim="400000"/>
          </a:ln>
        </p:spPr>
      </p:pic>
      <p:sp>
        <p:nvSpPr>
          <p:cNvPr id="5" name="Galaxy A06…">
            <a:extLst>
              <a:ext uri="{FF2B5EF4-FFF2-40B4-BE49-F238E27FC236}">
                <a16:creationId xmlns:a16="http://schemas.microsoft.com/office/drawing/2014/main" id="{3C75C3A0-FAE2-4BE8-B90C-87B911D7AE60}"/>
              </a:ext>
            </a:extLst>
          </p:cNvPr>
          <p:cNvSpPr txBox="1"/>
          <p:nvPr/>
        </p:nvSpPr>
        <p:spPr>
          <a:xfrm>
            <a:off x="1061304" y="3079994"/>
            <a:ext cx="7392413" cy="69801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45719" tIns="45719" rIns="45719" bIns="45719" anchor="ctr">
            <a:spAutoFit/>
          </a:bodyPr>
          <a:lstStyle>
            <a:lvl1pPr defTabSz="1828800">
              <a:lnSpc>
                <a:spcPct val="80000"/>
              </a:lnSpc>
              <a:spcBef>
                <a:spcPts val="0"/>
              </a:spcBef>
              <a:defRPr sz="15000" spc="-450">
                <a:solidFill>
                  <a:srgbClr val="FFFFFF"/>
                </a:solidFill>
                <a:latin typeface="SamsungSharpSans-Medium"/>
                <a:ea typeface="SamsungSharpSans-Medium"/>
                <a:cs typeface="SamsungSharpSans-Medium"/>
                <a:sym typeface="SamsungSharpSans-Medium"/>
              </a:defRPr>
            </a:lvl1pPr>
          </a:lstStyle>
          <a:p>
            <a:pPr marL="0" marR="0" lvl="0" indent="0" defTabSz="1828800" eaLnBrk="1" fontAlgn="auto" latinLnBrk="0" hangingPunct="0">
              <a:lnSpc>
                <a:spcPct val="80000"/>
              </a:lnSpc>
              <a:spcBef>
                <a:spcPts val="0"/>
              </a:spcBef>
              <a:spcAft>
                <a:spcPts val="0"/>
              </a:spcAft>
              <a:buClrTx/>
              <a:buSzTx/>
              <a:buFontTx/>
              <a:buNone/>
              <a:tabLst/>
              <a:defRPr/>
            </a:pPr>
            <a:r>
              <a:rPr lang="pt-BR" sz="4800" kern="0" spc="0" err="1"/>
              <a:t>Growth</a:t>
            </a:r>
            <a:endParaRPr kumimoji="0" lang="pt-BR" sz="4800" b="0" i="0" u="none" strike="noStrike" kern="0" cap="none" spc="0" normalizeH="0" baseline="0" noProof="0">
              <a:ln>
                <a:noFill/>
              </a:ln>
              <a:solidFill>
                <a:srgbClr val="FFFFFF"/>
              </a:solidFill>
              <a:effectLst/>
              <a:uLnTx/>
              <a:uFillTx/>
              <a:latin typeface="SamsungSharpSans-Medium"/>
              <a:ea typeface="SamsungSharpSans-Medium"/>
              <a:cs typeface="SamsungSharpSans-Medium"/>
              <a:sym typeface="SamsungSharpSans-Medium"/>
            </a:endParaRPr>
          </a:p>
        </p:txBody>
      </p:sp>
    </p:spTree>
    <p:extLst>
      <p:ext uri="{BB962C8B-B14F-4D97-AF65-F5344CB8AC3E}">
        <p14:creationId xmlns:p14="http://schemas.microsoft.com/office/powerpoint/2010/main" val="2469008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12ED2D72-F3AE-4E24-821D-73D39031F2A7}"/>
              </a:ext>
            </a:extLst>
          </p:cNvPr>
          <p:cNvPicPr>
            <a:picLocks noChangeAspect="1"/>
          </p:cNvPicPr>
          <p:nvPr/>
        </p:nvPicPr>
        <p:blipFill>
          <a:blip r:embed="rId3"/>
          <a:stretch>
            <a:fillRect/>
          </a:stretch>
        </p:blipFill>
        <p:spPr>
          <a:xfrm>
            <a:off x="2703938" y="3038347"/>
            <a:ext cx="6106377" cy="3505689"/>
          </a:xfrm>
          <a:prstGeom prst="rect">
            <a:avLst/>
          </a:prstGeom>
        </p:spPr>
      </p:pic>
      <p:sp>
        <p:nvSpPr>
          <p:cNvPr id="215" name="Título 1">
            <a:extLst>
              <a:ext uri="{FF2B5EF4-FFF2-40B4-BE49-F238E27FC236}">
                <a16:creationId xmlns:a16="http://schemas.microsoft.com/office/drawing/2014/main" id="{95B8F0D0-3589-44C6-85F7-E3915F4660E0}"/>
              </a:ext>
            </a:extLst>
          </p:cNvPr>
          <p:cNvSpPr txBox="1"/>
          <p:nvPr/>
        </p:nvSpPr>
        <p:spPr>
          <a:xfrm>
            <a:off x="207355" y="86336"/>
            <a:ext cx="8453563" cy="483772"/>
          </a:xfrm>
          <a:prstGeom prst="rect">
            <a:avLst/>
          </a:prstGeom>
          <a:noFill/>
          <a:ln cap="flat">
            <a:noFill/>
          </a:ln>
        </p:spPr>
        <p:txBody>
          <a:bodyPr vert="horz" wrap="square" lIns="75730" tIns="37865" rIns="75730" bIns="37865" anchor="ctr" anchorCtr="0" compatLnSpc="1">
            <a:noAutofit/>
          </a:bodyPr>
          <a:lstStyle/>
          <a:p>
            <a:pPr>
              <a:lnSpc>
                <a:spcPct val="90000"/>
              </a:lnSpc>
              <a:defRPr sz="1800" b="0" i="0" u="none" strike="noStrike" kern="0" cap="none" spc="0" baseline="0">
                <a:solidFill>
                  <a:srgbClr val="000000"/>
                </a:solidFill>
                <a:uFillTx/>
              </a:defRPr>
            </a:pPr>
            <a:r>
              <a:rPr lang="en-GB" sz="2000" b="1" kern="0">
                <a:solidFill>
                  <a:srgbClr val="000000"/>
                </a:solidFill>
                <a:latin typeface="Roboto"/>
                <a:ea typeface="Roboto"/>
                <a:cs typeface="Samsung Sharp Sans Bold" pitchFamily="2"/>
              </a:rPr>
              <a:t>BIG NUMBERS</a:t>
            </a:r>
            <a:r>
              <a:rPr lang="en-GB" sz="2000" b="1" i="0" u="none" strike="noStrike" kern="1200" cap="none" spc="0" baseline="0">
                <a:solidFill>
                  <a:srgbClr val="000000"/>
                </a:solidFill>
                <a:uFillTx/>
                <a:latin typeface="Roboto"/>
                <a:ea typeface="Roboto"/>
                <a:cs typeface="Samsung Sharp Sans Bold" pitchFamily="2"/>
              </a:rPr>
              <a:t> | </a:t>
            </a:r>
            <a:r>
              <a:rPr lang="en-GB" sz="2000" b="1" i="0" u="none" strike="noStrike" kern="1200" cap="none" spc="0" baseline="0">
                <a:solidFill>
                  <a:srgbClr val="1428A0"/>
                </a:solidFill>
                <a:uFillTx/>
                <a:latin typeface="Roboto"/>
                <a:ea typeface="Roboto"/>
                <a:cs typeface="Samsung Sharp Sans Bold" pitchFamily="2"/>
              </a:rPr>
              <a:t>GROWTH</a:t>
            </a:r>
            <a:r>
              <a:rPr lang="en-GB" sz="2000" b="1">
                <a:solidFill>
                  <a:srgbClr val="1428A0"/>
                </a:solidFill>
                <a:latin typeface="Roboto"/>
                <a:ea typeface="Roboto"/>
                <a:cs typeface="Samsung Sharp Sans Bold" pitchFamily="2"/>
              </a:rPr>
              <a:t> - KPIs Aug’26</a:t>
            </a:r>
            <a:endParaRPr lang="en-GB" sz="2000" b="1" i="0" u="none" strike="noStrike" kern="1200" cap="none" spc="0" baseline="0">
              <a:solidFill>
                <a:srgbClr val="1428A0"/>
              </a:solidFill>
              <a:uFillTx/>
              <a:latin typeface="Roboto"/>
              <a:ea typeface="Roboto"/>
              <a:cs typeface="Samsung Sharp Sans Bold" pitchFamily="2"/>
            </a:endParaRPr>
          </a:p>
        </p:txBody>
      </p:sp>
      <p:sp>
        <p:nvSpPr>
          <p:cNvPr id="76" name="Google Shape;333;p27">
            <a:extLst>
              <a:ext uri="{FF2B5EF4-FFF2-40B4-BE49-F238E27FC236}">
                <a16:creationId xmlns:a16="http://schemas.microsoft.com/office/drawing/2014/main" id="{532CA792-6582-4384-81E7-252D6456C1BB}"/>
              </a:ext>
            </a:extLst>
          </p:cNvPr>
          <p:cNvSpPr/>
          <p:nvPr/>
        </p:nvSpPr>
        <p:spPr>
          <a:xfrm>
            <a:off x="207355" y="544519"/>
            <a:ext cx="11363543" cy="444743"/>
          </a:xfrm>
          <a:prstGeom prst="roundRect">
            <a:avLst>
              <a:gd name="adj" fmla="val 0"/>
            </a:avLst>
          </a:prstGeom>
          <a:noFill/>
          <a:ln w="9525" cap="flat" cmpd="sng">
            <a:noFill/>
            <a:prstDash val="solid"/>
            <a:round/>
            <a:headEnd type="none" w="sm" len="sm"/>
            <a:tailEnd type="none" w="sm" len="sm"/>
          </a:ln>
        </p:spPr>
        <p:txBody>
          <a:bodyPr spcFirstLastPara="1" wrap="square" lIns="72000" tIns="36000" rIns="72000" bIns="36000" anchor="t" anchorCtr="0">
            <a:noAutofit/>
          </a:bodyPr>
          <a:lstStyle>
            <a:defPPr marL="0" marR="0" indent="0" algn="l" defTabSz="914400" rtl="0" fontAlgn="auto" latinLnBrk="1" hangingPunct="0">
              <a:lnSpc>
                <a:spcPct val="100000"/>
              </a:lnSpc>
              <a:spcBef>
                <a:spcPts val="0"/>
              </a:spcBef>
              <a:spcAft>
                <a:spcPts val="0"/>
              </a:spcAft>
              <a:buClrTx/>
              <a:buSzTx/>
              <a:buFontTx/>
              <a:buNone/>
              <a:tabLst/>
              <a:defRPr kumimoji="0" lang="de-DE" sz="1800" b="0" i="0" u="none" strike="noStrike" cap="none" spc="0" normalizeH="0" baseline="0">
                <a:ln>
                  <a:noFill/>
                </a:ln>
                <a:solidFill>
                  <a:srgbClr val="000000"/>
                </a:solidFill>
                <a:effectLst/>
                <a:uFillTx/>
              </a:defRPr>
            </a:defPPr>
            <a:lvl1pPr marL="0" marR="0" indent="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1pPr>
            <a:lvl2pPr marL="0" marR="0" indent="4572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2pPr>
            <a:lvl3pPr marL="0" marR="0" indent="9144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3pPr>
            <a:lvl4pPr marL="0" marR="0" indent="13716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4pPr>
            <a:lvl5pPr marL="0" marR="0" indent="18288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5pPr>
            <a:lvl6pPr marL="0" marR="0" indent="22860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6pPr>
            <a:lvl7pPr marL="0" marR="0" indent="27432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7pPr>
            <a:lvl8pPr marL="0" marR="0" indent="32004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8pPr>
            <a:lvl9pPr marL="0" marR="0" indent="36576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9p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a:sym typeface="SamsungOne 400"/>
              </a:rPr>
              <a:t>Growth reached R$2.9M | 2.85 G/R | 1.85 A/R, </a:t>
            </a:r>
            <a:r>
              <a:rPr kumimoji="0" lang="en-US" sz="110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a:sym typeface="SamsungOne 400"/>
              </a:rPr>
              <a:t>driven by </a:t>
            </a:r>
            <a:r>
              <a:rPr kumimoji="0" lang="en-US" sz="1100" b="1"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a:sym typeface="SamsungOne 400"/>
              </a:rPr>
              <a:t>stronger conversion </a:t>
            </a:r>
            <a:r>
              <a:rPr kumimoji="0" lang="en-US" sz="110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a:sym typeface="SamsungOne 400"/>
              </a:rPr>
              <a:t>and</a:t>
            </a:r>
            <a:r>
              <a:rPr kumimoji="0" lang="en-US" sz="1100" b="1"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a:sym typeface="SamsungOne 400"/>
              </a:rPr>
              <a:t> key commercial moments </a:t>
            </a:r>
            <a:r>
              <a:rPr kumimoji="0" lang="en-US" sz="110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a:sym typeface="SamsungOne 400"/>
              </a:rPr>
              <a:t>such as </a:t>
            </a:r>
            <a:r>
              <a:rPr kumimoji="0" lang="en-US" sz="1100" b="1"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a:sym typeface="SamsungOne 400"/>
              </a:rPr>
              <a:t>Why Shop </a:t>
            </a:r>
            <a:r>
              <a:rPr kumimoji="0" lang="en-US" sz="110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a:sym typeface="SamsungOne 400"/>
              </a:rPr>
              <a:t>and</a:t>
            </a:r>
            <a:r>
              <a:rPr kumimoji="0" lang="en-US" sz="1100" b="1"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a:sym typeface="SamsungOne 400"/>
              </a:rPr>
              <a:t> Live Commerce.</a:t>
            </a:r>
            <a:endParaRPr kumimoji="0" lang="en-US" sz="100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a:sym typeface="SamsungOne 400"/>
            </a:endParaRPr>
          </a:p>
        </p:txBody>
      </p:sp>
      <p:sp>
        <p:nvSpPr>
          <p:cNvPr id="77" name="Retângulo: Cantos Arredondados 76">
            <a:extLst>
              <a:ext uri="{FF2B5EF4-FFF2-40B4-BE49-F238E27FC236}">
                <a16:creationId xmlns:a16="http://schemas.microsoft.com/office/drawing/2014/main" id="{57AC8193-24B8-4458-B649-59BCB7DB8C0F}"/>
              </a:ext>
            </a:extLst>
          </p:cNvPr>
          <p:cNvSpPr/>
          <p:nvPr/>
        </p:nvSpPr>
        <p:spPr>
          <a:xfrm>
            <a:off x="9105205" y="2271516"/>
            <a:ext cx="2984587" cy="4151203"/>
          </a:xfrm>
          <a:prstGeom prst="roundRect">
            <a:avLst>
              <a:gd name="adj" fmla="val 4184"/>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rPr>
              <a:t>HIGHLIGHT</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5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R$</a:t>
            </a:r>
            <a:r>
              <a:rPr lang="en-US" sz="1050">
                <a:solidFill>
                  <a:prstClr val="black"/>
                </a:solidFill>
                <a:latin typeface="Roboto" panose="02000000000000000000" pitchFamily="2" charset="0"/>
                <a:ea typeface="Roboto" panose="02000000000000000000" pitchFamily="2" charset="0"/>
              </a:rPr>
              <a:t>2.9</a:t>
            </a:r>
            <a:r>
              <a:rPr kumimoji="0" lang="en-US" sz="105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M | </a:t>
            </a:r>
            <a:r>
              <a:rPr lang="en-US" sz="1050" b="1">
                <a:solidFill>
                  <a:prstClr val="black"/>
                </a:solidFill>
                <a:latin typeface="Roboto" panose="02000000000000000000" pitchFamily="2" charset="0"/>
                <a:ea typeface="Roboto" panose="02000000000000000000" pitchFamily="2" charset="0"/>
              </a:rPr>
              <a:t>2</a:t>
            </a:r>
            <a:r>
              <a:rPr kumimoji="0" lang="en-US" sz="105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.85 G/R </a:t>
            </a:r>
            <a:r>
              <a:rPr kumimoji="0" lang="en-US" sz="105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a:t>
            </a:r>
            <a:r>
              <a:rPr kumimoji="0" lang="en-US" sz="105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1.85 A/R</a:t>
            </a:r>
            <a:r>
              <a:rPr kumimoji="0" lang="en-US" sz="105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Growth </a:t>
            </a:r>
            <a:r>
              <a:rPr lang="en-US" sz="1050">
                <a:solidFill>
                  <a:prstClr val="black"/>
                </a:solidFill>
                <a:latin typeface="Roboto" panose="02000000000000000000" pitchFamily="2" charset="0"/>
                <a:ea typeface="Roboto" panose="02000000000000000000" pitchFamily="2" charset="0"/>
              </a:rPr>
              <a:t>was the second pillar</a:t>
            </a:r>
            <a:r>
              <a:rPr kumimoji="0" lang="en-US" sz="105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5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713 orders | 2.22 G/R, with </a:t>
            </a:r>
            <a:r>
              <a:rPr kumimoji="0" lang="en-US" sz="105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CVR at 0.18%.</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5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Push </a:t>
            </a:r>
            <a:r>
              <a:rPr lang="en-US" sz="1050" b="1">
                <a:solidFill>
                  <a:prstClr val="black"/>
                </a:solidFill>
                <a:latin typeface="Roboto" panose="02000000000000000000" pitchFamily="2" charset="0"/>
                <a:ea typeface="Roboto" panose="02000000000000000000" pitchFamily="2" charset="0"/>
              </a:rPr>
              <a:t>grew</a:t>
            </a:r>
            <a:r>
              <a:rPr kumimoji="0" lang="en-US" sz="105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almost ten times on YoY.</a:t>
            </a:r>
            <a:endParaRPr kumimoji="0" lang="en-US" sz="105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5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Email supported 67% Growth revenue, responsible for scale.</a:t>
            </a:r>
          </a:p>
          <a:p>
            <a:pPr marR="0" lvl="0" algn="l" defTabSz="914400" rtl="0" eaLnBrk="1" fontAlgn="auto" latinLnBrk="0" hangingPunct="1">
              <a:lnSpc>
                <a:spcPct val="100000"/>
              </a:lnSpc>
              <a:spcBef>
                <a:spcPts val="600"/>
              </a:spcBef>
              <a:spcAft>
                <a:spcPts val="0"/>
              </a:spcAft>
              <a:buClrTx/>
              <a:buSzTx/>
              <a:tabLst/>
              <a:defRPr/>
            </a:pPr>
            <a:r>
              <a:rPr kumimoji="0" lang="en-US" sz="105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rPr>
              <a:t>LOWLIGHT</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050" b="1">
                <a:solidFill>
                  <a:prstClr val="black"/>
                </a:solidFill>
                <a:latin typeface="Roboto" panose="02000000000000000000" pitchFamily="2" charset="0"/>
                <a:ea typeface="Roboto" panose="02000000000000000000" pitchFamily="2" charset="0"/>
              </a:rPr>
              <a:t>CTOR </a:t>
            </a:r>
            <a:r>
              <a:rPr lang="en-US" sz="1050">
                <a:solidFill>
                  <a:prstClr val="black"/>
                </a:solidFill>
                <a:latin typeface="Roboto" panose="02000000000000000000" pitchFamily="2" charset="0"/>
                <a:ea typeface="Roboto" panose="02000000000000000000" pitchFamily="2" charset="0"/>
              </a:rPr>
              <a:t>shows the bigger fell than others KPIs, probably caused by duplication of Opens G/R. </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050" err="1">
                <a:solidFill>
                  <a:prstClr val="black"/>
                </a:solidFill>
                <a:latin typeface="Roboto" panose="02000000000000000000" pitchFamily="2" charset="0"/>
                <a:ea typeface="Roboto" panose="02000000000000000000" pitchFamily="2" charset="0"/>
              </a:rPr>
              <a:t>Whatsapp</a:t>
            </a:r>
            <a:r>
              <a:rPr lang="en-US" sz="1050">
                <a:solidFill>
                  <a:prstClr val="black"/>
                </a:solidFill>
                <a:latin typeface="Roboto" panose="02000000000000000000" pitchFamily="2" charset="0"/>
                <a:ea typeface="Roboto" panose="02000000000000000000" pitchFamily="2" charset="0"/>
              </a:rPr>
              <a:t> wasn’t used in August, could be used to increase revenue in key moments.</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050">
                <a:solidFill>
                  <a:prstClr val="black"/>
                </a:solidFill>
                <a:latin typeface="Roboto" panose="02000000000000000000" pitchFamily="2" charset="0"/>
                <a:ea typeface="Roboto" panose="02000000000000000000" pitchFamily="2" charset="0"/>
              </a:rPr>
              <a:t>App Push scaled, but lost efficacy: deliveries +216%, Rev/</a:t>
            </a:r>
            <a:r>
              <a:rPr lang="en-US" sz="1050" err="1">
                <a:solidFill>
                  <a:prstClr val="black"/>
                </a:solidFill>
                <a:latin typeface="Roboto" panose="02000000000000000000" pitchFamily="2" charset="0"/>
                <a:ea typeface="Roboto" panose="02000000000000000000" pitchFamily="2" charset="0"/>
              </a:rPr>
              <a:t>Deliv</a:t>
            </a:r>
            <a:r>
              <a:rPr lang="en-US" sz="1050">
                <a:solidFill>
                  <a:prstClr val="black"/>
                </a:solidFill>
                <a:latin typeface="Roboto" panose="02000000000000000000" pitchFamily="2" charset="0"/>
                <a:ea typeface="Roboto" panose="02000000000000000000" pitchFamily="2" charset="0"/>
              </a:rPr>
              <a:t> -40%.</a:t>
            </a:r>
          </a:p>
        </p:txBody>
      </p:sp>
      <p:cxnSp>
        <p:nvCxnSpPr>
          <p:cNvPr id="226" name="Straight Arrow Connector 4">
            <a:extLst>
              <a:ext uri="{FF2B5EF4-FFF2-40B4-BE49-F238E27FC236}">
                <a16:creationId xmlns:a16="http://schemas.microsoft.com/office/drawing/2014/main" id="{88ABB3CD-2811-44FB-86F5-039ABDCC3A61}"/>
              </a:ext>
            </a:extLst>
          </p:cNvPr>
          <p:cNvCxnSpPr>
            <a:cxnSpLocks/>
          </p:cNvCxnSpPr>
          <p:nvPr/>
        </p:nvCxnSpPr>
        <p:spPr>
          <a:xfrm>
            <a:off x="8963179" y="2228850"/>
            <a:ext cx="7554" cy="4281017"/>
          </a:xfrm>
          <a:prstGeom prst="straightConnector1">
            <a:avLst/>
          </a:prstGeom>
        </p:spPr>
        <p:style>
          <a:lnRef idx="1">
            <a:schemeClr val="accent1"/>
          </a:lnRef>
          <a:fillRef idx="0">
            <a:schemeClr val="accent1"/>
          </a:fillRef>
          <a:effectRef idx="0">
            <a:schemeClr val="accent1"/>
          </a:effectRef>
          <a:fontRef idx="minor">
            <a:schemeClr val="tx1"/>
          </a:fontRef>
        </p:style>
      </p:cxnSp>
      <p:grpSp>
        <p:nvGrpSpPr>
          <p:cNvPr id="24" name="Agrupar 23">
            <a:extLst>
              <a:ext uri="{FF2B5EF4-FFF2-40B4-BE49-F238E27FC236}">
                <a16:creationId xmlns:a16="http://schemas.microsoft.com/office/drawing/2014/main" id="{FBACF5E4-8817-4F52-A73B-D30E6F162EE2}"/>
              </a:ext>
            </a:extLst>
          </p:cNvPr>
          <p:cNvGrpSpPr/>
          <p:nvPr/>
        </p:nvGrpSpPr>
        <p:grpSpPr>
          <a:xfrm>
            <a:off x="4403338" y="2502714"/>
            <a:ext cx="3983139" cy="2982301"/>
            <a:chOff x="4335689" y="2978686"/>
            <a:chExt cx="4038247" cy="2982301"/>
          </a:xfrm>
        </p:grpSpPr>
        <p:cxnSp>
          <p:nvCxnSpPr>
            <p:cNvPr id="223" name="Conector: Angulado 222">
              <a:extLst>
                <a:ext uri="{FF2B5EF4-FFF2-40B4-BE49-F238E27FC236}">
                  <a16:creationId xmlns:a16="http://schemas.microsoft.com/office/drawing/2014/main" id="{8DEA7FE5-0B81-4D9F-868B-E313D5904AD7}"/>
                </a:ext>
              </a:extLst>
            </p:cNvPr>
            <p:cNvCxnSpPr>
              <a:cxnSpLocks/>
              <a:endCxn id="225" idx="2"/>
            </p:cNvCxnSpPr>
            <p:nvPr/>
          </p:nvCxnSpPr>
          <p:spPr>
            <a:xfrm rot="5400000" flipH="1" flipV="1">
              <a:off x="3896311" y="3598381"/>
              <a:ext cx="2801984" cy="1923227"/>
            </a:xfrm>
            <a:prstGeom prst="bentConnector2">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4" name="Conector: Angulado 223">
              <a:extLst>
                <a:ext uri="{FF2B5EF4-FFF2-40B4-BE49-F238E27FC236}">
                  <a16:creationId xmlns:a16="http://schemas.microsoft.com/office/drawing/2014/main" id="{FE282232-1C53-4AFF-9DE1-0F0B814311E4}"/>
                </a:ext>
              </a:extLst>
            </p:cNvPr>
            <p:cNvCxnSpPr>
              <a:cxnSpLocks/>
            </p:cNvCxnSpPr>
            <p:nvPr/>
          </p:nvCxnSpPr>
          <p:spPr>
            <a:xfrm rot="16200000" flipH="1">
              <a:off x="7034952" y="3163847"/>
              <a:ext cx="1343830" cy="1334138"/>
            </a:xfrm>
            <a:prstGeom prst="bentConnector3">
              <a:avLst>
                <a:gd name="adj1" fmla="val -294"/>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25" name="Elipse 224">
              <a:extLst>
                <a:ext uri="{FF2B5EF4-FFF2-40B4-BE49-F238E27FC236}">
                  <a16:creationId xmlns:a16="http://schemas.microsoft.com/office/drawing/2014/main" id="{9D02ADCF-5B26-4669-876B-FEFAAFEB3714}"/>
                </a:ext>
              </a:extLst>
            </p:cNvPr>
            <p:cNvSpPr/>
            <p:nvPr/>
          </p:nvSpPr>
          <p:spPr>
            <a:xfrm>
              <a:off x="6258916" y="2978686"/>
              <a:ext cx="756678" cy="36063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a:solidFill>
                    <a:sysClr val="windowText" lastClr="000000"/>
                  </a:solidFill>
                </a:rPr>
                <a:t>3.01</a:t>
              </a:r>
            </a:p>
          </p:txBody>
        </p:sp>
      </p:grpSp>
      <p:sp>
        <p:nvSpPr>
          <p:cNvPr id="93" name="Espaço Reservado para Conteúdo 2">
            <a:extLst>
              <a:ext uri="{FF2B5EF4-FFF2-40B4-BE49-F238E27FC236}">
                <a16:creationId xmlns:a16="http://schemas.microsoft.com/office/drawing/2014/main" id="{3A6AAEE7-F8C5-41F5-93F2-6B54316C3B36}"/>
              </a:ext>
            </a:extLst>
          </p:cNvPr>
          <p:cNvSpPr txBox="1"/>
          <p:nvPr/>
        </p:nvSpPr>
        <p:spPr>
          <a:xfrm>
            <a:off x="6794119" y="6569534"/>
            <a:ext cx="2145478" cy="215444"/>
          </a:xfrm>
          <a:prstGeom prst="rect">
            <a:avLst/>
          </a:prstGeom>
          <a:noFill/>
          <a:ln cap="flat">
            <a:noFill/>
          </a:ln>
        </p:spPr>
        <p:txBody>
          <a:bodyPr vert="horz" wrap="square" lIns="91440" tIns="45720" rIns="91440" bIns="45720" anchor="t"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700" b="0" i="0" u="none" strike="noStrike" kern="1200" cap="none" spc="0" baseline="0">
                <a:solidFill>
                  <a:srgbClr val="000000"/>
                </a:solidFill>
                <a:uFillTx/>
                <a:latin typeface="SamsungSharpSans-Medium"/>
                <a:ea typeface="SamsungSharpSans-Medium" pitchFamily="2"/>
                <a:cs typeface="SamsungSharpSans-Medium" pitchFamily="2"/>
              </a:rPr>
              <a:t>*</a:t>
            </a:r>
            <a:r>
              <a:rPr lang="en-US" sz="700" b="0" i="0" u="none" strike="noStrike" kern="1200" cap="none" spc="0" baseline="0" err="1">
                <a:solidFill>
                  <a:srgbClr val="000000"/>
                </a:solidFill>
                <a:uFillTx/>
                <a:latin typeface="SamsungSharpSans-Medium"/>
                <a:ea typeface="SamsungSharpSans-Medium" pitchFamily="2"/>
                <a:cs typeface="SamsungSharpSans-Medium" pitchFamily="2"/>
              </a:rPr>
              <a:t>Valores</a:t>
            </a:r>
            <a:r>
              <a:rPr lang="en-US" sz="700" b="0" i="0" u="none" strike="noStrike" kern="1200" cap="none" spc="0" baseline="0">
                <a:solidFill>
                  <a:srgbClr val="000000"/>
                </a:solidFill>
                <a:uFillTx/>
                <a:latin typeface="SamsungSharpSans-Medium"/>
                <a:ea typeface="SamsungSharpSans-Medium" pitchFamily="2"/>
                <a:cs typeface="SamsungSharpSans-Medium" pitchFamily="2"/>
              </a:rPr>
              <a:t> de </a:t>
            </a:r>
            <a:r>
              <a:rPr lang="en-US" sz="700" b="0" i="0" u="none" strike="noStrike" kern="1200" cap="none" spc="0" baseline="0" err="1">
                <a:solidFill>
                  <a:srgbClr val="000000"/>
                </a:solidFill>
                <a:uFillTx/>
                <a:latin typeface="SamsungSharpSans-Medium"/>
                <a:ea typeface="SamsungSharpSans-Medium" pitchFamily="2"/>
                <a:cs typeface="SamsungSharpSans-Medium" pitchFamily="2"/>
              </a:rPr>
              <a:t>canais</a:t>
            </a:r>
            <a:r>
              <a:rPr lang="en-US" sz="700" b="0" i="0" u="none" strike="noStrike" kern="1200" cap="none" spc="0" baseline="0">
                <a:solidFill>
                  <a:srgbClr val="000000"/>
                </a:solidFill>
                <a:uFillTx/>
                <a:latin typeface="SamsungSharpSans-Medium"/>
                <a:ea typeface="SamsungSharpSans-Medium" pitchFamily="2"/>
                <a:cs typeface="SamsungSharpSans-Medium" pitchFamily="2"/>
              </a:rPr>
              <a:t>  /</a:t>
            </a:r>
            <a:r>
              <a:rPr lang="pt-BR" sz="700"/>
              <a:t>1.000.000</a:t>
            </a:r>
            <a:endParaRPr lang="en-US" sz="700" b="1" i="0" u="none" strike="noStrike" kern="1200" cap="none" spc="0" baseline="0">
              <a:solidFill>
                <a:srgbClr val="000000"/>
              </a:solidFill>
              <a:uFillTx/>
              <a:latin typeface="SamsungSharpSans-Medium"/>
              <a:ea typeface="SamsungSharpSans-Medium" pitchFamily="2"/>
              <a:cs typeface="SamsungSharpSans-Medium" pitchFamily="2"/>
            </a:endParaRPr>
          </a:p>
        </p:txBody>
      </p:sp>
      <p:sp>
        <p:nvSpPr>
          <p:cNvPr id="96" name="Retângulo 95">
            <a:extLst>
              <a:ext uri="{FF2B5EF4-FFF2-40B4-BE49-F238E27FC236}">
                <a16:creationId xmlns:a16="http://schemas.microsoft.com/office/drawing/2014/main" id="{3131F0EA-F963-458F-B38B-DAD724883FDC}"/>
              </a:ext>
            </a:extLst>
          </p:cNvPr>
          <p:cNvSpPr/>
          <p:nvPr/>
        </p:nvSpPr>
        <p:spPr>
          <a:xfrm>
            <a:off x="2456557" y="2247065"/>
            <a:ext cx="6514176" cy="4524599"/>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7" name="CaixaDeTexto 96">
            <a:extLst>
              <a:ext uri="{FF2B5EF4-FFF2-40B4-BE49-F238E27FC236}">
                <a16:creationId xmlns:a16="http://schemas.microsoft.com/office/drawing/2014/main" id="{A0020B9D-3CCA-4263-8955-37954BF2A797}"/>
              </a:ext>
            </a:extLst>
          </p:cNvPr>
          <p:cNvSpPr txBox="1"/>
          <p:nvPr/>
        </p:nvSpPr>
        <p:spPr>
          <a:xfrm>
            <a:off x="2579893" y="2087459"/>
            <a:ext cx="974053" cy="307777"/>
          </a:xfrm>
          <a:prstGeom prst="rect">
            <a:avLst/>
          </a:prstGeom>
          <a:solidFill>
            <a:sysClr val="window" lastClr="FFFFF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2060"/>
                </a:solidFill>
                <a:effectLst/>
                <a:uLnTx/>
                <a:uFillTx/>
                <a:latin typeface="Samsung Sharp Sans Bold" panose="02000503000000020004"/>
                <a:ea typeface="+mn-ea"/>
                <a:cs typeface="+mn-cs"/>
              </a:rPr>
              <a:t>R$ M YoY</a:t>
            </a:r>
          </a:p>
        </p:txBody>
      </p:sp>
      <p:grpSp>
        <p:nvGrpSpPr>
          <p:cNvPr id="99" name="Agrupar 98">
            <a:extLst>
              <a:ext uri="{FF2B5EF4-FFF2-40B4-BE49-F238E27FC236}">
                <a16:creationId xmlns:a16="http://schemas.microsoft.com/office/drawing/2014/main" id="{0403329A-ACDB-43EA-A9F2-D7B0143195DF}"/>
              </a:ext>
            </a:extLst>
          </p:cNvPr>
          <p:cNvGrpSpPr/>
          <p:nvPr/>
        </p:nvGrpSpPr>
        <p:grpSpPr>
          <a:xfrm>
            <a:off x="501612" y="2406935"/>
            <a:ext cx="1729993" cy="4311842"/>
            <a:chOff x="501612" y="2406935"/>
            <a:chExt cx="1729993" cy="4311842"/>
          </a:xfrm>
        </p:grpSpPr>
        <p:grpSp>
          <p:nvGrpSpPr>
            <p:cNvPr id="100" name="Agrupar 99">
              <a:extLst>
                <a:ext uri="{FF2B5EF4-FFF2-40B4-BE49-F238E27FC236}">
                  <a16:creationId xmlns:a16="http://schemas.microsoft.com/office/drawing/2014/main" id="{C9AB4D19-7A46-4125-AF7C-67221A9579B9}"/>
                </a:ext>
              </a:extLst>
            </p:cNvPr>
            <p:cNvGrpSpPr/>
            <p:nvPr/>
          </p:nvGrpSpPr>
          <p:grpSpPr>
            <a:xfrm>
              <a:off x="520224" y="2406935"/>
              <a:ext cx="1711381" cy="584650"/>
              <a:chOff x="519811" y="2333047"/>
              <a:chExt cx="1711381" cy="584650"/>
            </a:xfrm>
          </p:grpSpPr>
          <p:sp>
            <p:nvSpPr>
              <p:cNvPr id="187" name="Retângulo 28">
                <a:extLst>
                  <a:ext uri="{FF2B5EF4-FFF2-40B4-BE49-F238E27FC236}">
                    <a16:creationId xmlns:a16="http://schemas.microsoft.com/office/drawing/2014/main" id="{9A38061B-26D7-4236-AAEC-85D70C37BB22}"/>
                  </a:ext>
                </a:extLst>
              </p:cNvPr>
              <p:cNvSpPr/>
              <p:nvPr/>
            </p:nvSpPr>
            <p:spPr>
              <a:xfrm>
                <a:off x="531367" y="2333047"/>
                <a:ext cx="1692975" cy="185818"/>
              </a:xfrm>
              <a:prstGeom prst="rect">
                <a:avLst/>
              </a:prstGeom>
              <a:solidFill>
                <a:srgbClr val="000000"/>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t-BR" sz="1000" b="0" i="0" u="none" strike="noStrike" kern="1200" cap="none" spc="0" baseline="0">
                    <a:solidFill>
                      <a:srgbClr val="FFFFFF"/>
                    </a:solidFill>
                    <a:uFillTx/>
                    <a:latin typeface="SamsungOne 400"/>
                    <a:ea typeface="SamsungOneKoreanOTF 400"/>
                  </a:rPr>
                  <a:t>REVENUE        </a:t>
                </a:r>
                <a:r>
                  <a:rPr lang="pt-BR" sz="1000">
                    <a:solidFill>
                      <a:srgbClr val="FFFFFF"/>
                    </a:solidFill>
                    <a:latin typeface="SamsungOne 400"/>
                    <a:ea typeface="SamsungOneKoreanOTF 400"/>
                  </a:rPr>
                  <a:t> |       G/R</a:t>
                </a:r>
                <a:endParaRPr lang="pt-BR" sz="1000" b="0" i="0" u="none" strike="noStrike" kern="1200" cap="none" spc="0" baseline="0">
                  <a:solidFill>
                    <a:srgbClr val="FFFFFF"/>
                  </a:solidFill>
                  <a:uFillTx/>
                  <a:latin typeface="SamsungOne 400"/>
                  <a:ea typeface="SamsungOneKoreanOTF 400"/>
                </a:endParaRPr>
              </a:p>
            </p:txBody>
          </p:sp>
          <p:grpSp>
            <p:nvGrpSpPr>
              <p:cNvPr id="188" name="Agrupar 187">
                <a:extLst>
                  <a:ext uri="{FF2B5EF4-FFF2-40B4-BE49-F238E27FC236}">
                    <a16:creationId xmlns:a16="http://schemas.microsoft.com/office/drawing/2014/main" id="{859DF437-449E-4C3D-A3CD-71B8A461ABC9}"/>
                  </a:ext>
                </a:extLst>
              </p:cNvPr>
              <p:cNvGrpSpPr/>
              <p:nvPr/>
            </p:nvGrpSpPr>
            <p:grpSpPr>
              <a:xfrm>
                <a:off x="519811" y="2535303"/>
                <a:ext cx="1711381" cy="382394"/>
                <a:chOff x="528183" y="2535303"/>
                <a:chExt cx="1711381" cy="382394"/>
              </a:xfrm>
            </p:grpSpPr>
            <p:sp>
              <p:nvSpPr>
                <p:cNvPr id="189" name="Retângulo 29">
                  <a:extLst>
                    <a:ext uri="{FF2B5EF4-FFF2-40B4-BE49-F238E27FC236}">
                      <a16:creationId xmlns:a16="http://schemas.microsoft.com/office/drawing/2014/main" id="{B0FD3278-0CE0-4657-881B-45D9C67C9FDE}"/>
                    </a:ext>
                  </a:extLst>
                </p:cNvPr>
                <p:cNvSpPr/>
                <p:nvPr/>
              </p:nvSpPr>
              <p:spPr>
                <a:xfrm>
                  <a:off x="546589" y="2535303"/>
                  <a:ext cx="1692975" cy="369495"/>
                </a:xfrm>
                <a:prstGeom prst="rect">
                  <a:avLst/>
                </a:prstGeom>
                <a:solidFill>
                  <a:srgbClr val="D9D9D9"/>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t-BR" sz="1600" b="0" i="0" u="none" strike="noStrike" kern="1200" cap="none" spc="0" baseline="0">
                    <a:solidFill>
                      <a:srgbClr val="FFFFFF"/>
                    </a:solidFill>
                    <a:uFillTx/>
                    <a:latin typeface="SamsungOne 400"/>
                    <a:ea typeface="SamsungOneKoreanOTF 400"/>
                  </a:endParaRPr>
                </a:p>
              </p:txBody>
            </p:sp>
            <p:sp>
              <p:nvSpPr>
                <p:cNvPr id="190" name="CaixaDeTexto 8">
                  <a:extLst>
                    <a:ext uri="{FF2B5EF4-FFF2-40B4-BE49-F238E27FC236}">
                      <a16:creationId xmlns:a16="http://schemas.microsoft.com/office/drawing/2014/main" id="{1D7C4216-F05C-45B4-B5C7-3714164BA486}"/>
                    </a:ext>
                  </a:extLst>
                </p:cNvPr>
                <p:cNvSpPr txBox="1"/>
                <p:nvPr/>
              </p:nvSpPr>
              <p:spPr>
                <a:xfrm>
                  <a:off x="1575015" y="2548365"/>
                  <a:ext cx="576000" cy="338554"/>
                </a:xfrm>
                <a:prstGeom prst="rect">
                  <a:avLst/>
                </a:prstGeom>
                <a:noFill/>
                <a:ln cap="flat">
                  <a:noFill/>
                </a:ln>
              </p:spPr>
              <p:txBody>
                <a:bodyPr vert="horz" wrap="square" lIns="91440" tIns="45720" rIns="91440" bIns="45720" anchor="t" anchorCtr="0"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t-BR" sz="1600" b="1">
                      <a:latin typeface="SamsungOne 400"/>
                      <a:ea typeface="SamsungOneKoreanOTF 400"/>
                    </a:rPr>
                    <a:t>1.82</a:t>
                  </a:r>
                  <a:endParaRPr lang="pt-BR" sz="1600" b="1" i="0" u="none" strike="noStrike" kern="1200" cap="none" spc="0" baseline="0">
                    <a:uFillTx/>
                    <a:latin typeface="SamsungOne 400"/>
                    <a:ea typeface="SamsungOneKoreanOTF 400"/>
                  </a:endParaRPr>
                </a:p>
              </p:txBody>
            </p:sp>
            <p:sp>
              <p:nvSpPr>
                <p:cNvPr id="191" name="CaixaDeTexto 7">
                  <a:extLst>
                    <a:ext uri="{FF2B5EF4-FFF2-40B4-BE49-F238E27FC236}">
                      <a16:creationId xmlns:a16="http://schemas.microsoft.com/office/drawing/2014/main" id="{A3A8B3D0-8AFC-432A-AE0F-6CBFBBBBDB67}"/>
                    </a:ext>
                  </a:extLst>
                </p:cNvPr>
                <p:cNvSpPr txBox="1"/>
                <p:nvPr/>
              </p:nvSpPr>
              <p:spPr>
                <a:xfrm>
                  <a:off x="528183" y="2579143"/>
                  <a:ext cx="1046832" cy="338554"/>
                </a:xfrm>
                <a:prstGeom prst="rect">
                  <a:avLst/>
                </a:prstGeom>
                <a:noFill/>
                <a:ln cap="flat">
                  <a:noFill/>
                </a:ln>
              </p:spPr>
              <p:txBody>
                <a:bodyPr vert="horz" wrap="square" lIns="91440" tIns="45720" rIns="91440" bIns="45720" anchor="t" anchorCtr="0" compatLnSpc="1">
                  <a:spAutoFit/>
                </a:bodyPr>
                <a:lstStyle/>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t-BR" sz="1600">
                      <a:latin typeface="SamsungOne 400"/>
                      <a:ea typeface="SamsungOneKoreanOTF 400"/>
                    </a:rPr>
                    <a:t>R$ 2.8M</a:t>
                  </a:r>
                  <a:endParaRPr lang="pt-BR" sz="1600" b="0" i="0" u="none" strike="noStrike" kern="1200" cap="none" spc="0" baseline="0">
                    <a:uFillTx/>
                    <a:latin typeface="SamsungOne 400"/>
                    <a:ea typeface="SamsungOneKoreanOTF 400"/>
                  </a:endParaRPr>
                </a:p>
              </p:txBody>
            </p:sp>
          </p:grpSp>
        </p:grpSp>
        <p:grpSp>
          <p:nvGrpSpPr>
            <p:cNvPr id="101" name="Agrupar 100">
              <a:extLst>
                <a:ext uri="{FF2B5EF4-FFF2-40B4-BE49-F238E27FC236}">
                  <a16:creationId xmlns:a16="http://schemas.microsoft.com/office/drawing/2014/main" id="{E9AF1A17-56D4-4460-8D64-3E3C5FDEE9CB}"/>
                </a:ext>
              </a:extLst>
            </p:cNvPr>
            <p:cNvGrpSpPr/>
            <p:nvPr/>
          </p:nvGrpSpPr>
          <p:grpSpPr>
            <a:xfrm>
              <a:off x="501612" y="2994040"/>
              <a:ext cx="1729993" cy="1003477"/>
              <a:chOff x="501612" y="2920152"/>
              <a:chExt cx="1729993" cy="1003477"/>
            </a:xfrm>
          </p:grpSpPr>
          <p:sp>
            <p:nvSpPr>
              <p:cNvPr id="180" name="Retângulo 27">
                <a:extLst>
                  <a:ext uri="{FF2B5EF4-FFF2-40B4-BE49-F238E27FC236}">
                    <a16:creationId xmlns:a16="http://schemas.microsoft.com/office/drawing/2014/main" id="{4BCBABEF-AC7A-42B2-BE3E-FE367218F491}"/>
                  </a:ext>
                </a:extLst>
              </p:cNvPr>
              <p:cNvSpPr/>
              <p:nvPr/>
            </p:nvSpPr>
            <p:spPr>
              <a:xfrm>
                <a:off x="531367" y="2920152"/>
                <a:ext cx="1692975" cy="332228"/>
              </a:xfrm>
              <a:prstGeom prst="rect">
                <a:avLst/>
              </a:prstGeom>
              <a:solidFill>
                <a:srgbClr val="000000"/>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t-BR" sz="1000" b="0" i="0" u="none" strike="noStrike" kern="1200" cap="none" spc="0" baseline="0">
                    <a:solidFill>
                      <a:srgbClr val="FFFFFF"/>
                    </a:solidFill>
                    <a:uFillTx/>
                    <a:latin typeface="SamsungOne 400"/>
                    <a:ea typeface="SamsungOneKoreanOTF 400"/>
                  </a:rPr>
                  <a:t>CRM CHANNELS</a:t>
                </a:r>
              </a:p>
              <a:p>
                <a:pPr algn="ctr">
                  <a:defRPr sz="1800" b="0" i="0" u="none" strike="noStrike" kern="0" cap="none" spc="0" baseline="0">
                    <a:solidFill>
                      <a:srgbClr val="000000"/>
                    </a:solidFill>
                    <a:uFillTx/>
                  </a:defRPr>
                </a:pPr>
                <a:r>
                  <a:rPr lang="pt-BR" sz="1000" b="0" i="0" u="none" strike="noStrike" kern="1200" cap="none" spc="0" baseline="0">
                    <a:solidFill>
                      <a:srgbClr val="FFFFFF"/>
                    </a:solidFill>
                    <a:uFillTx/>
                    <a:latin typeface="SamsungOne 400"/>
                    <a:ea typeface="SamsungOneKoreanOTF 400"/>
                  </a:rPr>
                  <a:t>REVENUE        </a:t>
                </a:r>
                <a:r>
                  <a:rPr lang="pt-BR" sz="1000">
                    <a:solidFill>
                      <a:srgbClr val="FFFFFF"/>
                    </a:solidFill>
                    <a:latin typeface="SamsungOne 400"/>
                    <a:ea typeface="SamsungOneKoreanOTF 400"/>
                  </a:rPr>
                  <a:t> |       G/R</a:t>
                </a:r>
                <a:endParaRPr lang="pt-BR" sz="1000" b="0" i="0" u="none" strike="noStrike" kern="1200" cap="none" spc="0" baseline="0">
                  <a:solidFill>
                    <a:srgbClr val="FFFFFF"/>
                  </a:solidFill>
                  <a:uFillTx/>
                  <a:latin typeface="SamsungOne 400"/>
                  <a:ea typeface="SamsungOneKoreanOTF 400"/>
                </a:endParaRPr>
              </a:p>
            </p:txBody>
          </p:sp>
          <p:grpSp>
            <p:nvGrpSpPr>
              <p:cNvPr id="181" name="Agrupar 180">
                <a:extLst>
                  <a:ext uri="{FF2B5EF4-FFF2-40B4-BE49-F238E27FC236}">
                    <a16:creationId xmlns:a16="http://schemas.microsoft.com/office/drawing/2014/main" id="{2AB25BCA-BF65-4BE0-87B5-ADBC0416A7B1}"/>
                  </a:ext>
                </a:extLst>
              </p:cNvPr>
              <p:cNvGrpSpPr/>
              <p:nvPr/>
            </p:nvGrpSpPr>
            <p:grpSpPr>
              <a:xfrm>
                <a:off x="501612" y="3270489"/>
                <a:ext cx="1729993" cy="653140"/>
                <a:chOff x="501612" y="3270489"/>
                <a:chExt cx="1729993" cy="653140"/>
              </a:xfrm>
            </p:grpSpPr>
            <p:grpSp>
              <p:nvGrpSpPr>
                <p:cNvPr id="182" name="Agrupar 181">
                  <a:extLst>
                    <a:ext uri="{FF2B5EF4-FFF2-40B4-BE49-F238E27FC236}">
                      <a16:creationId xmlns:a16="http://schemas.microsoft.com/office/drawing/2014/main" id="{39B83DA0-845C-41C6-94D0-7622BD3C1E9E}"/>
                    </a:ext>
                  </a:extLst>
                </p:cNvPr>
                <p:cNvGrpSpPr/>
                <p:nvPr/>
              </p:nvGrpSpPr>
              <p:grpSpPr>
                <a:xfrm>
                  <a:off x="501612" y="3455629"/>
                  <a:ext cx="1729993" cy="468000"/>
                  <a:chOff x="510396" y="3455629"/>
                  <a:chExt cx="1729993" cy="468000"/>
                </a:xfrm>
              </p:grpSpPr>
              <p:sp>
                <p:nvSpPr>
                  <p:cNvPr id="184" name="Retângulo 14">
                    <a:extLst>
                      <a:ext uri="{FF2B5EF4-FFF2-40B4-BE49-F238E27FC236}">
                        <a16:creationId xmlns:a16="http://schemas.microsoft.com/office/drawing/2014/main" id="{745A0DD8-F181-4C84-91A5-F3AAF42AC76E}"/>
                      </a:ext>
                    </a:extLst>
                  </p:cNvPr>
                  <p:cNvSpPr/>
                  <p:nvPr/>
                </p:nvSpPr>
                <p:spPr>
                  <a:xfrm>
                    <a:off x="547414" y="3455629"/>
                    <a:ext cx="1692975" cy="468000"/>
                  </a:xfrm>
                  <a:prstGeom prst="rect">
                    <a:avLst/>
                  </a:prstGeom>
                  <a:solidFill>
                    <a:schemeClr val="bg2">
                      <a:lumMod val="90000"/>
                    </a:schemeClr>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t-BR" sz="1600" b="0" i="0" u="none" strike="noStrike" kern="1200" cap="none" spc="0" baseline="0">
                      <a:solidFill>
                        <a:schemeClr val="bg1"/>
                      </a:solidFill>
                      <a:uFillTx/>
                      <a:latin typeface="SamsungOne 400"/>
                      <a:ea typeface="SamsungOneKoreanOTF 400"/>
                    </a:endParaRPr>
                  </a:p>
                </p:txBody>
              </p:sp>
              <p:sp>
                <p:nvSpPr>
                  <p:cNvPr id="185" name="CaixaDeTexto 8">
                    <a:extLst>
                      <a:ext uri="{FF2B5EF4-FFF2-40B4-BE49-F238E27FC236}">
                        <a16:creationId xmlns:a16="http://schemas.microsoft.com/office/drawing/2014/main" id="{279A4514-4DA5-4A1B-BF3D-07F284F73EEB}"/>
                      </a:ext>
                    </a:extLst>
                  </p:cNvPr>
                  <p:cNvSpPr txBox="1"/>
                  <p:nvPr/>
                </p:nvSpPr>
                <p:spPr>
                  <a:xfrm>
                    <a:off x="1599177" y="3506114"/>
                    <a:ext cx="576000" cy="338554"/>
                  </a:xfrm>
                  <a:prstGeom prst="rect">
                    <a:avLst/>
                  </a:prstGeom>
                  <a:noFill/>
                  <a:ln cap="flat">
                    <a:noFill/>
                  </a:ln>
                </p:spPr>
                <p:txBody>
                  <a:bodyPr vert="horz" wrap="square" lIns="91440" tIns="45720" rIns="91440" bIns="45720" anchor="t" anchorCtr="0"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t-BR" sz="1600" b="1">
                        <a:solidFill>
                          <a:srgbClr val="1428A0"/>
                        </a:solidFill>
                        <a:latin typeface="SamsungOne 400"/>
                        <a:ea typeface="SamsungOneKoreanOTF 400"/>
                      </a:rPr>
                      <a:t>2.4</a:t>
                    </a:r>
                    <a:endParaRPr lang="pt-BR" sz="1600" b="1" i="0" u="none" strike="noStrike" kern="1200" cap="none" spc="0" baseline="0">
                      <a:solidFill>
                        <a:srgbClr val="1428A0"/>
                      </a:solidFill>
                      <a:uFillTx/>
                      <a:latin typeface="SamsungOne 400"/>
                      <a:ea typeface="SamsungOneKoreanOTF 400"/>
                    </a:endParaRPr>
                  </a:p>
                </p:txBody>
              </p:sp>
              <p:sp>
                <p:nvSpPr>
                  <p:cNvPr id="186" name="CaixaDeTexto 7">
                    <a:extLst>
                      <a:ext uri="{FF2B5EF4-FFF2-40B4-BE49-F238E27FC236}">
                        <a16:creationId xmlns:a16="http://schemas.microsoft.com/office/drawing/2014/main" id="{CC76A799-58F0-460A-BD0C-65DC7FA5DAC3}"/>
                      </a:ext>
                    </a:extLst>
                  </p:cNvPr>
                  <p:cNvSpPr txBox="1"/>
                  <p:nvPr/>
                </p:nvSpPr>
                <p:spPr>
                  <a:xfrm>
                    <a:off x="510396" y="3515529"/>
                    <a:ext cx="1087077" cy="338554"/>
                  </a:xfrm>
                  <a:prstGeom prst="rect">
                    <a:avLst/>
                  </a:prstGeom>
                  <a:noFill/>
                  <a:ln cap="flat">
                    <a:noFill/>
                  </a:ln>
                </p:spPr>
                <p:txBody>
                  <a:bodyPr vert="horz" wrap="square" lIns="91440" tIns="45720" rIns="91440" bIns="45720" anchor="t" anchorCtr="0" compatLnSpc="1">
                    <a:spAutoFit/>
                  </a:bodyPr>
                  <a:lstStyle/>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t-BR" sz="1600">
                        <a:latin typeface="SamsungOne 400"/>
                        <a:ea typeface="SamsungOneKoreanOTF 400"/>
                      </a:rPr>
                      <a:t>R$ 866,7K</a:t>
                    </a:r>
                    <a:endParaRPr lang="pt-BR" sz="1600" b="0" i="0" u="none" strike="noStrike" kern="1200" cap="none" spc="0" baseline="0">
                      <a:uFillTx/>
                      <a:latin typeface="SamsungOne 400"/>
                      <a:ea typeface="SamsungOneKoreanOTF 400"/>
                    </a:endParaRPr>
                  </a:p>
                </p:txBody>
              </p:sp>
            </p:grpSp>
            <p:sp>
              <p:nvSpPr>
                <p:cNvPr id="183" name="Retângulo 27">
                  <a:extLst>
                    <a:ext uri="{FF2B5EF4-FFF2-40B4-BE49-F238E27FC236}">
                      <a16:creationId xmlns:a16="http://schemas.microsoft.com/office/drawing/2014/main" id="{4D0EFFDB-EC61-4A22-B115-249702823A57}"/>
                    </a:ext>
                  </a:extLst>
                </p:cNvPr>
                <p:cNvSpPr/>
                <p:nvPr/>
              </p:nvSpPr>
              <p:spPr>
                <a:xfrm>
                  <a:off x="531367" y="3270489"/>
                  <a:ext cx="1692975" cy="185818"/>
                </a:xfrm>
                <a:prstGeom prst="rect">
                  <a:avLst/>
                </a:prstGeom>
                <a:solidFill>
                  <a:srgbClr val="203764"/>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t-BR" sz="1000">
                      <a:solidFill>
                        <a:srgbClr val="FFFFFF"/>
                      </a:solidFill>
                      <a:latin typeface="SamsungOne 400"/>
                      <a:ea typeface="SamsungOneKoreanOTF 400"/>
                    </a:rPr>
                    <a:t>APP PUSH</a:t>
                  </a:r>
                  <a:endParaRPr lang="pt-BR" sz="1000" b="0" i="0" u="none" strike="noStrike" kern="1200" cap="none" spc="0" baseline="0">
                    <a:solidFill>
                      <a:srgbClr val="FFFFFF"/>
                    </a:solidFill>
                    <a:uFillTx/>
                    <a:latin typeface="SamsungOne 400"/>
                    <a:ea typeface="SamsungOneKoreanOTF 400"/>
                  </a:endParaRPr>
                </a:p>
              </p:txBody>
            </p:sp>
          </p:grpSp>
        </p:grpSp>
        <p:grpSp>
          <p:nvGrpSpPr>
            <p:cNvPr id="102" name="Agrupar 101">
              <a:extLst>
                <a:ext uri="{FF2B5EF4-FFF2-40B4-BE49-F238E27FC236}">
                  <a16:creationId xmlns:a16="http://schemas.microsoft.com/office/drawing/2014/main" id="{DFEA0F16-2991-4C80-9056-B96062571D14}"/>
                </a:ext>
              </a:extLst>
            </p:cNvPr>
            <p:cNvGrpSpPr/>
            <p:nvPr/>
          </p:nvGrpSpPr>
          <p:grpSpPr>
            <a:xfrm>
              <a:off x="534430" y="4026857"/>
              <a:ext cx="1697175" cy="653140"/>
              <a:chOff x="527167" y="3926917"/>
              <a:chExt cx="1697175" cy="653140"/>
            </a:xfrm>
          </p:grpSpPr>
          <p:grpSp>
            <p:nvGrpSpPr>
              <p:cNvPr id="175" name="Agrupar 174">
                <a:extLst>
                  <a:ext uri="{FF2B5EF4-FFF2-40B4-BE49-F238E27FC236}">
                    <a16:creationId xmlns:a16="http://schemas.microsoft.com/office/drawing/2014/main" id="{DF41AFBB-AC58-4D63-B948-602904B2B1E5}"/>
                  </a:ext>
                </a:extLst>
              </p:cNvPr>
              <p:cNvGrpSpPr/>
              <p:nvPr/>
            </p:nvGrpSpPr>
            <p:grpSpPr>
              <a:xfrm>
                <a:off x="527167" y="4112057"/>
                <a:ext cx="1692975" cy="468000"/>
                <a:chOff x="524489" y="4112057"/>
                <a:chExt cx="1692975" cy="468000"/>
              </a:xfrm>
            </p:grpSpPr>
            <p:sp>
              <p:nvSpPr>
                <p:cNvPr id="177" name="Retângulo 14">
                  <a:extLst>
                    <a:ext uri="{FF2B5EF4-FFF2-40B4-BE49-F238E27FC236}">
                      <a16:creationId xmlns:a16="http://schemas.microsoft.com/office/drawing/2014/main" id="{91CDE8E8-4532-45A7-A980-0914B736024E}"/>
                    </a:ext>
                  </a:extLst>
                </p:cNvPr>
                <p:cNvSpPr/>
                <p:nvPr/>
              </p:nvSpPr>
              <p:spPr>
                <a:xfrm>
                  <a:off x="524489" y="4112057"/>
                  <a:ext cx="1692975" cy="468000"/>
                </a:xfrm>
                <a:prstGeom prst="rect">
                  <a:avLst/>
                </a:prstGeom>
                <a:solidFill>
                  <a:schemeClr val="bg2">
                    <a:lumMod val="90000"/>
                  </a:schemeClr>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t-BR" sz="1600" b="0" i="0" u="none" strike="noStrike" kern="1200" cap="none" spc="0" baseline="0">
                    <a:solidFill>
                      <a:schemeClr val="bg1"/>
                    </a:solidFill>
                    <a:uFillTx/>
                    <a:latin typeface="SamsungOne 400"/>
                    <a:ea typeface="SamsungOneKoreanOTF 400"/>
                  </a:endParaRPr>
                </a:p>
              </p:txBody>
            </p:sp>
            <p:sp>
              <p:nvSpPr>
                <p:cNvPr id="178" name="CaixaDeTexto 8">
                  <a:extLst>
                    <a:ext uri="{FF2B5EF4-FFF2-40B4-BE49-F238E27FC236}">
                      <a16:creationId xmlns:a16="http://schemas.microsoft.com/office/drawing/2014/main" id="{455D584F-EA93-4D58-BCDD-EF2BCB354146}"/>
                    </a:ext>
                  </a:extLst>
                </p:cNvPr>
                <p:cNvSpPr txBox="1"/>
                <p:nvPr/>
              </p:nvSpPr>
              <p:spPr>
                <a:xfrm>
                  <a:off x="1570061" y="4182168"/>
                  <a:ext cx="576000" cy="338554"/>
                </a:xfrm>
                <a:prstGeom prst="rect">
                  <a:avLst/>
                </a:prstGeom>
                <a:noFill/>
                <a:ln cap="flat">
                  <a:noFill/>
                </a:ln>
              </p:spPr>
              <p:txBody>
                <a:bodyPr vert="horz" wrap="square" lIns="91440" tIns="45720" rIns="91440" bIns="45720" anchor="t" anchorCtr="0"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t-BR" sz="1600" b="1" i="0" u="none" strike="noStrike" kern="1200" cap="none" spc="0" baseline="0">
                      <a:solidFill>
                        <a:srgbClr val="1428A0"/>
                      </a:solidFill>
                      <a:uFillTx/>
                      <a:latin typeface="SamsungOne 400"/>
                      <a:ea typeface="SamsungOneKoreanOTF 400"/>
                    </a:rPr>
                    <a:t>3.3</a:t>
                  </a:r>
                </a:p>
              </p:txBody>
            </p:sp>
            <p:sp>
              <p:nvSpPr>
                <p:cNvPr id="179" name="CaixaDeTexto 7">
                  <a:extLst>
                    <a:ext uri="{FF2B5EF4-FFF2-40B4-BE49-F238E27FC236}">
                      <a16:creationId xmlns:a16="http://schemas.microsoft.com/office/drawing/2014/main" id="{87994414-4CD1-4F3C-AEC2-3625891EE941}"/>
                    </a:ext>
                  </a:extLst>
                </p:cNvPr>
                <p:cNvSpPr txBox="1"/>
                <p:nvPr/>
              </p:nvSpPr>
              <p:spPr>
                <a:xfrm>
                  <a:off x="533834" y="4184385"/>
                  <a:ext cx="1000596" cy="338554"/>
                </a:xfrm>
                <a:prstGeom prst="rect">
                  <a:avLst/>
                </a:prstGeom>
                <a:noFill/>
                <a:ln cap="flat">
                  <a:noFill/>
                </a:ln>
              </p:spPr>
              <p:txBody>
                <a:bodyPr vert="horz" wrap="square" lIns="91440" tIns="45720" rIns="91440" bIns="45720" anchor="t" anchorCtr="0" compatLnSpc="1">
                  <a:spAutoFit/>
                </a:bodyPr>
                <a:lstStyle/>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t-BR" sz="1600">
                      <a:latin typeface="SamsungOne 400"/>
                      <a:ea typeface="SamsungOneKoreanOTF 400"/>
                    </a:rPr>
                    <a:t>R$ 1.95M</a:t>
                  </a:r>
                  <a:endParaRPr lang="pt-BR" sz="1600" b="0" i="0" u="none" strike="noStrike" kern="1200" cap="none" spc="0" baseline="0">
                    <a:uFillTx/>
                    <a:latin typeface="SamsungOne 400"/>
                    <a:ea typeface="SamsungOneKoreanOTF 400"/>
                  </a:endParaRPr>
                </a:p>
              </p:txBody>
            </p:sp>
          </p:grpSp>
          <p:sp>
            <p:nvSpPr>
              <p:cNvPr id="176" name="Retângulo 27">
                <a:extLst>
                  <a:ext uri="{FF2B5EF4-FFF2-40B4-BE49-F238E27FC236}">
                    <a16:creationId xmlns:a16="http://schemas.microsoft.com/office/drawing/2014/main" id="{BC0B6768-5403-40C7-A651-5BE1B311A45F}"/>
                  </a:ext>
                </a:extLst>
              </p:cNvPr>
              <p:cNvSpPr/>
              <p:nvPr/>
            </p:nvSpPr>
            <p:spPr>
              <a:xfrm>
                <a:off x="531367" y="3926917"/>
                <a:ext cx="1692975" cy="185818"/>
              </a:xfrm>
              <a:prstGeom prst="rect">
                <a:avLst/>
              </a:prstGeom>
              <a:solidFill>
                <a:srgbClr val="203764"/>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t-BR" sz="1000">
                    <a:solidFill>
                      <a:srgbClr val="FFFFFF"/>
                    </a:solidFill>
                    <a:latin typeface="SamsungOne 400"/>
                    <a:ea typeface="SamsungOneKoreanOTF 400"/>
                  </a:rPr>
                  <a:t>E-MAIL</a:t>
                </a:r>
                <a:endParaRPr lang="pt-BR" sz="1000" b="0" i="0" u="none" strike="noStrike" kern="1200" cap="none" spc="0" baseline="0">
                  <a:solidFill>
                    <a:srgbClr val="FFFFFF"/>
                  </a:solidFill>
                  <a:uFillTx/>
                  <a:latin typeface="SamsungOne 400"/>
                  <a:ea typeface="SamsungOneKoreanOTF 400"/>
                </a:endParaRPr>
              </a:p>
            </p:txBody>
          </p:sp>
        </p:grpSp>
        <p:grpSp>
          <p:nvGrpSpPr>
            <p:cNvPr id="103" name="Agrupar 102">
              <a:extLst>
                <a:ext uri="{FF2B5EF4-FFF2-40B4-BE49-F238E27FC236}">
                  <a16:creationId xmlns:a16="http://schemas.microsoft.com/office/drawing/2014/main" id="{CC4F289C-737D-4F4C-BC25-8E979490BDDA}"/>
                </a:ext>
              </a:extLst>
            </p:cNvPr>
            <p:cNvGrpSpPr/>
            <p:nvPr/>
          </p:nvGrpSpPr>
          <p:grpSpPr>
            <a:xfrm>
              <a:off x="520224" y="4709337"/>
              <a:ext cx="1711381" cy="653429"/>
              <a:chOff x="517546" y="4602374"/>
              <a:chExt cx="1711381" cy="653429"/>
            </a:xfrm>
          </p:grpSpPr>
          <p:grpSp>
            <p:nvGrpSpPr>
              <p:cNvPr id="170" name="Agrupar 169">
                <a:extLst>
                  <a:ext uri="{FF2B5EF4-FFF2-40B4-BE49-F238E27FC236}">
                    <a16:creationId xmlns:a16="http://schemas.microsoft.com/office/drawing/2014/main" id="{F18CE39F-9219-4710-A674-040FC2F1930B}"/>
                  </a:ext>
                </a:extLst>
              </p:cNvPr>
              <p:cNvGrpSpPr/>
              <p:nvPr/>
            </p:nvGrpSpPr>
            <p:grpSpPr>
              <a:xfrm>
                <a:off x="517546" y="4787803"/>
                <a:ext cx="1711381" cy="468000"/>
                <a:chOff x="523652" y="4787803"/>
                <a:chExt cx="1711381" cy="468000"/>
              </a:xfrm>
            </p:grpSpPr>
            <p:sp>
              <p:nvSpPr>
                <p:cNvPr id="172" name="Retângulo 14">
                  <a:extLst>
                    <a:ext uri="{FF2B5EF4-FFF2-40B4-BE49-F238E27FC236}">
                      <a16:creationId xmlns:a16="http://schemas.microsoft.com/office/drawing/2014/main" id="{847D3968-F779-4850-8839-0110F616213B}"/>
                    </a:ext>
                  </a:extLst>
                </p:cNvPr>
                <p:cNvSpPr/>
                <p:nvPr/>
              </p:nvSpPr>
              <p:spPr>
                <a:xfrm>
                  <a:off x="542058" y="4787803"/>
                  <a:ext cx="1692975" cy="468000"/>
                </a:xfrm>
                <a:prstGeom prst="rect">
                  <a:avLst/>
                </a:prstGeom>
                <a:solidFill>
                  <a:schemeClr val="bg2">
                    <a:lumMod val="90000"/>
                  </a:schemeClr>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t-BR" sz="1600" b="0" i="0" u="none" strike="noStrike" kern="1200" cap="none" spc="0" baseline="0">
                    <a:solidFill>
                      <a:schemeClr val="bg1"/>
                    </a:solidFill>
                    <a:uFillTx/>
                    <a:latin typeface="SamsungOne 400"/>
                    <a:ea typeface="SamsungOneKoreanOTF 400"/>
                  </a:endParaRPr>
                </a:p>
              </p:txBody>
            </p:sp>
            <p:sp>
              <p:nvSpPr>
                <p:cNvPr id="173" name="CaixaDeTexto 8">
                  <a:extLst>
                    <a:ext uri="{FF2B5EF4-FFF2-40B4-BE49-F238E27FC236}">
                      <a16:creationId xmlns:a16="http://schemas.microsoft.com/office/drawing/2014/main" id="{F7E1CC2B-12A4-4A9E-8961-D260AEC7C91D}"/>
                    </a:ext>
                  </a:extLst>
                </p:cNvPr>
                <p:cNvSpPr txBox="1"/>
                <p:nvPr/>
              </p:nvSpPr>
              <p:spPr>
                <a:xfrm>
                  <a:off x="1570484" y="4870027"/>
                  <a:ext cx="576000" cy="338554"/>
                </a:xfrm>
                <a:prstGeom prst="rect">
                  <a:avLst/>
                </a:prstGeom>
                <a:noFill/>
                <a:ln cap="flat">
                  <a:noFill/>
                </a:ln>
              </p:spPr>
              <p:txBody>
                <a:bodyPr vert="horz" wrap="square" lIns="91440" tIns="45720" rIns="91440" bIns="45720" anchor="t" anchorCtr="0"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t-BR" sz="1600" b="1">
                      <a:solidFill>
                        <a:srgbClr val="1428A0"/>
                      </a:solidFill>
                      <a:latin typeface="SamsungOne 400"/>
                      <a:ea typeface="SamsungOneKoreanOTF 400"/>
                    </a:rPr>
                    <a:t>9.8</a:t>
                  </a:r>
                  <a:endParaRPr lang="pt-BR" sz="1600" b="1" i="0" u="none" strike="noStrike" kern="1200" cap="none" spc="0" baseline="0">
                    <a:solidFill>
                      <a:srgbClr val="1428A0"/>
                    </a:solidFill>
                    <a:uFillTx/>
                    <a:latin typeface="SamsungOne 400"/>
                    <a:ea typeface="SamsungOneKoreanOTF 400"/>
                  </a:endParaRPr>
                </a:p>
              </p:txBody>
            </p:sp>
            <p:sp>
              <p:nvSpPr>
                <p:cNvPr id="174" name="CaixaDeTexto 7">
                  <a:extLst>
                    <a:ext uri="{FF2B5EF4-FFF2-40B4-BE49-F238E27FC236}">
                      <a16:creationId xmlns:a16="http://schemas.microsoft.com/office/drawing/2014/main" id="{B86C9B11-A132-4E60-8E1A-10DDB0217800}"/>
                    </a:ext>
                  </a:extLst>
                </p:cNvPr>
                <p:cNvSpPr txBox="1"/>
                <p:nvPr/>
              </p:nvSpPr>
              <p:spPr>
                <a:xfrm>
                  <a:off x="523652" y="4847792"/>
                  <a:ext cx="936000" cy="338554"/>
                </a:xfrm>
                <a:prstGeom prst="rect">
                  <a:avLst/>
                </a:prstGeom>
                <a:noFill/>
                <a:ln cap="flat">
                  <a:noFill/>
                </a:ln>
              </p:spPr>
              <p:txBody>
                <a:bodyPr vert="horz" wrap="square" lIns="91440" tIns="45720" rIns="91440" bIns="45720" anchor="t" anchorCtr="0" compatLnSpc="1">
                  <a:spAutoFit/>
                </a:bodyPr>
                <a:lstStyle/>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t-BR" sz="1600">
                      <a:latin typeface="SamsungOne 400"/>
                      <a:ea typeface="SamsungOneKoreanOTF 400"/>
                    </a:rPr>
                    <a:t>R$ 32,2k</a:t>
                  </a:r>
                  <a:endParaRPr lang="pt-BR" sz="1600" b="0" i="0" u="none" strike="noStrike" kern="1200" cap="none" spc="0" baseline="0">
                    <a:uFillTx/>
                    <a:latin typeface="SamsungOne 400"/>
                    <a:ea typeface="SamsungOneKoreanOTF 400"/>
                  </a:endParaRPr>
                </a:p>
              </p:txBody>
            </p:sp>
          </p:grpSp>
          <p:sp>
            <p:nvSpPr>
              <p:cNvPr id="171" name="Retângulo 27">
                <a:extLst>
                  <a:ext uri="{FF2B5EF4-FFF2-40B4-BE49-F238E27FC236}">
                    <a16:creationId xmlns:a16="http://schemas.microsoft.com/office/drawing/2014/main" id="{D1FBA49A-1A96-472B-A385-13ADBAFEAA8E}"/>
                  </a:ext>
                </a:extLst>
              </p:cNvPr>
              <p:cNvSpPr/>
              <p:nvPr/>
            </p:nvSpPr>
            <p:spPr>
              <a:xfrm>
                <a:off x="531367" y="4602374"/>
                <a:ext cx="1692975" cy="185818"/>
              </a:xfrm>
              <a:prstGeom prst="rect">
                <a:avLst/>
              </a:prstGeom>
              <a:solidFill>
                <a:srgbClr val="203764"/>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t-BR" sz="1000">
                    <a:solidFill>
                      <a:srgbClr val="FFFFFF"/>
                    </a:solidFill>
                    <a:latin typeface="SamsungOne 400"/>
                    <a:ea typeface="SamsungOneKoreanOTF 400"/>
                  </a:rPr>
                  <a:t>PUSH</a:t>
                </a:r>
                <a:endParaRPr lang="pt-BR" sz="1000" b="0" i="0" u="none" strike="noStrike" kern="1200" cap="none" spc="0" baseline="0">
                  <a:solidFill>
                    <a:srgbClr val="FFFFFF"/>
                  </a:solidFill>
                  <a:uFillTx/>
                  <a:latin typeface="SamsungOne 400"/>
                  <a:ea typeface="SamsungOneKoreanOTF 400"/>
                </a:endParaRPr>
              </a:p>
            </p:txBody>
          </p:sp>
        </p:grpSp>
        <p:grpSp>
          <p:nvGrpSpPr>
            <p:cNvPr id="118" name="Agrupar 117">
              <a:extLst>
                <a:ext uri="{FF2B5EF4-FFF2-40B4-BE49-F238E27FC236}">
                  <a16:creationId xmlns:a16="http://schemas.microsoft.com/office/drawing/2014/main" id="{B20762E7-AB5F-4091-89BD-078C6D7A38B5}"/>
                </a:ext>
              </a:extLst>
            </p:cNvPr>
            <p:cNvGrpSpPr/>
            <p:nvPr/>
          </p:nvGrpSpPr>
          <p:grpSpPr>
            <a:xfrm>
              <a:off x="534012" y="5392106"/>
              <a:ext cx="1697593" cy="653429"/>
              <a:chOff x="526749" y="5283352"/>
              <a:chExt cx="1697593" cy="653429"/>
            </a:xfrm>
          </p:grpSpPr>
          <p:grpSp>
            <p:nvGrpSpPr>
              <p:cNvPr id="165" name="Agrupar 164">
                <a:extLst>
                  <a:ext uri="{FF2B5EF4-FFF2-40B4-BE49-F238E27FC236}">
                    <a16:creationId xmlns:a16="http://schemas.microsoft.com/office/drawing/2014/main" id="{D0E9ED49-C2DB-4DBA-8478-C4EFC6F7ACAB}"/>
                  </a:ext>
                </a:extLst>
              </p:cNvPr>
              <p:cNvGrpSpPr/>
              <p:nvPr/>
            </p:nvGrpSpPr>
            <p:grpSpPr>
              <a:xfrm>
                <a:off x="526749" y="5468781"/>
                <a:ext cx="1692975" cy="468000"/>
                <a:chOff x="520957" y="5468781"/>
                <a:chExt cx="1692975" cy="468000"/>
              </a:xfrm>
            </p:grpSpPr>
            <p:sp>
              <p:nvSpPr>
                <p:cNvPr id="167" name="Retângulo 14">
                  <a:extLst>
                    <a:ext uri="{FF2B5EF4-FFF2-40B4-BE49-F238E27FC236}">
                      <a16:creationId xmlns:a16="http://schemas.microsoft.com/office/drawing/2014/main" id="{B1924636-AA8A-4256-A703-33D47251B5FA}"/>
                    </a:ext>
                  </a:extLst>
                </p:cNvPr>
                <p:cNvSpPr/>
                <p:nvPr/>
              </p:nvSpPr>
              <p:spPr>
                <a:xfrm>
                  <a:off x="520957" y="5468781"/>
                  <a:ext cx="1692975" cy="468000"/>
                </a:xfrm>
                <a:prstGeom prst="rect">
                  <a:avLst/>
                </a:prstGeom>
                <a:solidFill>
                  <a:schemeClr val="bg2">
                    <a:lumMod val="90000"/>
                  </a:schemeClr>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t-BR" sz="1600" b="0" i="0" u="none" strike="noStrike" kern="1200" cap="none" spc="0" baseline="0">
                    <a:solidFill>
                      <a:schemeClr val="bg1"/>
                    </a:solidFill>
                    <a:uFillTx/>
                    <a:latin typeface="SamsungOne 400"/>
                    <a:ea typeface="SamsungOneKoreanOTF 400"/>
                  </a:endParaRPr>
                </a:p>
              </p:txBody>
            </p:sp>
            <p:sp>
              <p:nvSpPr>
                <p:cNvPr id="168" name="CaixaDeTexto 8">
                  <a:extLst>
                    <a:ext uri="{FF2B5EF4-FFF2-40B4-BE49-F238E27FC236}">
                      <a16:creationId xmlns:a16="http://schemas.microsoft.com/office/drawing/2014/main" id="{F04AD957-B495-4608-9E54-EDE7C91376DF}"/>
                    </a:ext>
                  </a:extLst>
                </p:cNvPr>
                <p:cNvSpPr txBox="1"/>
                <p:nvPr/>
              </p:nvSpPr>
              <p:spPr>
                <a:xfrm>
                  <a:off x="1556286" y="5538238"/>
                  <a:ext cx="576000" cy="338554"/>
                </a:xfrm>
                <a:prstGeom prst="rect">
                  <a:avLst/>
                </a:prstGeom>
                <a:noFill/>
                <a:ln cap="flat">
                  <a:noFill/>
                </a:ln>
              </p:spPr>
              <p:txBody>
                <a:bodyPr vert="horz" wrap="square" lIns="91440" tIns="45720" rIns="91440" bIns="45720" anchor="t" anchorCtr="0"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t-BR" sz="1600" b="1">
                      <a:solidFill>
                        <a:srgbClr val="1428A0"/>
                      </a:solidFill>
                      <a:latin typeface="SamsungOne 400"/>
                      <a:ea typeface="SamsungOneKoreanOTF 400"/>
                    </a:rPr>
                    <a:t>1.11</a:t>
                  </a:r>
                  <a:endParaRPr lang="pt-BR" sz="1600" b="1" i="0" u="none" strike="noStrike" kern="1200" cap="none" spc="0" baseline="0">
                    <a:solidFill>
                      <a:srgbClr val="1428A0"/>
                    </a:solidFill>
                    <a:uFillTx/>
                    <a:latin typeface="SamsungOne 400"/>
                    <a:ea typeface="SamsungOneKoreanOTF 400"/>
                  </a:endParaRPr>
                </a:p>
              </p:txBody>
            </p:sp>
            <p:sp>
              <p:nvSpPr>
                <p:cNvPr id="169" name="CaixaDeTexto 7">
                  <a:extLst>
                    <a:ext uri="{FF2B5EF4-FFF2-40B4-BE49-F238E27FC236}">
                      <a16:creationId xmlns:a16="http://schemas.microsoft.com/office/drawing/2014/main" id="{4B07D0CE-437E-4080-A2F6-95EBEC7D1E59}"/>
                    </a:ext>
                  </a:extLst>
                </p:cNvPr>
                <p:cNvSpPr txBox="1"/>
                <p:nvPr/>
              </p:nvSpPr>
              <p:spPr>
                <a:xfrm>
                  <a:off x="525575" y="5528770"/>
                  <a:ext cx="936000" cy="338554"/>
                </a:xfrm>
                <a:prstGeom prst="rect">
                  <a:avLst/>
                </a:prstGeom>
                <a:noFill/>
                <a:ln cap="flat">
                  <a:noFill/>
                </a:ln>
              </p:spPr>
              <p:txBody>
                <a:bodyPr vert="horz" wrap="square" lIns="91440" tIns="45720" rIns="91440" bIns="45720" anchor="t" anchorCtr="0" compatLnSpc="1">
                  <a:spAutoFit/>
                </a:bodyPr>
                <a:lstStyle/>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t-BR" sz="1600">
                      <a:latin typeface="SamsungOne 400"/>
                      <a:ea typeface="SamsungOneKoreanOTF 400"/>
                    </a:rPr>
                    <a:t>R$ 47.2k</a:t>
                  </a:r>
                  <a:endParaRPr lang="pt-BR" sz="1600" b="0" i="0" u="none" strike="noStrike" kern="1200" cap="none" spc="0" baseline="0">
                    <a:uFillTx/>
                    <a:latin typeface="SamsungOne 400"/>
                    <a:ea typeface="SamsungOneKoreanOTF 400"/>
                  </a:endParaRPr>
                </a:p>
              </p:txBody>
            </p:sp>
          </p:grpSp>
          <p:sp>
            <p:nvSpPr>
              <p:cNvPr id="166" name="Retângulo 27">
                <a:extLst>
                  <a:ext uri="{FF2B5EF4-FFF2-40B4-BE49-F238E27FC236}">
                    <a16:creationId xmlns:a16="http://schemas.microsoft.com/office/drawing/2014/main" id="{084D04CD-782C-4957-A634-F4DF07071456}"/>
                  </a:ext>
                </a:extLst>
              </p:cNvPr>
              <p:cNvSpPr/>
              <p:nvPr/>
            </p:nvSpPr>
            <p:spPr>
              <a:xfrm>
                <a:off x="531367" y="5283352"/>
                <a:ext cx="1692975" cy="185818"/>
              </a:xfrm>
              <a:prstGeom prst="rect">
                <a:avLst/>
              </a:prstGeom>
              <a:solidFill>
                <a:srgbClr val="203764"/>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t-BR" sz="1000">
                    <a:solidFill>
                      <a:srgbClr val="FFFFFF"/>
                    </a:solidFill>
                    <a:latin typeface="SamsungOne 400"/>
                    <a:ea typeface="SamsungOneKoreanOTF 400"/>
                  </a:rPr>
                  <a:t>WEB PUSH</a:t>
                </a:r>
                <a:endParaRPr lang="pt-BR" sz="1000" b="0" i="0" u="none" strike="noStrike" kern="1200" cap="none" spc="0" baseline="0">
                  <a:solidFill>
                    <a:srgbClr val="FFFFFF"/>
                  </a:solidFill>
                  <a:uFillTx/>
                  <a:latin typeface="SamsungOne 400"/>
                  <a:ea typeface="SamsungOneKoreanOTF 400"/>
                </a:endParaRPr>
              </a:p>
            </p:txBody>
          </p:sp>
        </p:grpSp>
        <p:grpSp>
          <p:nvGrpSpPr>
            <p:cNvPr id="151" name="Agrupar 150">
              <a:extLst>
                <a:ext uri="{FF2B5EF4-FFF2-40B4-BE49-F238E27FC236}">
                  <a16:creationId xmlns:a16="http://schemas.microsoft.com/office/drawing/2014/main" id="{7944D70E-56C4-4396-8052-4FB0C6F5BF09}"/>
                </a:ext>
              </a:extLst>
            </p:cNvPr>
            <p:cNvGrpSpPr/>
            <p:nvPr/>
          </p:nvGrpSpPr>
          <p:grpSpPr>
            <a:xfrm>
              <a:off x="534012" y="6065348"/>
              <a:ext cx="1697593" cy="653429"/>
              <a:chOff x="526749" y="5991460"/>
              <a:chExt cx="1697593" cy="653429"/>
            </a:xfrm>
          </p:grpSpPr>
          <p:grpSp>
            <p:nvGrpSpPr>
              <p:cNvPr id="160" name="Agrupar 159">
                <a:extLst>
                  <a:ext uri="{FF2B5EF4-FFF2-40B4-BE49-F238E27FC236}">
                    <a16:creationId xmlns:a16="http://schemas.microsoft.com/office/drawing/2014/main" id="{A8D39D57-FBC8-4F54-95D6-14B633D66F53}"/>
                  </a:ext>
                </a:extLst>
              </p:cNvPr>
              <p:cNvGrpSpPr/>
              <p:nvPr/>
            </p:nvGrpSpPr>
            <p:grpSpPr>
              <a:xfrm>
                <a:off x="526749" y="6176889"/>
                <a:ext cx="1692975" cy="468000"/>
                <a:chOff x="502551" y="6130709"/>
                <a:chExt cx="1692975" cy="468000"/>
              </a:xfrm>
            </p:grpSpPr>
            <p:sp>
              <p:nvSpPr>
                <p:cNvPr id="162" name="Retângulo 14">
                  <a:extLst>
                    <a:ext uri="{FF2B5EF4-FFF2-40B4-BE49-F238E27FC236}">
                      <a16:creationId xmlns:a16="http://schemas.microsoft.com/office/drawing/2014/main" id="{BC3D9270-9508-4373-93CB-32F3EE2B8C05}"/>
                    </a:ext>
                  </a:extLst>
                </p:cNvPr>
                <p:cNvSpPr/>
                <p:nvPr/>
              </p:nvSpPr>
              <p:spPr>
                <a:xfrm>
                  <a:off x="502551" y="6130709"/>
                  <a:ext cx="1692975" cy="468000"/>
                </a:xfrm>
                <a:prstGeom prst="rect">
                  <a:avLst/>
                </a:prstGeom>
                <a:solidFill>
                  <a:schemeClr val="bg2">
                    <a:lumMod val="90000"/>
                  </a:schemeClr>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t-BR" sz="1600" b="0" i="0" u="none" strike="noStrike" kern="1200" cap="none" spc="0" baseline="0">
                    <a:solidFill>
                      <a:schemeClr val="bg1"/>
                    </a:solidFill>
                    <a:uFillTx/>
                    <a:latin typeface="SamsungOne 400"/>
                    <a:ea typeface="SamsungOneKoreanOTF 400"/>
                  </a:endParaRPr>
                </a:p>
              </p:txBody>
            </p:sp>
            <p:sp>
              <p:nvSpPr>
                <p:cNvPr id="163" name="CaixaDeTexto 8">
                  <a:extLst>
                    <a:ext uri="{FF2B5EF4-FFF2-40B4-BE49-F238E27FC236}">
                      <a16:creationId xmlns:a16="http://schemas.microsoft.com/office/drawing/2014/main" id="{5AFC87A9-358E-4D46-B453-725BDE7ACFE6}"/>
                    </a:ext>
                  </a:extLst>
                </p:cNvPr>
                <p:cNvSpPr txBox="1"/>
                <p:nvPr/>
              </p:nvSpPr>
              <p:spPr>
                <a:xfrm>
                  <a:off x="1572430" y="6173376"/>
                  <a:ext cx="576000" cy="338554"/>
                </a:xfrm>
                <a:prstGeom prst="rect">
                  <a:avLst/>
                </a:prstGeom>
                <a:noFill/>
                <a:ln cap="flat">
                  <a:noFill/>
                </a:ln>
              </p:spPr>
              <p:txBody>
                <a:bodyPr vert="horz" wrap="square" lIns="91440" tIns="45720" rIns="91440" bIns="45720" anchor="t" anchorCtr="0"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t-BR" sz="1600" b="1">
                      <a:solidFill>
                        <a:srgbClr val="1428A0"/>
                      </a:solidFill>
                      <a:latin typeface="SamsungOne 400"/>
                      <a:ea typeface="SamsungOneKoreanOTF 400"/>
                    </a:rPr>
                    <a:t>0.00</a:t>
                  </a:r>
                  <a:endParaRPr lang="pt-BR" sz="1600" b="1" i="0" u="none" strike="noStrike" kern="1200" cap="none" spc="0" baseline="0">
                    <a:solidFill>
                      <a:srgbClr val="1428A0"/>
                    </a:solidFill>
                    <a:uFillTx/>
                    <a:latin typeface="SamsungOne 400"/>
                    <a:ea typeface="SamsungOneKoreanOTF 400"/>
                  </a:endParaRPr>
                </a:p>
              </p:txBody>
            </p:sp>
            <p:sp>
              <p:nvSpPr>
                <p:cNvPr id="164" name="CaixaDeTexto 7">
                  <a:extLst>
                    <a:ext uri="{FF2B5EF4-FFF2-40B4-BE49-F238E27FC236}">
                      <a16:creationId xmlns:a16="http://schemas.microsoft.com/office/drawing/2014/main" id="{9E352072-B857-4285-BB55-E37B6405AF26}"/>
                    </a:ext>
                  </a:extLst>
                </p:cNvPr>
                <p:cNvSpPr txBox="1"/>
                <p:nvPr/>
              </p:nvSpPr>
              <p:spPr>
                <a:xfrm>
                  <a:off x="523265" y="6191816"/>
                  <a:ext cx="936000" cy="338554"/>
                </a:xfrm>
                <a:prstGeom prst="rect">
                  <a:avLst/>
                </a:prstGeom>
                <a:noFill/>
                <a:ln cap="flat">
                  <a:noFill/>
                </a:ln>
              </p:spPr>
              <p:txBody>
                <a:bodyPr vert="horz" wrap="square" lIns="91440" tIns="45720" rIns="91440" bIns="45720" anchor="t" anchorCtr="0" compatLnSpc="1">
                  <a:spAutoFit/>
                </a:bodyPr>
                <a:lstStyle/>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t-BR" sz="1600">
                      <a:latin typeface="SamsungOne 400"/>
                      <a:ea typeface="SamsungOneKoreanOTF 400"/>
                    </a:rPr>
                    <a:t>R$ 0</a:t>
                  </a:r>
                  <a:endParaRPr lang="pt-BR" sz="1600" b="0" i="0" u="none" strike="noStrike" kern="1200" cap="none" spc="0" baseline="0">
                    <a:uFillTx/>
                    <a:latin typeface="SamsungOne 400"/>
                    <a:ea typeface="SamsungOneKoreanOTF 400"/>
                  </a:endParaRPr>
                </a:p>
              </p:txBody>
            </p:sp>
          </p:grpSp>
          <p:sp>
            <p:nvSpPr>
              <p:cNvPr id="161" name="Retângulo 27">
                <a:extLst>
                  <a:ext uri="{FF2B5EF4-FFF2-40B4-BE49-F238E27FC236}">
                    <a16:creationId xmlns:a16="http://schemas.microsoft.com/office/drawing/2014/main" id="{839D7F11-A9F9-473A-BDCE-BB4D52E8FA85}"/>
                  </a:ext>
                </a:extLst>
              </p:cNvPr>
              <p:cNvSpPr/>
              <p:nvPr/>
            </p:nvSpPr>
            <p:spPr>
              <a:xfrm>
                <a:off x="531367" y="5991460"/>
                <a:ext cx="1692975" cy="185818"/>
              </a:xfrm>
              <a:prstGeom prst="rect">
                <a:avLst/>
              </a:prstGeom>
              <a:solidFill>
                <a:srgbClr val="203764"/>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t-BR" sz="1000">
                    <a:solidFill>
                      <a:srgbClr val="FFFFFF"/>
                    </a:solidFill>
                    <a:latin typeface="SamsungOne 400"/>
                    <a:ea typeface="SamsungOneKoreanOTF 400"/>
                  </a:rPr>
                  <a:t>WHATSAPP</a:t>
                </a:r>
                <a:endParaRPr lang="pt-BR" sz="1000" b="0" i="0" u="none" strike="noStrike" kern="1200" cap="none" spc="0" baseline="0">
                  <a:solidFill>
                    <a:srgbClr val="FFFFFF"/>
                  </a:solidFill>
                  <a:uFillTx/>
                  <a:latin typeface="SamsungOne 400"/>
                  <a:ea typeface="SamsungOneKoreanOTF 400"/>
                </a:endParaRPr>
              </a:p>
            </p:txBody>
          </p:sp>
        </p:grpSp>
      </p:grpSp>
      <p:sp>
        <p:nvSpPr>
          <p:cNvPr id="192" name="Retângulo 191">
            <a:extLst>
              <a:ext uri="{FF2B5EF4-FFF2-40B4-BE49-F238E27FC236}">
                <a16:creationId xmlns:a16="http://schemas.microsoft.com/office/drawing/2014/main" id="{546A2E6E-E6D4-4DDF-A9E8-5F42E231CD2D}"/>
              </a:ext>
            </a:extLst>
          </p:cNvPr>
          <p:cNvSpPr/>
          <p:nvPr/>
        </p:nvSpPr>
        <p:spPr>
          <a:xfrm>
            <a:off x="387927" y="2247065"/>
            <a:ext cx="2004668" cy="4524599"/>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3" name="CaixaDeTexto 192">
            <a:extLst>
              <a:ext uri="{FF2B5EF4-FFF2-40B4-BE49-F238E27FC236}">
                <a16:creationId xmlns:a16="http://schemas.microsoft.com/office/drawing/2014/main" id="{046B88B5-043C-4544-9E6C-D22264CF6661}"/>
              </a:ext>
            </a:extLst>
          </p:cNvPr>
          <p:cNvSpPr txBox="1"/>
          <p:nvPr/>
        </p:nvSpPr>
        <p:spPr>
          <a:xfrm>
            <a:off x="543775" y="2064137"/>
            <a:ext cx="936000" cy="307777"/>
          </a:xfrm>
          <a:prstGeom prst="rect">
            <a:avLst/>
          </a:prstGeom>
          <a:solidFill>
            <a:sysClr val="window" lastClr="FFFFF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2060"/>
                </a:solidFill>
                <a:effectLst/>
                <a:uLnTx/>
                <a:uFillTx/>
                <a:latin typeface="Samsung Sharp Sans Bold" panose="02000503000000020004"/>
                <a:ea typeface="+mn-ea"/>
                <a:cs typeface="+mn-cs"/>
              </a:rPr>
              <a:t>Target</a:t>
            </a:r>
          </a:p>
        </p:txBody>
      </p:sp>
      <p:sp>
        <p:nvSpPr>
          <p:cNvPr id="88" name="Retângulo 87">
            <a:extLst>
              <a:ext uri="{FF2B5EF4-FFF2-40B4-BE49-F238E27FC236}">
                <a16:creationId xmlns:a16="http://schemas.microsoft.com/office/drawing/2014/main" id="{43BA8AF6-B1CD-46E2-B97D-CE8F6FF8E1BE}"/>
              </a:ext>
            </a:extLst>
          </p:cNvPr>
          <p:cNvSpPr/>
          <p:nvPr/>
        </p:nvSpPr>
        <p:spPr>
          <a:xfrm>
            <a:off x="9687882" y="1122699"/>
            <a:ext cx="1669498" cy="721195"/>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Samsung Sharp Sans Bold" pitchFamily="2" charset="0"/>
              <a:ea typeface="Samsung Sharp Sans Bold" pitchFamily="2" charset="0"/>
              <a:cs typeface="Samsung Sharp Sans Bold" pitchFamily="2" charset="0"/>
            </a:endParaRPr>
          </a:p>
        </p:txBody>
      </p:sp>
      <p:sp>
        <p:nvSpPr>
          <p:cNvPr id="89" name="CaixaDeTexto 88">
            <a:extLst>
              <a:ext uri="{FF2B5EF4-FFF2-40B4-BE49-F238E27FC236}">
                <a16:creationId xmlns:a16="http://schemas.microsoft.com/office/drawing/2014/main" id="{2CB282DE-42AF-4F8C-937C-F5BEECB41495}"/>
              </a:ext>
            </a:extLst>
          </p:cNvPr>
          <p:cNvSpPr txBox="1"/>
          <p:nvPr/>
        </p:nvSpPr>
        <p:spPr>
          <a:xfrm>
            <a:off x="1332363" y="1176529"/>
            <a:ext cx="1379624" cy="523220"/>
          </a:xfrm>
          <a:prstGeom prst="rect">
            <a:avLst/>
          </a:prstGeom>
          <a:noFill/>
          <a:ln>
            <a:noFill/>
          </a:ln>
        </p:spPr>
        <p:txBody>
          <a:bodyPr wrap="square" lIns="91440" tIns="45720" rIns="91440" bIns="45720" rtlCol="0" anchor="t">
            <a:spAutoFit/>
          </a:bodyPr>
          <a:lstStyle/>
          <a:p>
            <a:pPr algn="ctr"/>
            <a:r>
              <a:rPr lang="pt-BR" sz="2800" b="1"/>
              <a:t>674M</a:t>
            </a:r>
          </a:p>
        </p:txBody>
      </p:sp>
      <p:sp>
        <p:nvSpPr>
          <p:cNvPr id="90" name="CaixaDeTexto 89">
            <a:extLst>
              <a:ext uri="{FF2B5EF4-FFF2-40B4-BE49-F238E27FC236}">
                <a16:creationId xmlns:a16="http://schemas.microsoft.com/office/drawing/2014/main" id="{AAE498B3-4C29-4C51-81F2-48DED5118C26}"/>
              </a:ext>
            </a:extLst>
          </p:cNvPr>
          <p:cNvSpPr txBox="1"/>
          <p:nvPr/>
        </p:nvSpPr>
        <p:spPr>
          <a:xfrm>
            <a:off x="1590673" y="1575957"/>
            <a:ext cx="840506" cy="276999"/>
          </a:xfrm>
          <a:prstGeom prst="rect">
            <a:avLst/>
          </a:prstGeom>
          <a:noFill/>
        </p:spPr>
        <p:txBody>
          <a:bodyPr wrap="square" rtlCol="0">
            <a:spAutoFit/>
          </a:bodyPr>
          <a:lstStyle/>
          <a:p>
            <a:pPr algn="ctr"/>
            <a:r>
              <a:rPr lang="pt-BR" sz="1200" i="1"/>
              <a:t>Deliveries</a:t>
            </a:r>
          </a:p>
        </p:txBody>
      </p:sp>
      <p:sp>
        <p:nvSpPr>
          <p:cNvPr id="91" name="CaixaDeTexto 90">
            <a:extLst>
              <a:ext uri="{FF2B5EF4-FFF2-40B4-BE49-F238E27FC236}">
                <a16:creationId xmlns:a16="http://schemas.microsoft.com/office/drawing/2014/main" id="{CF9A7972-DFB1-4D83-BC3C-56674E88313B}"/>
              </a:ext>
            </a:extLst>
          </p:cNvPr>
          <p:cNvSpPr txBox="1"/>
          <p:nvPr/>
        </p:nvSpPr>
        <p:spPr>
          <a:xfrm flipH="1">
            <a:off x="1786724" y="1859413"/>
            <a:ext cx="549111" cy="276999"/>
          </a:xfrm>
          <a:prstGeom prst="rect">
            <a:avLst/>
          </a:prstGeom>
          <a:noFill/>
        </p:spPr>
        <p:txBody>
          <a:bodyPr wrap="square" rtlCol="0">
            <a:spAutoFit/>
          </a:bodyPr>
          <a:lstStyle/>
          <a:p>
            <a:pPr algn="ctr"/>
            <a:r>
              <a:rPr lang="pt-BR" sz="1200" i="1">
                <a:solidFill>
                  <a:srgbClr val="00B050"/>
                </a:solidFill>
              </a:rPr>
              <a:t>2.38</a:t>
            </a:r>
          </a:p>
        </p:txBody>
      </p:sp>
      <p:sp>
        <p:nvSpPr>
          <p:cNvPr id="92" name="CaixaDeTexto 91">
            <a:extLst>
              <a:ext uri="{FF2B5EF4-FFF2-40B4-BE49-F238E27FC236}">
                <a16:creationId xmlns:a16="http://schemas.microsoft.com/office/drawing/2014/main" id="{C0164C9C-0510-45B3-9020-78FE8C45C073}"/>
              </a:ext>
            </a:extLst>
          </p:cNvPr>
          <p:cNvSpPr txBox="1"/>
          <p:nvPr/>
        </p:nvSpPr>
        <p:spPr>
          <a:xfrm>
            <a:off x="3174118" y="1176529"/>
            <a:ext cx="1329758" cy="523220"/>
          </a:xfrm>
          <a:prstGeom prst="rect">
            <a:avLst/>
          </a:prstGeom>
          <a:noFill/>
        </p:spPr>
        <p:txBody>
          <a:bodyPr wrap="square" lIns="91440" tIns="45720" rIns="91440" bIns="45720" rtlCol="0" anchor="t">
            <a:spAutoFit/>
          </a:bodyPr>
          <a:lstStyle/>
          <a:p>
            <a:pPr algn="ctr"/>
            <a:r>
              <a:rPr lang="pt-BR" sz="2800" b="1"/>
              <a:t>59,7M</a:t>
            </a:r>
          </a:p>
        </p:txBody>
      </p:sp>
      <p:sp>
        <p:nvSpPr>
          <p:cNvPr id="94" name="CaixaDeTexto 93">
            <a:extLst>
              <a:ext uri="{FF2B5EF4-FFF2-40B4-BE49-F238E27FC236}">
                <a16:creationId xmlns:a16="http://schemas.microsoft.com/office/drawing/2014/main" id="{3E6C6981-5553-4813-A7C2-A7B6B6A78000}"/>
              </a:ext>
            </a:extLst>
          </p:cNvPr>
          <p:cNvSpPr txBox="1"/>
          <p:nvPr/>
        </p:nvSpPr>
        <p:spPr>
          <a:xfrm>
            <a:off x="3020136" y="1570007"/>
            <a:ext cx="1637908" cy="276999"/>
          </a:xfrm>
          <a:prstGeom prst="rect">
            <a:avLst/>
          </a:prstGeom>
          <a:noFill/>
          <a:ln>
            <a:noFill/>
          </a:ln>
        </p:spPr>
        <p:txBody>
          <a:bodyPr wrap="square" rtlCol="0">
            <a:spAutoFit/>
          </a:bodyPr>
          <a:lstStyle/>
          <a:p>
            <a:pPr algn="ctr"/>
            <a:r>
              <a:rPr lang="pt-BR" sz="1200" i="1"/>
              <a:t>Opens</a:t>
            </a:r>
          </a:p>
        </p:txBody>
      </p:sp>
      <p:sp>
        <p:nvSpPr>
          <p:cNvPr id="95" name="CaixaDeTexto 94">
            <a:extLst>
              <a:ext uri="{FF2B5EF4-FFF2-40B4-BE49-F238E27FC236}">
                <a16:creationId xmlns:a16="http://schemas.microsoft.com/office/drawing/2014/main" id="{12778128-1D2F-4229-958A-478F608577A7}"/>
              </a:ext>
            </a:extLst>
          </p:cNvPr>
          <p:cNvSpPr txBox="1"/>
          <p:nvPr/>
        </p:nvSpPr>
        <p:spPr>
          <a:xfrm>
            <a:off x="3569246" y="1859413"/>
            <a:ext cx="549112" cy="276999"/>
          </a:xfrm>
          <a:prstGeom prst="rect">
            <a:avLst/>
          </a:prstGeom>
          <a:noFill/>
        </p:spPr>
        <p:txBody>
          <a:bodyPr wrap="square" lIns="91440" tIns="45720" rIns="91440" bIns="45720" rtlCol="0" anchor="t">
            <a:spAutoFit/>
          </a:bodyPr>
          <a:lstStyle/>
          <a:p>
            <a:pPr algn="ctr"/>
            <a:r>
              <a:rPr lang="pt-BR" sz="1200" i="1">
                <a:solidFill>
                  <a:srgbClr val="00B050"/>
                </a:solidFill>
              </a:rPr>
              <a:t>2.40</a:t>
            </a:r>
          </a:p>
        </p:txBody>
      </p:sp>
      <p:sp>
        <p:nvSpPr>
          <p:cNvPr id="98" name="CaixaDeTexto 97">
            <a:extLst>
              <a:ext uri="{FF2B5EF4-FFF2-40B4-BE49-F238E27FC236}">
                <a16:creationId xmlns:a16="http://schemas.microsoft.com/office/drawing/2014/main" id="{18A76F19-7FED-4562-845C-6EC888A80A88}"/>
              </a:ext>
            </a:extLst>
          </p:cNvPr>
          <p:cNvSpPr txBox="1"/>
          <p:nvPr/>
        </p:nvSpPr>
        <p:spPr>
          <a:xfrm>
            <a:off x="4851819" y="1176529"/>
            <a:ext cx="1215188" cy="523220"/>
          </a:xfrm>
          <a:prstGeom prst="rect">
            <a:avLst/>
          </a:prstGeom>
          <a:noFill/>
          <a:ln>
            <a:noFill/>
          </a:ln>
        </p:spPr>
        <p:txBody>
          <a:bodyPr wrap="square" lIns="91440" tIns="45720" rIns="91440" bIns="45720" rtlCol="0" anchor="t">
            <a:spAutoFit/>
          </a:bodyPr>
          <a:lstStyle/>
          <a:p>
            <a:pPr algn="ctr"/>
            <a:r>
              <a:rPr lang="pt-BR" sz="2800" b="1"/>
              <a:t>464,4k</a:t>
            </a:r>
          </a:p>
        </p:txBody>
      </p:sp>
      <p:sp>
        <p:nvSpPr>
          <p:cNvPr id="109" name="CaixaDeTexto 108">
            <a:extLst>
              <a:ext uri="{FF2B5EF4-FFF2-40B4-BE49-F238E27FC236}">
                <a16:creationId xmlns:a16="http://schemas.microsoft.com/office/drawing/2014/main" id="{A6DB665D-3AF5-4EA6-9CC5-EE1DE3773DB9}"/>
              </a:ext>
            </a:extLst>
          </p:cNvPr>
          <p:cNvSpPr txBox="1"/>
          <p:nvPr/>
        </p:nvSpPr>
        <p:spPr>
          <a:xfrm>
            <a:off x="5014810" y="1570007"/>
            <a:ext cx="847261" cy="276999"/>
          </a:xfrm>
          <a:prstGeom prst="rect">
            <a:avLst/>
          </a:prstGeom>
          <a:noFill/>
        </p:spPr>
        <p:txBody>
          <a:bodyPr wrap="square" rtlCol="0">
            <a:spAutoFit/>
          </a:bodyPr>
          <a:lstStyle/>
          <a:p>
            <a:pPr algn="ctr"/>
            <a:r>
              <a:rPr lang="pt-BR" sz="1200" i="1"/>
              <a:t>Cliques</a:t>
            </a:r>
          </a:p>
        </p:txBody>
      </p:sp>
      <p:sp>
        <p:nvSpPr>
          <p:cNvPr id="110" name="CaixaDeTexto 109">
            <a:extLst>
              <a:ext uri="{FF2B5EF4-FFF2-40B4-BE49-F238E27FC236}">
                <a16:creationId xmlns:a16="http://schemas.microsoft.com/office/drawing/2014/main" id="{BCA427E9-BF1E-49B2-BC57-A57176F14AFD}"/>
              </a:ext>
            </a:extLst>
          </p:cNvPr>
          <p:cNvSpPr txBox="1"/>
          <p:nvPr/>
        </p:nvSpPr>
        <p:spPr>
          <a:xfrm>
            <a:off x="6046931" y="1176529"/>
            <a:ext cx="992866" cy="523220"/>
          </a:xfrm>
          <a:prstGeom prst="rect">
            <a:avLst/>
          </a:prstGeom>
          <a:noFill/>
        </p:spPr>
        <p:txBody>
          <a:bodyPr wrap="square" rtlCol="0">
            <a:spAutoFit/>
          </a:bodyPr>
          <a:lstStyle/>
          <a:p>
            <a:pPr algn="ctr"/>
            <a:r>
              <a:rPr lang="pt-BR" sz="2800" b="1"/>
              <a:t>396k</a:t>
            </a:r>
          </a:p>
        </p:txBody>
      </p:sp>
      <p:sp>
        <p:nvSpPr>
          <p:cNvPr id="111" name="CaixaDeTexto 110">
            <a:extLst>
              <a:ext uri="{FF2B5EF4-FFF2-40B4-BE49-F238E27FC236}">
                <a16:creationId xmlns:a16="http://schemas.microsoft.com/office/drawing/2014/main" id="{978D2D53-7BFD-4F7A-A711-224796678056}"/>
              </a:ext>
            </a:extLst>
          </p:cNvPr>
          <p:cNvSpPr txBox="1"/>
          <p:nvPr/>
        </p:nvSpPr>
        <p:spPr>
          <a:xfrm>
            <a:off x="6267356" y="1570007"/>
            <a:ext cx="549113" cy="276999"/>
          </a:xfrm>
          <a:prstGeom prst="rect">
            <a:avLst/>
          </a:prstGeom>
          <a:noFill/>
        </p:spPr>
        <p:txBody>
          <a:bodyPr wrap="square" rtlCol="0">
            <a:spAutoFit/>
          </a:bodyPr>
          <a:lstStyle/>
          <a:p>
            <a:pPr algn="ctr"/>
            <a:r>
              <a:rPr lang="pt-BR" sz="1200" i="1" err="1"/>
              <a:t>Visits</a:t>
            </a:r>
            <a:endParaRPr lang="pt-BR" sz="1200" i="1"/>
          </a:p>
        </p:txBody>
      </p:sp>
      <p:sp>
        <p:nvSpPr>
          <p:cNvPr id="112" name="CaixaDeTexto 111">
            <a:extLst>
              <a:ext uri="{FF2B5EF4-FFF2-40B4-BE49-F238E27FC236}">
                <a16:creationId xmlns:a16="http://schemas.microsoft.com/office/drawing/2014/main" id="{296F1B5B-9E71-4A39-83CA-05B508E6710C}"/>
              </a:ext>
            </a:extLst>
          </p:cNvPr>
          <p:cNvSpPr txBox="1"/>
          <p:nvPr/>
        </p:nvSpPr>
        <p:spPr>
          <a:xfrm>
            <a:off x="7559289" y="1176529"/>
            <a:ext cx="955619" cy="523220"/>
          </a:xfrm>
          <a:prstGeom prst="rect">
            <a:avLst/>
          </a:prstGeom>
          <a:noFill/>
        </p:spPr>
        <p:txBody>
          <a:bodyPr wrap="square" lIns="91440" tIns="45720" rIns="91440" bIns="45720" rtlCol="0" anchor="t">
            <a:spAutoFit/>
          </a:bodyPr>
          <a:lstStyle/>
          <a:p>
            <a:pPr algn="ctr"/>
            <a:r>
              <a:rPr lang="pt-BR" sz="2800" b="1"/>
              <a:t>713</a:t>
            </a:r>
          </a:p>
        </p:txBody>
      </p:sp>
      <p:sp>
        <p:nvSpPr>
          <p:cNvPr id="113" name="CaixaDeTexto 112">
            <a:extLst>
              <a:ext uri="{FF2B5EF4-FFF2-40B4-BE49-F238E27FC236}">
                <a16:creationId xmlns:a16="http://schemas.microsoft.com/office/drawing/2014/main" id="{34C12EF5-ABCA-44D1-A2DF-76E83DEE9886}"/>
              </a:ext>
            </a:extLst>
          </p:cNvPr>
          <p:cNvSpPr txBox="1"/>
          <p:nvPr/>
        </p:nvSpPr>
        <p:spPr>
          <a:xfrm>
            <a:off x="7700667" y="1570007"/>
            <a:ext cx="672865" cy="276999"/>
          </a:xfrm>
          <a:prstGeom prst="rect">
            <a:avLst/>
          </a:prstGeom>
          <a:noFill/>
        </p:spPr>
        <p:txBody>
          <a:bodyPr wrap="square" rtlCol="0">
            <a:spAutoFit/>
          </a:bodyPr>
          <a:lstStyle/>
          <a:p>
            <a:pPr algn="ctr"/>
            <a:r>
              <a:rPr lang="pt-BR" sz="1200" i="1" err="1"/>
              <a:t>Orders</a:t>
            </a:r>
            <a:endParaRPr lang="pt-BR" sz="1200" i="1"/>
          </a:p>
        </p:txBody>
      </p:sp>
      <p:sp>
        <p:nvSpPr>
          <p:cNvPr id="117" name="CaixaDeTexto 116">
            <a:extLst>
              <a:ext uri="{FF2B5EF4-FFF2-40B4-BE49-F238E27FC236}">
                <a16:creationId xmlns:a16="http://schemas.microsoft.com/office/drawing/2014/main" id="{DCF8F31C-58B8-4B05-BB30-B8CB3AF4D74E}"/>
              </a:ext>
            </a:extLst>
          </p:cNvPr>
          <p:cNvSpPr txBox="1"/>
          <p:nvPr/>
        </p:nvSpPr>
        <p:spPr>
          <a:xfrm>
            <a:off x="9903872" y="1167145"/>
            <a:ext cx="1637908" cy="523220"/>
          </a:xfrm>
          <a:prstGeom prst="rect">
            <a:avLst/>
          </a:prstGeom>
          <a:noFill/>
        </p:spPr>
        <p:txBody>
          <a:bodyPr wrap="square" lIns="91440" tIns="45720" rIns="91440" bIns="45720" rtlCol="0" anchor="t">
            <a:spAutoFit/>
          </a:bodyPr>
          <a:lstStyle/>
          <a:p>
            <a:r>
              <a:rPr lang="pt-BR" sz="2800" b="1">
                <a:solidFill>
                  <a:schemeClr val="bg1"/>
                </a:solidFill>
              </a:rPr>
              <a:t>R$2.9M</a:t>
            </a:r>
          </a:p>
        </p:txBody>
      </p:sp>
      <p:sp>
        <p:nvSpPr>
          <p:cNvPr id="119" name="CaixaDeTexto 118">
            <a:extLst>
              <a:ext uri="{FF2B5EF4-FFF2-40B4-BE49-F238E27FC236}">
                <a16:creationId xmlns:a16="http://schemas.microsoft.com/office/drawing/2014/main" id="{51F05274-23DD-4002-9570-FD9DB0B93CB9}"/>
              </a:ext>
            </a:extLst>
          </p:cNvPr>
          <p:cNvSpPr txBox="1"/>
          <p:nvPr/>
        </p:nvSpPr>
        <p:spPr>
          <a:xfrm>
            <a:off x="10153772" y="1570007"/>
            <a:ext cx="750783" cy="276999"/>
          </a:xfrm>
          <a:prstGeom prst="rect">
            <a:avLst/>
          </a:prstGeom>
          <a:noFill/>
        </p:spPr>
        <p:txBody>
          <a:bodyPr wrap="square" rtlCol="0">
            <a:spAutoFit/>
          </a:bodyPr>
          <a:lstStyle/>
          <a:p>
            <a:pPr algn="ctr"/>
            <a:r>
              <a:rPr lang="pt-BR" sz="1200" i="1" err="1">
                <a:solidFill>
                  <a:schemeClr val="bg1"/>
                </a:solidFill>
              </a:rPr>
              <a:t>Revenue</a:t>
            </a:r>
            <a:endParaRPr lang="pt-BR" sz="1200" i="1">
              <a:solidFill>
                <a:schemeClr val="bg1"/>
              </a:solidFill>
            </a:endParaRPr>
          </a:p>
        </p:txBody>
      </p:sp>
      <p:sp>
        <p:nvSpPr>
          <p:cNvPr id="120" name="CaixaDeTexto 119">
            <a:extLst>
              <a:ext uri="{FF2B5EF4-FFF2-40B4-BE49-F238E27FC236}">
                <a16:creationId xmlns:a16="http://schemas.microsoft.com/office/drawing/2014/main" id="{34AD3308-9075-42BA-BA69-4A6C469A59EA}"/>
              </a:ext>
            </a:extLst>
          </p:cNvPr>
          <p:cNvSpPr txBox="1"/>
          <p:nvPr/>
        </p:nvSpPr>
        <p:spPr>
          <a:xfrm flipH="1">
            <a:off x="1131216" y="1865772"/>
            <a:ext cx="549111" cy="216206"/>
          </a:xfrm>
          <a:prstGeom prst="rect">
            <a:avLst/>
          </a:prstGeom>
          <a:noFill/>
        </p:spPr>
        <p:txBody>
          <a:bodyPr wrap="square" rtlCol="0">
            <a:spAutoFit/>
          </a:bodyPr>
          <a:lstStyle/>
          <a:p>
            <a:r>
              <a:rPr lang="pt-BR" sz="1100" b="1"/>
              <a:t>G/R</a:t>
            </a:r>
          </a:p>
        </p:txBody>
      </p:sp>
      <p:cxnSp>
        <p:nvCxnSpPr>
          <p:cNvPr id="122" name="Conector de Seta Reta 121">
            <a:extLst>
              <a:ext uri="{FF2B5EF4-FFF2-40B4-BE49-F238E27FC236}">
                <a16:creationId xmlns:a16="http://schemas.microsoft.com/office/drawing/2014/main" id="{9E30C3F2-739C-4427-B11E-754383991DEB}"/>
              </a:ext>
            </a:extLst>
          </p:cNvPr>
          <p:cNvCxnSpPr>
            <a:cxnSpLocks/>
            <a:stCxn id="89" idx="3"/>
            <a:endCxn id="92" idx="1"/>
          </p:cNvCxnSpPr>
          <p:nvPr/>
        </p:nvCxnSpPr>
        <p:spPr>
          <a:xfrm>
            <a:off x="2711987" y="1438139"/>
            <a:ext cx="46213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9" name="CaixaDeTexto 128">
            <a:extLst>
              <a:ext uri="{FF2B5EF4-FFF2-40B4-BE49-F238E27FC236}">
                <a16:creationId xmlns:a16="http://schemas.microsoft.com/office/drawing/2014/main" id="{7C0D8AB0-4C3B-4C54-86BC-1DABA97BACA5}"/>
              </a:ext>
            </a:extLst>
          </p:cNvPr>
          <p:cNvSpPr txBox="1"/>
          <p:nvPr/>
        </p:nvSpPr>
        <p:spPr>
          <a:xfrm>
            <a:off x="2709019" y="1203489"/>
            <a:ext cx="468398" cy="261610"/>
          </a:xfrm>
          <a:prstGeom prst="rect">
            <a:avLst/>
          </a:prstGeom>
          <a:noFill/>
        </p:spPr>
        <p:txBody>
          <a:bodyPr wrap="none" lIns="91440" tIns="45720" rIns="91440" bIns="45720" rtlCol="0" anchor="t">
            <a:spAutoFit/>
          </a:bodyPr>
          <a:lstStyle/>
          <a:p>
            <a:r>
              <a:rPr lang="pt-BR" sz="1100" b="1"/>
              <a:t>9,2%</a:t>
            </a:r>
          </a:p>
        </p:txBody>
      </p:sp>
      <p:sp>
        <p:nvSpPr>
          <p:cNvPr id="130" name="CaixaDeTexto 129">
            <a:extLst>
              <a:ext uri="{FF2B5EF4-FFF2-40B4-BE49-F238E27FC236}">
                <a16:creationId xmlns:a16="http://schemas.microsoft.com/office/drawing/2014/main" id="{6A8E4F0D-410C-4A0E-8EB1-E1CE925D57CE}"/>
              </a:ext>
            </a:extLst>
          </p:cNvPr>
          <p:cNvSpPr txBox="1"/>
          <p:nvPr/>
        </p:nvSpPr>
        <p:spPr>
          <a:xfrm>
            <a:off x="5159462" y="1859413"/>
            <a:ext cx="549112" cy="276999"/>
          </a:xfrm>
          <a:prstGeom prst="rect">
            <a:avLst/>
          </a:prstGeom>
          <a:noFill/>
        </p:spPr>
        <p:txBody>
          <a:bodyPr wrap="square" lIns="91440" tIns="45720" rIns="91440" bIns="45720" rtlCol="0" anchor="t">
            <a:spAutoFit/>
          </a:bodyPr>
          <a:lstStyle/>
          <a:p>
            <a:pPr algn="ctr"/>
            <a:r>
              <a:rPr lang="pt-BR" sz="1200" i="1">
                <a:solidFill>
                  <a:srgbClr val="00B050"/>
                </a:solidFill>
              </a:rPr>
              <a:t>0.94</a:t>
            </a:r>
          </a:p>
        </p:txBody>
      </p:sp>
      <p:sp>
        <p:nvSpPr>
          <p:cNvPr id="131" name="CaixaDeTexto 130">
            <a:extLst>
              <a:ext uri="{FF2B5EF4-FFF2-40B4-BE49-F238E27FC236}">
                <a16:creationId xmlns:a16="http://schemas.microsoft.com/office/drawing/2014/main" id="{E020C90A-3369-4FE4-A267-27D5A24CB468}"/>
              </a:ext>
            </a:extLst>
          </p:cNvPr>
          <p:cNvSpPr txBox="1"/>
          <p:nvPr/>
        </p:nvSpPr>
        <p:spPr>
          <a:xfrm>
            <a:off x="6279376" y="1859413"/>
            <a:ext cx="549112" cy="276999"/>
          </a:xfrm>
          <a:prstGeom prst="rect">
            <a:avLst/>
          </a:prstGeom>
          <a:noFill/>
        </p:spPr>
        <p:txBody>
          <a:bodyPr wrap="square" lIns="91440" tIns="45720" rIns="91440" bIns="45720" rtlCol="0" anchor="t">
            <a:spAutoFit/>
          </a:bodyPr>
          <a:lstStyle/>
          <a:p>
            <a:pPr algn="ctr"/>
            <a:r>
              <a:rPr lang="pt-BR" sz="1200" i="1">
                <a:solidFill>
                  <a:srgbClr val="00B050"/>
                </a:solidFill>
              </a:rPr>
              <a:t>1.47</a:t>
            </a:r>
          </a:p>
        </p:txBody>
      </p:sp>
      <p:sp>
        <p:nvSpPr>
          <p:cNvPr id="132" name="CaixaDeTexto 131">
            <a:extLst>
              <a:ext uri="{FF2B5EF4-FFF2-40B4-BE49-F238E27FC236}">
                <a16:creationId xmlns:a16="http://schemas.microsoft.com/office/drawing/2014/main" id="{188E98A5-EBE4-4B37-8158-B8BE80A8A392}"/>
              </a:ext>
            </a:extLst>
          </p:cNvPr>
          <p:cNvSpPr txBox="1"/>
          <p:nvPr/>
        </p:nvSpPr>
        <p:spPr>
          <a:xfrm>
            <a:off x="7762544" y="1859413"/>
            <a:ext cx="549112" cy="276999"/>
          </a:xfrm>
          <a:prstGeom prst="rect">
            <a:avLst/>
          </a:prstGeom>
          <a:noFill/>
        </p:spPr>
        <p:txBody>
          <a:bodyPr wrap="square" rtlCol="0">
            <a:spAutoFit/>
          </a:bodyPr>
          <a:lstStyle/>
          <a:p>
            <a:pPr algn="ctr"/>
            <a:r>
              <a:rPr lang="pt-BR" sz="1200" i="1">
                <a:solidFill>
                  <a:srgbClr val="00B050"/>
                </a:solidFill>
              </a:rPr>
              <a:t>2.22</a:t>
            </a:r>
          </a:p>
        </p:txBody>
      </p:sp>
      <p:sp>
        <p:nvSpPr>
          <p:cNvPr id="142" name="CaixaDeTexto 141">
            <a:extLst>
              <a:ext uri="{FF2B5EF4-FFF2-40B4-BE49-F238E27FC236}">
                <a16:creationId xmlns:a16="http://schemas.microsoft.com/office/drawing/2014/main" id="{C96FC091-4E35-4387-88A9-D5C2824D2922}"/>
              </a:ext>
            </a:extLst>
          </p:cNvPr>
          <p:cNvSpPr txBox="1"/>
          <p:nvPr/>
        </p:nvSpPr>
        <p:spPr>
          <a:xfrm>
            <a:off x="10254607" y="1859413"/>
            <a:ext cx="549112" cy="276999"/>
          </a:xfrm>
          <a:prstGeom prst="rect">
            <a:avLst/>
          </a:prstGeom>
          <a:noFill/>
        </p:spPr>
        <p:txBody>
          <a:bodyPr wrap="square" rtlCol="0">
            <a:spAutoFit/>
          </a:bodyPr>
          <a:lstStyle/>
          <a:p>
            <a:pPr algn="ctr"/>
            <a:r>
              <a:rPr lang="pt-BR" sz="1200" i="1">
                <a:solidFill>
                  <a:srgbClr val="00B050"/>
                </a:solidFill>
              </a:rPr>
              <a:t>2.85</a:t>
            </a:r>
          </a:p>
        </p:txBody>
      </p:sp>
      <p:sp>
        <p:nvSpPr>
          <p:cNvPr id="143" name="CaixaDeTexto 142">
            <a:extLst>
              <a:ext uri="{FF2B5EF4-FFF2-40B4-BE49-F238E27FC236}">
                <a16:creationId xmlns:a16="http://schemas.microsoft.com/office/drawing/2014/main" id="{1BED4C6C-B4F0-4132-A356-EB29D9B50023}"/>
              </a:ext>
            </a:extLst>
          </p:cNvPr>
          <p:cNvSpPr txBox="1"/>
          <p:nvPr/>
        </p:nvSpPr>
        <p:spPr>
          <a:xfrm>
            <a:off x="2634525" y="1433248"/>
            <a:ext cx="549112" cy="246221"/>
          </a:xfrm>
          <a:prstGeom prst="rect">
            <a:avLst/>
          </a:prstGeom>
          <a:noFill/>
        </p:spPr>
        <p:txBody>
          <a:bodyPr wrap="square" lIns="91440" tIns="45720" rIns="91440" bIns="45720" rtlCol="0" anchor="t">
            <a:spAutoFit/>
          </a:bodyPr>
          <a:lstStyle/>
          <a:p>
            <a:pPr algn="ctr"/>
            <a:r>
              <a:rPr lang="pt-BR" sz="1000" i="1">
                <a:solidFill>
                  <a:srgbClr val="C00000"/>
                </a:solidFill>
              </a:rPr>
              <a:t>0.94</a:t>
            </a:r>
          </a:p>
        </p:txBody>
      </p:sp>
      <p:sp>
        <p:nvSpPr>
          <p:cNvPr id="144" name="CaixaDeTexto 143">
            <a:extLst>
              <a:ext uri="{FF2B5EF4-FFF2-40B4-BE49-F238E27FC236}">
                <a16:creationId xmlns:a16="http://schemas.microsoft.com/office/drawing/2014/main" id="{604A4FD3-C9F0-4D9D-9920-8354EE536E1C}"/>
              </a:ext>
            </a:extLst>
          </p:cNvPr>
          <p:cNvSpPr txBox="1"/>
          <p:nvPr/>
        </p:nvSpPr>
        <p:spPr>
          <a:xfrm>
            <a:off x="3455810" y="716728"/>
            <a:ext cx="671053" cy="261610"/>
          </a:xfrm>
          <a:prstGeom prst="rect">
            <a:avLst/>
          </a:prstGeom>
          <a:noFill/>
        </p:spPr>
        <p:txBody>
          <a:bodyPr wrap="square" lIns="91440" tIns="45720" rIns="91440" bIns="45720" rtlCol="0" anchor="t">
            <a:spAutoFit/>
          </a:bodyPr>
          <a:lstStyle/>
          <a:p>
            <a:pPr algn="ctr"/>
            <a:r>
              <a:rPr lang="pt-BR" sz="1100" b="1"/>
              <a:t>0,18%</a:t>
            </a:r>
          </a:p>
        </p:txBody>
      </p:sp>
      <p:sp>
        <p:nvSpPr>
          <p:cNvPr id="145" name="CaixaDeTexto 144">
            <a:extLst>
              <a:ext uri="{FF2B5EF4-FFF2-40B4-BE49-F238E27FC236}">
                <a16:creationId xmlns:a16="http://schemas.microsoft.com/office/drawing/2014/main" id="{E4D14748-476E-44D8-AC6A-45D7992EED4B}"/>
              </a:ext>
            </a:extLst>
          </p:cNvPr>
          <p:cNvSpPr txBox="1"/>
          <p:nvPr/>
        </p:nvSpPr>
        <p:spPr>
          <a:xfrm>
            <a:off x="3569197" y="932447"/>
            <a:ext cx="484996" cy="246674"/>
          </a:xfrm>
          <a:prstGeom prst="rect">
            <a:avLst/>
          </a:prstGeom>
          <a:noFill/>
        </p:spPr>
        <p:txBody>
          <a:bodyPr wrap="square" lIns="91440" tIns="45720" rIns="91440" bIns="45720" rtlCol="0" anchor="t">
            <a:spAutoFit/>
          </a:bodyPr>
          <a:lstStyle/>
          <a:p>
            <a:pPr algn="ctr"/>
            <a:r>
              <a:rPr lang="pt-BR" sz="1000" i="1">
                <a:solidFill>
                  <a:srgbClr val="00B050"/>
                </a:solidFill>
              </a:rPr>
              <a:t>1.50</a:t>
            </a:r>
          </a:p>
        </p:txBody>
      </p:sp>
      <p:cxnSp>
        <p:nvCxnSpPr>
          <p:cNvPr id="146" name="Conector: Angulado 145">
            <a:extLst>
              <a:ext uri="{FF2B5EF4-FFF2-40B4-BE49-F238E27FC236}">
                <a16:creationId xmlns:a16="http://schemas.microsoft.com/office/drawing/2014/main" id="{CF064EC3-95CD-4F56-BA63-1E2D5531DB8C}"/>
              </a:ext>
            </a:extLst>
          </p:cNvPr>
          <p:cNvCxnSpPr>
            <a:cxnSpLocks/>
            <a:stCxn id="89" idx="0"/>
            <a:endCxn id="98" idx="0"/>
          </p:cNvCxnSpPr>
          <p:nvPr/>
        </p:nvCxnSpPr>
        <p:spPr>
          <a:xfrm rot="5400000" flipH="1" flipV="1">
            <a:off x="3740794" y="-542090"/>
            <a:ext cx="12700" cy="3437238"/>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7" name="Conector de Seta Reta 146">
            <a:extLst>
              <a:ext uri="{FF2B5EF4-FFF2-40B4-BE49-F238E27FC236}">
                <a16:creationId xmlns:a16="http://schemas.microsoft.com/office/drawing/2014/main" id="{AF81C828-78A7-4895-9C2A-ADF376B0EF51}"/>
              </a:ext>
            </a:extLst>
          </p:cNvPr>
          <p:cNvCxnSpPr>
            <a:cxnSpLocks/>
            <a:stCxn id="92" idx="3"/>
            <a:endCxn id="98" idx="1"/>
          </p:cNvCxnSpPr>
          <p:nvPr/>
        </p:nvCxnSpPr>
        <p:spPr>
          <a:xfrm>
            <a:off x="4503876" y="1438139"/>
            <a:ext cx="3479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2" name="CaixaDeTexto 151">
            <a:extLst>
              <a:ext uri="{FF2B5EF4-FFF2-40B4-BE49-F238E27FC236}">
                <a16:creationId xmlns:a16="http://schemas.microsoft.com/office/drawing/2014/main" id="{E5765C78-70E1-4F33-922F-EC40DE1D7FC8}"/>
              </a:ext>
            </a:extLst>
          </p:cNvPr>
          <p:cNvSpPr txBox="1"/>
          <p:nvPr/>
        </p:nvSpPr>
        <p:spPr>
          <a:xfrm>
            <a:off x="4461158" y="1203489"/>
            <a:ext cx="540533" cy="261610"/>
          </a:xfrm>
          <a:prstGeom prst="rect">
            <a:avLst/>
          </a:prstGeom>
          <a:noFill/>
        </p:spPr>
        <p:txBody>
          <a:bodyPr wrap="none" rtlCol="0">
            <a:spAutoFit/>
          </a:bodyPr>
          <a:lstStyle/>
          <a:p>
            <a:r>
              <a:rPr lang="pt-BR" sz="1100" b="1"/>
              <a:t>0,49%</a:t>
            </a:r>
          </a:p>
        </p:txBody>
      </p:sp>
      <p:sp>
        <p:nvSpPr>
          <p:cNvPr id="154" name="CaixaDeTexto 153">
            <a:extLst>
              <a:ext uri="{FF2B5EF4-FFF2-40B4-BE49-F238E27FC236}">
                <a16:creationId xmlns:a16="http://schemas.microsoft.com/office/drawing/2014/main" id="{629EA21B-ED52-4A1B-A029-EABFAA84D301}"/>
              </a:ext>
            </a:extLst>
          </p:cNvPr>
          <p:cNvSpPr txBox="1"/>
          <p:nvPr/>
        </p:nvSpPr>
        <p:spPr>
          <a:xfrm>
            <a:off x="4403338" y="1433248"/>
            <a:ext cx="549112" cy="246221"/>
          </a:xfrm>
          <a:prstGeom prst="rect">
            <a:avLst/>
          </a:prstGeom>
          <a:noFill/>
        </p:spPr>
        <p:txBody>
          <a:bodyPr wrap="square" lIns="91440" tIns="45720" rIns="91440" bIns="45720" rtlCol="0" anchor="t">
            <a:spAutoFit/>
          </a:bodyPr>
          <a:lstStyle/>
          <a:p>
            <a:pPr algn="ctr"/>
            <a:r>
              <a:rPr lang="pt-BR" sz="1000" i="1">
                <a:solidFill>
                  <a:srgbClr val="C00000"/>
                </a:solidFill>
              </a:rPr>
              <a:t>0.56</a:t>
            </a:r>
          </a:p>
        </p:txBody>
      </p:sp>
      <p:cxnSp>
        <p:nvCxnSpPr>
          <p:cNvPr id="155" name="Conector de Seta Reta 154">
            <a:extLst>
              <a:ext uri="{FF2B5EF4-FFF2-40B4-BE49-F238E27FC236}">
                <a16:creationId xmlns:a16="http://schemas.microsoft.com/office/drawing/2014/main" id="{76C68C22-FA02-42C5-A7C9-8CBD88AEB262}"/>
              </a:ext>
            </a:extLst>
          </p:cNvPr>
          <p:cNvCxnSpPr>
            <a:cxnSpLocks/>
            <a:stCxn id="110" idx="3"/>
            <a:endCxn id="112" idx="1"/>
          </p:cNvCxnSpPr>
          <p:nvPr/>
        </p:nvCxnSpPr>
        <p:spPr>
          <a:xfrm>
            <a:off x="7039797" y="1438139"/>
            <a:ext cx="5194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6" name="CaixaDeTexto 155">
            <a:extLst>
              <a:ext uri="{FF2B5EF4-FFF2-40B4-BE49-F238E27FC236}">
                <a16:creationId xmlns:a16="http://schemas.microsoft.com/office/drawing/2014/main" id="{C3747B81-CC15-4B81-AA12-2E8C4FCA0287}"/>
              </a:ext>
            </a:extLst>
          </p:cNvPr>
          <p:cNvSpPr txBox="1"/>
          <p:nvPr/>
        </p:nvSpPr>
        <p:spPr>
          <a:xfrm>
            <a:off x="6976951" y="1203489"/>
            <a:ext cx="540533" cy="261610"/>
          </a:xfrm>
          <a:prstGeom prst="rect">
            <a:avLst/>
          </a:prstGeom>
          <a:noFill/>
        </p:spPr>
        <p:txBody>
          <a:bodyPr wrap="none" rtlCol="0">
            <a:spAutoFit/>
          </a:bodyPr>
          <a:lstStyle/>
          <a:p>
            <a:r>
              <a:rPr lang="pt-BR" sz="1100" b="1"/>
              <a:t>0,18%</a:t>
            </a:r>
          </a:p>
        </p:txBody>
      </p:sp>
      <p:sp>
        <p:nvSpPr>
          <p:cNvPr id="157" name="CaixaDeTexto 156">
            <a:extLst>
              <a:ext uri="{FF2B5EF4-FFF2-40B4-BE49-F238E27FC236}">
                <a16:creationId xmlns:a16="http://schemas.microsoft.com/office/drawing/2014/main" id="{68FBBACB-16A7-469E-A368-D2F61F1B9493}"/>
              </a:ext>
            </a:extLst>
          </p:cNvPr>
          <p:cNvSpPr txBox="1"/>
          <p:nvPr/>
        </p:nvSpPr>
        <p:spPr>
          <a:xfrm>
            <a:off x="6993564" y="1433248"/>
            <a:ext cx="549112" cy="246221"/>
          </a:xfrm>
          <a:prstGeom prst="rect">
            <a:avLst/>
          </a:prstGeom>
          <a:noFill/>
        </p:spPr>
        <p:txBody>
          <a:bodyPr wrap="square" rtlCol="0">
            <a:spAutoFit/>
          </a:bodyPr>
          <a:lstStyle/>
          <a:p>
            <a:pPr algn="ctr"/>
            <a:r>
              <a:rPr lang="pt-BR" sz="1000" i="1">
                <a:solidFill>
                  <a:srgbClr val="00B050"/>
                </a:solidFill>
              </a:rPr>
              <a:t>1.50</a:t>
            </a:r>
          </a:p>
        </p:txBody>
      </p:sp>
      <p:cxnSp>
        <p:nvCxnSpPr>
          <p:cNvPr id="158" name="Conector de Seta Reta 157">
            <a:extLst>
              <a:ext uri="{FF2B5EF4-FFF2-40B4-BE49-F238E27FC236}">
                <a16:creationId xmlns:a16="http://schemas.microsoft.com/office/drawing/2014/main" id="{89640ED7-D914-43B4-A85C-C8FB92D5F1EB}"/>
              </a:ext>
            </a:extLst>
          </p:cNvPr>
          <p:cNvCxnSpPr>
            <a:cxnSpLocks/>
            <a:stCxn id="112" idx="3"/>
            <a:endCxn id="117" idx="1"/>
          </p:cNvCxnSpPr>
          <p:nvPr/>
        </p:nvCxnSpPr>
        <p:spPr>
          <a:xfrm flipV="1">
            <a:off x="8514908" y="1428755"/>
            <a:ext cx="1388964" cy="93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9" name="CaixaDeTexto 158">
            <a:extLst>
              <a:ext uri="{FF2B5EF4-FFF2-40B4-BE49-F238E27FC236}">
                <a16:creationId xmlns:a16="http://schemas.microsoft.com/office/drawing/2014/main" id="{4216AEA3-660C-4918-8A4B-916B6F874D25}"/>
              </a:ext>
            </a:extLst>
          </p:cNvPr>
          <p:cNvSpPr txBox="1"/>
          <p:nvPr/>
        </p:nvSpPr>
        <p:spPr>
          <a:xfrm>
            <a:off x="8529365" y="1203489"/>
            <a:ext cx="663964" cy="261610"/>
          </a:xfrm>
          <a:prstGeom prst="rect">
            <a:avLst/>
          </a:prstGeom>
          <a:noFill/>
        </p:spPr>
        <p:txBody>
          <a:bodyPr wrap="none" lIns="91440" tIns="45720" rIns="91440" bIns="45720" rtlCol="0" anchor="t">
            <a:spAutoFit/>
          </a:bodyPr>
          <a:lstStyle/>
          <a:p>
            <a:r>
              <a:rPr lang="pt-BR" sz="1100" b="1"/>
              <a:t>R$4.057</a:t>
            </a:r>
          </a:p>
        </p:txBody>
      </p:sp>
      <p:sp>
        <p:nvSpPr>
          <p:cNvPr id="194" name="CaixaDeTexto 193">
            <a:extLst>
              <a:ext uri="{FF2B5EF4-FFF2-40B4-BE49-F238E27FC236}">
                <a16:creationId xmlns:a16="http://schemas.microsoft.com/office/drawing/2014/main" id="{56BCE855-12C4-472D-B694-AFA9D40919AC}"/>
              </a:ext>
            </a:extLst>
          </p:cNvPr>
          <p:cNvSpPr txBox="1"/>
          <p:nvPr/>
        </p:nvSpPr>
        <p:spPr>
          <a:xfrm>
            <a:off x="8591976" y="1433248"/>
            <a:ext cx="549112" cy="246221"/>
          </a:xfrm>
          <a:prstGeom prst="rect">
            <a:avLst/>
          </a:prstGeom>
          <a:noFill/>
        </p:spPr>
        <p:txBody>
          <a:bodyPr wrap="square" rtlCol="0">
            <a:spAutoFit/>
          </a:bodyPr>
          <a:lstStyle/>
          <a:p>
            <a:pPr algn="ctr"/>
            <a:r>
              <a:rPr lang="pt-BR" sz="1000" i="1">
                <a:solidFill>
                  <a:srgbClr val="00B050"/>
                </a:solidFill>
              </a:rPr>
              <a:t>1.28</a:t>
            </a:r>
          </a:p>
        </p:txBody>
      </p:sp>
      <p:sp>
        <p:nvSpPr>
          <p:cNvPr id="195" name="CaixaDeTexto 194">
            <a:extLst>
              <a:ext uri="{FF2B5EF4-FFF2-40B4-BE49-F238E27FC236}">
                <a16:creationId xmlns:a16="http://schemas.microsoft.com/office/drawing/2014/main" id="{D89CADE2-D83B-452C-B61E-6223A82A0F7F}"/>
              </a:ext>
            </a:extLst>
          </p:cNvPr>
          <p:cNvSpPr txBox="1"/>
          <p:nvPr/>
        </p:nvSpPr>
        <p:spPr>
          <a:xfrm>
            <a:off x="9112559" y="1203489"/>
            <a:ext cx="583194" cy="261610"/>
          </a:xfrm>
          <a:prstGeom prst="rect">
            <a:avLst/>
          </a:prstGeom>
          <a:noFill/>
        </p:spPr>
        <p:txBody>
          <a:bodyPr wrap="square" lIns="91440" tIns="45720" rIns="91440" bIns="45720" rtlCol="0" anchor="t">
            <a:spAutoFit/>
          </a:bodyPr>
          <a:lstStyle/>
          <a:p>
            <a:r>
              <a:rPr lang="pt-BR" sz="1100" b="1"/>
              <a:t>833</a:t>
            </a:r>
          </a:p>
        </p:txBody>
      </p:sp>
      <p:sp>
        <p:nvSpPr>
          <p:cNvPr id="196" name="CaixaDeTexto 195">
            <a:extLst>
              <a:ext uri="{FF2B5EF4-FFF2-40B4-BE49-F238E27FC236}">
                <a16:creationId xmlns:a16="http://schemas.microsoft.com/office/drawing/2014/main" id="{EEC37DB5-5DE4-4632-BA9E-2A8D97C13F53}"/>
              </a:ext>
            </a:extLst>
          </p:cNvPr>
          <p:cNvSpPr txBox="1"/>
          <p:nvPr/>
        </p:nvSpPr>
        <p:spPr>
          <a:xfrm>
            <a:off x="9092064" y="1433248"/>
            <a:ext cx="549112" cy="246221"/>
          </a:xfrm>
          <a:prstGeom prst="rect">
            <a:avLst/>
          </a:prstGeom>
          <a:noFill/>
        </p:spPr>
        <p:txBody>
          <a:bodyPr wrap="square" lIns="91440" tIns="45720" rIns="91440" bIns="45720" rtlCol="0" anchor="t">
            <a:spAutoFit/>
          </a:bodyPr>
          <a:lstStyle/>
          <a:p>
            <a:pPr algn="ctr"/>
            <a:r>
              <a:rPr lang="pt-BR" sz="1000" i="1">
                <a:solidFill>
                  <a:srgbClr val="00B050"/>
                </a:solidFill>
              </a:rPr>
              <a:t>2.27</a:t>
            </a:r>
          </a:p>
        </p:txBody>
      </p:sp>
      <p:sp>
        <p:nvSpPr>
          <p:cNvPr id="197" name="CaixaDeTexto 196">
            <a:extLst>
              <a:ext uri="{FF2B5EF4-FFF2-40B4-BE49-F238E27FC236}">
                <a16:creationId xmlns:a16="http://schemas.microsoft.com/office/drawing/2014/main" id="{523878A6-A46E-4ADD-8BDC-1F2A04E3D207}"/>
              </a:ext>
            </a:extLst>
          </p:cNvPr>
          <p:cNvSpPr txBox="1"/>
          <p:nvPr/>
        </p:nvSpPr>
        <p:spPr>
          <a:xfrm>
            <a:off x="4338505" y="1016680"/>
            <a:ext cx="671053" cy="261610"/>
          </a:xfrm>
          <a:prstGeom prst="rect">
            <a:avLst/>
          </a:prstGeom>
          <a:noFill/>
        </p:spPr>
        <p:txBody>
          <a:bodyPr wrap="square" rtlCol="0">
            <a:spAutoFit/>
          </a:bodyPr>
          <a:lstStyle/>
          <a:p>
            <a:pPr algn="ctr"/>
            <a:r>
              <a:rPr lang="pt-BR" sz="1100" b="1" i="1">
                <a:solidFill>
                  <a:schemeClr val="accent3"/>
                </a:solidFill>
              </a:rPr>
              <a:t>CTOR</a:t>
            </a:r>
          </a:p>
        </p:txBody>
      </p:sp>
      <p:sp>
        <p:nvSpPr>
          <p:cNvPr id="198" name="CaixaDeTexto 197">
            <a:extLst>
              <a:ext uri="{FF2B5EF4-FFF2-40B4-BE49-F238E27FC236}">
                <a16:creationId xmlns:a16="http://schemas.microsoft.com/office/drawing/2014/main" id="{05EB14F3-4190-493A-BF5A-EE4A8ADC9D49}"/>
              </a:ext>
            </a:extLst>
          </p:cNvPr>
          <p:cNvSpPr txBox="1"/>
          <p:nvPr/>
        </p:nvSpPr>
        <p:spPr>
          <a:xfrm>
            <a:off x="2570235" y="1028688"/>
            <a:ext cx="671053" cy="261610"/>
          </a:xfrm>
          <a:prstGeom prst="rect">
            <a:avLst/>
          </a:prstGeom>
          <a:noFill/>
        </p:spPr>
        <p:txBody>
          <a:bodyPr wrap="square" rtlCol="0">
            <a:spAutoFit/>
          </a:bodyPr>
          <a:lstStyle/>
          <a:p>
            <a:pPr algn="ctr"/>
            <a:r>
              <a:rPr lang="pt-BR" sz="1100" b="1" i="1">
                <a:solidFill>
                  <a:schemeClr val="accent3"/>
                </a:solidFill>
              </a:rPr>
              <a:t>OR</a:t>
            </a:r>
          </a:p>
        </p:txBody>
      </p:sp>
      <p:sp>
        <p:nvSpPr>
          <p:cNvPr id="199" name="CaixaDeTexto 198">
            <a:extLst>
              <a:ext uri="{FF2B5EF4-FFF2-40B4-BE49-F238E27FC236}">
                <a16:creationId xmlns:a16="http://schemas.microsoft.com/office/drawing/2014/main" id="{CDDAE3F4-4B8F-4750-9451-0990B6E4A273}"/>
              </a:ext>
            </a:extLst>
          </p:cNvPr>
          <p:cNvSpPr txBox="1"/>
          <p:nvPr/>
        </p:nvSpPr>
        <p:spPr>
          <a:xfrm>
            <a:off x="6907990" y="1028688"/>
            <a:ext cx="671053" cy="261610"/>
          </a:xfrm>
          <a:prstGeom prst="rect">
            <a:avLst/>
          </a:prstGeom>
          <a:noFill/>
        </p:spPr>
        <p:txBody>
          <a:bodyPr wrap="square" rtlCol="0">
            <a:spAutoFit/>
          </a:bodyPr>
          <a:lstStyle/>
          <a:p>
            <a:pPr algn="ctr"/>
            <a:r>
              <a:rPr lang="pt-BR" sz="1100" b="1" i="1">
                <a:solidFill>
                  <a:schemeClr val="accent3"/>
                </a:solidFill>
              </a:rPr>
              <a:t>CVR</a:t>
            </a:r>
          </a:p>
        </p:txBody>
      </p:sp>
      <p:sp>
        <p:nvSpPr>
          <p:cNvPr id="200" name="CaixaDeTexto 199">
            <a:extLst>
              <a:ext uri="{FF2B5EF4-FFF2-40B4-BE49-F238E27FC236}">
                <a16:creationId xmlns:a16="http://schemas.microsoft.com/office/drawing/2014/main" id="{7B8F66D6-E498-451F-A88D-BF6A89E9CEE8}"/>
              </a:ext>
            </a:extLst>
          </p:cNvPr>
          <p:cNvSpPr txBox="1"/>
          <p:nvPr/>
        </p:nvSpPr>
        <p:spPr>
          <a:xfrm>
            <a:off x="8516741" y="1028688"/>
            <a:ext cx="671053" cy="261610"/>
          </a:xfrm>
          <a:prstGeom prst="rect">
            <a:avLst/>
          </a:prstGeom>
          <a:noFill/>
        </p:spPr>
        <p:txBody>
          <a:bodyPr wrap="square" rtlCol="0">
            <a:spAutoFit/>
          </a:bodyPr>
          <a:lstStyle/>
          <a:p>
            <a:pPr algn="ctr"/>
            <a:r>
              <a:rPr lang="pt-BR" sz="1100" b="1" i="1">
                <a:solidFill>
                  <a:schemeClr val="accent3"/>
                </a:solidFill>
              </a:rPr>
              <a:t>AOV</a:t>
            </a:r>
          </a:p>
        </p:txBody>
      </p:sp>
      <p:sp>
        <p:nvSpPr>
          <p:cNvPr id="201" name="CaixaDeTexto 200">
            <a:extLst>
              <a:ext uri="{FF2B5EF4-FFF2-40B4-BE49-F238E27FC236}">
                <a16:creationId xmlns:a16="http://schemas.microsoft.com/office/drawing/2014/main" id="{C2BACA8A-E0C7-4DD1-9C9B-2D88FD76359E}"/>
              </a:ext>
            </a:extLst>
          </p:cNvPr>
          <p:cNvSpPr txBox="1"/>
          <p:nvPr/>
        </p:nvSpPr>
        <p:spPr>
          <a:xfrm>
            <a:off x="9037324" y="1028688"/>
            <a:ext cx="671053" cy="261610"/>
          </a:xfrm>
          <a:prstGeom prst="rect">
            <a:avLst/>
          </a:prstGeom>
          <a:noFill/>
        </p:spPr>
        <p:txBody>
          <a:bodyPr wrap="square" rtlCol="0">
            <a:spAutoFit/>
          </a:bodyPr>
          <a:lstStyle/>
          <a:p>
            <a:pPr algn="ctr"/>
            <a:r>
              <a:rPr lang="pt-BR" sz="1100" b="1" i="1" err="1">
                <a:solidFill>
                  <a:schemeClr val="accent3"/>
                </a:solidFill>
              </a:rPr>
              <a:t>Units</a:t>
            </a:r>
            <a:endParaRPr lang="pt-BR" sz="1100" b="1" i="1">
              <a:solidFill>
                <a:schemeClr val="accent3"/>
              </a:solidFill>
            </a:endParaRPr>
          </a:p>
        </p:txBody>
      </p:sp>
      <p:sp>
        <p:nvSpPr>
          <p:cNvPr id="202" name="Retângulo 201">
            <a:extLst>
              <a:ext uri="{FF2B5EF4-FFF2-40B4-BE49-F238E27FC236}">
                <a16:creationId xmlns:a16="http://schemas.microsoft.com/office/drawing/2014/main" id="{4758A4C2-AB1A-4BF4-866F-36B7AF613C71}"/>
              </a:ext>
            </a:extLst>
          </p:cNvPr>
          <p:cNvSpPr/>
          <p:nvPr/>
        </p:nvSpPr>
        <p:spPr>
          <a:xfrm>
            <a:off x="999242" y="1844718"/>
            <a:ext cx="10348876" cy="258315"/>
          </a:xfrm>
          <a:prstGeom prst="rect">
            <a:avLst/>
          </a:prstGeom>
          <a:noFill/>
          <a:ln>
            <a:solidFill>
              <a:srgbClr val="1428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3" name="Retângulo 202">
            <a:extLst>
              <a:ext uri="{FF2B5EF4-FFF2-40B4-BE49-F238E27FC236}">
                <a16:creationId xmlns:a16="http://schemas.microsoft.com/office/drawing/2014/main" id="{E30F1BBE-01D7-4C94-91A3-8F0579E8D965}"/>
              </a:ext>
            </a:extLst>
          </p:cNvPr>
          <p:cNvSpPr/>
          <p:nvPr/>
        </p:nvSpPr>
        <p:spPr>
          <a:xfrm>
            <a:off x="1749120" y="1247247"/>
            <a:ext cx="940381" cy="6001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4" name="Retângulo 203">
            <a:extLst>
              <a:ext uri="{FF2B5EF4-FFF2-40B4-BE49-F238E27FC236}">
                <a16:creationId xmlns:a16="http://schemas.microsoft.com/office/drawing/2014/main" id="{AB692118-5E5B-4F3E-84E6-ACF937BDEB70}"/>
              </a:ext>
            </a:extLst>
          </p:cNvPr>
          <p:cNvSpPr/>
          <p:nvPr/>
        </p:nvSpPr>
        <p:spPr>
          <a:xfrm>
            <a:off x="3230794" y="1247247"/>
            <a:ext cx="1190495" cy="6001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5" name="Retângulo 204">
            <a:extLst>
              <a:ext uri="{FF2B5EF4-FFF2-40B4-BE49-F238E27FC236}">
                <a16:creationId xmlns:a16="http://schemas.microsoft.com/office/drawing/2014/main" id="{F1761D49-0951-4CAA-B137-699FBC41F32C}"/>
              </a:ext>
            </a:extLst>
          </p:cNvPr>
          <p:cNvSpPr/>
          <p:nvPr/>
        </p:nvSpPr>
        <p:spPr>
          <a:xfrm>
            <a:off x="4940399" y="1247247"/>
            <a:ext cx="827642" cy="6001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6" name="Retângulo 205">
            <a:extLst>
              <a:ext uri="{FF2B5EF4-FFF2-40B4-BE49-F238E27FC236}">
                <a16:creationId xmlns:a16="http://schemas.microsoft.com/office/drawing/2014/main" id="{1C4EE2E2-34A8-4F79-BF3D-42AE2410984D}"/>
              </a:ext>
            </a:extLst>
          </p:cNvPr>
          <p:cNvSpPr/>
          <p:nvPr/>
        </p:nvSpPr>
        <p:spPr>
          <a:xfrm>
            <a:off x="6124994" y="1247247"/>
            <a:ext cx="837500" cy="6001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7" name="Retângulo 206">
            <a:extLst>
              <a:ext uri="{FF2B5EF4-FFF2-40B4-BE49-F238E27FC236}">
                <a16:creationId xmlns:a16="http://schemas.microsoft.com/office/drawing/2014/main" id="{3A8ACD0C-54F8-4BD5-BE50-665126827610}"/>
              </a:ext>
            </a:extLst>
          </p:cNvPr>
          <p:cNvSpPr/>
          <p:nvPr/>
        </p:nvSpPr>
        <p:spPr>
          <a:xfrm>
            <a:off x="7656111" y="1240244"/>
            <a:ext cx="783991" cy="6001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5777030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406DB906-1E42-4E53-88E3-6940DB5578E6}"/>
              </a:ext>
            </a:extLst>
          </p:cNvPr>
          <p:cNvPicPr>
            <a:picLocks noChangeAspect="1"/>
          </p:cNvPicPr>
          <p:nvPr/>
        </p:nvPicPr>
        <p:blipFill>
          <a:blip r:embed="rId2"/>
          <a:stretch>
            <a:fillRect/>
          </a:stretch>
        </p:blipFill>
        <p:spPr>
          <a:xfrm>
            <a:off x="380924" y="2108840"/>
            <a:ext cx="3927191" cy="1424252"/>
          </a:xfrm>
          <a:prstGeom prst="rect">
            <a:avLst/>
          </a:prstGeom>
        </p:spPr>
      </p:pic>
      <p:sp>
        <p:nvSpPr>
          <p:cNvPr id="6" name="Espaço Reservado para Conteúdo 2">
            <a:extLst>
              <a:ext uri="{FF2B5EF4-FFF2-40B4-BE49-F238E27FC236}">
                <a16:creationId xmlns:a16="http://schemas.microsoft.com/office/drawing/2014/main" id="{7794DEE0-9405-4412-9BF0-22A3B85F60C8}"/>
              </a:ext>
            </a:extLst>
          </p:cNvPr>
          <p:cNvSpPr txBox="1"/>
          <p:nvPr/>
        </p:nvSpPr>
        <p:spPr>
          <a:xfrm>
            <a:off x="251631" y="606725"/>
            <a:ext cx="11323403" cy="355582"/>
          </a:xfrm>
          <a:prstGeom prst="rect">
            <a:avLst/>
          </a:prstGeom>
          <a:noFill/>
          <a:ln cap="flat">
            <a:noFill/>
          </a:ln>
        </p:spPr>
        <p:txBody>
          <a:bodyPr vert="horz" wrap="square" lIns="91440" tIns="45720" rIns="91440" bIns="45720" anchor="t" anchorCtr="0" compatLnSpc="1">
            <a:noAutofit/>
          </a:bodyPr>
          <a:lstStyle/>
          <a:p>
            <a:pPr>
              <a:lnSpc>
                <a:spcPct val="115000"/>
              </a:lnSpc>
              <a:spcAft>
                <a:spcPts val="1000"/>
              </a:spcAft>
            </a:pPr>
            <a:r>
              <a:rPr lang="en-US" sz="1100" b="1">
                <a:latin typeface="Arial" panose="020B0604020202020204" pitchFamily="34" charset="0"/>
                <a:ea typeface="MS Mincho" panose="02020609040205080304" pitchFamily="49" charset="-128"/>
                <a:cs typeface="Times New Roman" panose="02020603050405020304" pitchFamily="18" charset="0"/>
              </a:rPr>
              <a:t>Live Commerce </a:t>
            </a:r>
            <a:r>
              <a:rPr lang="en-US" sz="1100">
                <a:latin typeface="Arial" panose="020B0604020202020204" pitchFamily="34" charset="0"/>
                <a:ea typeface="MS Mincho" panose="02020609040205080304" pitchFamily="49" charset="-128"/>
                <a:cs typeface="Times New Roman" panose="02020603050405020304" pitchFamily="18" charset="0"/>
              </a:rPr>
              <a:t>and</a:t>
            </a:r>
            <a:r>
              <a:rPr lang="en-US" sz="1100" b="1">
                <a:latin typeface="Arial" panose="020B0604020202020204" pitchFamily="34" charset="0"/>
                <a:ea typeface="MS Mincho" panose="02020609040205080304" pitchFamily="49" charset="-128"/>
                <a:cs typeface="Times New Roman" panose="02020603050405020304" pitchFamily="18" charset="0"/>
              </a:rPr>
              <a:t> Why Shop </a:t>
            </a:r>
            <a:r>
              <a:rPr lang="en-US" sz="1100">
                <a:latin typeface="Arial" panose="020B0604020202020204" pitchFamily="34" charset="0"/>
                <a:ea typeface="MS Mincho" panose="02020609040205080304" pitchFamily="49" charset="-128"/>
                <a:cs typeface="Times New Roman" panose="02020603050405020304" pitchFamily="18" charset="0"/>
              </a:rPr>
              <a:t>increased Growth’s revenue being one of the most </a:t>
            </a:r>
            <a:r>
              <a:rPr lang="en-US" sz="1100" err="1">
                <a:latin typeface="Arial" panose="020B0604020202020204" pitchFamily="34" charset="0"/>
                <a:ea typeface="MS Mincho" panose="02020609040205080304" pitchFamily="49" charset="-128"/>
                <a:cs typeface="Times New Roman" panose="02020603050405020304" pitchFamily="18" charset="0"/>
              </a:rPr>
              <a:t>relevants</a:t>
            </a:r>
            <a:r>
              <a:rPr lang="en-US" sz="1100">
                <a:latin typeface="Arial" panose="020B0604020202020204" pitchFamily="34" charset="0"/>
                <a:ea typeface="MS Mincho" panose="02020609040205080304" pitchFamily="49" charset="-128"/>
                <a:cs typeface="Times New Roman" panose="02020603050405020304" pitchFamily="18" charset="0"/>
              </a:rPr>
              <a:t> CRM pillar.</a:t>
            </a:r>
            <a:endParaRPr lang="pt-BR" sz="1100">
              <a:effectLst/>
              <a:latin typeface="Arial" panose="020B0604020202020204" pitchFamily="34" charset="0"/>
              <a:ea typeface="MS Mincho" panose="02020609040205080304" pitchFamily="49" charset="-128"/>
              <a:cs typeface="Times New Roman" panose="02020603050405020304" pitchFamily="18" charset="0"/>
            </a:endParaRPr>
          </a:p>
        </p:txBody>
      </p:sp>
      <p:sp>
        <p:nvSpPr>
          <p:cNvPr id="21" name="Retângulo: Cantos Arredondados 20">
            <a:extLst>
              <a:ext uri="{FF2B5EF4-FFF2-40B4-BE49-F238E27FC236}">
                <a16:creationId xmlns:a16="http://schemas.microsoft.com/office/drawing/2014/main" id="{AA0B63D9-9E08-470E-A962-9EE334554DEA}"/>
              </a:ext>
            </a:extLst>
          </p:cNvPr>
          <p:cNvSpPr/>
          <p:nvPr/>
        </p:nvSpPr>
        <p:spPr>
          <a:xfrm>
            <a:off x="9114730" y="1384073"/>
            <a:ext cx="2984587" cy="4911379"/>
          </a:xfrm>
          <a:prstGeom prst="roundRect">
            <a:avLst>
              <a:gd name="adj" fmla="val 4184"/>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rPr>
              <a:t>HIGHLIGHT</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5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Live Commerce: </a:t>
            </a:r>
            <a:r>
              <a:rPr kumimoji="0" lang="en-US" sz="105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R$1.38M | </a:t>
            </a:r>
            <a:r>
              <a:rPr lang="en-US" sz="1050">
                <a:solidFill>
                  <a:prstClr val="black"/>
                </a:solidFill>
                <a:latin typeface="Roboto" panose="02000000000000000000" pitchFamily="2" charset="0"/>
                <a:ea typeface="Roboto" panose="02000000000000000000" pitchFamily="2" charset="0"/>
              </a:rPr>
              <a:t>47</a:t>
            </a:r>
            <a:r>
              <a:rPr kumimoji="0" lang="en-US" sz="105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of Growth revenue, </a:t>
            </a:r>
            <a:r>
              <a:rPr kumimoji="0" lang="en-US" sz="105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main recurring campaign.</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050" b="1">
                <a:solidFill>
                  <a:prstClr val="black"/>
                </a:solidFill>
                <a:latin typeface="Roboto" panose="02000000000000000000" pitchFamily="2" charset="0"/>
                <a:ea typeface="Roboto" panose="02000000000000000000" pitchFamily="2" charset="0"/>
              </a:rPr>
              <a:t>Father’s Day: </a:t>
            </a:r>
            <a:r>
              <a:rPr lang="en-US" sz="1050">
                <a:solidFill>
                  <a:prstClr val="black"/>
                </a:solidFill>
                <a:latin typeface="Roboto" panose="02000000000000000000" pitchFamily="2" charset="0"/>
                <a:ea typeface="Roboto" panose="02000000000000000000" pitchFamily="2" charset="0"/>
              </a:rPr>
              <a:t>R$550k | 19% of Growth revenue.</a:t>
            </a:r>
            <a:endParaRPr kumimoji="0" lang="en-US" sz="105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050">
                <a:solidFill>
                  <a:prstClr val="black"/>
                </a:solidFill>
                <a:latin typeface="Roboto" panose="02000000000000000000" pitchFamily="2" charset="0"/>
                <a:ea typeface="Roboto" panose="02000000000000000000" pitchFamily="2" charset="0"/>
              </a:rPr>
              <a:t>Z Fold</a:t>
            </a:r>
            <a:r>
              <a:rPr kumimoji="0" lang="en-US" sz="105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Family: R$</a:t>
            </a:r>
            <a:r>
              <a:rPr lang="en-US" sz="1050">
                <a:solidFill>
                  <a:prstClr val="black"/>
                </a:solidFill>
                <a:latin typeface="Roboto" panose="02000000000000000000" pitchFamily="2" charset="0"/>
                <a:ea typeface="Roboto" panose="02000000000000000000" pitchFamily="2" charset="0"/>
              </a:rPr>
              <a:t>496k</a:t>
            </a:r>
            <a:r>
              <a:rPr kumimoji="0" lang="en-US" sz="105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 17% of Growth revenue</a:t>
            </a:r>
            <a:r>
              <a:rPr lang="en-US" sz="1050">
                <a:solidFill>
                  <a:prstClr val="black"/>
                </a:solidFill>
                <a:latin typeface="Roboto" panose="02000000000000000000" pitchFamily="2" charset="0"/>
                <a:ea typeface="Roboto" panose="02000000000000000000" pitchFamily="2" charset="0"/>
              </a:rPr>
              <a:t>.</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050">
                <a:solidFill>
                  <a:prstClr val="black"/>
                </a:solidFill>
                <a:latin typeface="Roboto" panose="02000000000000000000" pitchFamily="2" charset="0"/>
                <a:ea typeface="Roboto" panose="02000000000000000000" pitchFamily="2" charset="0"/>
              </a:rPr>
              <a:t>S25 + (256GB) has G/R 14.46, appearing as #3 more sold product.</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5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Learning validated by Test A/B: </a:t>
            </a:r>
            <a:r>
              <a:rPr kumimoji="0" lang="en-US" sz="105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new f</a:t>
            </a:r>
            <a:r>
              <a:rPr lang="en-US" sz="1050" err="1">
                <a:solidFill>
                  <a:prstClr val="black"/>
                </a:solidFill>
                <a:latin typeface="Roboto" panose="02000000000000000000" pitchFamily="2" charset="0"/>
                <a:ea typeface="Roboto" panose="02000000000000000000" pitchFamily="2" charset="0"/>
              </a:rPr>
              <a:t>raming</a:t>
            </a:r>
            <a:r>
              <a:rPr lang="en-US" sz="1050">
                <a:solidFill>
                  <a:prstClr val="black"/>
                </a:solidFill>
                <a:latin typeface="Roboto" panose="02000000000000000000" pitchFamily="2" charset="0"/>
                <a:ea typeface="Roboto" panose="02000000000000000000" pitchFamily="2" charset="0"/>
              </a:rPr>
              <a:t> to announce discount, from “% OFF” to “R$ OFF” had better results on CVR.</a:t>
            </a:r>
            <a:endParaRPr kumimoji="0" lang="en-US" sz="105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a:p>
            <a:pPr marR="0" lvl="0" algn="l" defTabSz="914400" rtl="0" eaLnBrk="1" fontAlgn="auto" latinLnBrk="0" hangingPunct="1">
              <a:lnSpc>
                <a:spcPct val="100000"/>
              </a:lnSpc>
              <a:spcBef>
                <a:spcPts val="600"/>
              </a:spcBef>
              <a:spcAft>
                <a:spcPts val="0"/>
              </a:spcAft>
              <a:buClrTx/>
              <a:buSzTx/>
              <a:tabLst/>
              <a:defRPr/>
            </a:pPr>
            <a:r>
              <a:rPr kumimoji="0" lang="en-US" sz="105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rPr>
              <a:t>LOWLIGHT</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Revenue was concentrated in Live Commerce, Growth needs new promotions or key campaigns.</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050">
                <a:solidFill>
                  <a:prstClr val="black"/>
                </a:solidFill>
                <a:latin typeface="Roboto" panose="02000000000000000000" pitchFamily="2" charset="0"/>
                <a:ea typeface="Roboto" panose="02000000000000000000" pitchFamily="2" charset="0"/>
              </a:rPr>
              <a:t>Sales were based on MX products, CE only appears at the end of TOP10.</a:t>
            </a:r>
          </a:p>
          <a:p>
            <a:pPr marR="0" lvl="0" algn="l" defTabSz="914400" rtl="0" eaLnBrk="1" fontAlgn="auto" latinLnBrk="0" hangingPunct="1">
              <a:lnSpc>
                <a:spcPct val="100000"/>
              </a:lnSpc>
              <a:spcBef>
                <a:spcPts val="600"/>
              </a:spcBef>
              <a:spcAft>
                <a:spcPts val="0"/>
              </a:spcAft>
              <a:buClrTx/>
              <a:buSzTx/>
              <a:tabLst/>
              <a:defRPr/>
            </a:pPr>
            <a:endParaRPr lang="en-US" sz="1050">
              <a:solidFill>
                <a:prstClr val="black"/>
              </a:solidFill>
              <a:latin typeface="Roboto" panose="02000000000000000000" pitchFamily="2" charset="0"/>
              <a:ea typeface="Roboto" panose="02000000000000000000" pitchFamily="2" charset="0"/>
            </a:endParaRP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lang="en-US" sz="1050">
              <a:solidFill>
                <a:prstClr val="black"/>
              </a:solidFill>
              <a:latin typeface="Roboto" panose="02000000000000000000" pitchFamily="2" charset="0"/>
              <a:ea typeface="Roboto" panose="02000000000000000000" pitchFamily="2" charset="0"/>
            </a:endParaRP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US"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p:txBody>
      </p:sp>
      <p:grpSp>
        <p:nvGrpSpPr>
          <p:cNvPr id="25" name="Agrupar 24">
            <a:extLst>
              <a:ext uri="{FF2B5EF4-FFF2-40B4-BE49-F238E27FC236}">
                <a16:creationId xmlns:a16="http://schemas.microsoft.com/office/drawing/2014/main" id="{74129D00-0F63-40F8-95B2-3DD2CEE17992}"/>
              </a:ext>
            </a:extLst>
          </p:cNvPr>
          <p:cNvGrpSpPr/>
          <p:nvPr/>
        </p:nvGrpSpPr>
        <p:grpSpPr>
          <a:xfrm>
            <a:off x="251631" y="1230184"/>
            <a:ext cx="4249887" cy="2491703"/>
            <a:chOff x="251632" y="1406529"/>
            <a:chExt cx="4133126" cy="2491703"/>
          </a:xfrm>
        </p:grpSpPr>
        <p:sp>
          <p:nvSpPr>
            <p:cNvPr id="22" name="Retângulo 21">
              <a:extLst>
                <a:ext uri="{FF2B5EF4-FFF2-40B4-BE49-F238E27FC236}">
                  <a16:creationId xmlns:a16="http://schemas.microsoft.com/office/drawing/2014/main" id="{D0D30FAE-5464-4CA1-8B52-B24CACEAEFC0}"/>
                </a:ext>
              </a:extLst>
            </p:cNvPr>
            <p:cNvSpPr/>
            <p:nvPr/>
          </p:nvSpPr>
          <p:spPr>
            <a:xfrm>
              <a:off x="251632" y="1560418"/>
              <a:ext cx="4133126" cy="2337814"/>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CaixaDeTexto 22">
              <a:extLst>
                <a:ext uri="{FF2B5EF4-FFF2-40B4-BE49-F238E27FC236}">
                  <a16:creationId xmlns:a16="http://schemas.microsoft.com/office/drawing/2014/main" id="{C9708DC4-A7E2-438D-90E6-7B4A54BAFCC9}"/>
                </a:ext>
              </a:extLst>
            </p:cNvPr>
            <p:cNvSpPr txBox="1"/>
            <p:nvPr/>
          </p:nvSpPr>
          <p:spPr>
            <a:xfrm>
              <a:off x="402446" y="1406529"/>
              <a:ext cx="2295703" cy="307777"/>
            </a:xfrm>
            <a:prstGeom prst="rect">
              <a:avLst/>
            </a:prstGeom>
            <a:solidFill>
              <a:sysClr val="window" lastClr="FFFFF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2060"/>
                  </a:solidFill>
                  <a:effectLst/>
                  <a:uLnTx/>
                  <a:uFillTx/>
                  <a:latin typeface="Samsung Sharp Sans Bold" panose="02000503000000020004"/>
                  <a:ea typeface="+mn-ea"/>
                  <a:cs typeface="+mn-cs"/>
                </a:rPr>
                <a:t>Revenue by Campaign</a:t>
              </a:r>
            </a:p>
          </p:txBody>
        </p:sp>
      </p:grpSp>
      <p:grpSp>
        <p:nvGrpSpPr>
          <p:cNvPr id="26" name="Agrupar 25">
            <a:extLst>
              <a:ext uri="{FF2B5EF4-FFF2-40B4-BE49-F238E27FC236}">
                <a16:creationId xmlns:a16="http://schemas.microsoft.com/office/drawing/2014/main" id="{184FDA5E-4346-4759-AED9-17975BC0867D}"/>
              </a:ext>
            </a:extLst>
          </p:cNvPr>
          <p:cNvGrpSpPr/>
          <p:nvPr/>
        </p:nvGrpSpPr>
        <p:grpSpPr>
          <a:xfrm>
            <a:off x="4694121" y="1230184"/>
            <a:ext cx="4249887" cy="2491703"/>
            <a:chOff x="251632" y="1406529"/>
            <a:chExt cx="4133126" cy="2491703"/>
          </a:xfrm>
        </p:grpSpPr>
        <p:sp>
          <p:nvSpPr>
            <p:cNvPr id="27" name="Retângulo 26">
              <a:extLst>
                <a:ext uri="{FF2B5EF4-FFF2-40B4-BE49-F238E27FC236}">
                  <a16:creationId xmlns:a16="http://schemas.microsoft.com/office/drawing/2014/main" id="{74E0044B-DFBC-4531-9723-7A8565B3947D}"/>
                </a:ext>
              </a:extLst>
            </p:cNvPr>
            <p:cNvSpPr/>
            <p:nvPr/>
          </p:nvSpPr>
          <p:spPr>
            <a:xfrm>
              <a:off x="251632" y="1560418"/>
              <a:ext cx="4133126" cy="2337814"/>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CaixaDeTexto 27">
              <a:extLst>
                <a:ext uri="{FF2B5EF4-FFF2-40B4-BE49-F238E27FC236}">
                  <a16:creationId xmlns:a16="http://schemas.microsoft.com/office/drawing/2014/main" id="{B4C07A77-FD6D-458B-B0B6-E957D8AB6319}"/>
                </a:ext>
              </a:extLst>
            </p:cNvPr>
            <p:cNvSpPr txBox="1"/>
            <p:nvPr/>
          </p:nvSpPr>
          <p:spPr>
            <a:xfrm>
              <a:off x="402446" y="1406529"/>
              <a:ext cx="2830541" cy="307777"/>
            </a:xfrm>
            <a:prstGeom prst="rect">
              <a:avLst/>
            </a:prstGeom>
            <a:solidFill>
              <a:sysClr val="window" lastClr="FFFFF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2060"/>
                  </a:solidFill>
                  <a:effectLst/>
                  <a:uLnTx/>
                  <a:uFillTx/>
                  <a:latin typeface="Samsung Sharp Sans Bold" panose="02000503000000020004"/>
                  <a:ea typeface="+mn-ea"/>
                  <a:cs typeface="+mn-cs"/>
                </a:rPr>
                <a:t>Product Sold</a:t>
              </a:r>
            </a:p>
          </p:txBody>
        </p:sp>
      </p:grpSp>
      <p:grpSp>
        <p:nvGrpSpPr>
          <p:cNvPr id="29" name="Agrupar 28">
            <a:extLst>
              <a:ext uri="{FF2B5EF4-FFF2-40B4-BE49-F238E27FC236}">
                <a16:creationId xmlns:a16="http://schemas.microsoft.com/office/drawing/2014/main" id="{4219CE1F-664C-4523-8944-F7BFD8494D15}"/>
              </a:ext>
            </a:extLst>
          </p:cNvPr>
          <p:cNvGrpSpPr/>
          <p:nvPr/>
        </p:nvGrpSpPr>
        <p:grpSpPr>
          <a:xfrm>
            <a:off x="251631" y="3803749"/>
            <a:ext cx="4249887" cy="2491703"/>
            <a:chOff x="251632" y="1406529"/>
            <a:chExt cx="4133126" cy="2491703"/>
          </a:xfrm>
        </p:grpSpPr>
        <p:sp>
          <p:nvSpPr>
            <p:cNvPr id="30" name="Retângulo 29">
              <a:extLst>
                <a:ext uri="{FF2B5EF4-FFF2-40B4-BE49-F238E27FC236}">
                  <a16:creationId xmlns:a16="http://schemas.microsoft.com/office/drawing/2014/main" id="{D9858306-0332-4366-8DBD-813AD1D5530F}"/>
                </a:ext>
              </a:extLst>
            </p:cNvPr>
            <p:cNvSpPr/>
            <p:nvPr/>
          </p:nvSpPr>
          <p:spPr>
            <a:xfrm>
              <a:off x="251632" y="1560418"/>
              <a:ext cx="4133126" cy="2337814"/>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CaixaDeTexto 30">
              <a:extLst>
                <a:ext uri="{FF2B5EF4-FFF2-40B4-BE49-F238E27FC236}">
                  <a16:creationId xmlns:a16="http://schemas.microsoft.com/office/drawing/2014/main" id="{F235853D-FA68-450E-996A-02A35419F098}"/>
                </a:ext>
              </a:extLst>
            </p:cNvPr>
            <p:cNvSpPr txBox="1"/>
            <p:nvPr/>
          </p:nvSpPr>
          <p:spPr>
            <a:xfrm>
              <a:off x="402446" y="1406529"/>
              <a:ext cx="2525499" cy="307777"/>
            </a:xfrm>
            <a:prstGeom prst="rect">
              <a:avLst/>
            </a:prstGeom>
            <a:solidFill>
              <a:sysClr val="window" lastClr="FFFFF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2060"/>
                  </a:solidFill>
                  <a:effectLst/>
                  <a:uLnTx/>
                  <a:uFillTx/>
                  <a:latin typeface="Samsung Sharp Sans Bold" panose="02000503000000020004"/>
                  <a:ea typeface="+mn-ea"/>
                  <a:cs typeface="+mn-cs"/>
                </a:rPr>
                <a:t>Campaign portion x Week</a:t>
              </a:r>
            </a:p>
          </p:txBody>
        </p:sp>
      </p:grpSp>
      <p:grpSp>
        <p:nvGrpSpPr>
          <p:cNvPr id="32" name="Agrupar 31">
            <a:extLst>
              <a:ext uri="{FF2B5EF4-FFF2-40B4-BE49-F238E27FC236}">
                <a16:creationId xmlns:a16="http://schemas.microsoft.com/office/drawing/2014/main" id="{9FD3E09C-4F7C-4E4C-91C4-5A57F333C152}"/>
              </a:ext>
            </a:extLst>
          </p:cNvPr>
          <p:cNvGrpSpPr/>
          <p:nvPr/>
        </p:nvGrpSpPr>
        <p:grpSpPr>
          <a:xfrm>
            <a:off x="4694121" y="3803749"/>
            <a:ext cx="4249887" cy="2491703"/>
            <a:chOff x="251632" y="1406529"/>
            <a:chExt cx="4133126" cy="2491703"/>
          </a:xfrm>
        </p:grpSpPr>
        <p:sp>
          <p:nvSpPr>
            <p:cNvPr id="33" name="Retângulo 32">
              <a:extLst>
                <a:ext uri="{FF2B5EF4-FFF2-40B4-BE49-F238E27FC236}">
                  <a16:creationId xmlns:a16="http://schemas.microsoft.com/office/drawing/2014/main" id="{5F3CA079-F042-4A06-B788-9CAD5F585FE7}"/>
                </a:ext>
              </a:extLst>
            </p:cNvPr>
            <p:cNvSpPr/>
            <p:nvPr/>
          </p:nvSpPr>
          <p:spPr>
            <a:xfrm>
              <a:off x="251632" y="1560418"/>
              <a:ext cx="4133126" cy="2337814"/>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CaixaDeTexto 33">
              <a:extLst>
                <a:ext uri="{FF2B5EF4-FFF2-40B4-BE49-F238E27FC236}">
                  <a16:creationId xmlns:a16="http://schemas.microsoft.com/office/drawing/2014/main" id="{EF25C035-B495-4AC2-8819-D9C53A250002}"/>
                </a:ext>
              </a:extLst>
            </p:cNvPr>
            <p:cNvSpPr txBox="1"/>
            <p:nvPr/>
          </p:nvSpPr>
          <p:spPr>
            <a:xfrm>
              <a:off x="402446" y="1406529"/>
              <a:ext cx="1647105" cy="307777"/>
            </a:xfrm>
            <a:prstGeom prst="rect">
              <a:avLst/>
            </a:prstGeom>
            <a:solidFill>
              <a:sysClr val="window" lastClr="FFFFF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2060"/>
                  </a:solidFill>
                  <a:effectLst/>
                  <a:uLnTx/>
                  <a:uFillTx/>
                  <a:latin typeface="Samsung Sharp Sans Bold" panose="02000503000000020004"/>
                  <a:ea typeface="+mn-ea"/>
                  <a:cs typeface="+mn-cs"/>
                </a:rPr>
                <a:t>Top conversion</a:t>
              </a:r>
            </a:p>
          </p:txBody>
        </p:sp>
      </p:grpSp>
      <p:sp>
        <p:nvSpPr>
          <p:cNvPr id="39" name="CaixaDeTexto 38">
            <a:extLst>
              <a:ext uri="{FF2B5EF4-FFF2-40B4-BE49-F238E27FC236}">
                <a16:creationId xmlns:a16="http://schemas.microsoft.com/office/drawing/2014/main" id="{EC9C656C-B503-4130-9186-BCC414090F8F}"/>
              </a:ext>
            </a:extLst>
          </p:cNvPr>
          <p:cNvSpPr txBox="1"/>
          <p:nvPr/>
        </p:nvSpPr>
        <p:spPr>
          <a:xfrm>
            <a:off x="207355" y="1502230"/>
            <a:ext cx="4329769" cy="430887"/>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Live Commerce </a:t>
            </a:r>
            <a:r>
              <a:rPr kumimoji="0" lang="en-US" sz="11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and</a:t>
            </a:r>
            <a:r>
              <a:rPr kumimoji="0" lang="en-US" sz="11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a:t>
            </a:r>
            <a:r>
              <a:rPr kumimoji="0" lang="en-US" sz="1100" b="1" i="0" u="none" strike="noStrike" kern="1200" cap="none" spc="0" normalizeH="0" baseline="0" noProof="0" err="1">
                <a:ln>
                  <a:noFill/>
                </a:ln>
                <a:solidFill>
                  <a:prstClr val="black"/>
                </a:solidFill>
                <a:effectLst/>
                <a:uLnTx/>
                <a:uFillTx/>
                <a:latin typeface="Roboto" panose="02000000000000000000" pitchFamily="2" charset="0"/>
                <a:ea typeface="Roboto" panose="02000000000000000000" pitchFamily="2" charset="0"/>
                <a:cs typeface="+mn-cs"/>
              </a:rPr>
              <a:t>Whyshop</a:t>
            </a:r>
            <a:r>
              <a:rPr kumimoji="0" lang="en-US" sz="11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recurring base of Growth</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Father’s Day</a:t>
            </a:r>
            <a:r>
              <a:rPr kumimoji="0" lang="en-US" sz="11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lifted W31–33 </a:t>
            </a:r>
            <a:r>
              <a:rPr lang="pt-BR" altLang="pt-BR" sz="1100">
                <a:latin typeface="Roboto" panose="02000000000000000000" pitchFamily="2" charset="0"/>
                <a:ea typeface="Roboto" panose="02000000000000000000" pitchFamily="2" charset="0"/>
                <a:cs typeface="Calibri" panose="020F0502020204030204" pitchFamily="34" charset="0"/>
              </a:rPr>
              <a:t>→</a:t>
            </a:r>
            <a:r>
              <a:rPr kumimoji="0" lang="en-US" sz="110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a:t>
            </a:r>
            <a:r>
              <a:rPr kumimoji="0" lang="en-US" sz="11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seasonal campaign</a:t>
            </a:r>
          </a:p>
        </p:txBody>
      </p:sp>
      <p:graphicFrame>
        <p:nvGraphicFramePr>
          <p:cNvPr id="51" name="Gráfico 50">
            <a:extLst>
              <a:ext uri="{FF2B5EF4-FFF2-40B4-BE49-F238E27FC236}">
                <a16:creationId xmlns:a16="http://schemas.microsoft.com/office/drawing/2014/main" id="{5FB609CF-2F31-4A7F-9E4B-22DFD59A6548}"/>
              </a:ext>
            </a:extLst>
          </p:cNvPr>
          <p:cNvGraphicFramePr/>
          <p:nvPr>
            <p:extLst>
              <p:ext uri="{D42A27DB-BD31-4B8C-83A1-F6EECF244321}">
                <p14:modId xmlns:p14="http://schemas.microsoft.com/office/powerpoint/2010/main" val="2179267906"/>
              </p:ext>
            </p:extLst>
          </p:nvPr>
        </p:nvGraphicFramePr>
        <p:xfrm>
          <a:off x="380925" y="4598856"/>
          <a:ext cx="3941723" cy="1739440"/>
        </p:xfrm>
        <a:graphic>
          <a:graphicData uri="http://schemas.openxmlformats.org/drawingml/2006/chart">
            <c:chart xmlns:c="http://schemas.openxmlformats.org/drawingml/2006/chart" xmlns:r="http://schemas.openxmlformats.org/officeDocument/2006/relationships" r:id="rId3"/>
          </a:graphicData>
        </a:graphic>
      </p:graphicFrame>
      <p:sp>
        <p:nvSpPr>
          <p:cNvPr id="92" name="CaixaDeTexto 91">
            <a:extLst>
              <a:ext uri="{FF2B5EF4-FFF2-40B4-BE49-F238E27FC236}">
                <a16:creationId xmlns:a16="http://schemas.microsoft.com/office/drawing/2014/main" id="{2CAFBB37-06ED-4DB2-BA63-3F2FDB9CFBD9}"/>
              </a:ext>
            </a:extLst>
          </p:cNvPr>
          <p:cNvSpPr txBox="1"/>
          <p:nvPr/>
        </p:nvSpPr>
        <p:spPr>
          <a:xfrm>
            <a:off x="4758118" y="1504394"/>
            <a:ext cx="4185890" cy="600164"/>
          </a:xfrm>
          <a:prstGeom prst="rect">
            <a:avLst/>
          </a:prstGeom>
          <a:noFill/>
        </p:spPr>
        <p:txBody>
          <a:bodyPr wrap="square" rtlCol="0">
            <a:spAutoFit/>
          </a:bodyPr>
          <a:lstStyle>
            <a:defPPr>
              <a:defRPr lang="de-DE"/>
            </a:defPPr>
            <a:lvl1pPr marL="171450" marR="0" lvl="0" indent="-171450" fontAlgn="auto">
              <a:lnSpc>
                <a:spcPct val="100000"/>
              </a:lnSpc>
              <a:spcBef>
                <a:spcPts val="0"/>
              </a:spcBef>
              <a:spcAft>
                <a:spcPts val="0"/>
              </a:spcAft>
              <a:buClrTx/>
              <a:buSzTx/>
              <a:buFont typeface="Arial" panose="020B0604020202020204" pitchFamily="34" charset="0"/>
              <a:buChar char="•"/>
              <a:tabLst/>
              <a:defRPr kumimoji="0" sz="1100" b="1" i="0" u="none" strike="noStrike" cap="none" spc="0" normalizeH="0" baseline="0">
                <a:ln>
                  <a:noFill/>
                </a:ln>
                <a:solidFill>
                  <a:prstClr val="black"/>
                </a:solidFill>
                <a:effectLst/>
                <a:uLnTx/>
                <a:uFillTx/>
                <a:latin typeface="Roboto" panose="02000000000000000000" pitchFamily="2" charset="0"/>
                <a:ea typeface="Roboto" panose="02000000000000000000" pitchFamily="2" charset="0"/>
              </a:defRPr>
            </a:lvl1pPr>
          </a:lstStyle>
          <a:p>
            <a:r>
              <a:rPr lang="en-US"/>
              <a:t>Z Fold 8 Family led </a:t>
            </a:r>
            <a:r>
              <a:rPr lang="en-US" b="0"/>
              <a:t>with R$496K / 17% of revenue</a:t>
            </a:r>
            <a:r>
              <a:rPr lang="en-US"/>
              <a:t>. </a:t>
            </a:r>
          </a:p>
          <a:p>
            <a:r>
              <a:rPr lang="en-US"/>
              <a:t>S26 Family </a:t>
            </a:r>
            <a:r>
              <a:rPr lang="en-US" b="0"/>
              <a:t>reached R$438K and </a:t>
            </a:r>
            <a:r>
              <a:rPr lang="en-US"/>
              <a:t>S25 Family </a:t>
            </a:r>
            <a:r>
              <a:rPr lang="en-US" b="0"/>
              <a:t>only </a:t>
            </a:r>
            <a:r>
              <a:rPr lang="en-US"/>
              <a:t>R$352K.</a:t>
            </a:r>
          </a:p>
          <a:p>
            <a:r>
              <a:rPr lang="en-US"/>
              <a:t>Tab S10 FE showing little growth.</a:t>
            </a:r>
            <a:endParaRPr lang="pt-BR"/>
          </a:p>
        </p:txBody>
      </p:sp>
      <p:sp>
        <p:nvSpPr>
          <p:cNvPr id="96" name="CaixaDeTexto 95">
            <a:extLst>
              <a:ext uri="{FF2B5EF4-FFF2-40B4-BE49-F238E27FC236}">
                <a16:creationId xmlns:a16="http://schemas.microsoft.com/office/drawing/2014/main" id="{80DD8E88-4220-4BA0-8C96-161B26AAB40E}"/>
              </a:ext>
            </a:extLst>
          </p:cNvPr>
          <p:cNvSpPr txBox="1"/>
          <p:nvPr/>
        </p:nvSpPr>
        <p:spPr>
          <a:xfrm>
            <a:off x="251631" y="4098252"/>
            <a:ext cx="4319398" cy="430887"/>
          </a:xfrm>
          <a:prstGeom prst="rect">
            <a:avLst/>
          </a:prstGeom>
          <a:noFill/>
        </p:spPr>
        <p:txBody>
          <a:bodyPr wrap="square" rtlCol="0">
            <a:spAutoFit/>
          </a:bodyPr>
          <a:lstStyle>
            <a:defPPr>
              <a:defRPr lang="de-DE"/>
            </a:defPPr>
            <a:lvl1pPr marR="0" lvl="0" indent="0" fontAlgn="auto">
              <a:lnSpc>
                <a:spcPct val="100000"/>
              </a:lnSpc>
              <a:spcBef>
                <a:spcPts val="0"/>
              </a:spcBef>
              <a:spcAft>
                <a:spcPts val="0"/>
              </a:spcAft>
              <a:buClrTx/>
              <a:buSzTx/>
              <a:buFontTx/>
              <a:buNone/>
              <a:tabLst/>
              <a:defRPr kumimoji="0" sz="1100" b="1" i="0" u="none" strike="noStrike" cap="none" spc="0" normalizeH="0" baseline="0">
                <a:ln>
                  <a:noFill/>
                </a:ln>
                <a:solidFill>
                  <a:prstClr val="black"/>
                </a:solidFill>
                <a:effectLst/>
                <a:uLnTx/>
                <a:uFillTx/>
                <a:latin typeface="Roboto" panose="02000000000000000000" pitchFamily="2" charset="0"/>
                <a:ea typeface="Roboto" panose="02000000000000000000" pitchFamily="2" charset="0"/>
              </a:defRPr>
            </a:lvl1pPr>
          </a:lstStyle>
          <a:p>
            <a:pPr marL="171450" indent="-171450">
              <a:buFont typeface="Arial" panose="020B0604020202020204" pitchFamily="34" charset="0"/>
              <a:buChar char="•"/>
            </a:pPr>
            <a:r>
              <a:rPr lang="en-US"/>
              <a:t>Live Commerce </a:t>
            </a:r>
            <a:r>
              <a:rPr lang="en-US" b="0"/>
              <a:t>sustains all Growth performance.</a:t>
            </a:r>
          </a:p>
          <a:p>
            <a:pPr marL="171450" indent="-171450">
              <a:buFont typeface="Arial" panose="020B0604020202020204" pitchFamily="34" charset="0"/>
              <a:buChar char="•"/>
            </a:pPr>
            <a:r>
              <a:rPr lang="en-US"/>
              <a:t>Father’s Day </a:t>
            </a:r>
            <a:r>
              <a:rPr lang="en-US" b="0"/>
              <a:t>delivery revenue at August beginning.</a:t>
            </a:r>
            <a:endParaRPr lang="pt-BR" b="0"/>
          </a:p>
        </p:txBody>
      </p:sp>
      <p:sp>
        <p:nvSpPr>
          <p:cNvPr id="78" name="Título 1">
            <a:extLst>
              <a:ext uri="{FF2B5EF4-FFF2-40B4-BE49-F238E27FC236}">
                <a16:creationId xmlns:a16="http://schemas.microsoft.com/office/drawing/2014/main" id="{89AA8D51-6A51-46DB-A36E-908208096755}"/>
              </a:ext>
            </a:extLst>
          </p:cNvPr>
          <p:cNvSpPr txBox="1"/>
          <p:nvPr/>
        </p:nvSpPr>
        <p:spPr>
          <a:xfrm>
            <a:off x="207355" y="86336"/>
            <a:ext cx="8453563" cy="483772"/>
          </a:xfrm>
          <a:prstGeom prst="rect">
            <a:avLst/>
          </a:prstGeom>
          <a:noFill/>
          <a:ln cap="flat">
            <a:noFill/>
          </a:ln>
        </p:spPr>
        <p:txBody>
          <a:bodyPr vert="horz" wrap="square" lIns="75730" tIns="37865" rIns="75730" bIns="37865" anchor="ctr" anchorCtr="0" compatLnSpc="1">
            <a:noAutofit/>
          </a:bodyPr>
          <a:lstStyle/>
          <a:p>
            <a:pPr>
              <a:lnSpc>
                <a:spcPct val="90000"/>
              </a:lnSpc>
              <a:defRPr sz="1800" b="0" i="0" u="none" strike="noStrike" kern="0" cap="none" spc="0" baseline="0">
                <a:solidFill>
                  <a:srgbClr val="000000"/>
                </a:solidFill>
                <a:uFillTx/>
              </a:defRPr>
            </a:pPr>
            <a:r>
              <a:rPr lang="en-GB" sz="2000" b="1" kern="0">
                <a:solidFill>
                  <a:srgbClr val="000000"/>
                </a:solidFill>
                <a:latin typeface="Roboto"/>
                <a:ea typeface="Roboto"/>
                <a:cs typeface="Samsung Sharp Sans Bold" pitchFamily="2"/>
              </a:rPr>
              <a:t>GROWTH </a:t>
            </a:r>
            <a:r>
              <a:rPr lang="en-GB" sz="2000" b="1" i="0" u="none" strike="noStrike" kern="1200" cap="none" spc="0" baseline="0">
                <a:solidFill>
                  <a:srgbClr val="000000"/>
                </a:solidFill>
                <a:uFillTx/>
                <a:latin typeface="Roboto"/>
                <a:ea typeface="Roboto"/>
                <a:cs typeface="Samsung Sharp Sans Bold" pitchFamily="2"/>
              </a:rPr>
              <a:t>| </a:t>
            </a:r>
            <a:r>
              <a:rPr lang="en-GB" sz="2000" b="1">
                <a:solidFill>
                  <a:srgbClr val="1428A0"/>
                </a:solidFill>
                <a:latin typeface="Roboto"/>
                <a:ea typeface="Roboto"/>
                <a:cs typeface="Samsung Sharp Sans Bold" pitchFamily="2"/>
              </a:rPr>
              <a:t>Aug’26 Campaigns</a:t>
            </a:r>
            <a:endParaRPr lang="en-GB" sz="2000" b="1" i="0" u="none" strike="noStrike" kern="1200" cap="none" spc="0" baseline="0">
              <a:solidFill>
                <a:srgbClr val="1428A0"/>
              </a:solidFill>
              <a:uFillTx/>
              <a:latin typeface="Roboto"/>
              <a:ea typeface="Roboto"/>
              <a:cs typeface="Samsung Sharp Sans Bold" pitchFamily="2"/>
            </a:endParaRPr>
          </a:p>
        </p:txBody>
      </p:sp>
      <p:sp>
        <p:nvSpPr>
          <p:cNvPr id="95" name="Retângulo: Cantos Arredondados 94">
            <a:extLst>
              <a:ext uri="{FF2B5EF4-FFF2-40B4-BE49-F238E27FC236}">
                <a16:creationId xmlns:a16="http://schemas.microsoft.com/office/drawing/2014/main" id="{4586FC2B-C374-47E3-B7FF-BC2FF88BFAAB}"/>
              </a:ext>
            </a:extLst>
          </p:cNvPr>
          <p:cNvSpPr/>
          <p:nvPr/>
        </p:nvSpPr>
        <p:spPr>
          <a:xfrm>
            <a:off x="2323771" y="2671518"/>
            <a:ext cx="1984345" cy="645189"/>
          </a:xfrm>
          <a:prstGeom prst="roundRect">
            <a:avLst>
              <a:gd name="adj" fmla="val 9708"/>
            </a:avLst>
          </a:prstGeom>
          <a:solidFill>
            <a:srgbClr val="F6F6F6"/>
          </a:solidFill>
          <a:ln w="3175">
            <a:solidFill>
              <a:srgbClr val="1428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Aft>
                <a:spcPts val="0"/>
              </a:spcAft>
              <a:buClrTx/>
              <a:buSzTx/>
              <a:buFontTx/>
              <a:buNone/>
              <a:tabLst/>
              <a:defRPr/>
            </a:pPr>
            <a:endParaRPr kumimoji="0" lang="en-US" sz="6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p:txBody>
      </p:sp>
      <p:sp>
        <p:nvSpPr>
          <p:cNvPr id="45" name="Retângulo: Cantos Arredondados 44">
            <a:extLst>
              <a:ext uri="{FF2B5EF4-FFF2-40B4-BE49-F238E27FC236}">
                <a16:creationId xmlns:a16="http://schemas.microsoft.com/office/drawing/2014/main" id="{8794B58F-7F7E-43D9-81FD-3F8EB6E56786}"/>
              </a:ext>
            </a:extLst>
          </p:cNvPr>
          <p:cNvSpPr/>
          <p:nvPr/>
        </p:nvSpPr>
        <p:spPr>
          <a:xfrm>
            <a:off x="3330953" y="2761018"/>
            <a:ext cx="849292" cy="488475"/>
          </a:xfrm>
          <a:prstGeom prst="roundRect">
            <a:avLst>
              <a:gd name="adj" fmla="val 9708"/>
            </a:avLst>
          </a:prstGeom>
          <a:solidFill>
            <a:srgbClr val="F6F6F6"/>
          </a:solidFill>
          <a:ln w="3175">
            <a:solidFill>
              <a:srgbClr val="1428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Aft>
                <a:spcPts val="0"/>
              </a:spcAft>
              <a:buClrTx/>
              <a:buSzTx/>
              <a:buFontTx/>
              <a:buNone/>
              <a:tabLst/>
              <a:defRPr/>
            </a:pPr>
            <a:r>
              <a:rPr kumimoji="0" lang="en-US" sz="6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Live Commerce</a:t>
            </a:r>
          </a:p>
          <a:p>
            <a:pPr marL="0" marR="0" lvl="0" indent="0" algn="ctr" defTabSz="914400" rtl="0" eaLnBrk="1" fontAlgn="auto" latinLnBrk="0" hangingPunct="1">
              <a:lnSpc>
                <a:spcPct val="100000"/>
              </a:lnSpc>
              <a:spcAft>
                <a:spcPts val="0"/>
              </a:spcAft>
              <a:buClrTx/>
              <a:buSzTx/>
              <a:buFontTx/>
              <a:buNone/>
              <a:tabLst/>
              <a:defRPr/>
            </a:pPr>
            <a:r>
              <a:rPr kumimoji="0" lang="en-US" sz="90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rPr>
              <a:t>R</a:t>
            </a:r>
            <a:r>
              <a:rPr lang="en-US" sz="900" b="1">
                <a:solidFill>
                  <a:srgbClr val="061799"/>
                </a:solidFill>
                <a:latin typeface="Roboto" panose="02000000000000000000" pitchFamily="2" charset="0"/>
                <a:ea typeface="Roboto" panose="02000000000000000000" pitchFamily="2" charset="0"/>
              </a:rPr>
              <a:t>$</a:t>
            </a:r>
            <a:r>
              <a:rPr kumimoji="0" lang="en-US" sz="90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rPr>
              <a:t>1,38M</a:t>
            </a:r>
          </a:p>
          <a:p>
            <a:pPr marL="0" marR="0" lvl="0" indent="0" algn="ctr" defTabSz="914400" rtl="0" eaLnBrk="1" fontAlgn="auto" latinLnBrk="0" hangingPunct="1">
              <a:lnSpc>
                <a:spcPct val="100000"/>
              </a:lnSpc>
              <a:spcAft>
                <a:spcPts val="0"/>
              </a:spcAft>
              <a:buClrTx/>
              <a:buSzTx/>
              <a:buFontTx/>
              <a:buNone/>
              <a:tabLst/>
              <a:defRPr/>
            </a:pPr>
            <a:r>
              <a:rPr lang="en-US" sz="600" b="1">
                <a:solidFill>
                  <a:schemeClr val="tx1"/>
                </a:solidFill>
                <a:latin typeface="Roboto" panose="02000000000000000000" pitchFamily="2" charset="0"/>
                <a:ea typeface="Roboto" panose="02000000000000000000" pitchFamily="2" charset="0"/>
              </a:rPr>
              <a:t>2</a:t>
            </a:r>
            <a:r>
              <a:rPr kumimoji="0" lang="en-US" sz="600" b="1"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mn-cs"/>
              </a:rPr>
              <a:t>.8 YoY</a:t>
            </a:r>
          </a:p>
        </p:txBody>
      </p:sp>
      <p:sp>
        <p:nvSpPr>
          <p:cNvPr id="44" name="Retângulo: Cantos Arredondados 43">
            <a:extLst>
              <a:ext uri="{FF2B5EF4-FFF2-40B4-BE49-F238E27FC236}">
                <a16:creationId xmlns:a16="http://schemas.microsoft.com/office/drawing/2014/main" id="{257F1C10-2675-4799-AE22-132175DC3618}"/>
              </a:ext>
            </a:extLst>
          </p:cNvPr>
          <p:cNvSpPr/>
          <p:nvPr/>
        </p:nvSpPr>
        <p:spPr>
          <a:xfrm>
            <a:off x="2410445" y="2761018"/>
            <a:ext cx="849292" cy="488475"/>
          </a:xfrm>
          <a:prstGeom prst="roundRect">
            <a:avLst>
              <a:gd name="adj" fmla="val 9708"/>
            </a:avLst>
          </a:prstGeom>
          <a:solidFill>
            <a:srgbClr val="F6F6F6"/>
          </a:solidFill>
          <a:ln w="3175">
            <a:solidFill>
              <a:srgbClr val="1428A0"/>
            </a:solidFill>
          </a:ln>
        </p:spPr>
        <p:style>
          <a:lnRef idx="2">
            <a:schemeClr val="accent1">
              <a:shade val="50000"/>
            </a:schemeClr>
          </a:lnRef>
          <a:fillRef idx="1">
            <a:schemeClr val="accent1"/>
          </a:fillRef>
          <a:effectRef idx="0">
            <a:schemeClr val="accent1"/>
          </a:effectRef>
          <a:fontRef idx="minor">
            <a:schemeClr val="lt1"/>
          </a:fontRef>
        </p:style>
        <p:txBody>
          <a:bodyPr lIns="18000" rIns="18000" rtlCol="0" anchor="ctr"/>
          <a:lstStyle/>
          <a:p>
            <a:pPr marL="0" marR="0" lvl="0" indent="0" algn="ctr" defTabSz="914400" rtl="0" eaLnBrk="1" fontAlgn="auto" latinLnBrk="0" hangingPunct="1">
              <a:lnSpc>
                <a:spcPct val="100000"/>
              </a:lnSpc>
              <a:spcAft>
                <a:spcPts val="0"/>
              </a:spcAft>
              <a:buClrTx/>
              <a:buSzTx/>
              <a:buFontTx/>
              <a:buNone/>
              <a:tabLst/>
              <a:defRPr/>
            </a:pPr>
            <a:r>
              <a:rPr kumimoji="0" lang="en-US" sz="6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Why Shop</a:t>
            </a:r>
          </a:p>
          <a:p>
            <a:pPr marL="0" marR="0" lvl="0" indent="0" algn="ctr" defTabSz="914400" rtl="0" eaLnBrk="1" fontAlgn="auto" latinLnBrk="0" hangingPunct="1">
              <a:lnSpc>
                <a:spcPct val="100000"/>
              </a:lnSpc>
              <a:spcAft>
                <a:spcPts val="0"/>
              </a:spcAft>
              <a:buClrTx/>
              <a:buSzTx/>
              <a:buFontTx/>
              <a:buNone/>
              <a:tabLst/>
              <a:defRPr/>
            </a:pPr>
            <a:r>
              <a:rPr kumimoji="0" lang="en-US" sz="90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rPr>
              <a:t>R</a:t>
            </a:r>
            <a:r>
              <a:rPr lang="en-US" sz="900" b="1">
                <a:solidFill>
                  <a:srgbClr val="061799"/>
                </a:solidFill>
                <a:latin typeface="Roboto" panose="02000000000000000000" pitchFamily="2" charset="0"/>
                <a:ea typeface="Roboto" panose="02000000000000000000" pitchFamily="2" charset="0"/>
              </a:rPr>
              <a:t>$770</a:t>
            </a:r>
            <a:r>
              <a:rPr kumimoji="0" lang="en-US" sz="90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rPr>
              <a:t>k</a:t>
            </a:r>
          </a:p>
          <a:p>
            <a:pPr marL="0" marR="0" lvl="0" indent="0" algn="ctr" defTabSz="914400" rtl="0" eaLnBrk="1" fontAlgn="auto" latinLnBrk="0" hangingPunct="1">
              <a:lnSpc>
                <a:spcPct val="100000"/>
              </a:lnSpc>
              <a:spcAft>
                <a:spcPts val="0"/>
              </a:spcAft>
              <a:buClrTx/>
              <a:buSzTx/>
              <a:buFontTx/>
              <a:buNone/>
              <a:tabLst/>
              <a:defRPr/>
            </a:pPr>
            <a:r>
              <a:rPr kumimoji="0" lang="en-US" sz="600" b="1" i="0" u="none" strike="noStrike" kern="1200" cap="none" spc="0" normalizeH="0" baseline="0" noProof="0">
                <a:ln>
                  <a:noFill/>
                </a:ln>
                <a:solidFill>
                  <a:prstClr val="black"/>
                </a:solidFill>
                <a:effectLst/>
                <a:highlight>
                  <a:srgbClr val="FFFF00"/>
                </a:highlight>
                <a:uLnTx/>
                <a:uFillTx/>
                <a:latin typeface="Roboto" panose="02000000000000000000" pitchFamily="2" charset="0"/>
                <a:ea typeface="Roboto" panose="02000000000000000000" pitchFamily="2" charset="0"/>
                <a:cs typeface="+mn-cs"/>
              </a:rPr>
              <a:t>5.5 G/R</a:t>
            </a:r>
            <a:endParaRPr kumimoji="0" lang="en-US" sz="600" i="0" u="none" strike="noStrike" kern="1200" cap="none" spc="0" normalizeH="0" baseline="0" noProof="0">
              <a:ln>
                <a:noFill/>
              </a:ln>
              <a:solidFill>
                <a:prstClr val="black"/>
              </a:solidFill>
              <a:effectLst/>
              <a:highlight>
                <a:srgbClr val="FFFF00"/>
              </a:highlight>
              <a:uLnTx/>
              <a:uFillTx/>
              <a:latin typeface="Roboto" panose="02000000000000000000" pitchFamily="2" charset="0"/>
              <a:ea typeface="Roboto" panose="02000000000000000000" pitchFamily="2" charset="0"/>
              <a:cs typeface="+mn-cs"/>
            </a:endParaRPr>
          </a:p>
        </p:txBody>
      </p:sp>
      <p:sp>
        <p:nvSpPr>
          <p:cNvPr id="94" name="CaixaDeTexto 93">
            <a:extLst>
              <a:ext uri="{FF2B5EF4-FFF2-40B4-BE49-F238E27FC236}">
                <a16:creationId xmlns:a16="http://schemas.microsoft.com/office/drawing/2014/main" id="{B92BEFAC-CD93-43AE-8647-500AACD153EC}"/>
              </a:ext>
            </a:extLst>
          </p:cNvPr>
          <p:cNvSpPr txBox="1"/>
          <p:nvPr/>
        </p:nvSpPr>
        <p:spPr>
          <a:xfrm>
            <a:off x="2581186" y="2568081"/>
            <a:ext cx="1492954" cy="200055"/>
          </a:xfrm>
          <a:prstGeom prst="rect">
            <a:avLst/>
          </a:prstGeom>
          <a:noFill/>
        </p:spPr>
        <p:txBody>
          <a:bodyPr wrap="square">
            <a:spAutoFit/>
          </a:bodyPr>
          <a:lstStyle/>
          <a:p>
            <a:pPr algn="ctr"/>
            <a:r>
              <a:rPr kumimoji="0" lang="en-US" sz="700" b="1" i="0" u="none" strike="noStrike" kern="1200" cap="none" spc="0" normalizeH="0" baseline="0" noProof="0">
                <a:ln>
                  <a:noFill/>
                </a:ln>
                <a:solidFill>
                  <a:prstClr val="black"/>
                </a:solidFill>
                <a:effectLst/>
                <a:highlight>
                  <a:srgbClr val="F6F6F6"/>
                </a:highlight>
                <a:uLnTx/>
                <a:uFillTx/>
                <a:latin typeface="Roboto" panose="02000000000000000000" pitchFamily="2" charset="0"/>
                <a:ea typeface="Roboto" panose="02000000000000000000" pitchFamily="2" charset="0"/>
                <a:cs typeface="+mn-cs"/>
              </a:rPr>
              <a:t>Common Campaigns</a:t>
            </a:r>
            <a:endParaRPr lang="pt-BR" sz="1050" b="1">
              <a:highlight>
                <a:srgbClr val="F6F6F6"/>
              </a:highlight>
            </a:endParaRPr>
          </a:p>
        </p:txBody>
      </p:sp>
      <p:pic>
        <p:nvPicPr>
          <p:cNvPr id="4" name="Imagem 3">
            <a:extLst>
              <a:ext uri="{FF2B5EF4-FFF2-40B4-BE49-F238E27FC236}">
                <a16:creationId xmlns:a16="http://schemas.microsoft.com/office/drawing/2014/main" id="{33288C6D-29DB-419A-AC24-D290AC566924}"/>
              </a:ext>
            </a:extLst>
          </p:cNvPr>
          <p:cNvPicPr>
            <a:picLocks noChangeAspect="1"/>
          </p:cNvPicPr>
          <p:nvPr/>
        </p:nvPicPr>
        <p:blipFill>
          <a:blip r:embed="rId4"/>
          <a:stretch>
            <a:fillRect/>
          </a:stretch>
        </p:blipFill>
        <p:spPr>
          <a:xfrm>
            <a:off x="4729595" y="2315886"/>
            <a:ext cx="4178937" cy="1356451"/>
          </a:xfrm>
          <a:prstGeom prst="rect">
            <a:avLst/>
          </a:prstGeom>
        </p:spPr>
      </p:pic>
      <p:sp>
        <p:nvSpPr>
          <p:cNvPr id="35" name="CaixaDeTexto 34">
            <a:extLst>
              <a:ext uri="{FF2B5EF4-FFF2-40B4-BE49-F238E27FC236}">
                <a16:creationId xmlns:a16="http://schemas.microsoft.com/office/drawing/2014/main" id="{FAB4C81C-18B1-4C7C-93AB-56874DBD1D09}"/>
              </a:ext>
            </a:extLst>
          </p:cNvPr>
          <p:cNvSpPr txBox="1"/>
          <p:nvPr/>
        </p:nvSpPr>
        <p:spPr>
          <a:xfrm>
            <a:off x="6665924" y="4315146"/>
            <a:ext cx="1260000" cy="338554"/>
          </a:xfrm>
          <a:prstGeom prst="rect">
            <a:avLst/>
          </a:prstGeom>
          <a:noFill/>
        </p:spPr>
        <p:txBody>
          <a:bodyPr wrap="square" rtlCol="0">
            <a:spAutoFit/>
          </a:bodyPr>
          <a:lstStyle>
            <a:defPPr>
              <a:defRPr lang="de-DE"/>
            </a:defPPr>
            <a:lvl1pPr marR="0" lvl="0" indent="0" fontAlgn="auto">
              <a:lnSpc>
                <a:spcPct val="100000"/>
              </a:lnSpc>
              <a:spcBef>
                <a:spcPts val="0"/>
              </a:spcBef>
              <a:spcAft>
                <a:spcPts val="0"/>
              </a:spcAft>
              <a:buClrTx/>
              <a:buSzTx/>
              <a:buFontTx/>
              <a:buNone/>
              <a:tabLst/>
              <a:defRPr kumimoji="0" sz="900" b="0" i="0" u="none" strike="noStrike" cap="none" spc="0" normalizeH="0" baseline="0">
                <a:ln>
                  <a:noFill/>
                </a:ln>
                <a:solidFill>
                  <a:prstClr val="black"/>
                </a:solidFill>
                <a:effectLst/>
                <a:uLnTx/>
                <a:uFillTx/>
                <a:latin typeface="Roboto" panose="02000000000000000000" pitchFamily="2" charset="0"/>
                <a:ea typeface="Roboto" panose="02000000000000000000" pitchFamily="2" charset="0"/>
              </a:defRPr>
            </a:lvl1pPr>
          </a:lstStyle>
          <a:p>
            <a:r>
              <a:rPr lang="en-US" sz="800" err="1"/>
              <a:t>Liveshop</a:t>
            </a:r>
            <a:r>
              <a:rPr lang="en-US" sz="800"/>
              <a:t> | W34</a:t>
            </a:r>
          </a:p>
          <a:p>
            <a:r>
              <a:rPr lang="en-US" sz="800"/>
              <a:t>R$ 167k | CVR 0,23%</a:t>
            </a:r>
          </a:p>
        </p:txBody>
      </p:sp>
      <p:pic>
        <p:nvPicPr>
          <p:cNvPr id="36" name="Imagem 35">
            <a:extLst>
              <a:ext uri="{FF2B5EF4-FFF2-40B4-BE49-F238E27FC236}">
                <a16:creationId xmlns:a16="http://schemas.microsoft.com/office/drawing/2014/main" id="{968FC49C-6F04-4805-9EA1-1DB45E196ED1}"/>
              </a:ext>
            </a:extLst>
          </p:cNvPr>
          <p:cNvPicPr>
            <a:picLocks noChangeAspect="1"/>
          </p:cNvPicPr>
          <p:nvPr/>
        </p:nvPicPr>
        <p:blipFill>
          <a:blip r:embed="rId5" cstate="print">
            <a:extLst>
              <a:ext uri="{28A0092B-C50C-407E-A947-70E740481C1C}">
                <a14:useLocalDpi xmlns:a14="http://schemas.microsoft.com/office/drawing/2010/main" val="0"/>
              </a:ext>
            </a:extLst>
          </a:blip>
          <a:srcRect t="18738" b="18738"/>
          <a:stretch/>
        </p:blipFill>
        <p:spPr>
          <a:xfrm>
            <a:off x="6163976" y="3930799"/>
            <a:ext cx="476020" cy="2384900"/>
          </a:xfrm>
          <a:prstGeom prst="rect">
            <a:avLst/>
          </a:prstGeom>
        </p:spPr>
      </p:pic>
    </p:spTree>
    <p:extLst>
      <p:ext uri="{BB962C8B-B14F-4D97-AF65-F5344CB8AC3E}">
        <p14:creationId xmlns:p14="http://schemas.microsoft.com/office/powerpoint/2010/main" val="29576288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heil-Logo(black).png" descr="Cheil-Logo(black).png">
            <a:extLst>
              <a:ext uri="{FF2B5EF4-FFF2-40B4-BE49-F238E27FC236}">
                <a16:creationId xmlns:a16="http://schemas.microsoft.com/office/drawing/2014/main" id="{DF344D88-4EA9-4E92-ADF7-61B55EE4B848}"/>
              </a:ext>
            </a:extLst>
          </p:cNvPr>
          <p:cNvPicPr>
            <a:picLocks noChangeAspect="1"/>
          </p:cNvPicPr>
          <p:nvPr/>
        </p:nvPicPr>
        <p:blipFill>
          <a:blip r:embed="rId2"/>
          <a:stretch>
            <a:fillRect/>
          </a:stretch>
        </p:blipFill>
        <p:spPr>
          <a:xfrm>
            <a:off x="254148" y="6329579"/>
            <a:ext cx="655342" cy="290146"/>
          </a:xfrm>
          <a:prstGeom prst="rect">
            <a:avLst/>
          </a:prstGeom>
          <a:ln w="12700">
            <a:miter lim="400000"/>
          </a:ln>
        </p:spPr>
      </p:pic>
      <p:sp>
        <p:nvSpPr>
          <p:cNvPr id="5" name="Galaxy A06…">
            <a:extLst>
              <a:ext uri="{FF2B5EF4-FFF2-40B4-BE49-F238E27FC236}">
                <a16:creationId xmlns:a16="http://schemas.microsoft.com/office/drawing/2014/main" id="{3C75C3A0-FAE2-4BE8-B90C-87B911D7AE60}"/>
              </a:ext>
            </a:extLst>
          </p:cNvPr>
          <p:cNvSpPr txBox="1"/>
          <p:nvPr/>
        </p:nvSpPr>
        <p:spPr>
          <a:xfrm>
            <a:off x="1061304" y="3079994"/>
            <a:ext cx="7392413" cy="69801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45719" tIns="45719" rIns="45719" bIns="45719" anchor="ctr">
            <a:spAutoFit/>
          </a:bodyPr>
          <a:lstStyle>
            <a:lvl1pPr defTabSz="1828800">
              <a:lnSpc>
                <a:spcPct val="80000"/>
              </a:lnSpc>
              <a:spcBef>
                <a:spcPts val="0"/>
              </a:spcBef>
              <a:defRPr sz="15000" spc="-450">
                <a:solidFill>
                  <a:srgbClr val="FFFFFF"/>
                </a:solidFill>
                <a:latin typeface="SamsungSharpSans-Medium"/>
                <a:ea typeface="SamsungSharpSans-Medium"/>
                <a:cs typeface="SamsungSharpSans-Medium"/>
                <a:sym typeface="SamsungSharpSans-Medium"/>
              </a:defRPr>
            </a:lvl1pPr>
          </a:lstStyle>
          <a:p>
            <a:pPr marL="0" marR="0" lvl="0" indent="0" defTabSz="1828800" eaLnBrk="1" fontAlgn="auto" latinLnBrk="0" hangingPunct="0">
              <a:lnSpc>
                <a:spcPct val="80000"/>
              </a:lnSpc>
              <a:spcBef>
                <a:spcPts val="0"/>
              </a:spcBef>
              <a:spcAft>
                <a:spcPts val="0"/>
              </a:spcAft>
              <a:buClrTx/>
              <a:buSzTx/>
              <a:buFontTx/>
              <a:buNone/>
              <a:tabLst/>
              <a:defRPr/>
            </a:pPr>
            <a:r>
              <a:rPr lang="pt-BR" sz="4800" kern="0" spc="0"/>
              <a:t>GTM</a:t>
            </a:r>
            <a:endParaRPr kumimoji="0" lang="pt-BR" sz="4800" b="0" i="0" u="none" strike="noStrike" kern="0" cap="none" spc="0" normalizeH="0" baseline="0" noProof="0">
              <a:ln>
                <a:noFill/>
              </a:ln>
              <a:solidFill>
                <a:srgbClr val="FFFFFF"/>
              </a:solidFill>
              <a:effectLst/>
              <a:uLnTx/>
              <a:uFillTx/>
              <a:latin typeface="SamsungSharpSans-Medium"/>
              <a:ea typeface="SamsungSharpSans-Medium"/>
              <a:cs typeface="SamsungSharpSans-Medium"/>
              <a:sym typeface="SamsungSharpSans-Medium"/>
            </a:endParaRPr>
          </a:p>
        </p:txBody>
      </p:sp>
    </p:spTree>
    <p:extLst>
      <p:ext uri="{BB962C8B-B14F-4D97-AF65-F5344CB8AC3E}">
        <p14:creationId xmlns:p14="http://schemas.microsoft.com/office/powerpoint/2010/main" val="20412912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Rectangle 43">
            <a:extLst>
              <a:ext uri="{FF2B5EF4-FFF2-40B4-BE49-F238E27FC236}">
                <a16:creationId xmlns:a16="http://schemas.microsoft.com/office/drawing/2014/main" id="{F80E5E23-4E58-446E-AF4A-5879C9F962AC}"/>
              </a:ext>
            </a:extLst>
          </p:cNvPr>
          <p:cNvSpPr/>
          <p:nvPr/>
        </p:nvSpPr>
        <p:spPr>
          <a:xfrm>
            <a:off x="365760" y="2423159"/>
            <a:ext cx="8366760" cy="4232907"/>
          </a:xfrm>
          <a:prstGeom prst="rect">
            <a:avLst/>
          </a:prstGeom>
          <a:solidFill>
            <a:srgbClr val="FFFFFF"/>
          </a:solidFill>
          <a:ln w="10160">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GB New Owners N-1 ~ N-4</a:t>
            </a:r>
            <a:endParaRPr/>
          </a:p>
        </p:txBody>
      </p:sp>
      <p:sp>
        <p:nvSpPr>
          <p:cNvPr id="76" name="Google Shape;333;p27">
            <a:extLst>
              <a:ext uri="{FF2B5EF4-FFF2-40B4-BE49-F238E27FC236}">
                <a16:creationId xmlns:a16="http://schemas.microsoft.com/office/drawing/2014/main" id="{532CA792-6582-4384-81E7-252D6456C1BB}"/>
              </a:ext>
            </a:extLst>
          </p:cNvPr>
          <p:cNvSpPr/>
          <p:nvPr/>
        </p:nvSpPr>
        <p:spPr>
          <a:xfrm>
            <a:off x="207356" y="527828"/>
            <a:ext cx="11503496" cy="294292"/>
          </a:xfrm>
          <a:prstGeom prst="roundRect">
            <a:avLst>
              <a:gd name="adj" fmla="val 0"/>
            </a:avLst>
          </a:prstGeom>
          <a:noFill/>
          <a:ln w="9525" cap="flat" cmpd="sng">
            <a:noFill/>
            <a:prstDash val="solid"/>
            <a:round/>
            <a:headEnd type="none" w="sm" len="sm"/>
            <a:tailEnd type="none" w="sm" len="sm"/>
          </a:ln>
        </p:spPr>
        <p:txBody>
          <a:bodyPr spcFirstLastPara="1" wrap="square" lIns="72000" tIns="36000" rIns="72000" bIns="36000" anchor="t" anchorCtr="0">
            <a:noAutofit/>
          </a:bodyPr>
          <a:lstStyle>
            <a:defPPr marL="0" marR="0" indent="0" algn="l" defTabSz="914400" rtl="0" fontAlgn="auto" latinLnBrk="1" hangingPunct="0">
              <a:lnSpc>
                <a:spcPct val="100000"/>
              </a:lnSpc>
              <a:spcBef>
                <a:spcPts val="0"/>
              </a:spcBef>
              <a:spcAft>
                <a:spcPts val="0"/>
              </a:spcAft>
              <a:buClrTx/>
              <a:buSzTx/>
              <a:buFontTx/>
              <a:buNone/>
              <a:tabLst/>
              <a:defRPr kumimoji="0" lang="de-DE" sz="1800" b="0" i="0" u="none" strike="noStrike" cap="none" spc="0" normalizeH="0" baseline="0">
                <a:ln>
                  <a:noFill/>
                </a:ln>
                <a:solidFill>
                  <a:srgbClr val="000000"/>
                </a:solidFill>
                <a:effectLst/>
                <a:uFillTx/>
              </a:defRPr>
            </a:defPPr>
            <a:lvl1pPr marL="0" marR="0" indent="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1pPr>
            <a:lvl2pPr marL="0" marR="0" indent="4572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2pPr>
            <a:lvl3pPr marL="0" marR="0" indent="9144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3pPr>
            <a:lvl4pPr marL="0" marR="0" indent="13716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4pPr>
            <a:lvl5pPr marL="0" marR="0" indent="18288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5pPr>
            <a:lvl6pPr marL="0" marR="0" indent="22860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6pPr>
            <a:lvl7pPr marL="0" marR="0" indent="27432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7pPr>
            <a:lvl8pPr marL="0" marR="0" indent="32004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8pPr>
            <a:lvl9pPr marL="0" marR="0" indent="36576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SamsungOne 400"/>
                <a:ea typeface="SamsungOne 400"/>
                <a:cs typeface="SamsungOne 400"/>
                <a:sym typeface="SamsungOne 400"/>
              </a:defRPr>
            </a:lvl9pPr>
          </a:lstStyle>
          <a:p>
            <a:pPr algn="l"/>
            <a:r>
              <a:rPr lang="pt-BR" sz="1100"/>
              <a:t>GTM </a:t>
            </a:r>
            <a:r>
              <a:rPr lang="pt-BR" sz="1100" err="1"/>
              <a:t>susteined</a:t>
            </a:r>
            <a:r>
              <a:rPr lang="pt-BR" sz="1100"/>
              <a:t> </a:t>
            </a:r>
            <a:r>
              <a:rPr lang="pt-BR" sz="1100" err="1"/>
              <a:t>main</a:t>
            </a:r>
            <a:r>
              <a:rPr lang="pt-BR" sz="1100"/>
              <a:t> </a:t>
            </a:r>
            <a:r>
              <a:rPr lang="pt-BR" sz="1100" err="1"/>
              <a:t>launches</a:t>
            </a:r>
            <a:r>
              <a:rPr lang="pt-BR" sz="1100"/>
              <a:t> </a:t>
            </a:r>
            <a:r>
              <a:rPr lang="pt-BR" sz="1100" err="1"/>
              <a:t>on</a:t>
            </a:r>
            <a:r>
              <a:rPr lang="pt-BR" sz="1100"/>
              <a:t> August, </a:t>
            </a:r>
            <a:r>
              <a:rPr lang="pt-BR" sz="1100" err="1"/>
              <a:t>with</a:t>
            </a:r>
            <a:r>
              <a:rPr lang="pt-BR" sz="1100"/>
              <a:t> </a:t>
            </a:r>
            <a:r>
              <a:rPr lang="pt-BR" sz="1100" err="1"/>
              <a:t>strong</a:t>
            </a:r>
            <a:r>
              <a:rPr lang="pt-BR" sz="1100"/>
              <a:t> </a:t>
            </a:r>
            <a:r>
              <a:rPr lang="pt-BR" sz="1100" err="1"/>
              <a:t>activation</a:t>
            </a:r>
            <a:r>
              <a:rPr lang="pt-BR" sz="1100"/>
              <a:t> </a:t>
            </a:r>
            <a:r>
              <a:rPr lang="pt-BR" sz="1100" err="1"/>
              <a:t>and</a:t>
            </a:r>
            <a:r>
              <a:rPr lang="pt-BR" sz="1100"/>
              <a:t> </a:t>
            </a:r>
            <a:r>
              <a:rPr lang="pt-BR" sz="1100" err="1"/>
              <a:t>intention</a:t>
            </a:r>
            <a:r>
              <a:rPr lang="pt-BR" sz="1100"/>
              <a:t> Generation; </a:t>
            </a:r>
            <a:r>
              <a:rPr lang="pt-BR" sz="1100" err="1"/>
              <a:t>Awareness</a:t>
            </a:r>
            <a:r>
              <a:rPr lang="pt-BR" sz="1100"/>
              <a:t>, </a:t>
            </a:r>
            <a:r>
              <a:rPr lang="pt-BR" sz="1100" err="1"/>
              <a:t>the</a:t>
            </a:r>
            <a:r>
              <a:rPr lang="pt-BR" sz="1100"/>
              <a:t> </a:t>
            </a:r>
            <a:r>
              <a:rPr lang="pt-BR" sz="1100" err="1"/>
              <a:t>challenge</a:t>
            </a:r>
            <a:r>
              <a:rPr lang="pt-BR" sz="1100"/>
              <a:t> </a:t>
            </a:r>
            <a:r>
              <a:rPr lang="pt-BR" sz="1100" err="1"/>
              <a:t>was</a:t>
            </a:r>
            <a:r>
              <a:rPr lang="pt-BR" sz="1100"/>
              <a:t> </a:t>
            </a:r>
            <a:r>
              <a:rPr lang="pt-BR" sz="1100" err="1"/>
              <a:t>change</a:t>
            </a:r>
            <a:r>
              <a:rPr lang="pt-BR" sz="1100"/>
              <a:t> </a:t>
            </a:r>
            <a:r>
              <a:rPr lang="pt-BR" sz="1100" err="1"/>
              <a:t>scale</a:t>
            </a:r>
            <a:r>
              <a:rPr lang="pt-BR" sz="1100"/>
              <a:t> in </a:t>
            </a:r>
            <a:r>
              <a:rPr lang="pt-BR" sz="1100" err="1"/>
              <a:t>engagement</a:t>
            </a:r>
            <a:r>
              <a:rPr lang="pt-BR" sz="1100"/>
              <a:t>.</a:t>
            </a:r>
          </a:p>
        </p:txBody>
      </p:sp>
      <p:sp>
        <p:nvSpPr>
          <p:cNvPr id="86" name="CaixaDeTexto 85">
            <a:extLst>
              <a:ext uri="{FF2B5EF4-FFF2-40B4-BE49-F238E27FC236}">
                <a16:creationId xmlns:a16="http://schemas.microsoft.com/office/drawing/2014/main" id="{DBE0AF47-9C9D-4906-9EB1-C0690294CBE7}"/>
              </a:ext>
            </a:extLst>
          </p:cNvPr>
          <p:cNvSpPr txBox="1"/>
          <p:nvPr/>
        </p:nvSpPr>
        <p:spPr>
          <a:xfrm>
            <a:off x="1332363" y="1306761"/>
            <a:ext cx="1379624" cy="523220"/>
          </a:xfrm>
          <a:prstGeom prst="rect">
            <a:avLst/>
          </a:prstGeom>
          <a:noFill/>
          <a:ln>
            <a:noFill/>
          </a:ln>
        </p:spPr>
        <p:txBody>
          <a:bodyPr wrap="square" lIns="91440" tIns="45720" rIns="91440" bIns="45720" rtlCol="0" anchor="t">
            <a:spAutoFit/>
          </a:bodyPr>
          <a:lstStyle/>
          <a:p>
            <a:pPr algn="ctr"/>
            <a:r>
              <a:rPr lang="pt-BR" sz="2800" b="1"/>
              <a:t>401,1M</a:t>
            </a:r>
          </a:p>
        </p:txBody>
      </p:sp>
      <p:sp>
        <p:nvSpPr>
          <p:cNvPr id="87" name="CaixaDeTexto 86">
            <a:extLst>
              <a:ext uri="{FF2B5EF4-FFF2-40B4-BE49-F238E27FC236}">
                <a16:creationId xmlns:a16="http://schemas.microsoft.com/office/drawing/2014/main" id="{54452CC5-A62D-4FF4-8193-CA0021CCD490}"/>
              </a:ext>
            </a:extLst>
          </p:cNvPr>
          <p:cNvSpPr txBox="1"/>
          <p:nvPr/>
        </p:nvSpPr>
        <p:spPr>
          <a:xfrm>
            <a:off x="1590673" y="1706189"/>
            <a:ext cx="840506" cy="276999"/>
          </a:xfrm>
          <a:prstGeom prst="rect">
            <a:avLst/>
          </a:prstGeom>
          <a:noFill/>
        </p:spPr>
        <p:txBody>
          <a:bodyPr wrap="square" rtlCol="0">
            <a:spAutoFit/>
          </a:bodyPr>
          <a:lstStyle/>
          <a:p>
            <a:pPr algn="ctr"/>
            <a:r>
              <a:rPr lang="pt-BR" sz="1200" i="1"/>
              <a:t>Deliveries</a:t>
            </a:r>
          </a:p>
        </p:txBody>
      </p:sp>
      <p:sp>
        <p:nvSpPr>
          <p:cNvPr id="88" name="CaixaDeTexto 87">
            <a:extLst>
              <a:ext uri="{FF2B5EF4-FFF2-40B4-BE49-F238E27FC236}">
                <a16:creationId xmlns:a16="http://schemas.microsoft.com/office/drawing/2014/main" id="{A2C0F216-8ABB-4C79-8123-CD3DBA23A776}"/>
              </a:ext>
            </a:extLst>
          </p:cNvPr>
          <p:cNvSpPr txBox="1"/>
          <p:nvPr/>
        </p:nvSpPr>
        <p:spPr>
          <a:xfrm flipH="1">
            <a:off x="1786724" y="1989645"/>
            <a:ext cx="549111" cy="276999"/>
          </a:xfrm>
          <a:prstGeom prst="rect">
            <a:avLst/>
          </a:prstGeom>
          <a:noFill/>
        </p:spPr>
        <p:txBody>
          <a:bodyPr wrap="square" rtlCol="0">
            <a:spAutoFit/>
          </a:bodyPr>
          <a:lstStyle/>
          <a:p>
            <a:pPr algn="ctr"/>
            <a:r>
              <a:rPr lang="pt-BR" sz="1200" i="1">
                <a:solidFill>
                  <a:srgbClr val="C00000"/>
                </a:solidFill>
              </a:rPr>
              <a:t>0.65</a:t>
            </a:r>
          </a:p>
        </p:txBody>
      </p:sp>
      <p:sp>
        <p:nvSpPr>
          <p:cNvPr id="89" name="CaixaDeTexto 88">
            <a:extLst>
              <a:ext uri="{FF2B5EF4-FFF2-40B4-BE49-F238E27FC236}">
                <a16:creationId xmlns:a16="http://schemas.microsoft.com/office/drawing/2014/main" id="{B5DD263B-87EB-45E9-9AAD-84EC7ECEA50E}"/>
              </a:ext>
            </a:extLst>
          </p:cNvPr>
          <p:cNvSpPr txBox="1"/>
          <p:nvPr/>
        </p:nvSpPr>
        <p:spPr>
          <a:xfrm>
            <a:off x="3174211" y="1306761"/>
            <a:ext cx="1329758" cy="523220"/>
          </a:xfrm>
          <a:prstGeom prst="rect">
            <a:avLst/>
          </a:prstGeom>
          <a:noFill/>
        </p:spPr>
        <p:txBody>
          <a:bodyPr wrap="square" lIns="91440" tIns="45720" rIns="91440" bIns="45720" rtlCol="0" anchor="t">
            <a:spAutoFit/>
          </a:bodyPr>
          <a:lstStyle/>
          <a:p>
            <a:pPr algn="ctr"/>
            <a:r>
              <a:rPr lang="pt-BR" sz="2800" b="1"/>
              <a:t>15,6M</a:t>
            </a:r>
          </a:p>
        </p:txBody>
      </p:sp>
      <p:sp>
        <p:nvSpPr>
          <p:cNvPr id="90" name="CaixaDeTexto 89">
            <a:extLst>
              <a:ext uri="{FF2B5EF4-FFF2-40B4-BE49-F238E27FC236}">
                <a16:creationId xmlns:a16="http://schemas.microsoft.com/office/drawing/2014/main" id="{29664077-BF36-498C-89ED-1E13DFEE9DCE}"/>
              </a:ext>
            </a:extLst>
          </p:cNvPr>
          <p:cNvSpPr txBox="1"/>
          <p:nvPr/>
        </p:nvSpPr>
        <p:spPr>
          <a:xfrm>
            <a:off x="3020136" y="1700239"/>
            <a:ext cx="1637908" cy="276999"/>
          </a:xfrm>
          <a:prstGeom prst="rect">
            <a:avLst/>
          </a:prstGeom>
          <a:noFill/>
          <a:ln>
            <a:noFill/>
          </a:ln>
        </p:spPr>
        <p:txBody>
          <a:bodyPr wrap="square" rtlCol="0">
            <a:spAutoFit/>
          </a:bodyPr>
          <a:lstStyle/>
          <a:p>
            <a:pPr algn="ctr"/>
            <a:r>
              <a:rPr lang="pt-BR" sz="1200" i="1"/>
              <a:t>Opens</a:t>
            </a:r>
          </a:p>
        </p:txBody>
      </p:sp>
      <p:sp>
        <p:nvSpPr>
          <p:cNvPr id="91" name="CaixaDeTexto 90">
            <a:extLst>
              <a:ext uri="{FF2B5EF4-FFF2-40B4-BE49-F238E27FC236}">
                <a16:creationId xmlns:a16="http://schemas.microsoft.com/office/drawing/2014/main" id="{EC801128-4572-4533-9B00-1D914DD83342}"/>
              </a:ext>
            </a:extLst>
          </p:cNvPr>
          <p:cNvSpPr txBox="1"/>
          <p:nvPr/>
        </p:nvSpPr>
        <p:spPr>
          <a:xfrm>
            <a:off x="3569246" y="1989645"/>
            <a:ext cx="549112" cy="276999"/>
          </a:xfrm>
          <a:prstGeom prst="rect">
            <a:avLst/>
          </a:prstGeom>
          <a:noFill/>
        </p:spPr>
        <p:txBody>
          <a:bodyPr wrap="square" lIns="91440" tIns="45720" rIns="91440" bIns="45720" rtlCol="0" anchor="t">
            <a:spAutoFit/>
          </a:bodyPr>
          <a:lstStyle/>
          <a:p>
            <a:pPr algn="ctr"/>
            <a:r>
              <a:rPr lang="pt-BR" sz="1200" i="1">
                <a:solidFill>
                  <a:srgbClr val="C00000"/>
                </a:solidFill>
              </a:rPr>
              <a:t>0.70</a:t>
            </a:r>
          </a:p>
        </p:txBody>
      </p:sp>
      <p:sp>
        <p:nvSpPr>
          <p:cNvPr id="92" name="CaixaDeTexto 91">
            <a:extLst>
              <a:ext uri="{FF2B5EF4-FFF2-40B4-BE49-F238E27FC236}">
                <a16:creationId xmlns:a16="http://schemas.microsoft.com/office/drawing/2014/main" id="{8EDB3245-FD10-4B06-8AAE-E9B4E7C98E64}"/>
              </a:ext>
            </a:extLst>
          </p:cNvPr>
          <p:cNvSpPr txBox="1"/>
          <p:nvPr/>
        </p:nvSpPr>
        <p:spPr>
          <a:xfrm>
            <a:off x="4851819" y="1306761"/>
            <a:ext cx="1215188" cy="523220"/>
          </a:xfrm>
          <a:prstGeom prst="rect">
            <a:avLst/>
          </a:prstGeom>
          <a:noFill/>
          <a:ln>
            <a:noFill/>
          </a:ln>
        </p:spPr>
        <p:txBody>
          <a:bodyPr wrap="square" lIns="91440" tIns="45720" rIns="91440" bIns="45720" rtlCol="0" anchor="t">
            <a:spAutoFit/>
          </a:bodyPr>
          <a:lstStyle/>
          <a:p>
            <a:pPr algn="ctr"/>
            <a:r>
              <a:rPr lang="pt-BR" sz="2800" b="1"/>
              <a:t>530,0k</a:t>
            </a:r>
          </a:p>
        </p:txBody>
      </p:sp>
      <p:sp>
        <p:nvSpPr>
          <p:cNvPr id="103" name="CaixaDeTexto 102">
            <a:extLst>
              <a:ext uri="{FF2B5EF4-FFF2-40B4-BE49-F238E27FC236}">
                <a16:creationId xmlns:a16="http://schemas.microsoft.com/office/drawing/2014/main" id="{49467E27-7832-48E2-ABEC-15BC55D84072}"/>
              </a:ext>
            </a:extLst>
          </p:cNvPr>
          <p:cNvSpPr txBox="1"/>
          <p:nvPr/>
        </p:nvSpPr>
        <p:spPr>
          <a:xfrm>
            <a:off x="5014810" y="1700239"/>
            <a:ext cx="847261" cy="276999"/>
          </a:xfrm>
          <a:prstGeom prst="rect">
            <a:avLst/>
          </a:prstGeom>
          <a:noFill/>
        </p:spPr>
        <p:txBody>
          <a:bodyPr wrap="square" rtlCol="0">
            <a:spAutoFit/>
          </a:bodyPr>
          <a:lstStyle/>
          <a:p>
            <a:pPr algn="ctr"/>
            <a:r>
              <a:rPr lang="pt-BR" sz="1200" i="1"/>
              <a:t>Cliques</a:t>
            </a:r>
          </a:p>
        </p:txBody>
      </p:sp>
      <p:sp>
        <p:nvSpPr>
          <p:cNvPr id="107" name="CaixaDeTexto 106">
            <a:extLst>
              <a:ext uri="{FF2B5EF4-FFF2-40B4-BE49-F238E27FC236}">
                <a16:creationId xmlns:a16="http://schemas.microsoft.com/office/drawing/2014/main" id="{86F21944-5E9F-42AE-8593-9CF1475BF3E5}"/>
              </a:ext>
            </a:extLst>
          </p:cNvPr>
          <p:cNvSpPr txBox="1"/>
          <p:nvPr/>
        </p:nvSpPr>
        <p:spPr>
          <a:xfrm>
            <a:off x="6048648" y="1306761"/>
            <a:ext cx="1190495" cy="523220"/>
          </a:xfrm>
          <a:prstGeom prst="rect">
            <a:avLst/>
          </a:prstGeom>
          <a:noFill/>
        </p:spPr>
        <p:txBody>
          <a:bodyPr wrap="square" rtlCol="0">
            <a:spAutoFit/>
          </a:bodyPr>
          <a:lstStyle/>
          <a:p>
            <a:pPr algn="ctr"/>
            <a:r>
              <a:rPr lang="pt-BR" sz="2800" b="1"/>
              <a:t>430,1k</a:t>
            </a:r>
          </a:p>
        </p:txBody>
      </p:sp>
      <p:sp>
        <p:nvSpPr>
          <p:cNvPr id="108" name="CaixaDeTexto 107">
            <a:extLst>
              <a:ext uri="{FF2B5EF4-FFF2-40B4-BE49-F238E27FC236}">
                <a16:creationId xmlns:a16="http://schemas.microsoft.com/office/drawing/2014/main" id="{FF4459A9-496C-4111-B288-52B010C5CBAE}"/>
              </a:ext>
            </a:extLst>
          </p:cNvPr>
          <p:cNvSpPr txBox="1"/>
          <p:nvPr/>
        </p:nvSpPr>
        <p:spPr>
          <a:xfrm>
            <a:off x="6366416" y="1700239"/>
            <a:ext cx="549113" cy="276999"/>
          </a:xfrm>
          <a:prstGeom prst="rect">
            <a:avLst/>
          </a:prstGeom>
          <a:noFill/>
        </p:spPr>
        <p:txBody>
          <a:bodyPr wrap="square" rtlCol="0">
            <a:spAutoFit/>
          </a:bodyPr>
          <a:lstStyle/>
          <a:p>
            <a:pPr algn="ctr"/>
            <a:r>
              <a:rPr lang="pt-BR" sz="1200" i="1" err="1"/>
              <a:t>Visits</a:t>
            </a:r>
            <a:endParaRPr lang="pt-BR" sz="1200" i="1"/>
          </a:p>
        </p:txBody>
      </p:sp>
      <p:sp>
        <p:nvSpPr>
          <p:cNvPr id="109" name="CaixaDeTexto 108">
            <a:extLst>
              <a:ext uri="{FF2B5EF4-FFF2-40B4-BE49-F238E27FC236}">
                <a16:creationId xmlns:a16="http://schemas.microsoft.com/office/drawing/2014/main" id="{25D24051-BD28-4496-91A4-6A32F5860DC4}"/>
              </a:ext>
            </a:extLst>
          </p:cNvPr>
          <p:cNvSpPr txBox="1"/>
          <p:nvPr/>
        </p:nvSpPr>
        <p:spPr>
          <a:xfrm>
            <a:off x="7559289" y="1306761"/>
            <a:ext cx="955619" cy="523220"/>
          </a:xfrm>
          <a:prstGeom prst="rect">
            <a:avLst/>
          </a:prstGeom>
          <a:noFill/>
        </p:spPr>
        <p:txBody>
          <a:bodyPr wrap="square" lIns="91440" tIns="45720" rIns="91440" bIns="45720" rtlCol="0" anchor="t">
            <a:spAutoFit/>
          </a:bodyPr>
          <a:lstStyle/>
          <a:p>
            <a:pPr algn="ctr"/>
            <a:r>
              <a:rPr lang="pt-BR" sz="2800" b="1"/>
              <a:t>299</a:t>
            </a:r>
          </a:p>
        </p:txBody>
      </p:sp>
      <p:sp>
        <p:nvSpPr>
          <p:cNvPr id="110" name="CaixaDeTexto 109">
            <a:extLst>
              <a:ext uri="{FF2B5EF4-FFF2-40B4-BE49-F238E27FC236}">
                <a16:creationId xmlns:a16="http://schemas.microsoft.com/office/drawing/2014/main" id="{6D1D180D-739A-4D20-AF2B-07EA67010F6F}"/>
              </a:ext>
            </a:extLst>
          </p:cNvPr>
          <p:cNvSpPr txBox="1"/>
          <p:nvPr/>
        </p:nvSpPr>
        <p:spPr>
          <a:xfrm>
            <a:off x="7700667" y="1700239"/>
            <a:ext cx="672865" cy="276999"/>
          </a:xfrm>
          <a:prstGeom prst="rect">
            <a:avLst/>
          </a:prstGeom>
          <a:noFill/>
        </p:spPr>
        <p:txBody>
          <a:bodyPr wrap="square" rtlCol="0">
            <a:spAutoFit/>
          </a:bodyPr>
          <a:lstStyle/>
          <a:p>
            <a:pPr algn="ctr"/>
            <a:r>
              <a:rPr lang="pt-BR" sz="1200" i="1" err="1"/>
              <a:t>Orders</a:t>
            </a:r>
            <a:endParaRPr lang="pt-BR" sz="1200" i="1"/>
          </a:p>
        </p:txBody>
      </p:sp>
      <p:sp>
        <p:nvSpPr>
          <p:cNvPr id="111" name="CaixaDeTexto 110">
            <a:extLst>
              <a:ext uri="{FF2B5EF4-FFF2-40B4-BE49-F238E27FC236}">
                <a16:creationId xmlns:a16="http://schemas.microsoft.com/office/drawing/2014/main" id="{7EF9C93E-C158-44C6-BE83-3DD87C28834D}"/>
              </a:ext>
            </a:extLst>
          </p:cNvPr>
          <p:cNvSpPr txBox="1"/>
          <p:nvPr/>
        </p:nvSpPr>
        <p:spPr>
          <a:xfrm>
            <a:off x="9683190" y="1297377"/>
            <a:ext cx="1637908" cy="523220"/>
          </a:xfrm>
          <a:prstGeom prst="rect">
            <a:avLst/>
          </a:prstGeom>
          <a:noFill/>
        </p:spPr>
        <p:txBody>
          <a:bodyPr wrap="square" lIns="91440" tIns="45720" rIns="91440" bIns="45720" rtlCol="0" anchor="t">
            <a:spAutoFit/>
          </a:bodyPr>
          <a:lstStyle/>
          <a:p>
            <a:pPr algn="ctr"/>
            <a:r>
              <a:rPr lang="pt-BR" sz="2800" b="1"/>
              <a:t>R$1,22M</a:t>
            </a:r>
          </a:p>
        </p:txBody>
      </p:sp>
      <p:sp>
        <p:nvSpPr>
          <p:cNvPr id="112" name="CaixaDeTexto 111">
            <a:extLst>
              <a:ext uri="{FF2B5EF4-FFF2-40B4-BE49-F238E27FC236}">
                <a16:creationId xmlns:a16="http://schemas.microsoft.com/office/drawing/2014/main" id="{6D7FDF3A-F510-4BC0-9A4F-0C06B6ACF1CE}"/>
              </a:ext>
            </a:extLst>
          </p:cNvPr>
          <p:cNvSpPr txBox="1"/>
          <p:nvPr/>
        </p:nvSpPr>
        <p:spPr>
          <a:xfrm>
            <a:off x="10153772" y="1700239"/>
            <a:ext cx="750783" cy="276999"/>
          </a:xfrm>
          <a:prstGeom prst="rect">
            <a:avLst/>
          </a:prstGeom>
          <a:noFill/>
        </p:spPr>
        <p:txBody>
          <a:bodyPr wrap="square" rtlCol="0">
            <a:spAutoFit/>
          </a:bodyPr>
          <a:lstStyle/>
          <a:p>
            <a:pPr algn="ctr"/>
            <a:r>
              <a:rPr lang="pt-BR" sz="1200" i="1" err="1"/>
              <a:t>Revenue</a:t>
            </a:r>
            <a:endParaRPr lang="pt-BR" sz="1200" i="1"/>
          </a:p>
        </p:txBody>
      </p:sp>
      <p:sp>
        <p:nvSpPr>
          <p:cNvPr id="113" name="CaixaDeTexto 112">
            <a:extLst>
              <a:ext uri="{FF2B5EF4-FFF2-40B4-BE49-F238E27FC236}">
                <a16:creationId xmlns:a16="http://schemas.microsoft.com/office/drawing/2014/main" id="{39A6D607-51A1-4D13-9087-2E65FC04FDBF}"/>
              </a:ext>
            </a:extLst>
          </p:cNvPr>
          <p:cNvSpPr txBox="1"/>
          <p:nvPr/>
        </p:nvSpPr>
        <p:spPr>
          <a:xfrm flipH="1">
            <a:off x="1131216" y="1996004"/>
            <a:ext cx="549111" cy="216206"/>
          </a:xfrm>
          <a:prstGeom prst="rect">
            <a:avLst/>
          </a:prstGeom>
          <a:noFill/>
        </p:spPr>
        <p:txBody>
          <a:bodyPr wrap="square" rtlCol="0">
            <a:spAutoFit/>
          </a:bodyPr>
          <a:lstStyle/>
          <a:p>
            <a:r>
              <a:rPr lang="pt-BR" sz="1100" b="1"/>
              <a:t>G/R</a:t>
            </a:r>
          </a:p>
        </p:txBody>
      </p:sp>
      <p:cxnSp>
        <p:nvCxnSpPr>
          <p:cNvPr id="114" name="Conector de Seta Reta 113">
            <a:extLst>
              <a:ext uri="{FF2B5EF4-FFF2-40B4-BE49-F238E27FC236}">
                <a16:creationId xmlns:a16="http://schemas.microsoft.com/office/drawing/2014/main" id="{486A8B71-3E00-44A1-A4E3-CEDA4D43D304}"/>
              </a:ext>
            </a:extLst>
          </p:cNvPr>
          <p:cNvCxnSpPr>
            <a:cxnSpLocks/>
            <a:stCxn id="86" idx="3"/>
            <a:endCxn id="89" idx="1"/>
          </p:cNvCxnSpPr>
          <p:nvPr/>
        </p:nvCxnSpPr>
        <p:spPr>
          <a:xfrm>
            <a:off x="2711987" y="1568371"/>
            <a:ext cx="4622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5" name="CaixaDeTexto 114">
            <a:extLst>
              <a:ext uri="{FF2B5EF4-FFF2-40B4-BE49-F238E27FC236}">
                <a16:creationId xmlns:a16="http://schemas.microsoft.com/office/drawing/2014/main" id="{89A1FF51-B014-478B-83C9-B52409E66E73}"/>
              </a:ext>
            </a:extLst>
          </p:cNvPr>
          <p:cNvSpPr txBox="1"/>
          <p:nvPr/>
        </p:nvSpPr>
        <p:spPr>
          <a:xfrm>
            <a:off x="2709019" y="1333721"/>
            <a:ext cx="540533" cy="261610"/>
          </a:xfrm>
          <a:prstGeom prst="rect">
            <a:avLst/>
          </a:prstGeom>
          <a:noFill/>
        </p:spPr>
        <p:txBody>
          <a:bodyPr wrap="none" lIns="91440" tIns="45720" rIns="91440" bIns="45720" rtlCol="0" anchor="t">
            <a:spAutoFit/>
          </a:bodyPr>
          <a:lstStyle/>
          <a:p>
            <a:r>
              <a:rPr lang="pt-BR" sz="1100" b="1"/>
              <a:t>4,63%</a:t>
            </a:r>
          </a:p>
        </p:txBody>
      </p:sp>
      <p:sp>
        <p:nvSpPr>
          <p:cNvPr id="116" name="CaixaDeTexto 115">
            <a:extLst>
              <a:ext uri="{FF2B5EF4-FFF2-40B4-BE49-F238E27FC236}">
                <a16:creationId xmlns:a16="http://schemas.microsoft.com/office/drawing/2014/main" id="{80290CE6-621C-47F6-A54A-F9DD8D3EEC61}"/>
              </a:ext>
            </a:extLst>
          </p:cNvPr>
          <p:cNvSpPr txBox="1"/>
          <p:nvPr/>
        </p:nvSpPr>
        <p:spPr>
          <a:xfrm>
            <a:off x="5159462" y="1989645"/>
            <a:ext cx="549112" cy="276999"/>
          </a:xfrm>
          <a:prstGeom prst="rect">
            <a:avLst/>
          </a:prstGeom>
          <a:noFill/>
        </p:spPr>
        <p:txBody>
          <a:bodyPr wrap="square" lIns="91440" tIns="45720" rIns="91440" bIns="45720" rtlCol="0" anchor="t">
            <a:spAutoFit/>
          </a:bodyPr>
          <a:lstStyle/>
          <a:p>
            <a:pPr algn="ctr"/>
            <a:r>
              <a:rPr lang="pt-BR" sz="1200" i="1">
                <a:solidFill>
                  <a:srgbClr val="C00000"/>
                </a:solidFill>
              </a:rPr>
              <a:t>0.36</a:t>
            </a:r>
          </a:p>
        </p:txBody>
      </p:sp>
      <p:sp>
        <p:nvSpPr>
          <p:cNvPr id="117" name="CaixaDeTexto 116">
            <a:extLst>
              <a:ext uri="{FF2B5EF4-FFF2-40B4-BE49-F238E27FC236}">
                <a16:creationId xmlns:a16="http://schemas.microsoft.com/office/drawing/2014/main" id="{42FD46EC-1D44-4827-9A10-24B9F08DCD0E}"/>
              </a:ext>
            </a:extLst>
          </p:cNvPr>
          <p:cNvSpPr txBox="1"/>
          <p:nvPr/>
        </p:nvSpPr>
        <p:spPr>
          <a:xfrm>
            <a:off x="6378436" y="1989645"/>
            <a:ext cx="549112" cy="276999"/>
          </a:xfrm>
          <a:prstGeom prst="rect">
            <a:avLst/>
          </a:prstGeom>
          <a:noFill/>
        </p:spPr>
        <p:txBody>
          <a:bodyPr wrap="square" lIns="91440" tIns="45720" rIns="91440" bIns="45720" rtlCol="0" anchor="t">
            <a:spAutoFit/>
          </a:bodyPr>
          <a:lstStyle/>
          <a:p>
            <a:pPr algn="ctr"/>
            <a:r>
              <a:rPr lang="pt-BR" sz="1200" i="1">
                <a:solidFill>
                  <a:srgbClr val="C00000"/>
                </a:solidFill>
              </a:rPr>
              <a:t>0.40</a:t>
            </a:r>
          </a:p>
        </p:txBody>
      </p:sp>
      <p:sp>
        <p:nvSpPr>
          <p:cNvPr id="119" name="CaixaDeTexto 118">
            <a:extLst>
              <a:ext uri="{FF2B5EF4-FFF2-40B4-BE49-F238E27FC236}">
                <a16:creationId xmlns:a16="http://schemas.microsoft.com/office/drawing/2014/main" id="{8BBB98E1-112A-4636-A62C-26A97E26B05B}"/>
              </a:ext>
            </a:extLst>
          </p:cNvPr>
          <p:cNvSpPr txBox="1"/>
          <p:nvPr/>
        </p:nvSpPr>
        <p:spPr>
          <a:xfrm>
            <a:off x="7744496" y="1989645"/>
            <a:ext cx="549112" cy="276999"/>
          </a:xfrm>
          <a:prstGeom prst="rect">
            <a:avLst/>
          </a:prstGeom>
          <a:noFill/>
        </p:spPr>
        <p:txBody>
          <a:bodyPr wrap="square" rtlCol="0">
            <a:spAutoFit/>
          </a:bodyPr>
          <a:lstStyle/>
          <a:p>
            <a:pPr algn="ctr"/>
            <a:r>
              <a:rPr lang="pt-BR" sz="1200" i="1">
                <a:solidFill>
                  <a:srgbClr val="00B050"/>
                </a:solidFill>
              </a:rPr>
              <a:t>1.21</a:t>
            </a:r>
          </a:p>
        </p:txBody>
      </p:sp>
      <p:sp>
        <p:nvSpPr>
          <p:cNvPr id="120" name="CaixaDeTexto 119">
            <a:extLst>
              <a:ext uri="{FF2B5EF4-FFF2-40B4-BE49-F238E27FC236}">
                <a16:creationId xmlns:a16="http://schemas.microsoft.com/office/drawing/2014/main" id="{69AFBB6C-C69F-461B-B726-C19549643573}"/>
              </a:ext>
            </a:extLst>
          </p:cNvPr>
          <p:cNvSpPr txBox="1"/>
          <p:nvPr/>
        </p:nvSpPr>
        <p:spPr>
          <a:xfrm>
            <a:off x="10254607" y="1989645"/>
            <a:ext cx="549112" cy="276999"/>
          </a:xfrm>
          <a:prstGeom prst="rect">
            <a:avLst/>
          </a:prstGeom>
          <a:noFill/>
        </p:spPr>
        <p:txBody>
          <a:bodyPr wrap="square" rtlCol="0">
            <a:spAutoFit/>
          </a:bodyPr>
          <a:lstStyle/>
          <a:p>
            <a:pPr algn="ctr"/>
            <a:r>
              <a:rPr lang="pt-BR" sz="1200" i="1">
                <a:solidFill>
                  <a:srgbClr val="00B050"/>
                </a:solidFill>
              </a:rPr>
              <a:t>1.63</a:t>
            </a:r>
          </a:p>
        </p:txBody>
      </p:sp>
      <p:sp>
        <p:nvSpPr>
          <p:cNvPr id="121" name="CaixaDeTexto 120">
            <a:extLst>
              <a:ext uri="{FF2B5EF4-FFF2-40B4-BE49-F238E27FC236}">
                <a16:creationId xmlns:a16="http://schemas.microsoft.com/office/drawing/2014/main" id="{5F46FFD4-AE4E-438C-B457-5D889376A0B8}"/>
              </a:ext>
            </a:extLst>
          </p:cNvPr>
          <p:cNvSpPr txBox="1"/>
          <p:nvPr/>
        </p:nvSpPr>
        <p:spPr>
          <a:xfrm>
            <a:off x="2634525" y="1563480"/>
            <a:ext cx="549112" cy="246221"/>
          </a:xfrm>
          <a:prstGeom prst="rect">
            <a:avLst/>
          </a:prstGeom>
          <a:noFill/>
        </p:spPr>
        <p:txBody>
          <a:bodyPr wrap="square" lIns="91440" tIns="45720" rIns="91440" bIns="45720" rtlCol="0" anchor="t">
            <a:spAutoFit/>
          </a:bodyPr>
          <a:lstStyle/>
          <a:p>
            <a:pPr algn="ctr"/>
            <a:r>
              <a:rPr lang="pt-BR" sz="1000" i="1">
                <a:solidFill>
                  <a:srgbClr val="C00000"/>
                </a:solidFill>
              </a:rPr>
              <a:t>0.82</a:t>
            </a:r>
          </a:p>
        </p:txBody>
      </p:sp>
      <p:sp>
        <p:nvSpPr>
          <p:cNvPr id="122" name="CaixaDeTexto 121">
            <a:extLst>
              <a:ext uri="{FF2B5EF4-FFF2-40B4-BE49-F238E27FC236}">
                <a16:creationId xmlns:a16="http://schemas.microsoft.com/office/drawing/2014/main" id="{1A125AA6-ED50-4A82-A32C-AC784DFA56DD}"/>
              </a:ext>
            </a:extLst>
          </p:cNvPr>
          <p:cNvSpPr txBox="1"/>
          <p:nvPr/>
        </p:nvSpPr>
        <p:spPr>
          <a:xfrm>
            <a:off x="3509128" y="883492"/>
            <a:ext cx="671053" cy="261610"/>
          </a:xfrm>
          <a:prstGeom prst="rect">
            <a:avLst/>
          </a:prstGeom>
          <a:noFill/>
        </p:spPr>
        <p:txBody>
          <a:bodyPr wrap="square" lIns="91440" tIns="45720" rIns="91440" bIns="45720" rtlCol="0" anchor="t">
            <a:spAutoFit/>
          </a:bodyPr>
          <a:lstStyle/>
          <a:p>
            <a:pPr algn="ctr"/>
            <a:r>
              <a:rPr lang="pt-BR" sz="1100" b="1"/>
              <a:t>0,13%</a:t>
            </a:r>
          </a:p>
        </p:txBody>
      </p:sp>
      <p:sp>
        <p:nvSpPr>
          <p:cNvPr id="123" name="CaixaDeTexto 122">
            <a:extLst>
              <a:ext uri="{FF2B5EF4-FFF2-40B4-BE49-F238E27FC236}">
                <a16:creationId xmlns:a16="http://schemas.microsoft.com/office/drawing/2014/main" id="{EABDC217-4A8B-447E-A584-214B85FA1910}"/>
              </a:ext>
            </a:extLst>
          </p:cNvPr>
          <p:cNvSpPr txBox="1"/>
          <p:nvPr/>
        </p:nvSpPr>
        <p:spPr>
          <a:xfrm>
            <a:off x="3569197" y="1062679"/>
            <a:ext cx="484996" cy="246674"/>
          </a:xfrm>
          <a:prstGeom prst="rect">
            <a:avLst/>
          </a:prstGeom>
          <a:noFill/>
        </p:spPr>
        <p:txBody>
          <a:bodyPr wrap="square" lIns="91440" tIns="45720" rIns="91440" bIns="45720" rtlCol="0" anchor="t">
            <a:spAutoFit/>
          </a:bodyPr>
          <a:lstStyle/>
          <a:p>
            <a:pPr algn="ctr"/>
            <a:r>
              <a:rPr lang="pt-BR" sz="1000" i="1">
                <a:solidFill>
                  <a:srgbClr val="C00000"/>
                </a:solidFill>
              </a:rPr>
              <a:t>0.55</a:t>
            </a:r>
          </a:p>
        </p:txBody>
      </p:sp>
      <p:cxnSp>
        <p:nvCxnSpPr>
          <p:cNvPr id="124" name="Conector: Angulado 123">
            <a:extLst>
              <a:ext uri="{FF2B5EF4-FFF2-40B4-BE49-F238E27FC236}">
                <a16:creationId xmlns:a16="http://schemas.microsoft.com/office/drawing/2014/main" id="{F4512E47-0BA7-4E35-8158-338F7A30F747}"/>
              </a:ext>
            </a:extLst>
          </p:cNvPr>
          <p:cNvCxnSpPr>
            <a:cxnSpLocks/>
            <a:stCxn id="86" idx="0"/>
            <a:endCxn id="92" idx="0"/>
          </p:cNvCxnSpPr>
          <p:nvPr/>
        </p:nvCxnSpPr>
        <p:spPr>
          <a:xfrm rot="5400000" flipH="1" flipV="1">
            <a:off x="3740794" y="-411858"/>
            <a:ext cx="12700" cy="3437238"/>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5" name="Conector de Seta Reta 124">
            <a:extLst>
              <a:ext uri="{FF2B5EF4-FFF2-40B4-BE49-F238E27FC236}">
                <a16:creationId xmlns:a16="http://schemas.microsoft.com/office/drawing/2014/main" id="{228C8A9E-72EA-4DA2-ADEB-F817BAA0DA5B}"/>
              </a:ext>
            </a:extLst>
          </p:cNvPr>
          <p:cNvCxnSpPr>
            <a:cxnSpLocks/>
            <a:stCxn id="89" idx="3"/>
            <a:endCxn id="92" idx="1"/>
          </p:cNvCxnSpPr>
          <p:nvPr/>
        </p:nvCxnSpPr>
        <p:spPr>
          <a:xfrm>
            <a:off x="4503969" y="1568371"/>
            <a:ext cx="3478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6" name="CaixaDeTexto 125">
            <a:extLst>
              <a:ext uri="{FF2B5EF4-FFF2-40B4-BE49-F238E27FC236}">
                <a16:creationId xmlns:a16="http://schemas.microsoft.com/office/drawing/2014/main" id="{6558B9EA-8C73-4C1C-AB5E-CF9100CB8EF3}"/>
              </a:ext>
            </a:extLst>
          </p:cNvPr>
          <p:cNvSpPr txBox="1"/>
          <p:nvPr/>
        </p:nvSpPr>
        <p:spPr>
          <a:xfrm>
            <a:off x="4461158" y="1333721"/>
            <a:ext cx="540533" cy="261610"/>
          </a:xfrm>
          <a:prstGeom prst="rect">
            <a:avLst/>
          </a:prstGeom>
          <a:noFill/>
        </p:spPr>
        <p:txBody>
          <a:bodyPr wrap="none" rtlCol="0">
            <a:spAutoFit/>
          </a:bodyPr>
          <a:lstStyle/>
          <a:p>
            <a:r>
              <a:rPr lang="pt-BR" sz="1100" b="1"/>
              <a:t>0,62%</a:t>
            </a:r>
          </a:p>
        </p:txBody>
      </p:sp>
      <p:sp>
        <p:nvSpPr>
          <p:cNvPr id="127" name="CaixaDeTexto 126">
            <a:extLst>
              <a:ext uri="{FF2B5EF4-FFF2-40B4-BE49-F238E27FC236}">
                <a16:creationId xmlns:a16="http://schemas.microsoft.com/office/drawing/2014/main" id="{DC290509-3451-4A44-8603-59200B62D4C0}"/>
              </a:ext>
            </a:extLst>
          </p:cNvPr>
          <p:cNvSpPr txBox="1"/>
          <p:nvPr/>
        </p:nvSpPr>
        <p:spPr>
          <a:xfrm>
            <a:off x="4403338" y="1563480"/>
            <a:ext cx="549112" cy="246221"/>
          </a:xfrm>
          <a:prstGeom prst="rect">
            <a:avLst/>
          </a:prstGeom>
          <a:noFill/>
        </p:spPr>
        <p:txBody>
          <a:bodyPr wrap="square" lIns="91440" tIns="45720" rIns="91440" bIns="45720" rtlCol="0" anchor="t">
            <a:spAutoFit/>
          </a:bodyPr>
          <a:lstStyle/>
          <a:p>
            <a:pPr algn="ctr"/>
            <a:r>
              <a:rPr lang="pt-BR" sz="1000" i="1">
                <a:solidFill>
                  <a:srgbClr val="C00000"/>
                </a:solidFill>
              </a:rPr>
              <a:t>0.62</a:t>
            </a:r>
          </a:p>
        </p:txBody>
      </p:sp>
      <p:cxnSp>
        <p:nvCxnSpPr>
          <p:cNvPr id="128" name="Conector de Seta Reta 127">
            <a:extLst>
              <a:ext uri="{FF2B5EF4-FFF2-40B4-BE49-F238E27FC236}">
                <a16:creationId xmlns:a16="http://schemas.microsoft.com/office/drawing/2014/main" id="{70B76EB5-24C6-4F11-A6EB-D71696E972EB}"/>
              </a:ext>
            </a:extLst>
          </p:cNvPr>
          <p:cNvCxnSpPr>
            <a:cxnSpLocks/>
          </p:cNvCxnSpPr>
          <p:nvPr/>
        </p:nvCxnSpPr>
        <p:spPr>
          <a:xfrm>
            <a:off x="7292483" y="1568371"/>
            <a:ext cx="4039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9" name="CaixaDeTexto 128">
            <a:extLst>
              <a:ext uri="{FF2B5EF4-FFF2-40B4-BE49-F238E27FC236}">
                <a16:creationId xmlns:a16="http://schemas.microsoft.com/office/drawing/2014/main" id="{DFD03AF1-468D-49FD-A1E6-F1985ECE1DEE}"/>
              </a:ext>
            </a:extLst>
          </p:cNvPr>
          <p:cNvSpPr txBox="1"/>
          <p:nvPr/>
        </p:nvSpPr>
        <p:spPr>
          <a:xfrm>
            <a:off x="7114111" y="1333721"/>
            <a:ext cx="540533" cy="261610"/>
          </a:xfrm>
          <a:prstGeom prst="rect">
            <a:avLst/>
          </a:prstGeom>
          <a:noFill/>
        </p:spPr>
        <p:txBody>
          <a:bodyPr wrap="none" rtlCol="0">
            <a:spAutoFit/>
          </a:bodyPr>
          <a:lstStyle/>
          <a:p>
            <a:r>
              <a:rPr lang="pt-BR" sz="1100" b="1"/>
              <a:t>0,07%</a:t>
            </a:r>
          </a:p>
        </p:txBody>
      </p:sp>
      <p:sp>
        <p:nvSpPr>
          <p:cNvPr id="130" name="CaixaDeTexto 129">
            <a:extLst>
              <a:ext uri="{FF2B5EF4-FFF2-40B4-BE49-F238E27FC236}">
                <a16:creationId xmlns:a16="http://schemas.microsoft.com/office/drawing/2014/main" id="{1C0F7C0D-95D5-4FDB-9AEE-43675F1DC600}"/>
              </a:ext>
            </a:extLst>
          </p:cNvPr>
          <p:cNvSpPr txBox="1"/>
          <p:nvPr/>
        </p:nvSpPr>
        <p:spPr>
          <a:xfrm>
            <a:off x="7112676" y="1563480"/>
            <a:ext cx="549112" cy="246221"/>
          </a:xfrm>
          <a:prstGeom prst="rect">
            <a:avLst/>
          </a:prstGeom>
          <a:noFill/>
        </p:spPr>
        <p:txBody>
          <a:bodyPr wrap="square" rtlCol="0">
            <a:spAutoFit/>
          </a:bodyPr>
          <a:lstStyle/>
          <a:p>
            <a:pPr algn="ctr"/>
            <a:r>
              <a:rPr lang="pt-BR" sz="1000" i="1">
                <a:solidFill>
                  <a:srgbClr val="00B050"/>
                </a:solidFill>
              </a:rPr>
              <a:t>2.99</a:t>
            </a:r>
          </a:p>
        </p:txBody>
      </p:sp>
      <p:cxnSp>
        <p:nvCxnSpPr>
          <p:cNvPr id="131" name="Conector de Seta Reta 130">
            <a:extLst>
              <a:ext uri="{FF2B5EF4-FFF2-40B4-BE49-F238E27FC236}">
                <a16:creationId xmlns:a16="http://schemas.microsoft.com/office/drawing/2014/main" id="{B05F1671-800E-4380-9B6B-6A6242463EE5}"/>
              </a:ext>
            </a:extLst>
          </p:cNvPr>
          <p:cNvCxnSpPr>
            <a:cxnSpLocks/>
            <a:stCxn id="109" idx="3"/>
            <a:endCxn id="111" idx="1"/>
          </p:cNvCxnSpPr>
          <p:nvPr/>
        </p:nvCxnSpPr>
        <p:spPr>
          <a:xfrm flipV="1">
            <a:off x="8514908" y="1558987"/>
            <a:ext cx="1168282" cy="93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2" name="CaixaDeTexto 131">
            <a:extLst>
              <a:ext uri="{FF2B5EF4-FFF2-40B4-BE49-F238E27FC236}">
                <a16:creationId xmlns:a16="http://schemas.microsoft.com/office/drawing/2014/main" id="{C01FFB34-1BD0-46F2-8092-9371C69E2BDB}"/>
              </a:ext>
            </a:extLst>
          </p:cNvPr>
          <p:cNvSpPr txBox="1"/>
          <p:nvPr/>
        </p:nvSpPr>
        <p:spPr>
          <a:xfrm>
            <a:off x="8529365" y="1333721"/>
            <a:ext cx="663964" cy="261610"/>
          </a:xfrm>
          <a:prstGeom prst="rect">
            <a:avLst/>
          </a:prstGeom>
          <a:noFill/>
        </p:spPr>
        <p:txBody>
          <a:bodyPr wrap="none" lIns="91440" tIns="45720" rIns="91440" bIns="45720" rtlCol="0" anchor="t">
            <a:spAutoFit/>
          </a:bodyPr>
          <a:lstStyle/>
          <a:p>
            <a:r>
              <a:rPr lang="pt-BR" sz="1100" b="1"/>
              <a:t>R$4.071</a:t>
            </a:r>
          </a:p>
        </p:txBody>
      </p:sp>
      <p:sp>
        <p:nvSpPr>
          <p:cNvPr id="133" name="CaixaDeTexto 132">
            <a:extLst>
              <a:ext uri="{FF2B5EF4-FFF2-40B4-BE49-F238E27FC236}">
                <a16:creationId xmlns:a16="http://schemas.microsoft.com/office/drawing/2014/main" id="{36EB9301-0C9D-486E-ACF3-DA0B45A8884C}"/>
              </a:ext>
            </a:extLst>
          </p:cNvPr>
          <p:cNvSpPr txBox="1"/>
          <p:nvPr/>
        </p:nvSpPr>
        <p:spPr>
          <a:xfrm>
            <a:off x="8591976" y="1563480"/>
            <a:ext cx="549112" cy="246221"/>
          </a:xfrm>
          <a:prstGeom prst="rect">
            <a:avLst/>
          </a:prstGeom>
          <a:noFill/>
        </p:spPr>
        <p:txBody>
          <a:bodyPr wrap="square" rtlCol="0">
            <a:spAutoFit/>
          </a:bodyPr>
          <a:lstStyle/>
          <a:p>
            <a:pPr algn="ctr"/>
            <a:r>
              <a:rPr lang="pt-BR" sz="1000" i="1">
                <a:solidFill>
                  <a:srgbClr val="00B050"/>
                </a:solidFill>
              </a:rPr>
              <a:t>1.36</a:t>
            </a:r>
          </a:p>
        </p:txBody>
      </p:sp>
      <p:sp>
        <p:nvSpPr>
          <p:cNvPr id="134" name="CaixaDeTexto 133">
            <a:extLst>
              <a:ext uri="{FF2B5EF4-FFF2-40B4-BE49-F238E27FC236}">
                <a16:creationId xmlns:a16="http://schemas.microsoft.com/office/drawing/2014/main" id="{275C169B-C338-4472-AB3A-E3B001FFB2EE}"/>
              </a:ext>
            </a:extLst>
          </p:cNvPr>
          <p:cNvSpPr txBox="1"/>
          <p:nvPr/>
        </p:nvSpPr>
        <p:spPr>
          <a:xfrm>
            <a:off x="9112559" y="1333721"/>
            <a:ext cx="583194" cy="261610"/>
          </a:xfrm>
          <a:prstGeom prst="rect">
            <a:avLst/>
          </a:prstGeom>
          <a:noFill/>
        </p:spPr>
        <p:txBody>
          <a:bodyPr wrap="square" lIns="91440" tIns="45720" rIns="91440" bIns="45720" rtlCol="0" anchor="t">
            <a:spAutoFit/>
          </a:bodyPr>
          <a:lstStyle/>
          <a:p>
            <a:r>
              <a:rPr lang="pt-BR" sz="1100" b="1"/>
              <a:t>374</a:t>
            </a:r>
          </a:p>
        </p:txBody>
      </p:sp>
      <p:sp>
        <p:nvSpPr>
          <p:cNvPr id="135" name="CaixaDeTexto 134">
            <a:extLst>
              <a:ext uri="{FF2B5EF4-FFF2-40B4-BE49-F238E27FC236}">
                <a16:creationId xmlns:a16="http://schemas.microsoft.com/office/drawing/2014/main" id="{B1147C22-9A07-4ECC-AD4B-E6138F2DD891}"/>
              </a:ext>
            </a:extLst>
          </p:cNvPr>
          <p:cNvSpPr txBox="1"/>
          <p:nvPr/>
        </p:nvSpPr>
        <p:spPr>
          <a:xfrm>
            <a:off x="9092064" y="1563480"/>
            <a:ext cx="549112" cy="246221"/>
          </a:xfrm>
          <a:prstGeom prst="rect">
            <a:avLst/>
          </a:prstGeom>
          <a:noFill/>
        </p:spPr>
        <p:txBody>
          <a:bodyPr wrap="square" lIns="91440" tIns="45720" rIns="91440" bIns="45720" rtlCol="0" anchor="t">
            <a:spAutoFit/>
          </a:bodyPr>
          <a:lstStyle/>
          <a:p>
            <a:pPr algn="ctr"/>
            <a:r>
              <a:rPr lang="pt-BR" sz="1000" i="1">
                <a:solidFill>
                  <a:srgbClr val="00B050"/>
                </a:solidFill>
              </a:rPr>
              <a:t>1.30</a:t>
            </a:r>
          </a:p>
        </p:txBody>
      </p:sp>
      <p:sp>
        <p:nvSpPr>
          <p:cNvPr id="136" name="CaixaDeTexto 135">
            <a:extLst>
              <a:ext uri="{FF2B5EF4-FFF2-40B4-BE49-F238E27FC236}">
                <a16:creationId xmlns:a16="http://schemas.microsoft.com/office/drawing/2014/main" id="{6D6BCFE3-FD4C-4D97-8862-F9D4471C03D5}"/>
              </a:ext>
            </a:extLst>
          </p:cNvPr>
          <p:cNvSpPr txBox="1"/>
          <p:nvPr/>
        </p:nvSpPr>
        <p:spPr>
          <a:xfrm>
            <a:off x="4338505" y="1146912"/>
            <a:ext cx="671053" cy="261610"/>
          </a:xfrm>
          <a:prstGeom prst="rect">
            <a:avLst/>
          </a:prstGeom>
          <a:noFill/>
        </p:spPr>
        <p:txBody>
          <a:bodyPr wrap="square" rtlCol="0">
            <a:spAutoFit/>
          </a:bodyPr>
          <a:lstStyle/>
          <a:p>
            <a:pPr algn="ctr"/>
            <a:r>
              <a:rPr lang="pt-BR" sz="1100" b="1" i="1"/>
              <a:t>CTOR</a:t>
            </a:r>
          </a:p>
        </p:txBody>
      </p:sp>
      <p:sp>
        <p:nvSpPr>
          <p:cNvPr id="137" name="CaixaDeTexto 136">
            <a:extLst>
              <a:ext uri="{FF2B5EF4-FFF2-40B4-BE49-F238E27FC236}">
                <a16:creationId xmlns:a16="http://schemas.microsoft.com/office/drawing/2014/main" id="{7B6CD5EB-81E6-4855-85EB-226688022D17}"/>
              </a:ext>
            </a:extLst>
          </p:cNvPr>
          <p:cNvSpPr txBox="1"/>
          <p:nvPr/>
        </p:nvSpPr>
        <p:spPr>
          <a:xfrm>
            <a:off x="2570235" y="1158920"/>
            <a:ext cx="671053" cy="261610"/>
          </a:xfrm>
          <a:prstGeom prst="rect">
            <a:avLst/>
          </a:prstGeom>
          <a:noFill/>
        </p:spPr>
        <p:txBody>
          <a:bodyPr wrap="square" rtlCol="0">
            <a:spAutoFit/>
          </a:bodyPr>
          <a:lstStyle/>
          <a:p>
            <a:pPr algn="ctr"/>
            <a:r>
              <a:rPr lang="pt-BR" sz="1100" b="1" i="1"/>
              <a:t>OR</a:t>
            </a:r>
          </a:p>
        </p:txBody>
      </p:sp>
      <p:sp>
        <p:nvSpPr>
          <p:cNvPr id="138" name="CaixaDeTexto 137">
            <a:extLst>
              <a:ext uri="{FF2B5EF4-FFF2-40B4-BE49-F238E27FC236}">
                <a16:creationId xmlns:a16="http://schemas.microsoft.com/office/drawing/2014/main" id="{2ABC5792-7461-4705-A47F-39C15AA4BA7A}"/>
              </a:ext>
            </a:extLst>
          </p:cNvPr>
          <p:cNvSpPr txBox="1"/>
          <p:nvPr/>
        </p:nvSpPr>
        <p:spPr>
          <a:xfrm>
            <a:off x="7045150" y="1158920"/>
            <a:ext cx="671053" cy="261610"/>
          </a:xfrm>
          <a:prstGeom prst="rect">
            <a:avLst/>
          </a:prstGeom>
          <a:noFill/>
        </p:spPr>
        <p:txBody>
          <a:bodyPr wrap="square" rtlCol="0">
            <a:spAutoFit/>
          </a:bodyPr>
          <a:lstStyle/>
          <a:p>
            <a:pPr algn="ctr"/>
            <a:r>
              <a:rPr lang="pt-BR" sz="1100" b="1" i="1"/>
              <a:t>CVR</a:t>
            </a:r>
          </a:p>
        </p:txBody>
      </p:sp>
      <p:sp>
        <p:nvSpPr>
          <p:cNvPr id="139" name="CaixaDeTexto 138">
            <a:extLst>
              <a:ext uri="{FF2B5EF4-FFF2-40B4-BE49-F238E27FC236}">
                <a16:creationId xmlns:a16="http://schemas.microsoft.com/office/drawing/2014/main" id="{4BE58580-BCEC-41CF-8568-3BB8F1884E54}"/>
              </a:ext>
            </a:extLst>
          </p:cNvPr>
          <p:cNvSpPr txBox="1"/>
          <p:nvPr/>
        </p:nvSpPr>
        <p:spPr>
          <a:xfrm>
            <a:off x="8516741" y="1158920"/>
            <a:ext cx="671053" cy="261610"/>
          </a:xfrm>
          <a:prstGeom prst="rect">
            <a:avLst/>
          </a:prstGeom>
          <a:noFill/>
        </p:spPr>
        <p:txBody>
          <a:bodyPr wrap="square" rtlCol="0">
            <a:spAutoFit/>
          </a:bodyPr>
          <a:lstStyle/>
          <a:p>
            <a:pPr algn="ctr"/>
            <a:r>
              <a:rPr lang="pt-BR" sz="1100" b="1" i="1"/>
              <a:t>AOV</a:t>
            </a:r>
          </a:p>
        </p:txBody>
      </p:sp>
      <p:sp>
        <p:nvSpPr>
          <p:cNvPr id="140" name="CaixaDeTexto 139">
            <a:extLst>
              <a:ext uri="{FF2B5EF4-FFF2-40B4-BE49-F238E27FC236}">
                <a16:creationId xmlns:a16="http://schemas.microsoft.com/office/drawing/2014/main" id="{0ED3037B-E623-470A-82A1-D7B1E8E34D7C}"/>
              </a:ext>
            </a:extLst>
          </p:cNvPr>
          <p:cNvSpPr txBox="1"/>
          <p:nvPr/>
        </p:nvSpPr>
        <p:spPr>
          <a:xfrm>
            <a:off x="9037324" y="1158920"/>
            <a:ext cx="671053" cy="261610"/>
          </a:xfrm>
          <a:prstGeom prst="rect">
            <a:avLst/>
          </a:prstGeom>
          <a:noFill/>
        </p:spPr>
        <p:txBody>
          <a:bodyPr wrap="square" rtlCol="0">
            <a:spAutoFit/>
          </a:bodyPr>
          <a:lstStyle/>
          <a:p>
            <a:pPr algn="ctr"/>
            <a:r>
              <a:rPr lang="pt-BR" sz="1100" b="1" i="1" err="1"/>
              <a:t>Units</a:t>
            </a:r>
            <a:endParaRPr lang="pt-BR" sz="1100" b="1" i="1"/>
          </a:p>
        </p:txBody>
      </p:sp>
      <p:sp>
        <p:nvSpPr>
          <p:cNvPr id="141" name="Retângulo 140">
            <a:extLst>
              <a:ext uri="{FF2B5EF4-FFF2-40B4-BE49-F238E27FC236}">
                <a16:creationId xmlns:a16="http://schemas.microsoft.com/office/drawing/2014/main" id="{BA67D848-0E39-468D-9E2E-D03F5099BAF1}"/>
              </a:ext>
            </a:extLst>
          </p:cNvPr>
          <p:cNvSpPr/>
          <p:nvPr/>
        </p:nvSpPr>
        <p:spPr>
          <a:xfrm>
            <a:off x="999242" y="1974950"/>
            <a:ext cx="10348876" cy="258315"/>
          </a:xfrm>
          <a:prstGeom prst="rect">
            <a:avLst/>
          </a:prstGeom>
          <a:noFill/>
          <a:ln>
            <a:solidFill>
              <a:srgbClr val="1428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2" name="Retângulo 141">
            <a:extLst>
              <a:ext uri="{FF2B5EF4-FFF2-40B4-BE49-F238E27FC236}">
                <a16:creationId xmlns:a16="http://schemas.microsoft.com/office/drawing/2014/main" id="{E813247A-8520-41D0-85B3-2ED5ACC15EAB}"/>
              </a:ext>
            </a:extLst>
          </p:cNvPr>
          <p:cNvSpPr/>
          <p:nvPr/>
        </p:nvSpPr>
        <p:spPr>
          <a:xfrm>
            <a:off x="1749120" y="1377479"/>
            <a:ext cx="940381" cy="6001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3" name="Retângulo 142">
            <a:extLst>
              <a:ext uri="{FF2B5EF4-FFF2-40B4-BE49-F238E27FC236}">
                <a16:creationId xmlns:a16="http://schemas.microsoft.com/office/drawing/2014/main" id="{210914B5-F5F9-48DD-ABD5-7797868AA297}"/>
              </a:ext>
            </a:extLst>
          </p:cNvPr>
          <p:cNvSpPr/>
          <p:nvPr/>
        </p:nvSpPr>
        <p:spPr>
          <a:xfrm>
            <a:off x="3230794" y="1377479"/>
            <a:ext cx="1190495" cy="6001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4" name="Retângulo 143">
            <a:extLst>
              <a:ext uri="{FF2B5EF4-FFF2-40B4-BE49-F238E27FC236}">
                <a16:creationId xmlns:a16="http://schemas.microsoft.com/office/drawing/2014/main" id="{3E05CA85-C67B-4114-85C2-44D67B76D9E2}"/>
              </a:ext>
            </a:extLst>
          </p:cNvPr>
          <p:cNvSpPr/>
          <p:nvPr/>
        </p:nvSpPr>
        <p:spPr>
          <a:xfrm>
            <a:off x="4940399" y="1377479"/>
            <a:ext cx="827642" cy="6001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5" name="Retângulo 144">
            <a:extLst>
              <a:ext uri="{FF2B5EF4-FFF2-40B4-BE49-F238E27FC236}">
                <a16:creationId xmlns:a16="http://schemas.microsoft.com/office/drawing/2014/main" id="{1B3AE5AE-8EAE-49D9-BAB8-CBFB066CB05F}"/>
              </a:ext>
            </a:extLst>
          </p:cNvPr>
          <p:cNvSpPr/>
          <p:nvPr/>
        </p:nvSpPr>
        <p:spPr>
          <a:xfrm>
            <a:off x="6124994" y="1377479"/>
            <a:ext cx="837500" cy="6001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6" name="Retângulo 145">
            <a:extLst>
              <a:ext uri="{FF2B5EF4-FFF2-40B4-BE49-F238E27FC236}">
                <a16:creationId xmlns:a16="http://schemas.microsoft.com/office/drawing/2014/main" id="{4D802298-680A-470C-A494-666D9793F36A}"/>
              </a:ext>
            </a:extLst>
          </p:cNvPr>
          <p:cNvSpPr/>
          <p:nvPr/>
        </p:nvSpPr>
        <p:spPr>
          <a:xfrm>
            <a:off x="7656111" y="1370476"/>
            <a:ext cx="783991" cy="6001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4" name="Título 1">
            <a:extLst>
              <a:ext uri="{FF2B5EF4-FFF2-40B4-BE49-F238E27FC236}">
                <a16:creationId xmlns:a16="http://schemas.microsoft.com/office/drawing/2014/main" id="{7B5E6E0E-FDF1-458C-97A3-ACB5999659ED}"/>
              </a:ext>
            </a:extLst>
          </p:cNvPr>
          <p:cNvSpPr txBox="1"/>
          <p:nvPr/>
        </p:nvSpPr>
        <p:spPr>
          <a:xfrm>
            <a:off x="207355" y="86336"/>
            <a:ext cx="8453563" cy="483772"/>
          </a:xfrm>
          <a:prstGeom prst="rect">
            <a:avLst/>
          </a:prstGeom>
          <a:noFill/>
          <a:ln cap="flat">
            <a:noFill/>
          </a:ln>
        </p:spPr>
        <p:txBody>
          <a:bodyPr vert="horz" wrap="square" lIns="75730" tIns="37865" rIns="75730" bIns="37865" anchor="ctr" anchorCtr="0" compatLnSpc="1">
            <a:noAutofit/>
          </a:bodyPr>
          <a:lstStyle/>
          <a:p>
            <a:pPr>
              <a:lnSpc>
                <a:spcPct val="90000"/>
              </a:lnSpc>
              <a:defRPr sz="1800" b="0" i="0" u="none" strike="noStrike" kern="0" cap="none" spc="0" baseline="0">
                <a:solidFill>
                  <a:srgbClr val="000000"/>
                </a:solidFill>
                <a:uFillTx/>
              </a:defRPr>
            </a:pPr>
            <a:r>
              <a:rPr lang="en-GB" sz="2000" b="1" kern="0">
                <a:solidFill>
                  <a:srgbClr val="000000"/>
                </a:solidFill>
                <a:latin typeface="Roboto"/>
                <a:ea typeface="Roboto"/>
                <a:cs typeface="Samsung Sharp Sans Bold" pitchFamily="2"/>
              </a:rPr>
              <a:t>BIG NUMBERS</a:t>
            </a:r>
            <a:r>
              <a:rPr lang="en-GB" sz="2000" b="1" i="0" u="none" strike="noStrike" kern="1200" cap="none" spc="0" baseline="0">
                <a:solidFill>
                  <a:srgbClr val="000000"/>
                </a:solidFill>
                <a:uFillTx/>
                <a:latin typeface="Roboto"/>
                <a:ea typeface="Roboto"/>
                <a:cs typeface="Samsung Sharp Sans Bold" pitchFamily="2"/>
              </a:rPr>
              <a:t> | </a:t>
            </a:r>
            <a:r>
              <a:rPr lang="en-GB" sz="2000" b="1" i="0" u="none" strike="noStrike" kern="1200" cap="none" spc="0" baseline="0">
                <a:solidFill>
                  <a:srgbClr val="1428A0"/>
                </a:solidFill>
                <a:uFillTx/>
                <a:latin typeface="Roboto"/>
                <a:ea typeface="Roboto"/>
                <a:cs typeface="Samsung Sharp Sans Bold" pitchFamily="2"/>
              </a:rPr>
              <a:t>GTM</a:t>
            </a:r>
            <a:r>
              <a:rPr lang="en-GB" sz="2000" b="1">
                <a:solidFill>
                  <a:srgbClr val="1428A0"/>
                </a:solidFill>
                <a:latin typeface="Roboto"/>
                <a:ea typeface="Roboto"/>
                <a:cs typeface="Samsung Sharp Sans Bold" pitchFamily="2"/>
              </a:rPr>
              <a:t> - KPIs August’26</a:t>
            </a:r>
            <a:endParaRPr lang="en-GB" sz="2000" b="1" i="0" u="none" strike="noStrike" kern="1200" cap="none" spc="0" baseline="0">
              <a:solidFill>
                <a:srgbClr val="1428A0"/>
              </a:solidFill>
              <a:uFillTx/>
              <a:latin typeface="Roboto"/>
              <a:ea typeface="Roboto"/>
              <a:cs typeface="Samsung Sharp Sans Bold" pitchFamily="2"/>
            </a:endParaRPr>
          </a:p>
        </p:txBody>
      </p:sp>
      <p:sp>
        <p:nvSpPr>
          <p:cNvPr id="152" name="CaixaDeTexto 151">
            <a:extLst>
              <a:ext uri="{FF2B5EF4-FFF2-40B4-BE49-F238E27FC236}">
                <a16:creationId xmlns:a16="http://schemas.microsoft.com/office/drawing/2014/main" id="{5D3F48CA-49F6-4FB8-BC39-78C1BD88A950}"/>
              </a:ext>
            </a:extLst>
          </p:cNvPr>
          <p:cNvSpPr txBox="1"/>
          <p:nvPr/>
        </p:nvSpPr>
        <p:spPr>
          <a:xfrm>
            <a:off x="3476168" y="738311"/>
            <a:ext cx="671053" cy="261610"/>
          </a:xfrm>
          <a:prstGeom prst="rect">
            <a:avLst/>
          </a:prstGeom>
          <a:noFill/>
        </p:spPr>
        <p:txBody>
          <a:bodyPr wrap="square" rtlCol="0">
            <a:spAutoFit/>
          </a:bodyPr>
          <a:lstStyle/>
          <a:p>
            <a:pPr algn="ctr"/>
            <a:r>
              <a:rPr lang="pt-BR" sz="1100" b="1" i="1"/>
              <a:t>CTR</a:t>
            </a:r>
          </a:p>
        </p:txBody>
      </p:sp>
      <p:sp>
        <p:nvSpPr>
          <p:cNvPr id="295" name="TextBox 44">
            <a:extLst>
              <a:ext uri="{FF2B5EF4-FFF2-40B4-BE49-F238E27FC236}">
                <a16:creationId xmlns:a16="http://schemas.microsoft.com/office/drawing/2014/main" id="{AA9B8624-0B98-4173-A52F-4801ECFEB30D}"/>
              </a:ext>
            </a:extLst>
          </p:cNvPr>
          <p:cNvSpPr txBox="1"/>
          <p:nvPr/>
        </p:nvSpPr>
        <p:spPr>
          <a:xfrm>
            <a:off x="621792" y="2331720"/>
            <a:ext cx="4707590" cy="215444"/>
          </a:xfrm>
          <a:prstGeom prst="rect">
            <a:avLst/>
          </a:prstGeom>
          <a:solidFill>
            <a:schemeClr val="bg1"/>
          </a:solidFill>
        </p:spPr>
        <p:txBody>
          <a:bodyPr wrap="square" lIns="0" tIns="0" rIns="0" bIns="0">
            <a:spAutoFit/>
          </a:bodyPr>
          <a:lstStyle/>
          <a:p>
            <a:pPr algn="l"/>
            <a:r>
              <a:rPr lang="pt-BR" sz="1400" b="1" kern="0">
                <a:solidFill>
                  <a:srgbClr val="002060"/>
                </a:solidFill>
                <a:latin typeface="Samsung Sharp Sans Bold" panose="02000503000000020004"/>
              </a:rPr>
              <a:t>PERFORMANCE BY CAMPAIGN OBJECTIVE</a:t>
            </a:r>
          </a:p>
        </p:txBody>
      </p:sp>
      <p:sp>
        <p:nvSpPr>
          <p:cNvPr id="329" name="Retângulo: Cantos Arredondados 328">
            <a:extLst>
              <a:ext uri="{FF2B5EF4-FFF2-40B4-BE49-F238E27FC236}">
                <a16:creationId xmlns:a16="http://schemas.microsoft.com/office/drawing/2014/main" id="{F60E35E9-CF9D-4F8A-BB2F-1B983A61443F}"/>
              </a:ext>
            </a:extLst>
          </p:cNvPr>
          <p:cNvSpPr/>
          <p:nvPr/>
        </p:nvSpPr>
        <p:spPr>
          <a:xfrm>
            <a:off x="8841653" y="2423159"/>
            <a:ext cx="2869199" cy="4232907"/>
          </a:xfrm>
          <a:prstGeom prst="roundRect">
            <a:avLst>
              <a:gd name="adj" fmla="val 4184"/>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rPr>
              <a:t>HIGHLIGHT</a:t>
            </a:r>
          </a:p>
          <a:p>
            <a:pPr marL="176213" marR="0" lvl="0" indent="-176213" algn="l" defTabSz="914400" rtl="0" eaLnBrk="0" fontAlgn="base" latinLnBrk="0" hangingPunct="0">
              <a:lnSpc>
                <a:spcPct val="100000"/>
              </a:lnSpc>
              <a:spcBef>
                <a:spcPts val="600"/>
              </a:spcBef>
              <a:spcAft>
                <a:spcPct val="0"/>
              </a:spcAft>
              <a:buClrTx/>
              <a:buSzTx/>
              <a:buFontTx/>
              <a:buChar char="•"/>
              <a:tabLst/>
            </a:pPr>
            <a:r>
              <a:rPr kumimoji="0" lang="en-US" altLang="pt-BR" sz="1050" b="1" i="0" u="none" strike="noStrike" cap="none" normalizeH="0" baseline="0">
                <a:ln>
                  <a:noFill/>
                </a:ln>
                <a:solidFill>
                  <a:schemeClr val="tx1"/>
                </a:solidFill>
                <a:effectLst/>
                <a:latin typeface="Roboto" panose="02000000000000000000" pitchFamily="2" charset="0"/>
                <a:ea typeface="Roboto" panose="02000000000000000000" pitchFamily="2" charset="0"/>
              </a:rPr>
              <a:t>Q8H8B8 led GTM</a:t>
            </a:r>
            <a:r>
              <a:rPr kumimoji="0" lang="en-US" altLang="pt-BR" sz="1050" i="0" u="none" strike="noStrike" cap="none" normalizeH="0" baseline="0">
                <a:ln>
                  <a:noFill/>
                </a:ln>
                <a:solidFill>
                  <a:schemeClr val="tx1"/>
                </a:solidFill>
                <a:effectLst/>
                <a:latin typeface="Roboto" panose="02000000000000000000" pitchFamily="2" charset="0"/>
                <a:ea typeface="Roboto" panose="02000000000000000000" pitchFamily="2" charset="0"/>
              </a:rPr>
              <a:t>, with a successful launch and </a:t>
            </a:r>
            <a:r>
              <a:rPr kumimoji="0" lang="en-US" altLang="pt-BR" sz="1050" b="1" i="0" u="none" strike="noStrike" cap="none" normalizeH="0" baseline="0">
                <a:ln>
                  <a:noFill/>
                </a:ln>
                <a:solidFill>
                  <a:schemeClr val="tx1"/>
                </a:solidFill>
                <a:effectLst/>
                <a:latin typeface="Roboto" panose="02000000000000000000" pitchFamily="2" charset="0"/>
                <a:ea typeface="Roboto" panose="02000000000000000000" pitchFamily="2" charset="0"/>
              </a:rPr>
              <a:t>2.17x A/R. </a:t>
            </a:r>
          </a:p>
          <a:p>
            <a:pPr marL="176213" marR="0" lvl="0" indent="-176213" algn="l" defTabSz="914400" rtl="0" eaLnBrk="0" fontAlgn="base" latinLnBrk="0" hangingPunct="0">
              <a:lnSpc>
                <a:spcPct val="100000"/>
              </a:lnSpc>
              <a:spcBef>
                <a:spcPts val="600"/>
              </a:spcBef>
              <a:spcAft>
                <a:spcPct val="0"/>
              </a:spcAft>
              <a:buClrTx/>
              <a:buSzTx/>
              <a:buFontTx/>
              <a:buChar char="•"/>
              <a:tabLst/>
            </a:pPr>
            <a:r>
              <a:rPr kumimoji="0" lang="en-US" altLang="pt-BR" sz="1050" b="1" i="0" u="none" strike="noStrike" cap="none" normalizeH="0" baseline="0">
                <a:ln>
                  <a:noFill/>
                </a:ln>
                <a:solidFill>
                  <a:schemeClr val="tx1"/>
                </a:solidFill>
                <a:effectLst/>
                <a:latin typeface="Roboto" panose="02000000000000000000" pitchFamily="2" charset="0"/>
                <a:ea typeface="Roboto" panose="02000000000000000000" pitchFamily="2" charset="0"/>
              </a:rPr>
              <a:t>VD One exceeded </a:t>
            </a:r>
            <a:r>
              <a:rPr kumimoji="0" lang="en-US" altLang="pt-BR" sz="1050" b="1" i="0" u="none" strike="noStrike" cap="none" normalizeH="0" baseline="0" err="1">
                <a:ln>
                  <a:noFill/>
                </a:ln>
                <a:solidFill>
                  <a:schemeClr val="tx1"/>
                </a:solidFill>
                <a:effectLst/>
                <a:latin typeface="Roboto" panose="02000000000000000000" pitchFamily="2" charset="0"/>
                <a:ea typeface="Roboto" panose="02000000000000000000" pitchFamily="2" charset="0"/>
              </a:rPr>
              <a:t>Handraiser</a:t>
            </a:r>
            <a:r>
              <a:rPr kumimoji="0" lang="en-US" altLang="pt-BR" sz="1050" b="1" i="0" u="none" strike="noStrike" cap="none" normalizeH="0" baseline="0">
                <a:ln>
                  <a:noFill/>
                </a:ln>
                <a:solidFill>
                  <a:schemeClr val="tx1"/>
                </a:solidFill>
                <a:effectLst/>
                <a:latin typeface="Roboto" panose="02000000000000000000" pitchFamily="2" charset="0"/>
                <a:ea typeface="Roboto" panose="02000000000000000000" pitchFamily="2" charset="0"/>
              </a:rPr>
              <a:t> targets, </a:t>
            </a:r>
            <a:r>
              <a:rPr kumimoji="0" lang="en-US" altLang="pt-BR" sz="1050" i="0" u="none" strike="noStrike" cap="none" normalizeH="0" baseline="0">
                <a:ln>
                  <a:noFill/>
                </a:ln>
                <a:solidFill>
                  <a:schemeClr val="tx1"/>
                </a:solidFill>
                <a:effectLst/>
                <a:latin typeface="Roboto" panose="02000000000000000000" pitchFamily="2" charset="0"/>
                <a:ea typeface="Roboto" panose="02000000000000000000" pitchFamily="2" charset="0"/>
              </a:rPr>
              <a:t>with</a:t>
            </a:r>
            <a:r>
              <a:rPr kumimoji="0" lang="en-US" altLang="pt-BR" sz="1050" b="1" i="0" u="none" strike="noStrike" cap="none" normalizeH="0" baseline="0">
                <a:ln>
                  <a:noFill/>
                </a:ln>
                <a:solidFill>
                  <a:schemeClr val="tx1"/>
                </a:solidFill>
                <a:effectLst/>
                <a:latin typeface="Roboto" panose="02000000000000000000" pitchFamily="2" charset="0"/>
                <a:ea typeface="Roboto" panose="02000000000000000000" pitchFamily="2" charset="0"/>
              </a:rPr>
              <a:t> Full Forms </a:t>
            </a:r>
            <a:r>
              <a:rPr kumimoji="0" lang="en-US" altLang="pt-BR" sz="1050" i="0" u="none" strike="noStrike" cap="none" normalizeH="0" baseline="0">
                <a:ln>
                  <a:noFill/>
                </a:ln>
                <a:solidFill>
                  <a:schemeClr val="tx1"/>
                </a:solidFill>
                <a:effectLst/>
                <a:latin typeface="Roboto" panose="02000000000000000000" pitchFamily="2" charset="0"/>
                <a:ea typeface="Roboto" panose="02000000000000000000" pitchFamily="2" charset="0"/>
              </a:rPr>
              <a:t>as the main highlight. </a:t>
            </a:r>
          </a:p>
          <a:p>
            <a:pPr marL="176213" marR="0" lvl="0" indent="-176213" algn="l" defTabSz="914400" rtl="0" eaLnBrk="0" fontAlgn="base" latinLnBrk="0" hangingPunct="0">
              <a:lnSpc>
                <a:spcPct val="100000"/>
              </a:lnSpc>
              <a:spcBef>
                <a:spcPts val="600"/>
              </a:spcBef>
              <a:spcAft>
                <a:spcPct val="0"/>
              </a:spcAft>
              <a:buClrTx/>
              <a:buSzTx/>
              <a:buFontTx/>
              <a:buChar char="•"/>
              <a:tabLst/>
            </a:pPr>
            <a:r>
              <a:rPr kumimoji="0" lang="en-US" altLang="pt-BR" sz="1050" b="1" i="0" u="none" strike="noStrike" cap="none" normalizeH="0" baseline="0">
                <a:ln>
                  <a:noFill/>
                </a:ln>
                <a:solidFill>
                  <a:schemeClr val="tx1"/>
                </a:solidFill>
                <a:effectLst/>
                <a:latin typeface="Roboto" panose="02000000000000000000" pitchFamily="2" charset="0"/>
                <a:ea typeface="Roboto" panose="02000000000000000000" pitchFamily="2" charset="0"/>
              </a:rPr>
              <a:t>Bottom-funnel performance exceeded N-1, </a:t>
            </a:r>
            <a:r>
              <a:rPr kumimoji="0" lang="en-US" altLang="pt-BR" sz="1050" i="0" u="none" strike="noStrike" cap="none" normalizeH="0" baseline="0">
                <a:ln>
                  <a:noFill/>
                </a:ln>
                <a:solidFill>
                  <a:schemeClr val="tx1"/>
                </a:solidFill>
                <a:effectLst/>
                <a:latin typeface="Roboto" panose="02000000000000000000" pitchFamily="2" charset="0"/>
                <a:ea typeface="Roboto" panose="02000000000000000000" pitchFamily="2" charset="0"/>
              </a:rPr>
              <a:t>driven by the flagship launch month. </a:t>
            </a:r>
            <a:endParaRPr kumimoji="0" lang="pt-BR" altLang="pt-BR" sz="1050"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l" defTabSz="914400" rtl="0" eaLnBrk="0" fontAlgn="base" latinLnBrk="0" hangingPunct="0">
              <a:lnSpc>
                <a:spcPct val="100000"/>
              </a:lnSpc>
              <a:spcBef>
                <a:spcPts val="600"/>
              </a:spcBef>
              <a:spcAft>
                <a:spcPct val="0"/>
              </a:spcAft>
              <a:buClrTx/>
              <a:buSzTx/>
              <a:tabLst/>
            </a:pPr>
            <a:endParaRPr kumimoji="0" lang="pt-BR"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rPr>
              <a:t>LOWLIGHT</a:t>
            </a:r>
          </a:p>
          <a:p>
            <a:pPr marL="176213" marR="0" lvl="0" indent="-176213" algn="l" defTabSz="914400" rtl="0" eaLnBrk="0" fontAlgn="base" latinLnBrk="0" hangingPunct="0">
              <a:lnSpc>
                <a:spcPct val="100000"/>
              </a:lnSpc>
              <a:spcBef>
                <a:spcPts val="600"/>
              </a:spcBef>
              <a:spcAft>
                <a:spcPct val="0"/>
              </a:spcAft>
              <a:buClrTx/>
              <a:buSzTx/>
              <a:buFontTx/>
              <a:buChar char="•"/>
              <a:tabLst/>
            </a:pPr>
            <a:r>
              <a:rPr kumimoji="0" lang="en-US" altLang="pt-BR" sz="1050" b="1" i="0" u="none" strike="noStrike" cap="none" normalizeH="0" baseline="0">
                <a:ln>
                  <a:noFill/>
                </a:ln>
                <a:solidFill>
                  <a:schemeClr val="tx1"/>
                </a:solidFill>
                <a:effectLst/>
                <a:latin typeface="Roboto" panose="02000000000000000000" pitchFamily="2" charset="0"/>
                <a:ea typeface="Roboto" panose="02000000000000000000" pitchFamily="2" charset="0"/>
              </a:rPr>
              <a:t>Scale did not guarantee engagement: </a:t>
            </a:r>
            <a:r>
              <a:rPr kumimoji="0" lang="en-US" altLang="pt-BR" sz="1050" i="0" u="none" strike="noStrike" cap="none" normalizeH="0" baseline="0">
                <a:ln>
                  <a:noFill/>
                </a:ln>
                <a:solidFill>
                  <a:schemeClr val="tx1"/>
                </a:solidFill>
                <a:effectLst/>
                <a:latin typeface="Roboto" panose="02000000000000000000" pitchFamily="2" charset="0"/>
                <a:ea typeface="Roboto" panose="02000000000000000000" pitchFamily="2" charset="0"/>
              </a:rPr>
              <a:t>qualified audiences progressed better than broader Awareness efforts.</a:t>
            </a:r>
          </a:p>
          <a:p>
            <a:pPr marL="176213" marR="0" lvl="0" indent="-176213" algn="l" defTabSz="914400" rtl="0" eaLnBrk="0" fontAlgn="base" latinLnBrk="0" hangingPunct="0">
              <a:lnSpc>
                <a:spcPct val="100000"/>
              </a:lnSpc>
              <a:spcBef>
                <a:spcPts val="600"/>
              </a:spcBef>
              <a:spcAft>
                <a:spcPct val="0"/>
              </a:spcAft>
              <a:buClrTx/>
              <a:buSzTx/>
              <a:buFontTx/>
              <a:buChar char="•"/>
              <a:tabLst/>
            </a:pPr>
            <a:r>
              <a:rPr kumimoji="0" lang="en-US" altLang="pt-BR" sz="1050" b="1" i="0" u="none" strike="noStrike" cap="none" normalizeH="0" baseline="0">
                <a:ln>
                  <a:noFill/>
                </a:ln>
                <a:solidFill>
                  <a:schemeClr val="tx1"/>
                </a:solidFill>
                <a:effectLst/>
                <a:latin typeface="Roboto" panose="02000000000000000000" pitchFamily="2" charset="0"/>
                <a:ea typeface="Roboto" panose="02000000000000000000" pitchFamily="2" charset="0"/>
              </a:rPr>
              <a:t>Secondary campaigns showed lower interaction depth</a:t>
            </a:r>
            <a:r>
              <a:rPr kumimoji="0" lang="en-US" altLang="pt-BR" sz="1050" i="0" u="none" strike="noStrike" cap="none" normalizeH="0" baseline="0">
                <a:ln>
                  <a:noFill/>
                </a:ln>
                <a:solidFill>
                  <a:schemeClr val="tx1"/>
                </a:solidFill>
                <a:effectLst/>
                <a:latin typeface="Roboto" panose="02000000000000000000" pitchFamily="2" charset="0"/>
                <a:ea typeface="Roboto" panose="02000000000000000000" pitchFamily="2" charset="0"/>
              </a:rPr>
              <a:t>, concentrating engagement around the main launches.</a:t>
            </a:r>
          </a:p>
          <a:p>
            <a:pPr marL="176213" marR="0" lvl="0" indent="-176213" algn="l" defTabSz="914400" rtl="0" eaLnBrk="0" fontAlgn="base" latinLnBrk="0" hangingPunct="0">
              <a:lnSpc>
                <a:spcPct val="100000"/>
              </a:lnSpc>
              <a:spcBef>
                <a:spcPts val="600"/>
              </a:spcBef>
              <a:spcAft>
                <a:spcPct val="0"/>
              </a:spcAft>
              <a:buClrTx/>
              <a:buSzTx/>
              <a:buFontTx/>
              <a:buChar char="•"/>
              <a:tabLst/>
            </a:pPr>
            <a:r>
              <a:rPr kumimoji="0" lang="en-US" altLang="pt-BR" sz="1050" b="1" i="0" u="none" strike="noStrike" cap="none" normalizeH="0" baseline="0">
                <a:ln>
                  <a:noFill/>
                </a:ln>
                <a:solidFill>
                  <a:schemeClr val="tx1"/>
                </a:solidFill>
                <a:effectLst/>
                <a:latin typeface="Roboto" panose="02000000000000000000" pitchFamily="2" charset="0"/>
                <a:ea typeface="Roboto" panose="02000000000000000000" pitchFamily="2" charset="0"/>
              </a:rPr>
              <a:t>Pressure Rule limited CE reach, </a:t>
            </a:r>
            <a:r>
              <a:rPr kumimoji="0" lang="en-US" altLang="pt-BR" sz="1050" i="0" u="none" strike="noStrike" cap="none" normalizeH="0" baseline="0">
                <a:ln>
                  <a:noFill/>
                </a:ln>
                <a:solidFill>
                  <a:schemeClr val="tx1"/>
                </a:solidFill>
                <a:effectLst/>
                <a:latin typeface="Roboto" panose="02000000000000000000" pitchFamily="2" charset="0"/>
                <a:ea typeface="Roboto" panose="02000000000000000000" pitchFamily="2" charset="0"/>
              </a:rPr>
              <a:t>reducing the potential for awareness.</a:t>
            </a:r>
            <a:endParaRPr kumimoji="0" lang="pt-BR" altLang="pt-BR" sz="1050" b="0" i="0" u="none" strike="noStrike" cap="none" normalizeH="0" baseline="0">
              <a:ln>
                <a:noFill/>
              </a:ln>
              <a:solidFill>
                <a:schemeClr val="tx1"/>
              </a:solidFill>
              <a:effectLst/>
              <a:latin typeface="Roboto" panose="02000000000000000000" pitchFamily="2" charset="0"/>
              <a:ea typeface="Roboto" panose="02000000000000000000" pitchFamily="2" charset="0"/>
            </a:endParaRPr>
          </a:p>
        </p:txBody>
      </p:sp>
      <p:sp>
        <p:nvSpPr>
          <p:cNvPr id="99" name="Retângulo 98">
            <a:extLst>
              <a:ext uri="{FF2B5EF4-FFF2-40B4-BE49-F238E27FC236}">
                <a16:creationId xmlns:a16="http://schemas.microsoft.com/office/drawing/2014/main" id="{235E018A-420B-422F-9E21-27E594316098}"/>
              </a:ext>
            </a:extLst>
          </p:cNvPr>
          <p:cNvSpPr/>
          <p:nvPr/>
        </p:nvSpPr>
        <p:spPr>
          <a:xfrm>
            <a:off x="365759" y="2584092"/>
            <a:ext cx="8393645" cy="253916"/>
          </a:xfrm>
          <a:prstGeom prst="rect">
            <a:avLst/>
          </a:prstGeom>
          <a:solidFill>
            <a:schemeClr val="bg1">
              <a:lumMod val="95000"/>
            </a:schemeClr>
          </a:solidFill>
          <a:ln>
            <a:noFill/>
          </a:ln>
        </p:spPr>
        <p:txBody>
          <a:bodyPr wrap="square" lIns="91440" tIns="45720" rIns="91440" bIns="45720" anchor="t">
            <a:spAutoFit/>
          </a:bodyPr>
          <a:lstStyle/>
          <a:p>
            <a:pPr algn="ctr" fontAlgn="base"/>
            <a:r>
              <a:rPr lang="pt-BR" sz="1050"/>
              <a:t>August</a:t>
            </a:r>
            <a:endParaRPr lang="pt-BR" sz="1050" b="0"/>
          </a:p>
        </p:txBody>
      </p:sp>
      <p:grpSp>
        <p:nvGrpSpPr>
          <p:cNvPr id="100" name="Agrupar 99">
            <a:extLst>
              <a:ext uri="{FF2B5EF4-FFF2-40B4-BE49-F238E27FC236}">
                <a16:creationId xmlns:a16="http://schemas.microsoft.com/office/drawing/2014/main" id="{9151C545-3187-49BA-B13C-D754DCEBCB2B}"/>
              </a:ext>
            </a:extLst>
          </p:cNvPr>
          <p:cNvGrpSpPr/>
          <p:nvPr/>
        </p:nvGrpSpPr>
        <p:grpSpPr>
          <a:xfrm>
            <a:off x="365759" y="2711187"/>
            <a:ext cx="8431838" cy="353991"/>
            <a:chOff x="2579172" y="2291113"/>
            <a:chExt cx="9259657" cy="353991"/>
          </a:xfrm>
        </p:grpSpPr>
        <p:cxnSp>
          <p:nvCxnSpPr>
            <p:cNvPr id="101" name="Conector de Seta Reta 100">
              <a:extLst>
                <a:ext uri="{FF2B5EF4-FFF2-40B4-BE49-F238E27FC236}">
                  <a16:creationId xmlns:a16="http://schemas.microsoft.com/office/drawing/2014/main" id="{DECDB1C4-AC67-4DFD-84FE-2941A158C05E}"/>
                </a:ext>
              </a:extLst>
            </p:cNvPr>
            <p:cNvCxnSpPr>
              <a:cxnSpLocks/>
            </p:cNvCxnSpPr>
            <p:nvPr/>
          </p:nvCxnSpPr>
          <p:spPr>
            <a:xfrm>
              <a:off x="2579172" y="2395795"/>
              <a:ext cx="9259657" cy="0"/>
            </a:xfrm>
            <a:prstGeom prst="straightConnector1">
              <a:avLst/>
            </a:prstGeom>
            <a:noFill/>
            <a:ln w="19050" cap="flat">
              <a:solidFill>
                <a:schemeClr val="tx1"/>
              </a:solidFill>
              <a:prstDash val="solid"/>
              <a:round/>
              <a:tailEnd type="triangle"/>
            </a:ln>
            <a:effectLst/>
            <a:sp3d/>
          </p:spPr>
          <p:style>
            <a:lnRef idx="0">
              <a:scrgbClr r="0" g="0" b="0"/>
            </a:lnRef>
            <a:fillRef idx="0">
              <a:scrgbClr r="0" g="0" b="0"/>
            </a:fillRef>
            <a:effectRef idx="0">
              <a:scrgbClr r="0" g="0" b="0"/>
            </a:effectRef>
            <a:fontRef idx="none"/>
          </p:style>
        </p:cxnSp>
        <p:grpSp>
          <p:nvGrpSpPr>
            <p:cNvPr id="102" name="Agrupar 101">
              <a:extLst>
                <a:ext uri="{FF2B5EF4-FFF2-40B4-BE49-F238E27FC236}">
                  <a16:creationId xmlns:a16="http://schemas.microsoft.com/office/drawing/2014/main" id="{3B70A128-EB39-42D5-9D16-D643F2B28EB4}"/>
                </a:ext>
              </a:extLst>
            </p:cNvPr>
            <p:cNvGrpSpPr/>
            <p:nvPr/>
          </p:nvGrpSpPr>
          <p:grpSpPr>
            <a:xfrm>
              <a:off x="2733898" y="2299053"/>
              <a:ext cx="2196000" cy="346051"/>
              <a:chOff x="10169360" y="2321624"/>
              <a:chExt cx="1599918" cy="346051"/>
            </a:xfrm>
          </p:grpSpPr>
          <p:grpSp>
            <p:nvGrpSpPr>
              <p:cNvPr id="164" name="Agrupar 163">
                <a:extLst>
                  <a:ext uri="{FF2B5EF4-FFF2-40B4-BE49-F238E27FC236}">
                    <a16:creationId xmlns:a16="http://schemas.microsoft.com/office/drawing/2014/main" id="{4A182E99-E6E4-40D2-8DFF-A229BC66F935}"/>
                  </a:ext>
                </a:extLst>
              </p:cNvPr>
              <p:cNvGrpSpPr/>
              <p:nvPr/>
            </p:nvGrpSpPr>
            <p:grpSpPr>
              <a:xfrm>
                <a:off x="10916727" y="2321624"/>
                <a:ext cx="83578" cy="221103"/>
                <a:chOff x="3743538" y="1747762"/>
                <a:chExt cx="83578" cy="362632"/>
              </a:xfrm>
            </p:grpSpPr>
            <p:cxnSp>
              <p:nvCxnSpPr>
                <p:cNvPr id="166" name="Conector reto 165">
                  <a:extLst>
                    <a:ext uri="{FF2B5EF4-FFF2-40B4-BE49-F238E27FC236}">
                      <a16:creationId xmlns:a16="http://schemas.microsoft.com/office/drawing/2014/main" id="{E7BEF953-E63E-43E5-9A2C-565BB7B2CFD4}"/>
                    </a:ext>
                  </a:extLst>
                </p:cNvPr>
                <p:cNvCxnSpPr>
                  <a:cxnSpLocks/>
                </p:cNvCxnSpPr>
                <p:nvPr/>
              </p:nvCxnSpPr>
              <p:spPr>
                <a:xfrm>
                  <a:off x="3787564" y="1875629"/>
                  <a:ext cx="0" cy="234765"/>
                </a:xfrm>
                <a:prstGeom prst="line">
                  <a:avLst/>
                </a:prstGeom>
                <a:noFill/>
                <a:ln w="25400" cap="flat">
                  <a:solidFill>
                    <a:schemeClr val="tx1"/>
                  </a:solidFill>
                  <a:prstDash val="solid"/>
                  <a:round/>
                </a:ln>
                <a:effectLst/>
                <a:sp3d/>
              </p:spPr>
              <p:style>
                <a:lnRef idx="0">
                  <a:scrgbClr r="0" g="0" b="0"/>
                </a:lnRef>
                <a:fillRef idx="0">
                  <a:scrgbClr r="0" g="0" b="0"/>
                </a:fillRef>
                <a:effectRef idx="0">
                  <a:scrgbClr r="0" g="0" b="0"/>
                </a:effectRef>
                <a:fontRef idx="none"/>
              </p:style>
            </p:cxnSp>
            <p:sp>
              <p:nvSpPr>
                <p:cNvPr id="167" name="Elipse 166">
                  <a:extLst>
                    <a:ext uri="{FF2B5EF4-FFF2-40B4-BE49-F238E27FC236}">
                      <a16:creationId xmlns:a16="http://schemas.microsoft.com/office/drawing/2014/main" id="{4421F5A3-70A8-4F1E-BF61-947EABEA3FE0}"/>
                    </a:ext>
                  </a:extLst>
                </p:cNvPr>
                <p:cNvSpPr/>
                <p:nvPr/>
              </p:nvSpPr>
              <p:spPr>
                <a:xfrm>
                  <a:off x="3743538" y="1747762"/>
                  <a:ext cx="83578" cy="177131"/>
                </a:xfrm>
                <a:prstGeom prst="ellipse">
                  <a:avLst/>
                </a:prstGeom>
                <a:solidFill>
                  <a:schemeClr val="tx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1651000" rtl="0" fontAlgn="auto" latinLnBrk="0" hangingPunct="0">
                    <a:lnSpc>
                      <a:spcPct val="100000"/>
                    </a:lnSpc>
                    <a:spcBef>
                      <a:spcPts val="0"/>
                    </a:spcBef>
                    <a:spcAft>
                      <a:spcPts val="0"/>
                    </a:spcAft>
                    <a:buClrTx/>
                    <a:buSzTx/>
                    <a:buFontTx/>
                    <a:buNone/>
                    <a:tabLst/>
                  </a:pPr>
                  <a:endParaRPr kumimoji="0" lang="pt-BR" sz="2700" b="1" i="0" u="none" strike="noStrike" cap="none" spc="0" normalizeH="0" baseline="0">
                    <a:ln>
                      <a:noFill/>
                    </a:ln>
                    <a:solidFill>
                      <a:srgbClr val="000000"/>
                    </a:solidFill>
                    <a:effectLst/>
                    <a:uFillTx/>
                    <a:latin typeface="+mj-lt"/>
                    <a:ea typeface="+mj-ea"/>
                    <a:cs typeface="+mj-cs"/>
                    <a:sym typeface="Helvetica"/>
                  </a:endParaRPr>
                </a:p>
              </p:txBody>
            </p:sp>
          </p:grpSp>
          <p:sp>
            <p:nvSpPr>
              <p:cNvPr id="165" name="Retângulo 164">
                <a:extLst>
                  <a:ext uri="{FF2B5EF4-FFF2-40B4-BE49-F238E27FC236}">
                    <a16:creationId xmlns:a16="http://schemas.microsoft.com/office/drawing/2014/main" id="{7872FFE1-BC45-46A9-9903-4C250BEAB912}"/>
                  </a:ext>
                </a:extLst>
              </p:cNvPr>
              <p:cNvSpPr/>
              <p:nvPr/>
            </p:nvSpPr>
            <p:spPr>
              <a:xfrm>
                <a:off x="10169360" y="2481252"/>
                <a:ext cx="1599918" cy="186423"/>
              </a:xfrm>
              <a:prstGeom prst="rect">
                <a:avLst/>
              </a:prstGeom>
              <a:solidFill>
                <a:srgbClr val="00359E"/>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srgbClr val="FFFFFF"/>
                    </a:solidFill>
                    <a:effectLst/>
                    <a:uLnTx/>
                    <a:uFillTx/>
                    <a:latin typeface="Samsung Sharp Sans Bold"/>
                    <a:cs typeface="+mn-cs"/>
                  </a:rPr>
                  <a:t>W32</a:t>
                </a:r>
              </a:p>
            </p:txBody>
          </p:sp>
        </p:grpSp>
        <p:grpSp>
          <p:nvGrpSpPr>
            <p:cNvPr id="104" name="Agrupar 103">
              <a:extLst>
                <a:ext uri="{FF2B5EF4-FFF2-40B4-BE49-F238E27FC236}">
                  <a16:creationId xmlns:a16="http://schemas.microsoft.com/office/drawing/2014/main" id="{7FC89AB7-C3AF-4409-AE3B-60262FB4D215}"/>
                </a:ext>
              </a:extLst>
            </p:cNvPr>
            <p:cNvGrpSpPr/>
            <p:nvPr/>
          </p:nvGrpSpPr>
          <p:grpSpPr>
            <a:xfrm>
              <a:off x="4975291" y="2298290"/>
              <a:ext cx="2196000" cy="346051"/>
              <a:chOff x="10169359" y="2321624"/>
              <a:chExt cx="1599915" cy="346051"/>
            </a:xfrm>
          </p:grpSpPr>
          <p:grpSp>
            <p:nvGrpSpPr>
              <p:cNvPr id="159" name="Agrupar 158">
                <a:extLst>
                  <a:ext uri="{FF2B5EF4-FFF2-40B4-BE49-F238E27FC236}">
                    <a16:creationId xmlns:a16="http://schemas.microsoft.com/office/drawing/2014/main" id="{3980EFF8-DDBB-47F9-BDAF-9110D85E523F}"/>
                  </a:ext>
                </a:extLst>
              </p:cNvPr>
              <p:cNvGrpSpPr/>
              <p:nvPr/>
            </p:nvGrpSpPr>
            <p:grpSpPr>
              <a:xfrm>
                <a:off x="10916727" y="2321624"/>
                <a:ext cx="83579" cy="221103"/>
                <a:chOff x="3743538" y="1747762"/>
                <a:chExt cx="83579" cy="362632"/>
              </a:xfrm>
            </p:grpSpPr>
            <p:cxnSp>
              <p:nvCxnSpPr>
                <p:cNvPr id="161" name="Conector reto 160">
                  <a:extLst>
                    <a:ext uri="{FF2B5EF4-FFF2-40B4-BE49-F238E27FC236}">
                      <a16:creationId xmlns:a16="http://schemas.microsoft.com/office/drawing/2014/main" id="{D9737568-A409-4586-BD1E-2A6A3BDBC231}"/>
                    </a:ext>
                  </a:extLst>
                </p:cNvPr>
                <p:cNvCxnSpPr>
                  <a:cxnSpLocks/>
                </p:cNvCxnSpPr>
                <p:nvPr/>
              </p:nvCxnSpPr>
              <p:spPr>
                <a:xfrm>
                  <a:off x="3787564" y="1875629"/>
                  <a:ext cx="0" cy="234765"/>
                </a:xfrm>
                <a:prstGeom prst="line">
                  <a:avLst/>
                </a:prstGeom>
                <a:noFill/>
                <a:ln w="25400" cap="flat">
                  <a:solidFill>
                    <a:schemeClr val="tx1"/>
                  </a:solidFill>
                  <a:prstDash val="solid"/>
                  <a:round/>
                </a:ln>
                <a:effectLst/>
                <a:sp3d/>
              </p:spPr>
              <p:style>
                <a:lnRef idx="0">
                  <a:scrgbClr r="0" g="0" b="0"/>
                </a:lnRef>
                <a:fillRef idx="0">
                  <a:scrgbClr r="0" g="0" b="0"/>
                </a:fillRef>
                <a:effectRef idx="0">
                  <a:scrgbClr r="0" g="0" b="0"/>
                </a:effectRef>
                <a:fontRef idx="none"/>
              </p:style>
            </p:cxnSp>
            <p:sp>
              <p:nvSpPr>
                <p:cNvPr id="162" name="Elipse 161">
                  <a:extLst>
                    <a:ext uri="{FF2B5EF4-FFF2-40B4-BE49-F238E27FC236}">
                      <a16:creationId xmlns:a16="http://schemas.microsoft.com/office/drawing/2014/main" id="{D37D8A7B-08F1-44CA-966A-7B44C69F21EE}"/>
                    </a:ext>
                  </a:extLst>
                </p:cNvPr>
                <p:cNvSpPr/>
                <p:nvPr/>
              </p:nvSpPr>
              <p:spPr>
                <a:xfrm>
                  <a:off x="3743538" y="1747762"/>
                  <a:ext cx="83579" cy="177131"/>
                </a:xfrm>
                <a:prstGeom prst="ellipse">
                  <a:avLst/>
                </a:prstGeom>
                <a:solidFill>
                  <a:schemeClr val="tx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1651000" rtl="0" fontAlgn="auto" latinLnBrk="0" hangingPunct="0">
                    <a:lnSpc>
                      <a:spcPct val="100000"/>
                    </a:lnSpc>
                    <a:spcBef>
                      <a:spcPts val="0"/>
                    </a:spcBef>
                    <a:spcAft>
                      <a:spcPts val="0"/>
                    </a:spcAft>
                    <a:buClrTx/>
                    <a:buSzTx/>
                    <a:buFontTx/>
                    <a:buNone/>
                    <a:tabLst/>
                  </a:pPr>
                  <a:endParaRPr kumimoji="0" lang="pt-BR" sz="2700" b="1" i="0" u="none" strike="noStrike" cap="none" spc="0" normalizeH="0" baseline="0">
                    <a:ln>
                      <a:noFill/>
                    </a:ln>
                    <a:solidFill>
                      <a:srgbClr val="000000"/>
                    </a:solidFill>
                    <a:effectLst/>
                    <a:uFillTx/>
                    <a:latin typeface="+mj-lt"/>
                    <a:ea typeface="+mj-ea"/>
                    <a:cs typeface="+mj-cs"/>
                    <a:sym typeface="Helvetica"/>
                  </a:endParaRPr>
                </a:p>
              </p:txBody>
            </p:sp>
          </p:grpSp>
          <p:sp>
            <p:nvSpPr>
              <p:cNvPr id="160" name="Retângulo 159">
                <a:extLst>
                  <a:ext uri="{FF2B5EF4-FFF2-40B4-BE49-F238E27FC236}">
                    <a16:creationId xmlns:a16="http://schemas.microsoft.com/office/drawing/2014/main" id="{9BAF7273-49C8-4DE6-B8C7-359FCF019544}"/>
                  </a:ext>
                </a:extLst>
              </p:cNvPr>
              <p:cNvSpPr/>
              <p:nvPr/>
            </p:nvSpPr>
            <p:spPr>
              <a:xfrm>
                <a:off x="10169359" y="2481252"/>
                <a:ext cx="1599915" cy="186423"/>
              </a:xfrm>
              <a:prstGeom prst="rect">
                <a:avLst/>
              </a:prstGeom>
              <a:solidFill>
                <a:srgbClr val="00359E"/>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srgbClr val="FFFFFF"/>
                    </a:solidFill>
                    <a:effectLst/>
                    <a:uLnTx/>
                    <a:uFillTx/>
                    <a:latin typeface="Samsung Sharp Sans Bold"/>
                    <a:cs typeface="+mn-cs"/>
                  </a:rPr>
                  <a:t>W33</a:t>
                </a:r>
              </a:p>
            </p:txBody>
          </p:sp>
        </p:grpSp>
        <p:grpSp>
          <p:nvGrpSpPr>
            <p:cNvPr id="105" name="Agrupar 104">
              <a:extLst>
                <a:ext uri="{FF2B5EF4-FFF2-40B4-BE49-F238E27FC236}">
                  <a16:creationId xmlns:a16="http://schemas.microsoft.com/office/drawing/2014/main" id="{D11D9E57-B366-44F7-A6A3-CD2F4365EE30}"/>
                </a:ext>
              </a:extLst>
            </p:cNvPr>
            <p:cNvGrpSpPr/>
            <p:nvPr/>
          </p:nvGrpSpPr>
          <p:grpSpPr>
            <a:xfrm>
              <a:off x="7216684" y="2296925"/>
              <a:ext cx="2196000" cy="346051"/>
              <a:chOff x="10169360" y="2321624"/>
              <a:chExt cx="1599914" cy="346051"/>
            </a:xfrm>
          </p:grpSpPr>
          <p:grpSp>
            <p:nvGrpSpPr>
              <p:cNvPr id="153" name="Agrupar 152">
                <a:extLst>
                  <a:ext uri="{FF2B5EF4-FFF2-40B4-BE49-F238E27FC236}">
                    <a16:creationId xmlns:a16="http://schemas.microsoft.com/office/drawing/2014/main" id="{9A480840-D390-4CB8-994C-516862EBB6BA}"/>
                  </a:ext>
                </a:extLst>
              </p:cNvPr>
              <p:cNvGrpSpPr/>
              <p:nvPr/>
            </p:nvGrpSpPr>
            <p:grpSpPr>
              <a:xfrm>
                <a:off x="10919239" y="2321624"/>
                <a:ext cx="83533" cy="221103"/>
                <a:chOff x="3746050" y="1747762"/>
                <a:chExt cx="83533" cy="362632"/>
              </a:xfrm>
            </p:grpSpPr>
            <p:cxnSp>
              <p:nvCxnSpPr>
                <p:cNvPr id="156" name="Conector reto 155">
                  <a:extLst>
                    <a:ext uri="{FF2B5EF4-FFF2-40B4-BE49-F238E27FC236}">
                      <a16:creationId xmlns:a16="http://schemas.microsoft.com/office/drawing/2014/main" id="{FAC73A5C-2960-4642-BE14-D4337F1396C1}"/>
                    </a:ext>
                  </a:extLst>
                </p:cNvPr>
                <p:cNvCxnSpPr>
                  <a:cxnSpLocks/>
                </p:cNvCxnSpPr>
                <p:nvPr/>
              </p:nvCxnSpPr>
              <p:spPr>
                <a:xfrm>
                  <a:off x="3787564" y="1875629"/>
                  <a:ext cx="0" cy="234765"/>
                </a:xfrm>
                <a:prstGeom prst="line">
                  <a:avLst/>
                </a:prstGeom>
                <a:noFill/>
                <a:ln w="25400" cap="flat">
                  <a:solidFill>
                    <a:schemeClr val="tx1"/>
                  </a:solidFill>
                  <a:prstDash val="solid"/>
                  <a:round/>
                </a:ln>
                <a:effectLst/>
                <a:sp3d/>
              </p:spPr>
              <p:style>
                <a:lnRef idx="0">
                  <a:scrgbClr r="0" g="0" b="0"/>
                </a:lnRef>
                <a:fillRef idx="0">
                  <a:scrgbClr r="0" g="0" b="0"/>
                </a:fillRef>
                <a:effectRef idx="0">
                  <a:scrgbClr r="0" g="0" b="0"/>
                </a:effectRef>
                <a:fontRef idx="none"/>
              </p:style>
            </p:cxnSp>
            <p:sp>
              <p:nvSpPr>
                <p:cNvPr id="157" name="Elipse 156">
                  <a:extLst>
                    <a:ext uri="{FF2B5EF4-FFF2-40B4-BE49-F238E27FC236}">
                      <a16:creationId xmlns:a16="http://schemas.microsoft.com/office/drawing/2014/main" id="{5EE8576A-9513-4054-A1D2-74EFE24DB2E8}"/>
                    </a:ext>
                  </a:extLst>
                </p:cNvPr>
                <p:cNvSpPr/>
                <p:nvPr/>
              </p:nvSpPr>
              <p:spPr>
                <a:xfrm>
                  <a:off x="3746050" y="1747762"/>
                  <a:ext cx="83533" cy="177131"/>
                </a:xfrm>
                <a:prstGeom prst="ellipse">
                  <a:avLst/>
                </a:prstGeom>
                <a:solidFill>
                  <a:schemeClr val="tx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1651000" rtl="0" fontAlgn="auto" latinLnBrk="0" hangingPunct="0">
                    <a:lnSpc>
                      <a:spcPct val="100000"/>
                    </a:lnSpc>
                    <a:spcBef>
                      <a:spcPts val="0"/>
                    </a:spcBef>
                    <a:spcAft>
                      <a:spcPts val="0"/>
                    </a:spcAft>
                    <a:buClrTx/>
                    <a:buSzTx/>
                    <a:buFontTx/>
                    <a:buNone/>
                    <a:tabLst/>
                  </a:pPr>
                  <a:endParaRPr kumimoji="0" lang="pt-BR" sz="2700" b="1" i="0" u="none" strike="noStrike" cap="none" spc="0" normalizeH="0" baseline="0">
                    <a:ln>
                      <a:noFill/>
                    </a:ln>
                    <a:solidFill>
                      <a:srgbClr val="000000"/>
                    </a:solidFill>
                    <a:effectLst/>
                    <a:uFillTx/>
                    <a:latin typeface="+mj-lt"/>
                    <a:ea typeface="+mj-ea"/>
                    <a:cs typeface="+mj-cs"/>
                    <a:sym typeface="Helvetica"/>
                  </a:endParaRPr>
                </a:p>
              </p:txBody>
            </p:sp>
          </p:grpSp>
          <p:sp>
            <p:nvSpPr>
              <p:cNvPr id="155" name="Retângulo 154">
                <a:extLst>
                  <a:ext uri="{FF2B5EF4-FFF2-40B4-BE49-F238E27FC236}">
                    <a16:creationId xmlns:a16="http://schemas.microsoft.com/office/drawing/2014/main" id="{96C7B46F-3AC7-44C5-8A15-3E9858D233D6}"/>
                  </a:ext>
                </a:extLst>
              </p:cNvPr>
              <p:cNvSpPr/>
              <p:nvPr/>
            </p:nvSpPr>
            <p:spPr>
              <a:xfrm>
                <a:off x="10169360" y="2481252"/>
                <a:ext cx="1599914" cy="186423"/>
              </a:xfrm>
              <a:prstGeom prst="rect">
                <a:avLst/>
              </a:prstGeom>
              <a:solidFill>
                <a:srgbClr val="00359E"/>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srgbClr val="FFFFFF"/>
                    </a:solidFill>
                    <a:effectLst/>
                    <a:uLnTx/>
                    <a:uFillTx/>
                    <a:latin typeface="Samsung Sharp Sans Bold"/>
                    <a:cs typeface="+mn-cs"/>
                  </a:rPr>
                  <a:t>W34</a:t>
                </a:r>
              </a:p>
            </p:txBody>
          </p:sp>
        </p:grpSp>
        <p:grpSp>
          <p:nvGrpSpPr>
            <p:cNvPr id="106" name="Agrupar 105">
              <a:extLst>
                <a:ext uri="{FF2B5EF4-FFF2-40B4-BE49-F238E27FC236}">
                  <a16:creationId xmlns:a16="http://schemas.microsoft.com/office/drawing/2014/main" id="{C6DC91BC-6042-4AB2-81F6-65D50BE0D7BC}"/>
                </a:ext>
              </a:extLst>
            </p:cNvPr>
            <p:cNvGrpSpPr/>
            <p:nvPr/>
          </p:nvGrpSpPr>
          <p:grpSpPr>
            <a:xfrm>
              <a:off x="9458078" y="2291113"/>
              <a:ext cx="2196000" cy="348265"/>
              <a:chOff x="10169360" y="2321622"/>
              <a:chExt cx="1598552" cy="346053"/>
            </a:xfrm>
          </p:grpSpPr>
          <p:grpSp>
            <p:nvGrpSpPr>
              <p:cNvPr id="147" name="Agrupar 146">
                <a:extLst>
                  <a:ext uri="{FF2B5EF4-FFF2-40B4-BE49-F238E27FC236}">
                    <a16:creationId xmlns:a16="http://schemas.microsoft.com/office/drawing/2014/main" id="{7C769732-249F-4586-BA77-C71E949A73EF}"/>
                  </a:ext>
                </a:extLst>
              </p:cNvPr>
              <p:cNvGrpSpPr/>
              <p:nvPr/>
            </p:nvGrpSpPr>
            <p:grpSpPr>
              <a:xfrm>
                <a:off x="10920516" y="2321622"/>
                <a:ext cx="83463" cy="221102"/>
                <a:chOff x="3747327" y="1747763"/>
                <a:chExt cx="83463" cy="362631"/>
              </a:xfrm>
            </p:grpSpPr>
            <p:cxnSp>
              <p:nvCxnSpPr>
                <p:cNvPr id="149" name="Conector reto 148">
                  <a:extLst>
                    <a:ext uri="{FF2B5EF4-FFF2-40B4-BE49-F238E27FC236}">
                      <a16:creationId xmlns:a16="http://schemas.microsoft.com/office/drawing/2014/main" id="{0DE51D27-C81F-4455-A94D-21CD77D20C16}"/>
                    </a:ext>
                  </a:extLst>
                </p:cNvPr>
                <p:cNvCxnSpPr>
                  <a:cxnSpLocks/>
                </p:cNvCxnSpPr>
                <p:nvPr/>
              </p:nvCxnSpPr>
              <p:spPr>
                <a:xfrm>
                  <a:off x="3787564" y="1875629"/>
                  <a:ext cx="0" cy="234765"/>
                </a:xfrm>
                <a:prstGeom prst="line">
                  <a:avLst/>
                </a:prstGeom>
                <a:noFill/>
                <a:ln w="25400" cap="flat">
                  <a:solidFill>
                    <a:schemeClr val="tx1"/>
                  </a:solidFill>
                  <a:prstDash val="solid"/>
                  <a:round/>
                </a:ln>
                <a:effectLst/>
                <a:sp3d/>
              </p:spPr>
              <p:style>
                <a:lnRef idx="0">
                  <a:scrgbClr r="0" g="0" b="0"/>
                </a:lnRef>
                <a:fillRef idx="0">
                  <a:scrgbClr r="0" g="0" b="0"/>
                </a:fillRef>
                <a:effectRef idx="0">
                  <a:scrgbClr r="0" g="0" b="0"/>
                </a:effectRef>
                <a:fontRef idx="none"/>
              </p:style>
            </p:cxnSp>
            <p:sp>
              <p:nvSpPr>
                <p:cNvPr id="150" name="Elipse 149">
                  <a:extLst>
                    <a:ext uri="{FF2B5EF4-FFF2-40B4-BE49-F238E27FC236}">
                      <a16:creationId xmlns:a16="http://schemas.microsoft.com/office/drawing/2014/main" id="{24C7178B-96A3-4AF6-840F-96038A8555CC}"/>
                    </a:ext>
                  </a:extLst>
                </p:cNvPr>
                <p:cNvSpPr/>
                <p:nvPr/>
              </p:nvSpPr>
              <p:spPr>
                <a:xfrm>
                  <a:off x="3747327" y="1747763"/>
                  <a:ext cx="83463" cy="177131"/>
                </a:xfrm>
                <a:prstGeom prst="ellipse">
                  <a:avLst/>
                </a:prstGeom>
                <a:solidFill>
                  <a:schemeClr val="tx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1651000" rtl="0" fontAlgn="auto" latinLnBrk="0" hangingPunct="0">
                    <a:lnSpc>
                      <a:spcPct val="100000"/>
                    </a:lnSpc>
                    <a:spcBef>
                      <a:spcPts val="0"/>
                    </a:spcBef>
                    <a:spcAft>
                      <a:spcPts val="0"/>
                    </a:spcAft>
                    <a:buClrTx/>
                    <a:buSzTx/>
                    <a:buFontTx/>
                    <a:buNone/>
                    <a:tabLst/>
                  </a:pPr>
                  <a:endParaRPr kumimoji="0" lang="pt-BR" sz="2700" b="1" i="0" u="none" strike="noStrike" cap="none" spc="0" normalizeH="0" baseline="0">
                    <a:ln>
                      <a:noFill/>
                    </a:ln>
                    <a:solidFill>
                      <a:srgbClr val="000000"/>
                    </a:solidFill>
                    <a:effectLst/>
                    <a:uFillTx/>
                    <a:latin typeface="+mj-lt"/>
                    <a:ea typeface="+mj-ea"/>
                    <a:cs typeface="+mj-cs"/>
                    <a:sym typeface="Helvetica"/>
                  </a:endParaRPr>
                </a:p>
              </p:txBody>
            </p:sp>
          </p:grpSp>
          <p:sp>
            <p:nvSpPr>
              <p:cNvPr id="148" name="Retângulo 147">
                <a:extLst>
                  <a:ext uri="{FF2B5EF4-FFF2-40B4-BE49-F238E27FC236}">
                    <a16:creationId xmlns:a16="http://schemas.microsoft.com/office/drawing/2014/main" id="{BACF7634-544A-4B05-A95F-DDBD424E962C}"/>
                  </a:ext>
                </a:extLst>
              </p:cNvPr>
              <p:cNvSpPr/>
              <p:nvPr/>
            </p:nvSpPr>
            <p:spPr>
              <a:xfrm>
                <a:off x="10169360" y="2481252"/>
                <a:ext cx="1598552" cy="186423"/>
              </a:xfrm>
              <a:prstGeom prst="rect">
                <a:avLst/>
              </a:prstGeom>
              <a:solidFill>
                <a:srgbClr val="00359E"/>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srgbClr val="FFFFFF"/>
                    </a:solidFill>
                    <a:effectLst/>
                    <a:uLnTx/>
                    <a:uFillTx/>
                    <a:latin typeface="Samsung Sharp Sans Bold"/>
                    <a:cs typeface="+mn-cs"/>
                  </a:rPr>
                  <a:t>W35</a:t>
                </a:r>
              </a:p>
            </p:txBody>
          </p:sp>
        </p:grpSp>
      </p:grpSp>
      <p:graphicFrame>
        <p:nvGraphicFramePr>
          <p:cNvPr id="168" name="Tabela 167">
            <a:extLst>
              <a:ext uri="{FF2B5EF4-FFF2-40B4-BE49-F238E27FC236}">
                <a16:creationId xmlns:a16="http://schemas.microsoft.com/office/drawing/2014/main" id="{13CF4DBD-0710-4323-8206-1F4B64C6FC9A}"/>
              </a:ext>
            </a:extLst>
          </p:cNvPr>
          <p:cNvGraphicFramePr>
            <a:graphicFrameLocks noGrp="1"/>
          </p:cNvGraphicFramePr>
          <p:nvPr/>
        </p:nvGraphicFramePr>
        <p:xfrm>
          <a:off x="365760" y="3113165"/>
          <a:ext cx="8252838" cy="1402080"/>
        </p:xfrm>
        <a:graphic>
          <a:graphicData uri="http://schemas.openxmlformats.org/drawingml/2006/table">
            <a:tbl>
              <a:tblPr/>
              <a:tblGrid>
                <a:gridCol w="2304472">
                  <a:extLst>
                    <a:ext uri="{9D8B030D-6E8A-4147-A177-3AD203B41FA5}">
                      <a16:colId xmlns:a16="http://schemas.microsoft.com/office/drawing/2014/main" val="1548912130"/>
                    </a:ext>
                  </a:extLst>
                </a:gridCol>
                <a:gridCol w="1788669">
                  <a:extLst>
                    <a:ext uri="{9D8B030D-6E8A-4147-A177-3AD203B41FA5}">
                      <a16:colId xmlns:a16="http://schemas.microsoft.com/office/drawing/2014/main" val="4017058415"/>
                    </a:ext>
                  </a:extLst>
                </a:gridCol>
                <a:gridCol w="2004974">
                  <a:extLst>
                    <a:ext uri="{9D8B030D-6E8A-4147-A177-3AD203B41FA5}">
                      <a16:colId xmlns:a16="http://schemas.microsoft.com/office/drawing/2014/main" val="2517576047"/>
                    </a:ext>
                  </a:extLst>
                </a:gridCol>
                <a:gridCol w="2154723">
                  <a:extLst>
                    <a:ext uri="{9D8B030D-6E8A-4147-A177-3AD203B41FA5}">
                      <a16:colId xmlns:a16="http://schemas.microsoft.com/office/drawing/2014/main" val="2108354029"/>
                    </a:ext>
                  </a:extLst>
                </a:gridCol>
              </a:tblGrid>
              <a:tr h="0">
                <a:tc gridSpan="4">
                  <a:txBody>
                    <a:bodyPr/>
                    <a:lstStyle/>
                    <a:p>
                      <a:pPr algn="ctr" fontAlgn="b"/>
                      <a:r>
                        <a:rPr lang="pt-BR" sz="800" b="0" i="0" u="none" strike="noStrike">
                          <a:solidFill>
                            <a:srgbClr val="000000"/>
                          </a:solidFill>
                          <a:effectLst/>
                          <a:latin typeface="Calibri" panose="020F0502020204030204" pitchFamily="34" charset="0"/>
                        </a:rPr>
                        <a:t>Q8H8B8 – </a:t>
                      </a:r>
                      <a:r>
                        <a:rPr lang="pt-BR" sz="800" b="0" i="0" u="none" strike="noStrike" err="1">
                          <a:solidFill>
                            <a:srgbClr val="000000"/>
                          </a:solidFill>
                          <a:effectLst/>
                          <a:latin typeface="Calibri" panose="020F0502020204030204" pitchFamily="34" charset="0"/>
                        </a:rPr>
                        <a:t>Pre-Order</a:t>
                      </a:r>
                      <a:r>
                        <a:rPr lang="pt-BR" sz="800" b="0" i="0" u="none" strike="noStrike">
                          <a:solidFill>
                            <a:srgbClr val="000000"/>
                          </a:solidFill>
                          <a:effectLst/>
                          <a:latin typeface="Calibri" panose="020F0502020204030204" pitchFamily="34" charset="0"/>
                        </a:rPr>
                        <a:t>  </a:t>
                      </a:r>
                      <a:r>
                        <a:rPr lang="pt-BR" sz="800" b="1" i="0" u="none" strike="noStrike">
                          <a:solidFill>
                            <a:schemeClr val="bg1"/>
                          </a:solidFill>
                          <a:effectLst/>
                          <a:highlight>
                            <a:srgbClr val="0000FF"/>
                          </a:highlight>
                          <a:latin typeface="Calibri" panose="020F0502020204030204" pitchFamily="34" charset="0"/>
                        </a:rPr>
                        <a:t>G</a:t>
                      </a:r>
                      <a:r>
                        <a:rPr lang="pt-BR" sz="800" b="1" i="0" u="none" strike="noStrike">
                          <a:solidFill>
                            <a:schemeClr val="bg1"/>
                          </a:solidFill>
                          <a:effectLst/>
                          <a:latin typeface="Calibri" panose="020F0502020204030204" pitchFamily="34" charset="0"/>
                        </a:rPr>
                        <a:t>  </a:t>
                      </a:r>
                      <a:r>
                        <a:rPr lang="pt-BR" sz="800" b="1" i="0" u="none" strike="noStrike">
                          <a:solidFill>
                            <a:schemeClr val="bg1"/>
                          </a:solidFill>
                          <a:effectLst/>
                          <a:highlight>
                            <a:srgbClr val="000000"/>
                          </a:highlight>
                          <a:latin typeface="Calibri" panose="020F0502020204030204" pitchFamily="34" charset="0"/>
                        </a:rPr>
                        <a:t>O</a:t>
                      </a:r>
                    </a:p>
                  </a:txBody>
                  <a:tcPr marL="7620" marR="7620" marT="762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1E6FF"/>
                    </a:solidFill>
                  </a:tcPr>
                </a:tc>
                <a:tc hMerge="1">
                  <a:txBody>
                    <a:bodyPr/>
                    <a:lstStyle/>
                    <a:p>
                      <a:endParaRPr lang="pt-BR"/>
                    </a:p>
                  </a:txBody>
                  <a:tcPr>
                    <a:lnL w="6350" cap="flat" cmpd="sng" algn="ctr">
                      <a:solidFill>
                        <a:srgbClr val="FFFFFF"/>
                      </a:solidFill>
                      <a:prstDash val="solid"/>
                      <a:round/>
                      <a:headEnd type="none" w="med" len="med"/>
                      <a:tailEnd type="none" w="med" len="med"/>
                    </a:lnL>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3297949143"/>
                  </a:ext>
                </a:extLst>
              </a:tr>
              <a:tr h="0">
                <a:tc>
                  <a:txBody>
                    <a:bodyPr/>
                    <a:lstStyle/>
                    <a:p>
                      <a:pPr algn="ctr" fontAlgn="b"/>
                      <a:endParaRPr lang="pt-BR" sz="800" b="0" i="0" u="none" strike="noStrike">
                        <a:solidFill>
                          <a:srgbClr val="000000"/>
                        </a:solidFill>
                        <a:effectLst/>
                        <a:latin typeface="Calibri" panose="020F0502020204030204" pitchFamily="34" charset="0"/>
                      </a:endParaRPr>
                    </a:p>
                  </a:txBody>
                  <a:tcPr marL="7620" marR="7620" marT="762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lgn="ctr" fontAlgn="b"/>
                      <a:r>
                        <a:rPr lang="pt-BR" sz="800" b="0" i="0" u="none" strike="noStrike">
                          <a:solidFill>
                            <a:srgbClr val="000000"/>
                          </a:solidFill>
                          <a:effectLst/>
                          <a:latin typeface="Calibri" panose="020F0502020204030204" pitchFamily="34" charset="0"/>
                        </a:rPr>
                        <a:t>SSG Health </a:t>
                      </a:r>
                      <a:r>
                        <a:rPr lang="pt-BR" sz="800" b="1" i="0" u="none" strike="noStrike">
                          <a:solidFill>
                            <a:schemeClr val="bg1"/>
                          </a:solidFill>
                          <a:effectLst/>
                          <a:highlight>
                            <a:srgbClr val="0000FF"/>
                          </a:highlight>
                          <a:latin typeface="Calibri" panose="020F0502020204030204" pitchFamily="34" charset="0"/>
                        </a:rPr>
                        <a:t>P</a:t>
                      </a:r>
                      <a:r>
                        <a:rPr lang="pt-BR" sz="800" b="1" i="0" u="none" strike="noStrike">
                          <a:solidFill>
                            <a:schemeClr val="bg1"/>
                          </a:solidFill>
                          <a:effectLst/>
                          <a:latin typeface="Calibri" panose="020F0502020204030204" pitchFamily="34" charset="0"/>
                        </a:rPr>
                        <a:t>  </a:t>
                      </a:r>
                      <a:r>
                        <a:rPr lang="pt-BR" sz="800" b="1" i="0" u="none" strike="noStrike">
                          <a:solidFill>
                            <a:schemeClr val="bg1"/>
                          </a:solidFill>
                          <a:effectLst/>
                          <a:highlight>
                            <a:srgbClr val="000000"/>
                          </a:highlight>
                          <a:latin typeface="Calibri" panose="020F0502020204030204" pitchFamily="34" charset="0"/>
                        </a:rPr>
                        <a:t>N</a:t>
                      </a:r>
                      <a:endParaRPr lang="pt-BR" sz="800" b="0" i="0" u="none" strike="noStrike">
                        <a:solidFill>
                          <a:srgbClr val="000000"/>
                        </a:solidFill>
                        <a:effectLst/>
                        <a:latin typeface="Calibri" panose="020F0502020204030204" pitchFamily="34" charset="0"/>
                      </a:endParaRPr>
                    </a:p>
                  </a:txBody>
                  <a:tcPr marL="7620" marR="7620" marT="762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1E6FF"/>
                    </a:solidFill>
                  </a:tcPr>
                </a:tc>
                <a:tc>
                  <a:txBody>
                    <a:bodyPr/>
                    <a:lstStyle/>
                    <a:p>
                      <a:pPr algn="ctr" fontAlgn="b"/>
                      <a:endParaRPr lang="pt-BR" sz="800" b="0" i="0" u="none" strike="noStrike">
                        <a:solidFill>
                          <a:srgbClr val="000000"/>
                        </a:solidFill>
                        <a:effectLst/>
                        <a:latin typeface="Calibri" panose="020F0502020204030204" pitchFamily="34" charset="0"/>
                      </a:endParaRPr>
                    </a:p>
                  </a:txBody>
                  <a:tcPr marL="7620" marR="7620" marT="762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lgn="ctr" fontAlgn="b"/>
                      <a:endParaRPr lang="pt-BR" sz="800" b="0" i="0" u="none" strike="noStrike">
                        <a:solidFill>
                          <a:srgbClr val="000000"/>
                        </a:solidFill>
                        <a:effectLst/>
                        <a:latin typeface="Calibri" panose="020F0502020204030204" pitchFamily="34" charset="0"/>
                      </a:endParaRPr>
                    </a:p>
                  </a:txBody>
                  <a:tcPr marL="7620" marR="7620" marT="762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152478147"/>
                  </a:ext>
                </a:extLst>
              </a:tr>
              <a:tr h="0">
                <a:tc>
                  <a:txBody>
                    <a:bodyPr/>
                    <a:lstStyle/>
                    <a:p>
                      <a:pPr algn="ctr" fontAlgn="b"/>
                      <a:endParaRPr lang="pt-BR" sz="800" b="0" i="0" u="none" strike="noStrike">
                        <a:solidFill>
                          <a:srgbClr val="000000"/>
                        </a:solidFill>
                        <a:effectLst/>
                        <a:latin typeface="Calibri" panose="020F0502020204030204" pitchFamily="34" charset="0"/>
                      </a:endParaRPr>
                    </a:p>
                  </a:txBody>
                  <a:tcPr marL="7620" marR="7620" marT="762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lgn="ctr" fontAlgn="b"/>
                      <a:endParaRPr lang="pt-BR" sz="800" b="0" i="0" u="none" strike="noStrike">
                        <a:solidFill>
                          <a:srgbClr val="000000"/>
                        </a:solidFill>
                        <a:effectLst/>
                        <a:latin typeface="Calibri" panose="020F0502020204030204" pitchFamily="34" charset="0"/>
                      </a:endParaRPr>
                    </a:p>
                  </a:txBody>
                  <a:tcPr marL="7620" marR="7620" marT="762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lgn="ctr" fontAlgn="b"/>
                      <a:endParaRPr lang="pt-BR" sz="800" b="0" i="0" u="none" strike="noStrike">
                        <a:solidFill>
                          <a:srgbClr val="000000"/>
                        </a:solidFill>
                        <a:effectLst/>
                        <a:latin typeface="Calibri" panose="020F0502020204030204" pitchFamily="34" charset="0"/>
                      </a:endParaRPr>
                    </a:p>
                  </a:txBody>
                  <a:tcPr marL="7620" marR="7620" marT="762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lgn="ctr" fontAlgn="b"/>
                      <a:r>
                        <a:rPr lang="pt-BR" sz="800" b="0" i="0" u="none" strike="noStrike">
                          <a:solidFill>
                            <a:srgbClr val="000000"/>
                          </a:solidFill>
                          <a:effectLst/>
                          <a:latin typeface="Calibri" panose="020F0502020204030204" pitchFamily="34" charset="0"/>
                        </a:rPr>
                        <a:t>Galaxy A </a:t>
                      </a:r>
                      <a:r>
                        <a:rPr lang="pt-BR" sz="800" b="0" i="0" u="none" strike="noStrike" err="1">
                          <a:solidFill>
                            <a:srgbClr val="000000"/>
                          </a:solidFill>
                          <a:effectLst/>
                          <a:latin typeface="Calibri" panose="020F0502020204030204" pitchFamily="34" charset="0"/>
                        </a:rPr>
                        <a:t>Spotify</a:t>
                      </a:r>
                      <a:r>
                        <a:rPr lang="pt-BR" sz="800" b="0" i="0" u="none" strike="noStrike">
                          <a:solidFill>
                            <a:srgbClr val="000000"/>
                          </a:solidFill>
                          <a:effectLst/>
                          <a:latin typeface="Calibri" panose="020F0502020204030204" pitchFamily="34" charset="0"/>
                        </a:rPr>
                        <a:t> </a:t>
                      </a:r>
                      <a:r>
                        <a:rPr lang="pt-BR" sz="800" b="1" i="0" u="none" strike="noStrike">
                          <a:solidFill>
                            <a:schemeClr val="bg1"/>
                          </a:solidFill>
                          <a:effectLst/>
                          <a:highlight>
                            <a:srgbClr val="0000FF"/>
                          </a:highlight>
                          <a:latin typeface="Calibri" panose="020F0502020204030204" pitchFamily="34" charset="0"/>
                        </a:rPr>
                        <a:t>P</a:t>
                      </a:r>
                      <a:r>
                        <a:rPr lang="pt-BR" sz="800" b="1" i="0" u="none" strike="noStrike">
                          <a:solidFill>
                            <a:schemeClr val="bg1"/>
                          </a:solidFill>
                          <a:effectLst/>
                          <a:latin typeface="Calibri" panose="020F0502020204030204" pitchFamily="34" charset="0"/>
                        </a:rPr>
                        <a:t>  </a:t>
                      </a:r>
                      <a:r>
                        <a:rPr lang="pt-BR" sz="800" b="1" i="0" u="none" strike="noStrike">
                          <a:solidFill>
                            <a:schemeClr val="bg1"/>
                          </a:solidFill>
                          <a:effectLst/>
                          <a:highlight>
                            <a:srgbClr val="000000"/>
                          </a:highlight>
                          <a:latin typeface="Calibri" panose="020F0502020204030204" pitchFamily="34" charset="0"/>
                        </a:rPr>
                        <a:t>N</a:t>
                      </a:r>
                      <a:endParaRPr lang="pt-BR" sz="800" b="0" i="0" u="none" strike="noStrike">
                        <a:solidFill>
                          <a:srgbClr val="000000"/>
                        </a:solidFill>
                        <a:effectLst/>
                        <a:latin typeface="Calibri" panose="020F0502020204030204" pitchFamily="34" charset="0"/>
                      </a:endParaRPr>
                    </a:p>
                  </a:txBody>
                  <a:tcPr marL="7620" marR="7620" marT="762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1E6FF"/>
                    </a:solidFill>
                  </a:tcPr>
                </a:tc>
                <a:extLst>
                  <a:ext uri="{0D108BD9-81ED-4DB2-BD59-A6C34878D82A}">
                    <a16:rowId xmlns:a16="http://schemas.microsoft.com/office/drawing/2014/main" val="3185750243"/>
                  </a:ext>
                </a:extLst>
              </a:tr>
              <a:tr h="0">
                <a:tc>
                  <a:txBody>
                    <a:bodyPr/>
                    <a:lstStyle/>
                    <a:p>
                      <a:pPr algn="ctr" fontAlgn="b"/>
                      <a:endParaRPr lang="pt-BR" sz="800" b="0" i="0" u="none" strike="noStrike">
                        <a:solidFill>
                          <a:srgbClr val="000000"/>
                        </a:solidFill>
                        <a:effectLst/>
                        <a:latin typeface="Calibri" panose="020F0502020204030204" pitchFamily="34" charset="0"/>
                      </a:endParaRPr>
                    </a:p>
                  </a:txBody>
                  <a:tcPr marL="7620" marR="7620" marT="762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lgn="ctr" fontAlgn="b"/>
                      <a:endParaRPr lang="pt-BR" sz="800" b="0" i="0" u="none" strike="noStrike">
                        <a:solidFill>
                          <a:srgbClr val="000000"/>
                        </a:solidFill>
                        <a:effectLst/>
                        <a:latin typeface="Calibri" panose="020F0502020204030204" pitchFamily="34" charset="0"/>
                      </a:endParaRPr>
                    </a:p>
                  </a:txBody>
                  <a:tcPr marL="7620" marR="7620" marT="762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lgn="ctr" fontAlgn="b"/>
                      <a:endParaRPr lang="pt-BR" sz="800" b="0" i="0" u="none" strike="noStrike">
                        <a:solidFill>
                          <a:srgbClr val="000000"/>
                        </a:solidFill>
                        <a:effectLst/>
                        <a:latin typeface="Calibri" panose="020F0502020204030204" pitchFamily="34" charset="0"/>
                      </a:endParaRPr>
                    </a:p>
                  </a:txBody>
                  <a:tcPr marL="7620" marR="7620" marT="762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lgn="ctr" fontAlgn="b"/>
                      <a:r>
                        <a:rPr lang="pt-BR" sz="800" b="0" i="0" u="none" strike="noStrike">
                          <a:solidFill>
                            <a:srgbClr val="000000"/>
                          </a:solidFill>
                          <a:effectLst/>
                          <a:latin typeface="Calibri" panose="020F0502020204030204" pitchFamily="34" charset="0"/>
                        </a:rPr>
                        <a:t>Galaxy Book </a:t>
                      </a:r>
                      <a:r>
                        <a:rPr lang="pt-BR" sz="800" b="1" i="0" u="none" strike="noStrike">
                          <a:solidFill>
                            <a:schemeClr val="bg1"/>
                          </a:solidFill>
                          <a:effectLst/>
                          <a:highlight>
                            <a:srgbClr val="0000FF"/>
                          </a:highlight>
                          <a:latin typeface="Calibri" panose="020F0502020204030204" pitchFamily="34" charset="0"/>
                        </a:rPr>
                        <a:t>M</a:t>
                      </a:r>
                      <a:r>
                        <a:rPr lang="pt-BR" sz="800" b="1" i="0" u="none" strike="noStrike">
                          <a:solidFill>
                            <a:schemeClr val="bg1"/>
                          </a:solidFill>
                          <a:effectLst/>
                          <a:latin typeface="Calibri" panose="020F0502020204030204" pitchFamily="34" charset="0"/>
                        </a:rPr>
                        <a:t>  </a:t>
                      </a:r>
                      <a:r>
                        <a:rPr lang="pt-BR" sz="800" b="1" i="0" u="none" strike="noStrike">
                          <a:solidFill>
                            <a:schemeClr val="bg1"/>
                          </a:solidFill>
                          <a:effectLst/>
                          <a:highlight>
                            <a:srgbClr val="000000"/>
                          </a:highlight>
                          <a:latin typeface="Calibri" panose="020F0502020204030204" pitchFamily="34" charset="0"/>
                        </a:rPr>
                        <a:t>N</a:t>
                      </a:r>
                      <a:endParaRPr lang="pt-BR" sz="800" b="0" i="0" u="none" strike="noStrike">
                        <a:solidFill>
                          <a:srgbClr val="000000"/>
                        </a:solidFill>
                        <a:effectLst/>
                        <a:latin typeface="Calibri" panose="020F0502020204030204" pitchFamily="34" charset="0"/>
                      </a:endParaRPr>
                    </a:p>
                  </a:txBody>
                  <a:tcPr marL="7620" marR="7620" marT="762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1E6FF"/>
                    </a:solidFill>
                  </a:tcPr>
                </a:tc>
                <a:extLst>
                  <a:ext uri="{0D108BD9-81ED-4DB2-BD59-A6C34878D82A}">
                    <a16:rowId xmlns:a16="http://schemas.microsoft.com/office/drawing/2014/main" val="2934701528"/>
                  </a:ext>
                </a:extLst>
              </a:tr>
              <a:tr h="0">
                <a:tc>
                  <a:txBody>
                    <a:bodyPr/>
                    <a:lstStyle/>
                    <a:p>
                      <a:pPr algn="ctr" fontAlgn="b"/>
                      <a:r>
                        <a:rPr lang="pt-BR" sz="800" b="0" i="0" u="none" strike="noStrike" err="1">
                          <a:solidFill>
                            <a:srgbClr val="000000"/>
                          </a:solidFill>
                          <a:effectLst/>
                          <a:latin typeface="Calibri" panose="020F0502020204030204" pitchFamily="34" charset="0"/>
                        </a:rPr>
                        <a:t>Amazon</a:t>
                      </a:r>
                      <a:r>
                        <a:rPr lang="pt-BR" sz="800" b="0" i="0" u="none" strike="noStrike">
                          <a:solidFill>
                            <a:srgbClr val="000000"/>
                          </a:solidFill>
                          <a:effectLst/>
                          <a:latin typeface="Calibri" panose="020F0502020204030204" pitchFamily="34" charset="0"/>
                        </a:rPr>
                        <a:t> Music </a:t>
                      </a:r>
                      <a:r>
                        <a:rPr lang="pt-BR" sz="800" b="1" i="0" u="none" strike="noStrike">
                          <a:solidFill>
                            <a:schemeClr val="bg1"/>
                          </a:solidFill>
                          <a:effectLst/>
                          <a:highlight>
                            <a:srgbClr val="0000FF"/>
                          </a:highlight>
                          <a:latin typeface="Calibri" panose="020F0502020204030204" pitchFamily="34" charset="0"/>
                        </a:rPr>
                        <a:t>P</a:t>
                      </a:r>
                      <a:r>
                        <a:rPr lang="pt-BR" sz="800" b="1" i="0" u="none" strike="noStrike">
                          <a:solidFill>
                            <a:schemeClr val="bg1"/>
                          </a:solidFill>
                          <a:effectLst/>
                          <a:latin typeface="Calibri" panose="020F0502020204030204" pitchFamily="34" charset="0"/>
                        </a:rPr>
                        <a:t>  </a:t>
                      </a:r>
                      <a:r>
                        <a:rPr lang="pt-BR" sz="800" b="1" i="0" u="none" strike="noStrike">
                          <a:solidFill>
                            <a:schemeClr val="bg1"/>
                          </a:solidFill>
                          <a:effectLst/>
                          <a:highlight>
                            <a:srgbClr val="000000"/>
                          </a:highlight>
                          <a:latin typeface="Calibri" panose="020F0502020204030204" pitchFamily="34" charset="0"/>
                        </a:rPr>
                        <a:t>N</a:t>
                      </a:r>
                      <a:endParaRPr lang="pt-BR" sz="800" b="0" i="0" u="none" strike="noStrike">
                        <a:solidFill>
                          <a:srgbClr val="000000"/>
                        </a:solidFill>
                        <a:effectLst/>
                        <a:latin typeface="Calibri" panose="020F0502020204030204" pitchFamily="34" charset="0"/>
                      </a:endParaRPr>
                    </a:p>
                  </a:txBody>
                  <a:tcPr marL="7620" marR="7620" marT="762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1E6FF"/>
                    </a:solidFill>
                  </a:tcPr>
                </a:tc>
                <a:tc>
                  <a:txBody>
                    <a:bodyPr/>
                    <a:lstStyle/>
                    <a:p>
                      <a:pPr algn="ctr" fontAlgn="b"/>
                      <a:endParaRPr lang="pt-BR" sz="800" b="0" i="0" u="none" strike="noStrike">
                        <a:solidFill>
                          <a:srgbClr val="000000"/>
                        </a:solidFill>
                        <a:effectLst/>
                        <a:latin typeface="Calibri" panose="020F0502020204030204" pitchFamily="34" charset="0"/>
                      </a:endParaRPr>
                    </a:p>
                  </a:txBody>
                  <a:tcPr marL="7620" marR="7620" marT="762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lgn="ctr" fontAlgn="b"/>
                      <a:r>
                        <a:rPr lang="pt-BR" sz="800" b="0" i="0" u="none" strike="noStrike" err="1">
                          <a:solidFill>
                            <a:srgbClr val="000000"/>
                          </a:solidFill>
                          <a:effectLst/>
                          <a:latin typeface="Calibri" panose="020F0502020204030204" pitchFamily="34" charset="0"/>
                        </a:rPr>
                        <a:t>Amazon</a:t>
                      </a:r>
                      <a:r>
                        <a:rPr lang="pt-BR" sz="800" b="0" i="0" u="none" strike="noStrike">
                          <a:solidFill>
                            <a:srgbClr val="000000"/>
                          </a:solidFill>
                          <a:effectLst/>
                          <a:latin typeface="Calibri" panose="020F0502020204030204" pitchFamily="34" charset="0"/>
                        </a:rPr>
                        <a:t> Music </a:t>
                      </a:r>
                      <a:r>
                        <a:rPr lang="pt-BR" sz="800" b="1" i="0" u="none" strike="noStrike">
                          <a:solidFill>
                            <a:schemeClr val="bg1"/>
                          </a:solidFill>
                          <a:effectLst/>
                          <a:highlight>
                            <a:srgbClr val="0000FF"/>
                          </a:highlight>
                          <a:latin typeface="Calibri" panose="020F0502020204030204" pitchFamily="34" charset="0"/>
                        </a:rPr>
                        <a:t>P</a:t>
                      </a:r>
                      <a:r>
                        <a:rPr lang="pt-BR" sz="800" b="1" i="0" u="none" strike="noStrike">
                          <a:solidFill>
                            <a:schemeClr val="bg1"/>
                          </a:solidFill>
                          <a:effectLst/>
                          <a:latin typeface="Calibri" panose="020F0502020204030204" pitchFamily="34" charset="0"/>
                        </a:rPr>
                        <a:t>  </a:t>
                      </a:r>
                      <a:r>
                        <a:rPr lang="pt-BR" sz="800" b="1" i="0" u="none" strike="noStrike">
                          <a:solidFill>
                            <a:schemeClr val="bg1"/>
                          </a:solidFill>
                          <a:effectLst/>
                          <a:highlight>
                            <a:srgbClr val="000000"/>
                          </a:highlight>
                          <a:latin typeface="Calibri" panose="020F0502020204030204" pitchFamily="34" charset="0"/>
                        </a:rPr>
                        <a:t>N</a:t>
                      </a:r>
                      <a:endParaRPr lang="pt-BR" sz="800" b="0" i="0" u="none" strike="noStrike">
                        <a:solidFill>
                          <a:srgbClr val="000000"/>
                        </a:solidFill>
                        <a:effectLst/>
                        <a:latin typeface="Calibri" panose="020F0502020204030204" pitchFamily="34" charset="0"/>
                      </a:endParaRPr>
                    </a:p>
                  </a:txBody>
                  <a:tcPr marL="7620" marR="7620" marT="762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1E6FF"/>
                    </a:solidFill>
                  </a:tcPr>
                </a:tc>
                <a:tc>
                  <a:txBody>
                    <a:bodyPr/>
                    <a:lstStyle/>
                    <a:p>
                      <a:pPr algn="ctr" fontAlgn="b"/>
                      <a:endParaRPr lang="pt-BR" sz="800" b="0" i="0" u="none" strike="noStrike">
                        <a:solidFill>
                          <a:srgbClr val="000000"/>
                        </a:solidFill>
                        <a:effectLst/>
                        <a:latin typeface="Calibri" panose="020F0502020204030204" pitchFamily="34" charset="0"/>
                      </a:endParaRPr>
                    </a:p>
                  </a:txBody>
                  <a:tcPr marL="7620" marR="7620" marT="762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996374738"/>
                  </a:ext>
                </a:extLst>
              </a:tr>
              <a:tr h="84251">
                <a:tc gridSpan="2">
                  <a:txBody>
                    <a:bodyPr/>
                    <a:lstStyle/>
                    <a:p>
                      <a:pPr algn="ctr" fontAlgn="b"/>
                      <a:r>
                        <a:rPr lang="pt-BR" sz="800" b="0" i="0" u="none" strike="noStrike">
                          <a:solidFill>
                            <a:srgbClr val="000000"/>
                          </a:solidFill>
                          <a:effectLst/>
                          <a:latin typeface="Calibri" panose="020F0502020204030204" pitchFamily="34" charset="0"/>
                        </a:rPr>
                        <a:t>Odyssey Monitores </a:t>
                      </a:r>
                      <a:r>
                        <a:rPr lang="pt-BR" sz="800" b="1" i="0" u="none" strike="noStrike">
                          <a:solidFill>
                            <a:schemeClr val="bg1"/>
                          </a:solidFill>
                          <a:effectLst/>
                          <a:highlight>
                            <a:srgbClr val="0000FF"/>
                          </a:highlight>
                          <a:latin typeface="Calibri" panose="020F0502020204030204" pitchFamily="34" charset="0"/>
                        </a:rPr>
                        <a:t>P</a:t>
                      </a:r>
                      <a:r>
                        <a:rPr lang="pt-BR" sz="800" b="1" i="0" u="none" strike="noStrike">
                          <a:solidFill>
                            <a:schemeClr val="bg1"/>
                          </a:solidFill>
                          <a:effectLst/>
                          <a:latin typeface="Calibri" panose="020F0502020204030204" pitchFamily="34" charset="0"/>
                        </a:rPr>
                        <a:t>  </a:t>
                      </a:r>
                      <a:r>
                        <a:rPr lang="pt-BR" sz="800" b="1" i="0" u="none" strike="noStrike">
                          <a:solidFill>
                            <a:schemeClr val="bg1"/>
                          </a:solidFill>
                          <a:effectLst/>
                          <a:highlight>
                            <a:srgbClr val="000000"/>
                          </a:highlight>
                          <a:latin typeface="Calibri" panose="020F0502020204030204" pitchFamily="34" charset="0"/>
                        </a:rPr>
                        <a:t>O</a:t>
                      </a:r>
                      <a:r>
                        <a:rPr lang="pt-BR" sz="800" b="0" i="0" u="none" strike="noStrike">
                          <a:solidFill>
                            <a:srgbClr val="000000"/>
                          </a:solidFill>
                          <a:effectLst/>
                          <a:latin typeface="Calibri" panose="020F0502020204030204" pitchFamily="34" charset="0"/>
                        </a:rPr>
                        <a:t> </a:t>
                      </a:r>
                    </a:p>
                  </a:txBody>
                  <a:tcPr marL="7620" marR="7620" marT="762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0FFFA"/>
                    </a:solidFill>
                  </a:tcPr>
                </a:tc>
                <a:tc hMerge="1">
                  <a:txBody>
                    <a:bodyPr/>
                    <a:lstStyle/>
                    <a:p>
                      <a:endParaRPr lang="pt-BR"/>
                    </a:p>
                  </a:txBody>
                  <a:tcPr>
                    <a:lnL w="6350" cap="flat" cmpd="sng" algn="ctr">
                      <a:solidFill>
                        <a:srgbClr val="FFFFFF"/>
                      </a:solidFill>
                      <a:prstDash val="solid"/>
                      <a:round/>
                      <a:headEnd type="none" w="med" len="med"/>
                      <a:tailEnd type="none" w="med" len="med"/>
                    </a:lnL>
                    <a:lnT w="6350" cap="flat" cmpd="sng" algn="ctr">
                      <a:solidFill>
                        <a:srgbClr val="FFFFFF"/>
                      </a:solidFill>
                      <a:prstDash val="solid"/>
                      <a:round/>
                      <a:headEnd type="none" w="med" len="med"/>
                      <a:tailEnd type="none" w="med" len="med"/>
                    </a:lnT>
                  </a:tcPr>
                </a:tc>
                <a:tc>
                  <a:txBody>
                    <a:bodyPr/>
                    <a:lstStyle/>
                    <a:p>
                      <a:pPr algn="ctr" fontAlgn="b"/>
                      <a:endParaRPr lang="pt-BR" sz="800" b="0" i="0" u="none" strike="noStrike">
                        <a:solidFill>
                          <a:srgbClr val="000000"/>
                        </a:solidFill>
                        <a:effectLst/>
                        <a:latin typeface="Calibri" panose="020F0502020204030204" pitchFamily="34" charset="0"/>
                      </a:endParaRPr>
                    </a:p>
                  </a:txBody>
                  <a:tcPr marL="7620" marR="7620" marT="762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lgn="ctr" fontAlgn="b"/>
                      <a:r>
                        <a:rPr lang="pt-BR" sz="800" b="0" i="0" u="none" strike="noStrike">
                          <a:solidFill>
                            <a:srgbClr val="000000"/>
                          </a:solidFill>
                          <a:effectLst/>
                          <a:latin typeface="Calibri" panose="020F0502020204030204" pitchFamily="34" charset="0"/>
                        </a:rPr>
                        <a:t>Odyssey Monitores </a:t>
                      </a:r>
                      <a:r>
                        <a:rPr lang="pt-BR" sz="800" b="1" i="0" u="none" strike="noStrike">
                          <a:solidFill>
                            <a:schemeClr val="bg1"/>
                          </a:solidFill>
                          <a:effectLst/>
                          <a:highlight>
                            <a:srgbClr val="0000FF"/>
                          </a:highlight>
                          <a:latin typeface="Calibri" panose="020F0502020204030204" pitchFamily="34" charset="0"/>
                        </a:rPr>
                        <a:t>P</a:t>
                      </a:r>
                      <a:r>
                        <a:rPr lang="pt-BR" sz="800" b="1" i="0" u="none" strike="noStrike">
                          <a:solidFill>
                            <a:schemeClr val="bg1"/>
                          </a:solidFill>
                          <a:effectLst/>
                          <a:latin typeface="Calibri" panose="020F0502020204030204" pitchFamily="34" charset="0"/>
                        </a:rPr>
                        <a:t>  </a:t>
                      </a:r>
                      <a:r>
                        <a:rPr lang="pt-BR" sz="800" b="1" i="0" u="none" strike="noStrike">
                          <a:solidFill>
                            <a:schemeClr val="bg1"/>
                          </a:solidFill>
                          <a:effectLst/>
                          <a:highlight>
                            <a:srgbClr val="000000"/>
                          </a:highlight>
                          <a:latin typeface="Calibri" panose="020F0502020204030204" pitchFamily="34" charset="0"/>
                        </a:rPr>
                        <a:t>O</a:t>
                      </a:r>
                      <a:r>
                        <a:rPr lang="pt-BR" sz="800" b="0" i="0" u="none" strike="noStrike">
                          <a:solidFill>
                            <a:srgbClr val="000000"/>
                          </a:solidFill>
                          <a:effectLst/>
                          <a:latin typeface="Calibri" panose="020F0502020204030204" pitchFamily="34" charset="0"/>
                        </a:rPr>
                        <a:t> </a:t>
                      </a:r>
                    </a:p>
                  </a:txBody>
                  <a:tcPr marL="7620" marR="7620" marT="762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0FFFA"/>
                    </a:solidFill>
                  </a:tcPr>
                </a:tc>
                <a:extLst>
                  <a:ext uri="{0D108BD9-81ED-4DB2-BD59-A6C34878D82A}">
                    <a16:rowId xmlns:a16="http://schemas.microsoft.com/office/drawing/2014/main" val="44106764"/>
                  </a:ext>
                </a:extLst>
              </a:tr>
              <a:tr h="0">
                <a:tc gridSpan="2">
                  <a:txBody>
                    <a:bodyPr/>
                    <a:lstStyle/>
                    <a:p>
                      <a:pPr marL="0" marR="0" lvl="0" indent="0" algn="ctr" defTabSz="914400" eaLnBrk="1" fontAlgn="b" latinLnBrk="0" hangingPunct="1">
                        <a:lnSpc>
                          <a:spcPct val="100000"/>
                        </a:lnSpc>
                        <a:spcBef>
                          <a:spcPts val="0"/>
                        </a:spcBef>
                        <a:spcAft>
                          <a:spcPts val="0"/>
                        </a:spcAft>
                        <a:buClrTx/>
                        <a:buSzTx/>
                        <a:buFontTx/>
                        <a:buNone/>
                        <a:tabLst/>
                        <a:defRPr/>
                      </a:pPr>
                      <a:r>
                        <a:rPr kumimoji="0" lang="pt-BR" sz="800" b="0" i="0" u="none" strike="noStrike" kern="0" cap="none" spc="0" normalizeH="0" baseline="0" noProof="0">
                          <a:ln>
                            <a:noFill/>
                          </a:ln>
                          <a:solidFill>
                            <a:srgbClr val="000000"/>
                          </a:solidFill>
                          <a:effectLst/>
                          <a:uLnTx/>
                          <a:uFillTx/>
                          <a:latin typeface="Calibri" panose="020F0502020204030204" pitchFamily="34" charset="0"/>
                          <a:cs typeface="+mn-cs"/>
                        </a:rPr>
                        <a:t>Music Studio </a:t>
                      </a:r>
                      <a:r>
                        <a:rPr kumimoji="0" lang="pt-BR" sz="800" b="1" i="0" u="none" strike="noStrike" kern="0" cap="none" spc="0" normalizeH="0" baseline="0" noProof="0">
                          <a:ln>
                            <a:noFill/>
                          </a:ln>
                          <a:solidFill>
                            <a:srgbClr val="FFFFFF"/>
                          </a:solidFill>
                          <a:effectLst/>
                          <a:highlight>
                            <a:srgbClr val="0000FF"/>
                          </a:highlight>
                          <a:uLnTx/>
                          <a:uFillTx/>
                          <a:latin typeface="Calibri" panose="020F0502020204030204" pitchFamily="34" charset="0"/>
                          <a:cs typeface="+mn-cs"/>
                        </a:rPr>
                        <a:t>P</a:t>
                      </a:r>
                      <a:r>
                        <a:rPr kumimoji="0" lang="pt-BR" sz="800" b="1" i="0" u="none" strike="noStrike" kern="0" cap="none" spc="0" normalizeH="0" baseline="0" noProof="0">
                          <a:ln>
                            <a:noFill/>
                          </a:ln>
                          <a:solidFill>
                            <a:srgbClr val="FFFFFF"/>
                          </a:solidFill>
                          <a:effectLst/>
                          <a:uLnTx/>
                          <a:uFillTx/>
                          <a:latin typeface="Calibri" panose="020F0502020204030204" pitchFamily="34" charset="0"/>
                          <a:cs typeface="+mn-cs"/>
                        </a:rPr>
                        <a:t>  </a:t>
                      </a:r>
                      <a:r>
                        <a:rPr kumimoji="0" lang="pt-BR" sz="800" b="1" i="0" u="none" strike="noStrike" kern="0" cap="none" spc="0" normalizeH="0" baseline="0" noProof="0">
                          <a:ln>
                            <a:noFill/>
                          </a:ln>
                          <a:solidFill>
                            <a:srgbClr val="FFFFFF"/>
                          </a:solidFill>
                          <a:effectLst/>
                          <a:highlight>
                            <a:srgbClr val="000000"/>
                          </a:highlight>
                          <a:uLnTx/>
                          <a:uFillTx/>
                          <a:latin typeface="Calibri" panose="020F0502020204030204" pitchFamily="34" charset="0"/>
                          <a:cs typeface="+mn-cs"/>
                        </a:rPr>
                        <a:t>O</a:t>
                      </a:r>
                      <a:endParaRPr kumimoji="0" lang="pt-BR" sz="800" b="0" i="0" u="none" strike="noStrike" kern="0" cap="none" spc="0" normalizeH="0" baseline="0" noProof="0">
                        <a:ln>
                          <a:noFill/>
                        </a:ln>
                        <a:solidFill>
                          <a:srgbClr val="000000"/>
                        </a:solidFill>
                        <a:effectLst/>
                        <a:uLnTx/>
                        <a:uFillTx/>
                        <a:latin typeface="Calibri" panose="020F0502020204030204" pitchFamily="34" charset="0"/>
                        <a:cs typeface="+mn-cs"/>
                      </a:endParaRPr>
                    </a:p>
                  </a:txBody>
                  <a:tcPr marL="7620" marR="7620" marT="762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0FFFA"/>
                    </a:solidFill>
                  </a:tcPr>
                </a:tc>
                <a:tc hMerge="1">
                  <a:txBody>
                    <a:bodyPr/>
                    <a:lstStyle/>
                    <a:p>
                      <a:pPr algn="ctr" fontAlgn="b"/>
                      <a:endParaRPr lang="pt-BR" sz="800" b="0" i="0" u="none" strike="noStrike">
                        <a:solidFill>
                          <a:srgbClr val="000000"/>
                        </a:solidFill>
                        <a:effectLst/>
                        <a:latin typeface="Calibri" panose="020F0502020204030204" pitchFamily="34" charset="0"/>
                      </a:endParaRPr>
                    </a:p>
                  </a:txBody>
                  <a:tcPr marL="7620" marR="7620" marT="762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0FFFA"/>
                    </a:solidFill>
                  </a:tcPr>
                </a:tc>
                <a:tc>
                  <a:txBody>
                    <a:bodyPr/>
                    <a:lstStyle/>
                    <a:p>
                      <a:pPr algn="ctr" fontAlgn="b"/>
                      <a:endParaRPr lang="pt-BR" sz="800" b="0" i="0" u="none" strike="noStrike">
                        <a:solidFill>
                          <a:srgbClr val="000000"/>
                        </a:solidFill>
                        <a:effectLst/>
                        <a:latin typeface="Calibri" panose="020F0502020204030204" pitchFamily="34" charset="0"/>
                      </a:endParaRPr>
                    </a:p>
                  </a:txBody>
                  <a:tcPr marL="7620" marR="7620" marT="762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marL="0" marR="0" lvl="0" indent="0" algn="ctr" defTabSz="914400" eaLnBrk="1" fontAlgn="b" latinLnBrk="0" hangingPunct="1">
                        <a:lnSpc>
                          <a:spcPct val="100000"/>
                        </a:lnSpc>
                        <a:spcBef>
                          <a:spcPts val="0"/>
                        </a:spcBef>
                        <a:spcAft>
                          <a:spcPts val="0"/>
                        </a:spcAft>
                        <a:buClrTx/>
                        <a:buSzTx/>
                        <a:buFontTx/>
                        <a:buNone/>
                        <a:tabLst/>
                        <a:defRPr/>
                      </a:pPr>
                      <a:r>
                        <a:rPr lang="pt-BR" sz="800" b="0" i="0" u="none" strike="noStrike">
                          <a:solidFill>
                            <a:srgbClr val="000000"/>
                          </a:solidFill>
                          <a:effectLst/>
                          <a:latin typeface="Calibri" panose="020F0502020204030204" pitchFamily="34" charset="0"/>
                        </a:rPr>
                        <a:t>VD – </a:t>
                      </a:r>
                      <a:r>
                        <a:rPr lang="pt-BR" sz="800" b="0" i="0" u="none" strike="noStrike" err="1">
                          <a:solidFill>
                            <a:srgbClr val="000000"/>
                          </a:solidFill>
                          <a:effectLst/>
                          <a:latin typeface="Calibri" panose="020F0502020204030204" pitchFamily="34" charset="0"/>
                        </a:rPr>
                        <a:t>Handraiser</a:t>
                      </a:r>
                      <a:r>
                        <a:rPr lang="pt-BR" sz="800" b="0" i="0" u="none" strike="noStrike">
                          <a:solidFill>
                            <a:srgbClr val="000000"/>
                          </a:solidFill>
                          <a:effectLst/>
                          <a:latin typeface="Calibri" panose="020F0502020204030204" pitchFamily="34" charset="0"/>
                        </a:rPr>
                        <a:t>   </a:t>
                      </a:r>
                      <a:r>
                        <a:rPr lang="pt-BR" sz="800" b="1" i="0" u="none" strike="noStrike">
                          <a:solidFill>
                            <a:schemeClr val="bg1"/>
                          </a:solidFill>
                          <a:effectLst/>
                          <a:highlight>
                            <a:srgbClr val="0000FF"/>
                          </a:highlight>
                          <a:latin typeface="Calibri" panose="020F0502020204030204" pitchFamily="34" charset="0"/>
                        </a:rPr>
                        <a:t>G</a:t>
                      </a:r>
                      <a:r>
                        <a:rPr lang="pt-BR" sz="800" b="1" i="0" u="none" strike="noStrike">
                          <a:solidFill>
                            <a:schemeClr val="bg1"/>
                          </a:solidFill>
                          <a:effectLst/>
                          <a:latin typeface="Calibri" panose="020F0502020204030204" pitchFamily="34" charset="0"/>
                        </a:rPr>
                        <a:t>  </a:t>
                      </a:r>
                      <a:r>
                        <a:rPr lang="pt-BR" sz="800" b="1" i="0" u="none" strike="noStrike">
                          <a:solidFill>
                            <a:schemeClr val="bg1"/>
                          </a:solidFill>
                          <a:effectLst/>
                          <a:highlight>
                            <a:srgbClr val="000000"/>
                          </a:highlight>
                          <a:latin typeface="Calibri" panose="020F0502020204030204" pitchFamily="34" charset="0"/>
                        </a:rPr>
                        <a:t>O</a:t>
                      </a:r>
                      <a:r>
                        <a:rPr lang="pt-BR" sz="800" b="0" i="0" u="none" strike="noStrike">
                          <a:solidFill>
                            <a:srgbClr val="000000"/>
                          </a:solidFill>
                          <a:effectLst/>
                          <a:latin typeface="Calibri" panose="020F0502020204030204" pitchFamily="34" charset="0"/>
                        </a:rPr>
                        <a:t> </a:t>
                      </a:r>
                    </a:p>
                  </a:txBody>
                  <a:tcPr marL="7620" marR="7620" marT="762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0FFFA"/>
                    </a:solidFill>
                  </a:tcPr>
                </a:tc>
                <a:extLst>
                  <a:ext uri="{0D108BD9-81ED-4DB2-BD59-A6C34878D82A}">
                    <a16:rowId xmlns:a16="http://schemas.microsoft.com/office/drawing/2014/main" val="781588342"/>
                  </a:ext>
                </a:extLst>
              </a:tr>
              <a:tr h="100391">
                <a:tc>
                  <a:txBody>
                    <a:bodyPr/>
                    <a:lstStyle/>
                    <a:p>
                      <a:pPr marL="0" marR="0" lvl="0" indent="0" algn="ctr" defTabSz="914400" eaLnBrk="1" fontAlgn="b" latinLnBrk="0" hangingPunct="1">
                        <a:lnSpc>
                          <a:spcPct val="100000"/>
                        </a:lnSpc>
                        <a:spcBef>
                          <a:spcPts val="0"/>
                        </a:spcBef>
                        <a:spcAft>
                          <a:spcPts val="0"/>
                        </a:spcAft>
                        <a:buClrTx/>
                        <a:buSzTx/>
                        <a:buFontTx/>
                        <a:buNone/>
                        <a:tabLst/>
                        <a:defRPr/>
                      </a:pPr>
                      <a:endParaRPr kumimoji="0" lang="pt-BR" sz="800" b="0" i="0" u="none" strike="noStrike" kern="0" cap="none" spc="0" normalizeH="0" baseline="0" noProof="0">
                        <a:ln>
                          <a:noFill/>
                        </a:ln>
                        <a:solidFill>
                          <a:srgbClr val="000000"/>
                        </a:solidFill>
                        <a:effectLst/>
                        <a:uLnTx/>
                        <a:uFillTx/>
                        <a:latin typeface="Calibri" panose="020F0502020204030204" pitchFamily="34" charset="0"/>
                        <a:cs typeface="+mn-cs"/>
                      </a:endParaRPr>
                    </a:p>
                  </a:txBody>
                  <a:tcPr marL="7620" marR="7620" marT="762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c>
                  <a:txBody>
                    <a:bodyPr/>
                    <a:lstStyle/>
                    <a:p>
                      <a:endParaRPr lang="pt-BR" sz="800"/>
                    </a:p>
                  </a:txBody>
                  <a:tcPr marL="7620" marR="7620" marT="762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fontAlgn="b"/>
                      <a:endParaRPr lang="pt-BR" sz="800" b="0" i="0" u="none" strike="noStrike">
                        <a:solidFill>
                          <a:srgbClr val="000000"/>
                        </a:solidFill>
                        <a:effectLst/>
                        <a:latin typeface="Calibri" panose="020F0502020204030204" pitchFamily="34" charset="0"/>
                      </a:endParaRPr>
                    </a:p>
                  </a:txBody>
                  <a:tcPr marL="7620" marR="7620" marT="762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lgn="ctr" fontAlgn="b"/>
                      <a:r>
                        <a:rPr lang="pt-BR" sz="800" b="0" i="0" u="none" strike="noStrike">
                          <a:solidFill>
                            <a:srgbClr val="000000"/>
                          </a:solidFill>
                          <a:effectLst/>
                          <a:latin typeface="Calibri" panose="020F0502020204030204" pitchFamily="34" charset="0"/>
                        </a:rPr>
                        <a:t>Music Studio </a:t>
                      </a:r>
                      <a:r>
                        <a:rPr lang="pt-BR" sz="800" b="1" i="0" u="none" strike="noStrike">
                          <a:solidFill>
                            <a:schemeClr val="bg1"/>
                          </a:solidFill>
                          <a:effectLst/>
                          <a:highlight>
                            <a:srgbClr val="0000FF"/>
                          </a:highlight>
                          <a:latin typeface="Calibri" panose="020F0502020204030204" pitchFamily="34" charset="0"/>
                        </a:rPr>
                        <a:t>P</a:t>
                      </a:r>
                      <a:r>
                        <a:rPr lang="pt-BR" sz="800" b="1" i="0" u="none" strike="noStrike">
                          <a:solidFill>
                            <a:schemeClr val="bg1"/>
                          </a:solidFill>
                          <a:effectLst/>
                          <a:latin typeface="Calibri" panose="020F0502020204030204" pitchFamily="34" charset="0"/>
                        </a:rPr>
                        <a:t>  </a:t>
                      </a:r>
                      <a:r>
                        <a:rPr lang="pt-BR" sz="800" b="1" i="0" u="none" strike="noStrike">
                          <a:solidFill>
                            <a:schemeClr val="bg1"/>
                          </a:solidFill>
                          <a:effectLst/>
                          <a:highlight>
                            <a:srgbClr val="000000"/>
                          </a:highlight>
                          <a:latin typeface="Calibri" panose="020F0502020204030204" pitchFamily="34" charset="0"/>
                        </a:rPr>
                        <a:t>O</a:t>
                      </a:r>
                      <a:endParaRPr lang="pt-BR" sz="800" b="0" i="0" u="none" strike="noStrike">
                        <a:solidFill>
                          <a:srgbClr val="000000"/>
                        </a:solidFill>
                        <a:effectLst/>
                        <a:latin typeface="Calibri" panose="020F0502020204030204" pitchFamily="34" charset="0"/>
                      </a:endParaRPr>
                    </a:p>
                  </a:txBody>
                  <a:tcPr marL="7620" marR="7620" marT="762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0FFFA"/>
                    </a:solidFill>
                  </a:tcPr>
                </a:tc>
                <a:extLst>
                  <a:ext uri="{0D108BD9-81ED-4DB2-BD59-A6C34878D82A}">
                    <a16:rowId xmlns:a16="http://schemas.microsoft.com/office/drawing/2014/main" val="2890032227"/>
                  </a:ext>
                </a:extLst>
              </a:tr>
            </a:tbl>
          </a:graphicData>
        </a:graphic>
      </p:graphicFrame>
      <p:sp>
        <p:nvSpPr>
          <p:cNvPr id="171" name="Shape 38">
            <a:extLst>
              <a:ext uri="{FF2B5EF4-FFF2-40B4-BE49-F238E27FC236}">
                <a16:creationId xmlns:a16="http://schemas.microsoft.com/office/drawing/2014/main" id="{20C2243B-ACF6-4DBB-BB8A-8BD48D0236FB}"/>
              </a:ext>
            </a:extLst>
          </p:cNvPr>
          <p:cNvSpPr/>
          <p:nvPr/>
        </p:nvSpPr>
        <p:spPr>
          <a:xfrm>
            <a:off x="503975" y="4586420"/>
            <a:ext cx="2651761" cy="1992999"/>
          </a:xfrm>
          <a:prstGeom prst="roundRect">
            <a:avLst>
              <a:gd name="adj" fmla="val 4898"/>
            </a:avLst>
          </a:prstGeom>
          <a:solidFill>
            <a:srgbClr val="FFFFFF"/>
          </a:solidFill>
          <a:ln w="12700">
            <a:solidFill>
              <a:srgbClr val="E0E0E0"/>
            </a:solidFill>
            <a:prstDash val="solid"/>
          </a:ln>
        </p:spPr>
        <p:txBody>
          <a:bodyPr/>
          <a:lstStyle/>
          <a:p>
            <a:endParaRPr/>
          </a:p>
        </p:txBody>
      </p:sp>
      <p:sp>
        <p:nvSpPr>
          <p:cNvPr id="172" name="Text 39">
            <a:extLst>
              <a:ext uri="{FF2B5EF4-FFF2-40B4-BE49-F238E27FC236}">
                <a16:creationId xmlns:a16="http://schemas.microsoft.com/office/drawing/2014/main" id="{58EA8686-E6F2-4911-AD54-7A626EEFDCBF}"/>
              </a:ext>
            </a:extLst>
          </p:cNvPr>
          <p:cNvSpPr/>
          <p:nvPr/>
        </p:nvSpPr>
        <p:spPr>
          <a:xfrm>
            <a:off x="686856" y="4666729"/>
            <a:ext cx="2468880" cy="164592"/>
          </a:xfrm>
          <a:prstGeom prst="rect">
            <a:avLst/>
          </a:prstGeom>
          <a:noFill/>
          <a:ln/>
        </p:spPr>
        <p:txBody>
          <a:bodyPr wrap="square" lIns="0" tIns="0" rIns="0" bIns="0" rtlCol="0" anchor="ctr"/>
          <a:lstStyle/>
          <a:p>
            <a:pPr marL="0" indent="0">
              <a:buNone/>
            </a:pPr>
            <a:r>
              <a:rPr lang="en-US" sz="750" b="1">
                <a:solidFill>
                  <a:srgbClr val="111111"/>
                </a:solidFill>
              </a:rPr>
              <a:t>HANDRAISER</a:t>
            </a:r>
            <a:endParaRPr lang="en-US" sz="750"/>
          </a:p>
        </p:txBody>
      </p:sp>
      <p:sp>
        <p:nvSpPr>
          <p:cNvPr id="173" name="Text 40">
            <a:extLst>
              <a:ext uri="{FF2B5EF4-FFF2-40B4-BE49-F238E27FC236}">
                <a16:creationId xmlns:a16="http://schemas.microsoft.com/office/drawing/2014/main" id="{8DC0B4C5-0EC5-48E9-9D69-C6903AC310E5}"/>
              </a:ext>
            </a:extLst>
          </p:cNvPr>
          <p:cNvSpPr/>
          <p:nvPr/>
        </p:nvSpPr>
        <p:spPr>
          <a:xfrm>
            <a:off x="686856" y="4819152"/>
            <a:ext cx="2153640" cy="438912"/>
          </a:xfrm>
          <a:prstGeom prst="rect">
            <a:avLst/>
          </a:prstGeom>
          <a:noFill/>
          <a:ln/>
        </p:spPr>
        <p:txBody>
          <a:bodyPr wrap="square" lIns="0" tIns="0" rIns="0" bIns="0" rtlCol="0" anchor="t">
            <a:normAutofit/>
          </a:bodyPr>
          <a:lstStyle/>
          <a:p>
            <a:pPr marL="0" indent="0">
              <a:buNone/>
            </a:pPr>
            <a:r>
              <a:rPr lang="pt-BR" sz="1200" b="1"/>
              <a:t>Capture and </a:t>
            </a:r>
            <a:r>
              <a:rPr lang="pt-BR" sz="1200" b="1" err="1"/>
              <a:t>qualify</a:t>
            </a:r>
            <a:r>
              <a:rPr lang="pt-BR" sz="1200" b="1"/>
              <a:t> </a:t>
            </a:r>
            <a:r>
              <a:rPr lang="pt-BR" sz="1200" b="1" err="1"/>
              <a:t>intent</a:t>
            </a:r>
            <a:endParaRPr lang="pt-BR" sz="1200"/>
          </a:p>
        </p:txBody>
      </p:sp>
      <p:sp>
        <p:nvSpPr>
          <p:cNvPr id="174" name="Text 41">
            <a:extLst>
              <a:ext uri="{FF2B5EF4-FFF2-40B4-BE49-F238E27FC236}">
                <a16:creationId xmlns:a16="http://schemas.microsoft.com/office/drawing/2014/main" id="{E5BC3026-E5B1-4F44-9148-4D2ED1BC8B1F}"/>
              </a:ext>
            </a:extLst>
          </p:cNvPr>
          <p:cNvSpPr/>
          <p:nvPr/>
        </p:nvSpPr>
        <p:spPr>
          <a:xfrm>
            <a:off x="686856" y="5187729"/>
            <a:ext cx="1645920" cy="155448"/>
          </a:xfrm>
          <a:prstGeom prst="rect">
            <a:avLst/>
          </a:prstGeom>
          <a:noFill/>
          <a:ln/>
        </p:spPr>
        <p:txBody>
          <a:bodyPr wrap="square" lIns="0" tIns="0" rIns="0" bIns="0" rtlCol="0" anchor="ctr"/>
          <a:lstStyle/>
          <a:p>
            <a:pPr marL="0" indent="0">
              <a:buNone/>
            </a:pPr>
            <a:r>
              <a:rPr lang="en-US" sz="950" b="1">
                <a:solidFill>
                  <a:srgbClr val="123A8F"/>
                </a:solidFill>
              </a:rPr>
              <a:t>VD One</a:t>
            </a:r>
            <a:endParaRPr lang="en-US" sz="950"/>
          </a:p>
        </p:txBody>
      </p:sp>
      <p:sp>
        <p:nvSpPr>
          <p:cNvPr id="175" name="Text 42">
            <a:extLst>
              <a:ext uri="{FF2B5EF4-FFF2-40B4-BE49-F238E27FC236}">
                <a16:creationId xmlns:a16="http://schemas.microsoft.com/office/drawing/2014/main" id="{4663ADDF-9F5C-40CB-BAB0-28F9A480369B}"/>
              </a:ext>
            </a:extLst>
          </p:cNvPr>
          <p:cNvSpPr/>
          <p:nvPr/>
        </p:nvSpPr>
        <p:spPr>
          <a:xfrm>
            <a:off x="686856" y="5461541"/>
            <a:ext cx="731520" cy="164592"/>
          </a:xfrm>
          <a:prstGeom prst="rect">
            <a:avLst/>
          </a:prstGeom>
          <a:noFill/>
          <a:ln/>
        </p:spPr>
        <p:txBody>
          <a:bodyPr wrap="square" lIns="0" tIns="0" rIns="0" bIns="0" rtlCol="0" anchor="ctr"/>
          <a:lstStyle/>
          <a:p>
            <a:pPr marL="0" indent="0">
              <a:buNone/>
            </a:pPr>
            <a:r>
              <a:rPr lang="en-US" sz="1300" b="1">
                <a:solidFill>
                  <a:srgbClr val="008A3D"/>
                </a:solidFill>
              </a:rPr>
              <a:t>2.17x</a:t>
            </a:r>
            <a:endParaRPr lang="en-US" sz="1300"/>
          </a:p>
        </p:txBody>
      </p:sp>
      <p:sp>
        <p:nvSpPr>
          <p:cNvPr id="176" name="Text 43">
            <a:extLst>
              <a:ext uri="{FF2B5EF4-FFF2-40B4-BE49-F238E27FC236}">
                <a16:creationId xmlns:a16="http://schemas.microsoft.com/office/drawing/2014/main" id="{B97E14B1-0730-43F6-B1A9-3CAE6DC0D07F}"/>
              </a:ext>
            </a:extLst>
          </p:cNvPr>
          <p:cNvSpPr/>
          <p:nvPr/>
        </p:nvSpPr>
        <p:spPr>
          <a:xfrm>
            <a:off x="1445808" y="5461541"/>
            <a:ext cx="1508760" cy="164592"/>
          </a:xfrm>
          <a:prstGeom prst="rect">
            <a:avLst/>
          </a:prstGeom>
          <a:noFill/>
          <a:ln/>
        </p:spPr>
        <p:txBody>
          <a:bodyPr wrap="square" lIns="0" tIns="0" rIns="0" bIns="0" rtlCol="0" anchor="ctr"/>
          <a:lstStyle/>
          <a:p>
            <a:pPr marL="0" indent="0">
              <a:buNone/>
            </a:pPr>
            <a:r>
              <a:rPr lang="en-US" sz="820">
                <a:solidFill>
                  <a:srgbClr val="4F4F4F"/>
                </a:solidFill>
              </a:rPr>
              <a:t>Full Forms vs. Target</a:t>
            </a:r>
            <a:endParaRPr lang="en-US" sz="820"/>
          </a:p>
        </p:txBody>
      </p:sp>
      <p:sp>
        <p:nvSpPr>
          <p:cNvPr id="177" name="Shape 44">
            <a:extLst>
              <a:ext uri="{FF2B5EF4-FFF2-40B4-BE49-F238E27FC236}">
                <a16:creationId xmlns:a16="http://schemas.microsoft.com/office/drawing/2014/main" id="{36D555E9-9B3F-4DA2-9659-BE19CBB6DEF1}"/>
              </a:ext>
            </a:extLst>
          </p:cNvPr>
          <p:cNvSpPr/>
          <p:nvPr/>
        </p:nvSpPr>
        <p:spPr>
          <a:xfrm>
            <a:off x="686856" y="5760245"/>
            <a:ext cx="1024128" cy="219456"/>
          </a:xfrm>
          <a:prstGeom prst="roundRect">
            <a:avLst>
              <a:gd name="adj" fmla="val 25000"/>
            </a:avLst>
          </a:prstGeom>
          <a:solidFill>
            <a:srgbClr val="008A3D"/>
          </a:solidFill>
          <a:ln w="12700">
            <a:solidFill>
              <a:srgbClr val="008A3D"/>
            </a:solidFill>
            <a:prstDash val="solid"/>
          </a:ln>
        </p:spPr>
        <p:txBody>
          <a:bodyPr/>
          <a:lstStyle/>
          <a:p>
            <a:endParaRPr/>
          </a:p>
        </p:txBody>
      </p:sp>
      <p:sp>
        <p:nvSpPr>
          <p:cNvPr id="178" name="Text 45">
            <a:extLst>
              <a:ext uri="{FF2B5EF4-FFF2-40B4-BE49-F238E27FC236}">
                <a16:creationId xmlns:a16="http://schemas.microsoft.com/office/drawing/2014/main" id="{3BB3C7BA-04E0-4631-BCE1-D48EE2F2DC72}"/>
              </a:ext>
            </a:extLst>
          </p:cNvPr>
          <p:cNvSpPr/>
          <p:nvPr/>
        </p:nvSpPr>
        <p:spPr>
          <a:xfrm>
            <a:off x="732576" y="5810537"/>
            <a:ext cx="932688" cy="109728"/>
          </a:xfrm>
          <a:prstGeom prst="rect">
            <a:avLst/>
          </a:prstGeom>
          <a:noFill/>
          <a:ln/>
        </p:spPr>
        <p:txBody>
          <a:bodyPr wrap="square" lIns="0" tIns="0" rIns="0" bIns="0" rtlCol="0" anchor="ctr">
            <a:normAutofit lnSpcReduction="10000"/>
          </a:bodyPr>
          <a:lstStyle/>
          <a:p>
            <a:pPr marL="0" indent="0" algn="ctr">
              <a:buNone/>
            </a:pPr>
            <a:r>
              <a:rPr lang="en-US" sz="750" b="1">
                <a:solidFill>
                  <a:srgbClr val="FFFFFF"/>
                </a:solidFill>
              </a:rPr>
              <a:t>ACIMA DO TARGET</a:t>
            </a:r>
            <a:endParaRPr lang="en-US" sz="750"/>
          </a:p>
        </p:txBody>
      </p:sp>
      <p:sp>
        <p:nvSpPr>
          <p:cNvPr id="179" name="Text 46">
            <a:extLst>
              <a:ext uri="{FF2B5EF4-FFF2-40B4-BE49-F238E27FC236}">
                <a16:creationId xmlns:a16="http://schemas.microsoft.com/office/drawing/2014/main" id="{268CEFD4-88B7-42A5-87EB-56FDAF94F524}"/>
              </a:ext>
            </a:extLst>
          </p:cNvPr>
          <p:cNvSpPr/>
          <p:nvPr/>
        </p:nvSpPr>
        <p:spPr>
          <a:xfrm>
            <a:off x="686856" y="6153437"/>
            <a:ext cx="1833224" cy="256032"/>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ptos" panose="020B0004020202020204"/>
                <a:ea typeface="+mn-ea"/>
                <a:cs typeface="+mn-cs"/>
              </a:rPr>
              <a:t>Target exceeded, with stronger capture quality and higher Full Form volume.</a:t>
            </a:r>
          </a:p>
        </p:txBody>
      </p:sp>
      <p:sp>
        <p:nvSpPr>
          <p:cNvPr id="180" name="Shape 47">
            <a:extLst>
              <a:ext uri="{FF2B5EF4-FFF2-40B4-BE49-F238E27FC236}">
                <a16:creationId xmlns:a16="http://schemas.microsoft.com/office/drawing/2014/main" id="{70BB627F-9B64-43F8-A90C-AF8DA2420299}"/>
              </a:ext>
            </a:extLst>
          </p:cNvPr>
          <p:cNvSpPr/>
          <p:nvPr/>
        </p:nvSpPr>
        <p:spPr>
          <a:xfrm>
            <a:off x="3241288" y="4586420"/>
            <a:ext cx="2747473" cy="1999630"/>
          </a:xfrm>
          <a:prstGeom prst="roundRect">
            <a:avLst>
              <a:gd name="adj" fmla="val 4898"/>
            </a:avLst>
          </a:prstGeom>
          <a:solidFill>
            <a:srgbClr val="FFFFFF"/>
          </a:solidFill>
          <a:ln w="12700">
            <a:solidFill>
              <a:srgbClr val="E0E0E0"/>
            </a:solidFill>
            <a:prstDash val="solid"/>
          </a:ln>
        </p:spPr>
        <p:txBody>
          <a:bodyPr/>
          <a:lstStyle/>
          <a:p>
            <a:endParaRPr/>
          </a:p>
        </p:txBody>
      </p:sp>
      <p:sp>
        <p:nvSpPr>
          <p:cNvPr id="181" name="Text 48">
            <a:extLst>
              <a:ext uri="{FF2B5EF4-FFF2-40B4-BE49-F238E27FC236}">
                <a16:creationId xmlns:a16="http://schemas.microsoft.com/office/drawing/2014/main" id="{B223D2CE-3A66-43CE-AC24-F380AD223150}"/>
              </a:ext>
            </a:extLst>
          </p:cNvPr>
          <p:cNvSpPr/>
          <p:nvPr/>
        </p:nvSpPr>
        <p:spPr>
          <a:xfrm>
            <a:off x="3424169" y="4666729"/>
            <a:ext cx="2468880" cy="164592"/>
          </a:xfrm>
          <a:prstGeom prst="rect">
            <a:avLst/>
          </a:prstGeom>
          <a:noFill/>
          <a:ln/>
        </p:spPr>
        <p:txBody>
          <a:bodyPr wrap="square" lIns="0" tIns="0" rIns="0" bIns="0" rtlCol="0" anchor="ctr"/>
          <a:lstStyle/>
          <a:p>
            <a:pPr marL="0" indent="0">
              <a:buNone/>
            </a:pPr>
            <a:r>
              <a:rPr lang="en-US" sz="750" b="1">
                <a:solidFill>
                  <a:srgbClr val="111111"/>
                </a:solidFill>
              </a:rPr>
              <a:t>AWARENESS &amp; ENGAGEMENT</a:t>
            </a:r>
            <a:endParaRPr lang="en-US" sz="750"/>
          </a:p>
        </p:txBody>
      </p:sp>
      <p:sp>
        <p:nvSpPr>
          <p:cNvPr id="182" name="Text 49">
            <a:extLst>
              <a:ext uri="{FF2B5EF4-FFF2-40B4-BE49-F238E27FC236}">
                <a16:creationId xmlns:a16="http://schemas.microsoft.com/office/drawing/2014/main" id="{F0FEE615-E04B-4DDA-B829-D740430776EC}"/>
              </a:ext>
            </a:extLst>
          </p:cNvPr>
          <p:cNvSpPr/>
          <p:nvPr/>
        </p:nvSpPr>
        <p:spPr>
          <a:xfrm>
            <a:off x="3424169" y="4819152"/>
            <a:ext cx="2153640" cy="438912"/>
          </a:xfrm>
          <a:prstGeom prst="rect">
            <a:avLst/>
          </a:prstGeom>
          <a:noFill/>
          <a:ln/>
        </p:spPr>
        <p:txBody>
          <a:bodyPr wrap="square" lIns="0" tIns="0" rIns="0" bIns="0" rtlCol="0" anchor="t">
            <a:normAutofit/>
          </a:bodyPr>
          <a:lstStyle/>
          <a:p>
            <a:pPr marL="0" indent="0">
              <a:buNone/>
            </a:pPr>
            <a:r>
              <a:rPr lang="en-US" sz="1200" b="1"/>
              <a:t>Build awareness and drive interaction</a:t>
            </a:r>
            <a:endParaRPr lang="en-US" sz="1200"/>
          </a:p>
        </p:txBody>
      </p:sp>
      <p:sp>
        <p:nvSpPr>
          <p:cNvPr id="183" name="Text 50">
            <a:extLst>
              <a:ext uri="{FF2B5EF4-FFF2-40B4-BE49-F238E27FC236}">
                <a16:creationId xmlns:a16="http://schemas.microsoft.com/office/drawing/2014/main" id="{57C632B2-6083-4D38-92E5-EF3A93E0C152}"/>
              </a:ext>
            </a:extLst>
          </p:cNvPr>
          <p:cNvSpPr/>
          <p:nvPr/>
        </p:nvSpPr>
        <p:spPr>
          <a:xfrm>
            <a:off x="3424169" y="5187729"/>
            <a:ext cx="2377440" cy="182880"/>
          </a:xfrm>
          <a:prstGeom prst="rect">
            <a:avLst/>
          </a:prstGeom>
          <a:noFill/>
          <a:ln/>
        </p:spPr>
        <p:txBody>
          <a:bodyPr wrap="square" lIns="0" tIns="0" rIns="0" bIns="0" rtlCol="0" anchor="ctr">
            <a:normAutofit/>
          </a:bodyPr>
          <a:lstStyle/>
          <a:p>
            <a:pPr marL="0" indent="0">
              <a:buNone/>
            </a:pPr>
            <a:r>
              <a:rPr lang="en-US" sz="900" b="1">
                <a:solidFill>
                  <a:srgbClr val="123A8F"/>
                </a:solidFill>
              </a:rPr>
              <a:t>S26 FE | Book6 | Music Studio</a:t>
            </a:r>
            <a:endParaRPr lang="en-US" sz="900"/>
          </a:p>
        </p:txBody>
      </p:sp>
      <p:sp>
        <p:nvSpPr>
          <p:cNvPr id="184" name="Shape 55">
            <a:extLst>
              <a:ext uri="{FF2B5EF4-FFF2-40B4-BE49-F238E27FC236}">
                <a16:creationId xmlns:a16="http://schemas.microsoft.com/office/drawing/2014/main" id="{80A4A54F-A062-4893-BE70-084D76E1182B}"/>
              </a:ext>
            </a:extLst>
          </p:cNvPr>
          <p:cNvSpPr/>
          <p:nvPr/>
        </p:nvSpPr>
        <p:spPr>
          <a:xfrm>
            <a:off x="6065722" y="4609281"/>
            <a:ext cx="2514600" cy="1970138"/>
          </a:xfrm>
          <a:prstGeom prst="roundRect">
            <a:avLst>
              <a:gd name="adj" fmla="val 4898"/>
            </a:avLst>
          </a:prstGeom>
          <a:solidFill>
            <a:srgbClr val="FFFFFF"/>
          </a:solidFill>
          <a:ln w="12700">
            <a:solidFill>
              <a:srgbClr val="E0E0E0"/>
            </a:solidFill>
            <a:prstDash val="solid"/>
          </a:ln>
        </p:spPr>
        <p:txBody>
          <a:bodyPr/>
          <a:lstStyle/>
          <a:p>
            <a:endParaRPr/>
          </a:p>
        </p:txBody>
      </p:sp>
      <p:sp>
        <p:nvSpPr>
          <p:cNvPr id="185" name="Text 57">
            <a:extLst>
              <a:ext uri="{FF2B5EF4-FFF2-40B4-BE49-F238E27FC236}">
                <a16:creationId xmlns:a16="http://schemas.microsoft.com/office/drawing/2014/main" id="{5D3528CA-23AD-4446-AF72-65AFC4E95BC2}"/>
              </a:ext>
            </a:extLst>
          </p:cNvPr>
          <p:cNvSpPr/>
          <p:nvPr/>
        </p:nvSpPr>
        <p:spPr>
          <a:xfrm>
            <a:off x="6248602" y="4819152"/>
            <a:ext cx="2153640" cy="438912"/>
          </a:xfrm>
          <a:prstGeom prst="rect">
            <a:avLst/>
          </a:prstGeom>
          <a:noFill/>
          <a:ln/>
        </p:spPr>
        <p:txBody>
          <a:bodyPr wrap="square" lIns="0" tIns="0" rIns="0" bIns="0" rtlCol="0" anchor="t">
            <a:normAutofit/>
          </a:bodyPr>
          <a:lstStyle/>
          <a:p>
            <a:pPr marL="0" indent="0">
              <a:buNone/>
            </a:pPr>
            <a:r>
              <a:rPr lang="en-US" sz="1200" b="1"/>
              <a:t>Sustain the launch and advance the journey</a:t>
            </a:r>
            <a:endParaRPr lang="en-US" sz="1200"/>
          </a:p>
        </p:txBody>
      </p:sp>
      <p:sp>
        <p:nvSpPr>
          <p:cNvPr id="186" name="Text 58">
            <a:extLst>
              <a:ext uri="{FF2B5EF4-FFF2-40B4-BE49-F238E27FC236}">
                <a16:creationId xmlns:a16="http://schemas.microsoft.com/office/drawing/2014/main" id="{F5229CEE-1A71-40BB-9462-2CBDF986D092}"/>
              </a:ext>
            </a:extLst>
          </p:cNvPr>
          <p:cNvSpPr/>
          <p:nvPr/>
        </p:nvSpPr>
        <p:spPr>
          <a:xfrm>
            <a:off x="6248602" y="5210589"/>
            <a:ext cx="1645920" cy="155448"/>
          </a:xfrm>
          <a:prstGeom prst="rect">
            <a:avLst/>
          </a:prstGeom>
          <a:noFill/>
          <a:ln/>
        </p:spPr>
        <p:txBody>
          <a:bodyPr wrap="square" lIns="0" tIns="0" rIns="0" bIns="0" rtlCol="0" anchor="ctr"/>
          <a:lstStyle/>
          <a:p>
            <a:pPr marL="0" indent="0">
              <a:buNone/>
            </a:pPr>
            <a:r>
              <a:rPr lang="en-US" sz="950" b="1">
                <a:solidFill>
                  <a:srgbClr val="123A8F"/>
                </a:solidFill>
              </a:rPr>
              <a:t>Q8H8B8</a:t>
            </a:r>
            <a:endParaRPr lang="en-US" sz="950"/>
          </a:p>
        </p:txBody>
      </p:sp>
      <p:sp>
        <p:nvSpPr>
          <p:cNvPr id="187" name="Text 59">
            <a:extLst>
              <a:ext uri="{FF2B5EF4-FFF2-40B4-BE49-F238E27FC236}">
                <a16:creationId xmlns:a16="http://schemas.microsoft.com/office/drawing/2014/main" id="{C5D42CB4-2F4D-4949-A920-346BDF8D5807}"/>
              </a:ext>
            </a:extLst>
          </p:cNvPr>
          <p:cNvSpPr/>
          <p:nvPr/>
        </p:nvSpPr>
        <p:spPr>
          <a:xfrm>
            <a:off x="6248602" y="5461541"/>
            <a:ext cx="731520" cy="164592"/>
          </a:xfrm>
          <a:prstGeom prst="rect">
            <a:avLst/>
          </a:prstGeom>
          <a:noFill/>
          <a:ln/>
        </p:spPr>
        <p:txBody>
          <a:bodyPr wrap="square" lIns="0" tIns="0" rIns="0" bIns="0" rtlCol="0" anchor="ctr"/>
          <a:lstStyle/>
          <a:p>
            <a:pPr marL="0" indent="0">
              <a:buNone/>
            </a:pPr>
            <a:r>
              <a:rPr lang="en-US" sz="1300" b="1">
                <a:solidFill>
                  <a:srgbClr val="008A3D"/>
                </a:solidFill>
              </a:rPr>
              <a:t>3.3x</a:t>
            </a:r>
            <a:endParaRPr lang="en-US" sz="1300"/>
          </a:p>
        </p:txBody>
      </p:sp>
      <p:sp>
        <p:nvSpPr>
          <p:cNvPr id="188" name="Text 60">
            <a:extLst>
              <a:ext uri="{FF2B5EF4-FFF2-40B4-BE49-F238E27FC236}">
                <a16:creationId xmlns:a16="http://schemas.microsoft.com/office/drawing/2014/main" id="{D28F9E73-3CE4-4BF7-8377-D0215385626F}"/>
              </a:ext>
            </a:extLst>
          </p:cNvPr>
          <p:cNvSpPr/>
          <p:nvPr/>
        </p:nvSpPr>
        <p:spPr>
          <a:xfrm>
            <a:off x="7007554" y="5461541"/>
            <a:ext cx="1234440" cy="164592"/>
          </a:xfrm>
          <a:prstGeom prst="rect">
            <a:avLst/>
          </a:prstGeom>
          <a:noFill/>
          <a:ln/>
        </p:spPr>
        <p:txBody>
          <a:bodyPr wrap="square" lIns="0" tIns="0" rIns="0" bIns="0" rtlCol="0" anchor="ctr"/>
          <a:lstStyle/>
          <a:p>
            <a:pPr marL="0" indent="0">
              <a:buNone/>
            </a:pPr>
            <a:r>
              <a:rPr lang="pt-BR" sz="820" err="1"/>
              <a:t>Campaign</a:t>
            </a:r>
            <a:r>
              <a:rPr lang="pt-BR" sz="820"/>
              <a:t> A/R</a:t>
            </a:r>
          </a:p>
        </p:txBody>
      </p:sp>
      <p:sp>
        <p:nvSpPr>
          <p:cNvPr id="189" name="Shape 61">
            <a:extLst>
              <a:ext uri="{FF2B5EF4-FFF2-40B4-BE49-F238E27FC236}">
                <a16:creationId xmlns:a16="http://schemas.microsoft.com/office/drawing/2014/main" id="{CE8F6ED2-8B44-4100-8057-0B969A3D151E}"/>
              </a:ext>
            </a:extLst>
          </p:cNvPr>
          <p:cNvSpPr/>
          <p:nvPr/>
        </p:nvSpPr>
        <p:spPr>
          <a:xfrm>
            <a:off x="6248602" y="5783105"/>
            <a:ext cx="1024128" cy="219456"/>
          </a:xfrm>
          <a:prstGeom prst="roundRect">
            <a:avLst>
              <a:gd name="adj" fmla="val 25000"/>
            </a:avLst>
          </a:prstGeom>
          <a:solidFill>
            <a:srgbClr val="008A3D"/>
          </a:solidFill>
          <a:ln w="12700">
            <a:solidFill>
              <a:srgbClr val="008A3D"/>
            </a:solidFill>
            <a:prstDash val="solid"/>
          </a:ln>
        </p:spPr>
        <p:txBody>
          <a:bodyPr/>
          <a:lstStyle/>
          <a:p>
            <a:endParaRPr/>
          </a:p>
        </p:txBody>
      </p:sp>
      <p:sp>
        <p:nvSpPr>
          <p:cNvPr id="190" name="Text 62">
            <a:extLst>
              <a:ext uri="{FF2B5EF4-FFF2-40B4-BE49-F238E27FC236}">
                <a16:creationId xmlns:a16="http://schemas.microsoft.com/office/drawing/2014/main" id="{79A0D922-3E28-43E4-85DB-611B977664DC}"/>
              </a:ext>
            </a:extLst>
          </p:cNvPr>
          <p:cNvSpPr/>
          <p:nvPr/>
        </p:nvSpPr>
        <p:spPr>
          <a:xfrm>
            <a:off x="6294322" y="5833397"/>
            <a:ext cx="932688" cy="109728"/>
          </a:xfrm>
          <a:prstGeom prst="rect">
            <a:avLst/>
          </a:prstGeom>
          <a:noFill/>
          <a:ln/>
        </p:spPr>
        <p:txBody>
          <a:bodyPr wrap="square" lIns="0" tIns="0" rIns="0" bIns="0" rtlCol="0" anchor="ctr">
            <a:normAutofit lnSpcReduction="10000"/>
          </a:bodyPr>
          <a:lstStyle/>
          <a:p>
            <a:pPr marL="0" indent="0" algn="ctr">
              <a:buNone/>
            </a:pPr>
            <a:r>
              <a:rPr lang="en-US" sz="750" b="1">
                <a:solidFill>
                  <a:srgbClr val="FFFFFF"/>
                </a:solidFill>
              </a:rPr>
              <a:t>ACIMA DO TARGET</a:t>
            </a:r>
            <a:endParaRPr lang="en-US" sz="750"/>
          </a:p>
        </p:txBody>
      </p:sp>
      <p:sp>
        <p:nvSpPr>
          <p:cNvPr id="191" name="Text 63">
            <a:extLst>
              <a:ext uri="{FF2B5EF4-FFF2-40B4-BE49-F238E27FC236}">
                <a16:creationId xmlns:a16="http://schemas.microsoft.com/office/drawing/2014/main" id="{22E32C2F-E60E-4AE1-98AF-018357915C08}"/>
              </a:ext>
            </a:extLst>
          </p:cNvPr>
          <p:cNvSpPr/>
          <p:nvPr/>
        </p:nvSpPr>
        <p:spPr>
          <a:xfrm>
            <a:off x="6248602" y="6176297"/>
            <a:ext cx="1527388" cy="256032"/>
          </a:xfrm>
          <a:prstGeom prst="rect">
            <a:avLst/>
          </a:prstGeom>
          <a:noFill/>
          <a:ln/>
        </p:spPr>
        <p:txBody>
          <a:bodyPr wrap="square" lIns="0" tIns="0" rIns="0" bIns="0" rtlCol="0" anchor="ctr">
            <a:normAutofit/>
          </a:bodyPr>
          <a:lstStyle/>
          <a:p>
            <a:pPr marL="0" indent="0">
              <a:buNone/>
            </a:pPr>
            <a:r>
              <a:rPr lang="en-US" sz="800"/>
              <a:t>Main journey of the month, with strong activation across the funnel.</a:t>
            </a:r>
          </a:p>
        </p:txBody>
      </p:sp>
      <p:sp>
        <p:nvSpPr>
          <p:cNvPr id="192" name="Rounded Rectangle 75">
            <a:extLst>
              <a:ext uri="{FF2B5EF4-FFF2-40B4-BE49-F238E27FC236}">
                <a16:creationId xmlns:a16="http://schemas.microsoft.com/office/drawing/2014/main" id="{B723F323-8157-4A06-B5BF-3D67312B0EBC}"/>
              </a:ext>
            </a:extLst>
          </p:cNvPr>
          <p:cNvSpPr/>
          <p:nvPr/>
        </p:nvSpPr>
        <p:spPr>
          <a:xfrm>
            <a:off x="3424169" y="5392069"/>
            <a:ext cx="1325880" cy="219456"/>
          </a:xfrm>
          <a:prstGeom prst="roundRect">
            <a:avLst>
              <a:gd name="adj" fmla="val 8000"/>
            </a:avLst>
          </a:prstGeom>
          <a:solidFill>
            <a:srgbClr val="F5A623"/>
          </a:solidFill>
          <a:ln w="762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TextBox 76">
            <a:extLst>
              <a:ext uri="{FF2B5EF4-FFF2-40B4-BE49-F238E27FC236}">
                <a16:creationId xmlns:a16="http://schemas.microsoft.com/office/drawing/2014/main" id="{768CCD21-47C9-4F01-80D0-9C5CEF84F1A9}"/>
              </a:ext>
            </a:extLst>
          </p:cNvPr>
          <p:cNvSpPr txBox="1"/>
          <p:nvPr/>
        </p:nvSpPr>
        <p:spPr>
          <a:xfrm>
            <a:off x="3479032" y="5446933"/>
            <a:ext cx="1216152" cy="109728"/>
          </a:xfrm>
          <a:prstGeom prst="rect">
            <a:avLst/>
          </a:prstGeom>
          <a:noFill/>
        </p:spPr>
        <p:txBody>
          <a:bodyPr wrap="none" lIns="0" tIns="0" rIns="0" bIns="0" anchor="ctr">
            <a:spAutoFit/>
          </a:bodyPr>
          <a:lstStyle/>
          <a:p>
            <a:pPr algn="ctr"/>
            <a:r>
              <a:rPr sz="620" b="1">
                <a:solidFill>
                  <a:srgbClr val="181818"/>
                </a:solidFill>
                <a:latin typeface="Arial"/>
              </a:rPr>
              <a:t>MIXED PERFORMANCE</a:t>
            </a:r>
          </a:p>
        </p:txBody>
      </p:sp>
      <p:sp>
        <p:nvSpPr>
          <p:cNvPr id="194" name="TextBox 85">
            <a:extLst>
              <a:ext uri="{FF2B5EF4-FFF2-40B4-BE49-F238E27FC236}">
                <a16:creationId xmlns:a16="http://schemas.microsoft.com/office/drawing/2014/main" id="{48AD0D00-83B2-4682-AD67-7AD7286809A1}"/>
              </a:ext>
            </a:extLst>
          </p:cNvPr>
          <p:cNvSpPr txBox="1"/>
          <p:nvPr/>
        </p:nvSpPr>
        <p:spPr>
          <a:xfrm>
            <a:off x="3418158" y="6253688"/>
            <a:ext cx="2404872" cy="313932"/>
          </a:xfrm>
          <a:prstGeom prst="rect">
            <a:avLst/>
          </a:prstGeom>
          <a:noFill/>
        </p:spPr>
        <p:txBody>
          <a:bodyPr wrap="square" lIns="0" tIns="0" rIns="0" bIns="0" anchor="ctr">
            <a:spAutoFit/>
          </a:bodyPr>
          <a:lstStyle/>
          <a:p>
            <a:r>
              <a:rPr lang="en-US" sz="680" b="1">
                <a:solidFill>
                  <a:srgbClr val="164291"/>
                </a:solidFill>
                <a:latin typeface="Arial"/>
              </a:rPr>
              <a:t>Qualified strategies delivered positive KPIs, while isolated high-scale efforts and delivery constraints pulled overall engagement down.</a:t>
            </a:r>
          </a:p>
        </p:txBody>
      </p:sp>
      <p:sp>
        <p:nvSpPr>
          <p:cNvPr id="195" name="Rounded Rectangle 100">
            <a:extLst>
              <a:ext uri="{FF2B5EF4-FFF2-40B4-BE49-F238E27FC236}">
                <a16:creationId xmlns:a16="http://schemas.microsoft.com/office/drawing/2014/main" id="{F9BCD1F8-4391-4B2E-AE07-47E9B8738DFF}"/>
              </a:ext>
            </a:extLst>
          </p:cNvPr>
          <p:cNvSpPr/>
          <p:nvPr/>
        </p:nvSpPr>
        <p:spPr>
          <a:xfrm>
            <a:off x="3369305" y="5641549"/>
            <a:ext cx="1168860" cy="552879"/>
          </a:xfrm>
          <a:prstGeom prst="roundRect">
            <a:avLst/>
          </a:prstGeom>
          <a:solidFill>
            <a:srgbClr val="EFF9F2"/>
          </a:solidFill>
          <a:ln>
            <a:solidFill>
              <a:srgbClr val="CDE6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Rounded Rectangle 101">
            <a:extLst>
              <a:ext uri="{FF2B5EF4-FFF2-40B4-BE49-F238E27FC236}">
                <a16:creationId xmlns:a16="http://schemas.microsoft.com/office/drawing/2014/main" id="{2BAC36D9-5DB6-4450-B4AE-96A2F3806B59}"/>
              </a:ext>
            </a:extLst>
          </p:cNvPr>
          <p:cNvSpPr/>
          <p:nvPr/>
        </p:nvSpPr>
        <p:spPr>
          <a:xfrm>
            <a:off x="4582662" y="5641549"/>
            <a:ext cx="1366565" cy="552879"/>
          </a:xfrm>
          <a:prstGeom prst="roundRect">
            <a:avLst/>
          </a:prstGeom>
          <a:solidFill>
            <a:srgbClr val="FDF3F2"/>
          </a:solidFill>
          <a:ln>
            <a:solidFill>
              <a:srgbClr val="EBD5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TextBox 102">
            <a:extLst>
              <a:ext uri="{FF2B5EF4-FFF2-40B4-BE49-F238E27FC236}">
                <a16:creationId xmlns:a16="http://schemas.microsoft.com/office/drawing/2014/main" id="{B4561DC3-43B8-4213-88D1-04C59C976CFC}"/>
              </a:ext>
            </a:extLst>
          </p:cNvPr>
          <p:cNvSpPr txBox="1"/>
          <p:nvPr/>
        </p:nvSpPr>
        <p:spPr>
          <a:xfrm>
            <a:off x="3364732" y="5663900"/>
            <a:ext cx="1097280" cy="200055"/>
          </a:xfrm>
          <a:prstGeom prst="rect">
            <a:avLst/>
          </a:prstGeom>
          <a:noFill/>
        </p:spPr>
        <p:txBody>
          <a:bodyPr wrap="square">
            <a:spAutoFit/>
          </a:bodyPr>
          <a:lstStyle/>
          <a:p>
            <a:pPr algn="l"/>
            <a:r>
              <a:rPr lang="pt-BR" sz="700" b="1" i="0">
                <a:solidFill>
                  <a:srgbClr val="009146"/>
                </a:solidFill>
                <a:latin typeface="Arial"/>
              </a:rPr>
              <a:t>POSITIVE</a:t>
            </a:r>
          </a:p>
        </p:txBody>
      </p:sp>
      <p:sp>
        <p:nvSpPr>
          <p:cNvPr id="198" name="TextBox 103">
            <a:extLst>
              <a:ext uri="{FF2B5EF4-FFF2-40B4-BE49-F238E27FC236}">
                <a16:creationId xmlns:a16="http://schemas.microsoft.com/office/drawing/2014/main" id="{037ADC37-84CA-4E17-8E92-CDF9E11777B9}"/>
              </a:ext>
            </a:extLst>
          </p:cNvPr>
          <p:cNvSpPr txBox="1"/>
          <p:nvPr/>
        </p:nvSpPr>
        <p:spPr>
          <a:xfrm>
            <a:off x="3364732" y="5837637"/>
            <a:ext cx="1211918" cy="307777"/>
          </a:xfrm>
          <a:prstGeom prst="rect">
            <a:avLst/>
          </a:prstGeom>
          <a:noFill/>
        </p:spPr>
        <p:txBody>
          <a:bodyPr wrap="square">
            <a:spAutoFit/>
          </a:bodyPr>
          <a:lstStyle/>
          <a:p>
            <a:pPr algn="l"/>
            <a:r>
              <a:rPr sz="700" b="1" i="0">
                <a:solidFill>
                  <a:srgbClr val="141414"/>
                </a:solidFill>
                <a:latin typeface="Arial"/>
              </a:rPr>
              <a:t>Book6 New Owners
8</a:t>
            </a:r>
            <a:r>
              <a:rPr lang="pt-BR" sz="700" b="1" i="0">
                <a:solidFill>
                  <a:srgbClr val="141414"/>
                </a:solidFill>
                <a:latin typeface="Arial"/>
              </a:rPr>
              <a:t>.</a:t>
            </a:r>
            <a:r>
              <a:rPr sz="700" b="1" i="0">
                <a:solidFill>
                  <a:srgbClr val="141414"/>
                </a:solidFill>
                <a:latin typeface="Arial"/>
              </a:rPr>
              <a:t>52% OR | 5</a:t>
            </a:r>
            <a:r>
              <a:rPr lang="pt-BR" sz="700" b="1" i="0">
                <a:solidFill>
                  <a:srgbClr val="141414"/>
                </a:solidFill>
                <a:latin typeface="Arial"/>
              </a:rPr>
              <a:t>.</a:t>
            </a:r>
            <a:r>
              <a:rPr sz="700" b="1" i="0">
                <a:solidFill>
                  <a:srgbClr val="141414"/>
                </a:solidFill>
                <a:latin typeface="Arial"/>
              </a:rPr>
              <a:t>13% CTOR</a:t>
            </a:r>
          </a:p>
        </p:txBody>
      </p:sp>
      <p:sp>
        <p:nvSpPr>
          <p:cNvPr id="199" name="TextBox 104">
            <a:extLst>
              <a:ext uri="{FF2B5EF4-FFF2-40B4-BE49-F238E27FC236}">
                <a16:creationId xmlns:a16="http://schemas.microsoft.com/office/drawing/2014/main" id="{11AF3FB7-2145-489A-8574-C27930FBCF70}"/>
              </a:ext>
            </a:extLst>
          </p:cNvPr>
          <p:cNvSpPr txBox="1"/>
          <p:nvPr/>
        </p:nvSpPr>
        <p:spPr>
          <a:xfrm>
            <a:off x="4562581" y="5662758"/>
            <a:ext cx="1097280" cy="307777"/>
          </a:xfrm>
          <a:prstGeom prst="rect">
            <a:avLst/>
          </a:prstGeom>
          <a:noFill/>
        </p:spPr>
        <p:txBody>
          <a:bodyPr wrap="square">
            <a:spAutoFit/>
          </a:bodyPr>
          <a:lstStyle/>
          <a:p>
            <a:pPr algn="l"/>
            <a:r>
              <a:rPr lang="pt-BR" sz="700" b="1" i="0">
                <a:solidFill>
                  <a:srgbClr val="BE322D"/>
                </a:solidFill>
                <a:latin typeface="Arial"/>
              </a:rPr>
              <a:t>KEY DETRACTORS</a:t>
            </a:r>
          </a:p>
          <a:p>
            <a:pPr algn="l"/>
            <a:endParaRPr lang="pt-BR" sz="700" b="1" i="0">
              <a:solidFill>
                <a:srgbClr val="BE322D"/>
              </a:solidFill>
              <a:latin typeface="Arial"/>
            </a:endParaRPr>
          </a:p>
        </p:txBody>
      </p:sp>
      <p:sp>
        <p:nvSpPr>
          <p:cNvPr id="200" name="TextBox 105">
            <a:extLst>
              <a:ext uri="{FF2B5EF4-FFF2-40B4-BE49-F238E27FC236}">
                <a16:creationId xmlns:a16="http://schemas.microsoft.com/office/drawing/2014/main" id="{E9C961A5-5C02-4B32-9DD3-2B93F5C0CC4B}"/>
              </a:ext>
            </a:extLst>
          </p:cNvPr>
          <p:cNvSpPr txBox="1"/>
          <p:nvPr/>
        </p:nvSpPr>
        <p:spPr>
          <a:xfrm>
            <a:off x="4552134" y="5823643"/>
            <a:ext cx="1496655" cy="307777"/>
          </a:xfrm>
          <a:prstGeom prst="rect">
            <a:avLst/>
          </a:prstGeom>
          <a:noFill/>
        </p:spPr>
        <p:txBody>
          <a:bodyPr wrap="square">
            <a:spAutoFit/>
          </a:bodyPr>
          <a:lstStyle/>
          <a:p>
            <a:pPr algn="l"/>
            <a:r>
              <a:rPr sz="700" b="1" i="0">
                <a:solidFill>
                  <a:srgbClr val="141414"/>
                </a:solidFill>
                <a:latin typeface="Arial"/>
              </a:rPr>
              <a:t>CE: Music Studio 0</a:t>
            </a:r>
            <a:r>
              <a:rPr lang="pt-BR" sz="700" b="1" i="0">
                <a:solidFill>
                  <a:srgbClr val="141414"/>
                </a:solidFill>
                <a:latin typeface="Arial"/>
              </a:rPr>
              <a:t>.</a:t>
            </a:r>
            <a:r>
              <a:rPr sz="700" b="1" i="0">
                <a:solidFill>
                  <a:srgbClr val="141414"/>
                </a:solidFill>
                <a:latin typeface="Arial"/>
              </a:rPr>
              <a:t>36% CTOR
MX: S26 FE 0</a:t>
            </a:r>
            <a:r>
              <a:rPr lang="pt-BR" sz="700" b="1" i="0">
                <a:solidFill>
                  <a:srgbClr val="141414"/>
                </a:solidFill>
                <a:latin typeface="Arial"/>
              </a:rPr>
              <a:t>.</a:t>
            </a:r>
            <a:r>
              <a:rPr sz="700" b="1" i="0">
                <a:solidFill>
                  <a:srgbClr val="141414"/>
                </a:solidFill>
                <a:latin typeface="Arial"/>
              </a:rPr>
              <a:t>22% CTOR</a:t>
            </a:r>
          </a:p>
        </p:txBody>
      </p:sp>
      <p:sp>
        <p:nvSpPr>
          <p:cNvPr id="201" name="Text 56">
            <a:extLst>
              <a:ext uri="{FF2B5EF4-FFF2-40B4-BE49-F238E27FC236}">
                <a16:creationId xmlns:a16="http://schemas.microsoft.com/office/drawing/2014/main" id="{87DC6EEA-0B17-4F54-A448-362FFA10C37C}"/>
              </a:ext>
            </a:extLst>
          </p:cNvPr>
          <p:cNvSpPr/>
          <p:nvPr/>
        </p:nvSpPr>
        <p:spPr>
          <a:xfrm>
            <a:off x="6242108" y="4696490"/>
            <a:ext cx="2468880" cy="164592"/>
          </a:xfrm>
          <a:prstGeom prst="rect">
            <a:avLst/>
          </a:prstGeom>
          <a:noFill/>
          <a:ln/>
        </p:spPr>
        <p:txBody>
          <a:bodyPr wrap="square" lIns="0" tIns="0" rIns="0" bIns="0" rtlCol="0" anchor="ctr"/>
          <a:lstStyle/>
          <a:p>
            <a:pPr marL="0" indent="0">
              <a:buNone/>
            </a:pPr>
            <a:r>
              <a:rPr lang="en-US" sz="750" b="1">
                <a:solidFill>
                  <a:srgbClr val="111111"/>
                </a:solidFill>
              </a:rPr>
              <a:t>LAUNCH ACTIVATION</a:t>
            </a:r>
            <a:endParaRPr lang="en-US" sz="750"/>
          </a:p>
        </p:txBody>
      </p:sp>
    </p:spTree>
    <p:extLst>
      <p:ext uri="{BB962C8B-B14F-4D97-AF65-F5344CB8AC3E}">
        <p14:creationId xmlns:p14="http://schemas.microsoft.com/office/powerpoint/2010/main" val="2078701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3152" cy="1170432"/>
          </a:xfrm>
          <a:prstGeom prst="rect">
            <a:avLst/>
          </a:prstGeom>
          <a:solidFill>
            <a:srgbClr val="1230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 name="TextBox 3"/>
          <p:cNvSpPr txBox="1"/>
          <p:nvPr/>
        </p:nvSpPr>
        <p:spPr>
          <a:xfrm>
            <a:off x="234221" y="651241"/>
            <a:ext cx="11430000" cy="184666"/>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a:t>Target </a:t>
            </a:r>
            <a:r>
              <a:rPr lang="pt-BR" sz="1200" err="1"/>
              <a:t>and</a:t>
            </a:r>
            <a:r>
              <a:rPr lang="pt-BR" sz="1200"/>
              <a:t> </a:t>
            </a:r>
            <a:r>
              <a:rPr lang="pt-BR" sz="1200" err="1"/>
              <a:t>audience</a:t>
            </a:r>
            <a:r>
              <a:rPr lang="pt-BR" sz="1200"/>
              <a:t> </a:t>
            </a:r>
            <a:r>
              <a:rPr lang="pt-BR" sz="1200" err="1"/>
              <a:t>qualification</a:t>
            </a:r>
            <a:r>
              <a:rPr lang="pt-BR" sz="1200"/>
              <a:t> </a:t>
            </a:r>
            <a:r>
              <a:rPr lang="pt-BR" sz="1200" err="1"/>
              <a:t>were</a:t>
            </a:r>
            <a:r>
              <a:rPr lang="pt-BR" sz="1200"/>
              <a:t> </a:t>
            </a:r>
            <a:r>
              <a:rPr lang="pt-BR" sz="1200" err="1"/>
              <a:t>determinants</a:t>
            </a:r>
            <a:r>
              <a:rPr lang="pt-BR" sz="1200"/>
              <a:t> </a:t>
            </a:r>
            <a:r>
              <a:rPr lang="pt-BR" sz="1200" err="1"/>
              <a:t>to</a:t>
            </a:r>
            <a:r>
              <a:rPr lang="pt-BR" sz="1200"/>
              <a:t> performance: </a:t>
            </a:r>
            <a:r>
              <a:rPr lang="pt-BR" sz="1200" err="1"/>
              <a:t>intention</a:t>
            </a:r>
            <a:r>
              <a:rPr lang="pt-BR" sz="1200"/>
              <a:t> </a:t>
            </a:r>
            <a:r>
              <a:rPr lang="pt-BR" sz="1200" err="1"/>
              <a:t>journeys</a:t>
            </a:r>
            <a:r>
              <a:rPr lang="pt-BR" sz="1200"/>
              <a:t> </a:t>
            </a:r>
            <a:r>
              <a:rPr lang="pt-BR" sz="1200" err="1"/>
              <a:t>and</a:t>
            </a:r>
            <a:r>
              <a:rPr lang="pt-BR" sz="1200"/>
              <a:t> </a:t>
            </a:r>
            <a:r>
              <a:rPr lang="pt-BR" sz="1200" err="1"/>
              <a:t>launch</a:t>
            </a:r>
            <a:r>
              <a:rPr lang="pt-BR" sz="1200"/>
              <a:t> </a:t>
            </a:r>
            <a:r>
              <a:rPr lang="pt-BR" sz="1200" err="1"/>
              <a:t>increasing</a:t>
            </a:r>
            <a:r>
              <a:rPr lang="pt-BR" sz="1200"/>
              <a:t> </a:t>
            </a:r>
            <a:r>
              <a:rPr lang="pt-BR" sz="1200" err="1"/>
              <a:t>with</a:t>
            </a:r>
            <a:r>
              <a:rPr lang="pt-BR" sz="1200"/>
              <a:t> </a:t>
            </a:r>
            <a:r>
              <a:rPr lang="pt-BR" sz="1200" err="1"/>
              <a:t>Awareness</a:t>
            </a:r>
            <a:r>
              <a:rPr lang="pt-BR" sz="1200"/>
              <a:t> </a:t>
            </a:r>
            <a:r>
              <a:rPr lang="pt-BR" sz="1200" err="1"/>
              <a:t>efforts</a:t>
            </a:r>
            <a:r>
              <a:rPr lang="pt-BR" sz="1200"/>
              <a:t>.</a:t>
            </a:r>
          </a:p>
        </p:txBody>
      </p:sp>
      <p:sp>
        <p:nvSpPr>
          <p:cNvPr id="109" name="Rounded Rectangle 108"/>
          <p:cNvSpPr/>
          <p:nvPr/>
        </p:nvSpPr>
        <p:spPr>
          <a:xfrm>
            <a:off x="502920" y="5833872"/>
            <a:ext cx="11109960" cy="530352"/>
          </a:xfrm>
          <a:prstGeom prst="roundRect">
            <a:avLst/>
          </a:prstGeom>
          <a:solidFill>
            <a:srgbClr val="F6F6F6"/>
          </a:solidFill>
          <a:ln w="10160">
            <a:solidFill>
              <a:srgbClr val="F6F6F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10" name="TextBox 109"/>
          <p:cNvSpPr txBox="1"/>
          <p:nvPr/>
        </p:nvSpPr>
        <p:spPr>
          <a:xfrm>
            <a:off x="685800" y="5971032"/>
            <a:ext cx="1097280" cy="182880"/>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1F3F9B"/>
                </a:solidFill>
                <a:effectLst/>
                <a:uLnTx/>
                <a:uFillTx/>
                <a:latin typeface="Arial"/>
                <a:ea typeface="+mn-ea"/>
                <a:cs typeface="+mn-cs"/>
              </a:rPr>
              <a:t>TAKE AWAY</a:t>
            </a:r>
          </a:p>
        </p:txBody>
      </p:sp>
      <p:sp>
        <p:nvSpPr>
          <p:cNvPr id="111" name="TextBox 110"/>
          <p:cNvSpPr txBox="1"/>
          <p:nvPr/>
        </p:nvSpPr>
        <p:spPr>
          <a:xfrm>
            <a:off x="1627632" y="5925312"/>
            <a:ext cx="9646920" cy="323165"/>
          </a:xfrm>
          <a:prstGeom prst="rect">
            <a:avLst/>
          </a:prstGeom>
          <a:noFill/>
        </p:spPr>
        <p:txBody>
          <a:bodyPr wrap="square" lIns="0" tIns="0" rIns="0" bIns="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050" b="1" i="0" u="none" strike="noStrike" cap="none" normalizeH="0" baseline="0">
                <a:ln>
                  <a:noFill/>
                </a:ln>
                <a:solidFill>
                  <a:schemeClr val="tx1"/>
                </a:solidFill>
                <a:effectLst/>
                <a:latin typeface="Arial" panose="020B0604020202020204" pitchFamily="34" charset="0"/>
              </a:rPr>
              <a:t>August shows </a:t>
            </a:r>
            <a:r>
              <a:rPr kumimoji="0" lang="pt-BR" altLang="pt-BR" sz="1050" b="1" i="0" u="none" strike="noStrike" cap="none" normalizeH="0" baseline="0" err="1">
                <a:ln>
                  <a:noFill/>
                </a:ln>
                <a:solidFill>
                  <a:schemeClr val="tx1"/>
                </a:solidFill>
                <a:effectLst/>
                <a:latin typeface="Arial" panose="020B0604020202020204" pitchFamily="34" charset="0"/>
              </a:rPr>
              <a:t>different</a:t>
            </a:r>
            <a:r>
              <a:rPr kumimoji="0" lang="pt-BR" altLang="pt-BR" sz="1050" b="1" i="0" u="none" strike="noStrike" cap="none" normalizeH="0" baseline="0">
                <a:ln>
                  <a:noFill/>
                </a:ln>
                <a:solidFill>
                  <a:schemeClr val="tx1"/>
                </a:solidFill>
                <a:effectLst/>
                <a:latin typeface="Arial" panose="020B0604020202020204" pitchFamily="34" charset="0"/>
              </a:rPr>
              <a:t> performance </a:t>
            </a:r>
            <a:r>
              <a:rPr kumimoji="0" lang="pt-BR" altLang="pt-BR" sz="1050" b="1" i="0" u="none" strike="noStrike" cap="none" normalizeH="0" baseline="0" err="1">
                <a:ln>
                  <a:noFill/>
                </a:ln>
                <a:solidFill>
                  <a:schemeClr val="tx1"/>
                </a:solidFill>
                <a:effectLst/>
                <a:latin typeface="Arial" panose="020B0604020202020204" pitchFamily="34" charset="0"/>
              </a:rPr>
              <a:t>levels</a:t>
            </a:r>
            <a:r>
              <a:rPr kumimoji="0" lang="pt-BR" altLang="pt-BR" sz="1050" b="1" i="0" u="none" strike="noStrike" cap="none" normalizeH="0" baseline="0">
                <a:ln>
                  <a:noFill/>
                </a:ln>
                <a:solidFill>
                  <a:schemeClr val="tx1"/>
                </a:solidFill>
                <a:effectLst/>
                <a:latin typeface="Arial" panose="020B0604020202020204" pitchFamily="34" charset="0"/>
              </a:rPr>
              <a:t> </a:t>
            </a:r>
            <a:r>
              <a:rPr kumimoji="0" lang="pt-BR" altLang="pt-BR" sz="1050" b="1" i="0" u="none" strike="noStrike" cap="none" normalizeH="0" baseline="0" err="1">
                <a:ln>
                  <a:noFill/>
                </a:ln>
                <a:solidFill>
                  <a:schemeClr val="tx1"/>
                </a:solidFill>
                <a:effectLst/>
                <a:latin typeface="Arial" panose="020B0604020202020204" pitchFamily="34" charset="0"/>
              </a:rPr>
              <a:t>by</a:t>
            </a:r>
            <a:r>
              <a:rPr kumimoji="0" lang="pt-BR" altLang="pt-BR" sz="1050" b="1" i="0" u="none" strike="noStrike" cap="none" normalizeH="0" baseline="0">
                <a:ln>
                  <a:noFill/>
                </a:ln>
                <a:solidFill>
                  <a:schemeClr val="tx1"/>
                </a:solidFill>
                <a:effectLst/>
                <a:latin typeface="Arial" panose="020B0604020202020204" pitchFamily="34" charset="0"/>
              </a:rPr>
              <a:t> </a:t>
            </a:r>
            <a:r>
              <a:rPr kumimoji="0" lang="pt-BR" altLang="pt-BR" sz="1050" b="1" i="0" u="none" strike="noStrike" cap="none" normalizeH="0" baseline="0" err="1">
                <a:ln>
                  <a:noFill/>
                </a:ln>
                <a:solidFill>
                  <a:schemeClr val="tx1"/>
                </a:solidFill>
                <a:effectLst/>
                <a:latin typeface="Arial" panose="020B0604020202020204" pitchFamily="34" charset="0"/>
              </a:rPr>
              <a:t>objective</a:t>
            </a:r>
            <a:r>
              <a:rPr kumimoji="0" lang="pt-BR" altLang="pt-BR" sz="1050" b="1" i="0" u="none" strike="noStrike" cap="none" normalizeH="0" baseline="0">
                <a:ln>
                  <a:noFill/>
                </a:ln>
                <a:solidFill>
                  <a:schemeClr val="tx1"/>
                </a:solidFill>
                <a:effectLst/>
                <a:latin typeface="Arial" panose="020B0604020202020204" pitchFamily="34" charset="0"/>
              </a:rPr>
              <a:t>: </a:t>
            </a:r>
            <a:r>
              <a:rPr kumimoji="0" lang="pt-BR" altLang="pt-BR" sz="1050" b="1" i="0" u="none" strike="noStrike" cap="none" normalizeH="0" baseline="0" err="1">
                <a:ln>
                  <a:noFill/>
                </a:ln>
                <a:solidFill>
                  <a:schemeClr val="tx1"/>
                </a:solidFill>
                <a:effectLst/>
                <a:latin typeface="Arial" panose="020B0604020202020204" pitchFamily="34" charset="0"/>
              </a:rPr>
              <a:t>Handraiser</a:t>
            </a:r>
            <a:r>
              <a:rPr kumimoji="0" lang="pt-BR" altLang="pt-BR" sz="1050" b="1" i="0" u="none" strike="noStrike" cap="none" normalizeH="0" baseline="0">
                <a:ln>
                  <a:noFill/>
                </a:ln>
                <a:solidFill>
                  <a:schemeClr val="tx1"/>
                </a:solidFill>
                <a:effectLst/>
                <a:latin typeface="Arial" panose="020B0604020202020204" pitchFamily="34" charset="0"/>
              </a:rPr>
              <a:t> and </a:t>
            </a:r>
            <a:r>
              <a:rPr kumimoji="0" lang="pt-BR" altLang="pt-BR" sz="1050" b="1" i="0" u="none" strike="noStrike" cap="none" normalizeH="0" baseline="0" err="1">
                <a:ln>
                  <a:noFill/>
                </a:ln>
                <a:solidFill>
                  <a:schemeClr val="tx1"/>
                </a:solidFill>
                <a:effectLst/>
                <a:latin typeface="Arial" panose="020B0604020202020204" pitchFamily="34" charset="0"/>
              </a:rPr>
              <a:t>the</a:t>
            </a:r>
            <a:r>
              <a:rPr kumimoji="0" lang="pt-BR" altLang="pt-BR" sz="1050" b="1" i="0" u="none" strike="noStrike" cap="none" normalizeH="0" baseline="0">
                <a:ln>
                  <a:noFill/>
                </a:ln>
                <a:solidFill>
                  <a:schemeClr val="tx1"/>
                </a:solidFill>
                <a:effectLst/>
                <a:latin typeface="Arial" panose="020B0604020202020204" pitchFamily="34" charset="0"/>
              </a:rPr>
              <a:t> </a:t>
            </a:r>
            <a:r>
              <a:rPr kumimoji="0" lang="pt-BR" altLang="pt-BR" sz="1050" b="1" i="0" u="none" strike="noStrike" cap="none" normalizeH="0" baseline="0" err="1">
                <a:ln>
                  <a:noFill/>
                </a:ln>
                <a:solidFill>
                  <a:schemeClr val="tx1"/>
                </a:solidFill>
                <a:effectLst/>
                <a:latin typeface="Arial" panose="020B0604020202020204" pitchFamily="34" charset="0"/>
              </a:rPr>
              <a:t>main</a:t>
            </a:r>
            <a:r>
              <a:rPr kumimoji="0" lang="pt-BR" altLang="pt-BR" sz="1050" b="1" i="0" u="none" strike="noStrike" cap="none" normalizeH="0" baseline="0">
                <a:ln>
                  <a:noFill/>
                </a:ln>
                <a:solidFill>
                  <a:schemeClr val="tx1"/>
                </a:solidFill>
                <a:effectLst/>
                <a:latin typeface="Arial" panose="020B0604020202020204" pitchFamily="34" charset="0"/>
              </a:rPr>
              <a:t> </a:t>
            </a:r>
            <a:r>
              <a:rPr kumimoji="0" lang="pt-BR" altLang="pt-BR" sz="1050" b="1" i="0" u="none" strike="noStrike" cap="none" normalizeH="0" baseline="0" err="1">
                <a:ln>
                  <a:noFill/>
                </a:ln>
                <a:solidFill>
                  <a:schemeClr val="tx1"/>
                </a:solidFill>
                <a:effectLst/>
                <a:latin typeface="Arial" panose="020B0604020202020204" pitchFamily="34" charset="0"/>
              </a:rPr>
              <a:t>launch</a:t>
            </a:r>
            <a:r>
              <a:rPr kumimoji="0" lang="pt-BR" altLang="pt-BR" sz="1050" b="1" i="0" u="none" strike="noStrike" cap="none" normalizeH="0" baseline="0">
                <a:ln>
                  <a:noFill/>
                </a:ln>
                <a:solidFill>
                  <a:schemeClr val="tx1"/>
                </a:solidFill>
                <a:effectLst/>
                <a:latin typeface="Arial" panose="020B0604020202020204" pitchFamily="34" charset="0"/>
              </a:rPr>
              <a:t> </a:t>
            </a:r>
            <a:r>
              <a:rPr kumimoji="0" lang="pt-BR" altLang="pt-BR" sz="1050" b="1" i="0" u="none" strike="noStrike" cap="none" normalizeH="0" baseline="0" err="1">
                <a:ln>
                  <a:noFill/>
                </a:ln>
                <a:solidFill>
                  <a:schemeClr val="tx1"/>
                </a:solidFill>
                <a:effectLst/>
                <a:latin typeface="Arial" panose="020B0604020202020204" pitchFamily="34" charset="0"/>
              </a:rPr>
              <a:t>journey</a:t>
            </a:r>
            <a:r>
              <a:rPr kumimoji="0" lang="pt-BR" altLang="pt-BR" sz="1050" b="1" i="0" u="none" strike="noStrike" cap="none" normalizeH="0" baseline="0">
                <a:ln>
                  <a:noFill/>
                </a:ln>
                <a:solidFill>
                  <a:schemeClr val="tx1"/>
                </a:solidFill>
                <a:effectLst/>
                <a:latin typeface="Arial" panose="020B0604020202020204" pitchFamily="34" charset="0"/>
              </a:rPr>
              <a:t> </a:t>
            </a:r>
            <a:r>
              <a:rPr kumimoji="0" lang="pt-BR" altLang="pt-BR" sz="1050" b="1" i="0" u="none" strike="noStrike" cap="none" normalizeH="0" baseline="0" err="1">
                <a:ln>
                  <a:noFill/>
                </a:ln>
                <a:solidFill>
                  <a:schemeClr val="tx1"/>
                </a:solidFill>
                <a:effectLst/>
                <a:latin typeface="Arial" panose="020B0604020202020204" pitchFamily="34" charset="0"/>
              </a:rPr>
              <a:t>delivered</a:t>
            </a:r>
            <a:r>
              <a:rPr kumimoji="0" lang="pt-BR" altLang="pt-BR" sz="1050" b="1" i="0" u="none" strike="noStrike" cap="none" normalizeH="0" baseline="0">
                <a:ln>
                  <a:noFill/>
                </a:ln>
                <a:solidFill>
                  <a:schemeClr val="tx1"/>
                </a:solidFill>
                <a:effectLst/>
                <a:latin typeface="Arial" panose="020B0604020202020204" pitchFamily="34" charset="0"/>
              </a:rPr>
              <a:t> </a:t>
            </a:r>
            <a:r>
              <a:rPr kumimoji="0" lang="pt-BR" altLang="pt-BR" sz="1050" b="1" i="0" u="none" strike="noStrike" cap="none" normalizeH="0" baseline="0" err="1">
                <a:ln>
                  <a:noFill/>
                </a:ln>
                <a:solidFill>
                  <a:schemeClr val="tx1"/>
                </a:solidFill>
                <a:effectLst/>
                <a:latin typeface="Arial" panose="020B0604020202020204" pitchFamily="34" charset="0"/>
              </a:rPr>
              <a:t>strong</a:t>
            </a:r>
            <a:r>
              <a:rPr kumimoji="0" lang="pt-BR" altLang="pt-BR" sz="1050" b="1" i="0" u="none" strike="noStrike" cap="none" normalizeH="0" baseline="0">
                <a:ln>
                  <a:noFill/>
                </a:ln>
                <a:solidFill>
                  <a:schemeClr val="tx1"/>
                </a:solidFill>
                <a:effectLst/>
                <a:latin typeface="Arial" panose="020B0604020202020204" pitchFamily="34" charset="0"/>
              </a:rPr>
              <a:t> </a:t>
            </a:r>
            <a:r>
              <a:rPr kumimoji="0" lang="pt-BR" altLang="pt-BR" sz="1050" b="1" i="0" u="none" strike="noStrike" cap="none" normalizeH="0" baseline="0" err="1">
                <a:ln>
                  <a:noFill/>
                </a:ln>
                <a:solidFill>
                  <a:schemeClr val="tx1"/>
                </a:solidFill>
                <a:effectLst/>
                <a:latin typeface="Arial" panose="020B0604020202020204" pitchFamily="34" charset="0"/>
              </a:rPr>
              <a:t>results</a:t>
            </a:r>
            <a:r>
              <a:rPr kumimoji="0" lang="pt-BR" altLang="pt-BR" sz="1050" b="1" i="0" u="none" strike="noStrike" cap="none" normalizeH="0" baseline="0">
                <a:ln>
                  <a:noFill/>
                </a:ln>
                <a:solidFill>
                  <a:schemeClr val="tx1"/>
                </a:solidFill>
                <a:effectLst/>
                <a:latin typeface="Arial" panose="020B0604020202020204" pitchFamily="34" charset="0"/>
              </a:rPr>
              <a:t>, </a:t>
            </a:r>
            <a:r>
              <a:rPr kumimoji="0" lang="pt-BR" altLang="pt-BR" sz="1050" b="1" i="0" u="none" strike="noStrike" cap="none" normalizeH="0" baseline="0" err="1">
                <a:ln>
                  <a:noFill/>
                </a:ln>
                <a:solidFill>
                  <a:schemeClr val="tx1"/>
                </a:solidFill>
                <a:effectLst/>
                <a:latin typeface="Arial" panose="020B0604020202020204" pitchFamily="34" charset="0"/>
              </a:rPr>
              <a:t>while</a:t>
            </a:r>
            <a:r>
              <a:rPr kumimoji="0" lang="pt-BR" altLang="pt-BR" sz="1050" b="1" i="0" u="none" strike="noStrike" cap="none" normalizeH="0" baseline="0">
                <a:ln>
                  <a:noFill/>
                </a:ln>
                <a:solidFill>
                  <a:schemeClr val="tx1"/>
                </a:solidFill>
                <a:effectLst/>
                <a:latin typeface="Arial" panose="020B0604020202020204" pitchFamily="34" charset="0"/>
              </a:rPr>
              <a:t> </a:t>
            </a:r>
            <a:r>
              <a:rPr kumimoji="0" lang="pt-BR" altLang="pt-BR" sz="1050" b="1" i="0" u="none" strike="noStrike" cap="none" normalizeH="0" baseline="0" err="1">
                <a:ln>
                  <a:noFill/>
                </a:ln>
                <a:solidFill>
                  <a:schemeClr val="tx1"/>
                </a:solidFill>
                <a:effectLst/>
                <a:latin typeface="Arial" panose="020B0604020202020204" pitchFamily="34" charset="0"/>
              </a:rPr>
              <a:t>awareness</a:t>
            </a:r>
            <a:r>
              <a:rPr kumimoji="0" lang="pt-BR" altLang="pt-BR" sz="1050" b="1" i="0" u="none" strike="noStrike" cap="none" normalizeH="0" baseline="0">
                <a:ln>
                  <a:noFill/>
                </a:ln>
                <a:solidFill>
                  <a:schemeClr val="tx1"/>
                </a:solidFill>
                <a:effectLst/>
                <a:latin typeface="Arial" panose="020B0604020202020204" pitchFamily="34" charset="0"/>
              </a:rPr>
              <a:t> </a:t>
            </a:r>
            <a:r>
              <a:rPr kumimoji="0" lang="pt-BR" altLang="pt-BR" sz="1050" b="1" i="0" u="none" strike="noStrike" cap="none" normalizeH="0" baseline="0" err="1">
                <a:ln>
                  <a:noFill/>
                </a:ln>
                <a:solidFill>
                  <a:schemeClr val="tx1"/>
                </a:solidFill>
                <a:effectLst/>
                <a:latin typeface="Arial" panose="020B0604020202020204" pitchFamily="34" charset="0"/>
              </a:rPr>
              <a:t>campaigns</a:t>
            </a:r>
            <a:r>
              <a:rPr kumimoji="0" lang="pt-BR" altLang="pt-BR" sz="1050" b="1" i="0" u="none" strike="noStrike" cap="none" normalizeH="0" baseline="0">
                <a:ln>
                  <a:noFill/>
                </a:ln>
                <a:solidFill>
                  <a:schemeClr val="tx1"/>
                </a:solidFill>
                <a:effectLst/>
                <a:latin typeface="Arial" panose="020B0604020202020204" pitchFamily="34" charset="0"/>
              </a:rPr>
              <a:t> </a:t>
            </a:r>
            <a:r>
              <a:rPr kumimoji="0" lang="pt-BR" altLang="pt-BR" sz="1050" b="1" i="0" u="none" strike="noStrike" cap="none" normalizeH="0" baseline="0" err="1">
                <a:ln>
                  <a:noFill/>
                </a:ln>
                <a:solidFill>
                  <a:schemeClr val="tx1"/>
                </a:solidFill>
                <a:effectLst/>
                <a:latin typeface="Arial" panose="020B0604020202020204" pitchFamily="34" charset="0"/>
              </a:rPr>
              <a:t>need</a:t>
            </a:r>
            <a:r>
              <a:rPr kumimoji="0" lang="pt-BR" altLang="pt-BR" sz="1050" b="1" i="0" u="none" strike="noStrike" cap="none" normalizeH="0" baseline="0">
                <a:ln>
                  <a:noFill/>
                </a:ln>
                <a:solidFill>
                  <a:schemeClr val="tx1"/>
                </a:solidFill>
                <a:effectLst/>
                <a:latin typeface="Arial" panose="020B0604020202020204" pitchFamily="34" charset="0"/>
              </a:rPr>
              <a:t> </a:t>
            </a:r>
            <a:r>
              <a:rPr kumimoji="0" lang="pt-BR" altLang="pt-BR" sz="1050" b="1" i="0" u="none" strike="noStrike" cap="none" normalizeH="0" baseline="0" err="1">
                <a:ln>
                  <a:noFill/>
                </a:ln>
                <a:solidFill>
                  <a:schemeClr val="tx1"/>
                </a:solidFill>
                <a:effectLst/>
                <a:latin typeface="Arial" panose="020B0604020202020204" pitchFamily="34" charset="0"/>
              </a:rPr>
              <a:t>to</a:t>
            </a:r>
            <a:r>
              <a:rPr kumimoji="0" lang="pt-BR" altLang="pt-BR" sz="1050" b="1" i="0" u="none" strike="noStrike" cap="none" normalizeH="0" baseline="0">
                <a:ln>
                  <a:noFill/>
                </a:ln>
                <a:solidFill>
                  <a:schemeClr val="tx1"/>
                </a:solidFill>
                <a:effectLst/>
                <a:latin typeface="Arial" panose="020B0604020202020204" pitchFamily="34" charset="0"/>
              </a:rPr>
              <a:t> improve </a:t>
            </a:r>
            <a:r>
              <a:rPr kumimoji="0" lang="pt-BR" altLang="pt-BR" sz="1050" b="1" i="0" u="none" strike="noStrike" cap="none" normalizeH="0" baseline="0" err="1">
                <a:ln>
                  <a:noFill/>
                </a:ln>
                <a:solidFill>
                  <a:schemeClr val="tx1"/>
                </a:solidFill>
                <a:effectLst/>
                <a:latin typeface="Arial" panose="020B0604020202020204" pitchFamily="34" charset="0"/>
              </a:rPr>
              <a:t>progression</a:t>
            </a:r>
            <a:r>
              <a:rPr kumimoji="0" lang="pt-BR" altLang="pt-BR" sz="1050" b="1" i="0" u="none" strike="noStrike" cap="none" normalizeH="0" baseline="0">
                <a:ln>
                  <a:noFill/>
                </a:ln>
                <a:solidFill>
                  <a:schemeClr val="tx1"/>
                </a:solidFill>
                <a:effectLst/>
                <a:latin typeface="Arial" panose="020B0604020202020204" pitchFamily="34" charset="0"/>
              </a:rPr>
              <a:t> </a:t>
            </a:r>
            <a:r>
              <a:rPr kumimoji="0" lang="pt-BR" altLang="pt-BR" sz="1050" b="1" i="0" u="none" strike="noStrike" cap="none" normalizeH="0" baseline="0" err="1">
                <a:ln>
                  <a:noFill/>
                </a:ln>
                <a:solidFill>
                  <a:schemeClr val="tx1"/>
                </a:solidFill>
                <a:effectLst/>
                <a:latin typeface="Arial" panose="020B0604020202020204" pitchFamily="34" charset="0"/>
              </a:rPr>
              <a:t>from</a:t>
            </a:r>
            <a:r>
              <a:rPr kumimoji="0" lang="pt-BR" altLang="pt-BR" sz="1050" b="1" i="0" u="none" strike="noStrike" cap="none" normalizeH="0" baseline="0">
                <a:ln>
                  <a:noFill/>
                </a:ln>
                <a:solidFill>
                  <a:schemeClr val="tx1"/>
                </a:solidFill>
                <a:effectLst/>
                <a:latin typeface="Arial" panose="020B0604020202020204" pitchFamily="34" charset="0"/>
              </a:rPr>
              <a:t> </a:t>
            </a:r>
            <a:r>
              <a:rPr kumimoji="0" lang="pt-BR" altLang="pt-BR" sz="1050" b="1" i="0" u="none" strike="noStrike" cap="none" normalizeH="0" baseline="0" err="1">
                <a:ln>
                  <a:noFill/>
                </a:ln>
                <a:solidFill>
                  <a:schemeClr val="tx1"/>
                </a:solidFill>
                <a:effectLst/>
                <a:latin typeface="Arial" panose="020B0604020202020204" pitchFamily="34" charset="0"/>
              </a:rPr>
              <a:t>exposure</a:t>
            </a:r>
            <a:r>
              <a:rPr kumimoji="0" lang="pt-BR" altLang="pt-BR" sz="1050" b="1" i="0" u="none" strike="noStrike" cap="none" normalizeH="0" baseline="0">
                <a:ln>
                  <a:noFill/>
                </a:ln>
                <a:solidFill>
                  <a:schemeClr val="tx1"/>
                </a:solidFill>
                <a:effectLst/>
                <a:latin typeface="Arial" panose="020B0604020202020204" pitchFamily="34" charset="0"/>
              </a:rPr>
              <a:t> </a:t>
            </a:r>
            <a:r>
              <a:rPr kumimoji="0" lang="pt-BR" altLang="pt-BR" sz="1050" b="1" i="0" u="none" strike="noStrike" cap="none" normalizeH="0" baseline="0" err="1">
                <a:ln>
                  <a:noFill/>
                </a:ln>
                <a:solidFill>
                  <a:schemeClr val="tx1"/>
                </a:solidFill>
                <a:effectLst/>
                <a:latin typeface="Arial" panose="020B0604020202020204" pitchFamily="34" charset="0"/>
              </a:rPr>
              <a:t>to</a:t>
            </a:r>
            <a:r>
              <a:rPr kumimoji="0" lang="pt-BR" altLang="pt-BR" sz="1050" b="1" i="0" u="none" strike="noStrike" cap="none" normalizeH="0" baseline="0">
                <a:ln>
                  <a:noFill/>
                </a:ln>
                <a:solidFill>
                  <a:schemeClr val="tx1"/>
                </a:solidFill>
                <a:effectLst/>
                <a:latin typeface="Arial" panose="020B0604020202020204" pitchFamily="34" charset="0"/>
              </a:rPr>
              <a:t> </a:t>
            </a:r>
            <a:r>
              <a:rPr kumimoji="0" lang="pt-BR" altLang="pt-BR" sz="1050" b="1" i="0" u="none" strike="noStrike" cap="none" normalizeH="0" baseline="0" err="1">
                <a:ln>
                  <a:noFill/>
                </a:ln>
                <a:solidFill>
                  <a:schemeClr val="tx1"/>
                </a:solidFill>
                <a:effectLst/>
                <a:latin typeface="Arial" panose="020B0604020202020204" pitchFamily="34" charset="0"/>
              </a:rPr>
              <a:t>interaction</a:t>
            </a:r>
            <a:r>
              <a:rPr kumimoji="0" lang="pt-BR" altLang="pt-BR" sz="1050" b="1" i="0" u="none" strike="noStrike" cap="none" normalizeH="0" baseline="0">
                <a:ln>
                  <a:noFill/>
                </a:ln>
                <a:solidFill>
                  <a:schemeClr val="tx1"/>
                </a:solidFill>
                <a:effectLst/>
                <a:latin typeface="Arial" panose="020B0604020202020204" pitchFamily="34" charset="0"/>
              </a:rPr>
              <a:t>.</a:t>
            </a:r>
            <a:endParaRPr kumimoji="0" lang="pt-BR" altLang="pt-BR" sz="1050" b="0" i="0" u="none" strike="noStrike" cap="none" normalizeH="0" baseline="0">
              <a:ln>
                <a:noFill/>
              </a:ln>
              <a:solidFill>
                <a:schemeClr val="tx1"/>
              </a:solidFill>
              <a:effectLst/>
              <a:latin typeface="Arial" panose="020B0604020202020204" pitchFamily="34" charset="0"/>
            </a:endParaRPr>
          </a:p>
        </p:txBody>
      </p:sp>
      <p:sp>
        <p:nvSpPr>
          <p:cNvPr id="112" name="TextBox 111"/>
          <p:cNvSpPr txBox="1"/>
          <p:nvPr/>
        </p:nvSpPr>
        <p:spPr>
          <a:xfrm>
            <a:off x="566928" y="6419088"/>
            <a:ext cx="10972800" cy="123111"/>
          </a:xfrm>
          <a:prstGeom prst="rect">
            <a:avLst/>
          </a:prstGeom>
          <a:noFill/>
        </p:spPr>
        <p:txBody>
          <a:bodyPr wrap="square" lIns="0" tIns="0" rIns="0" bIns="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800" b="0" i="1" u="none" strike="noStrike" cap="none" normalizeH="0" baseline="0" err="1">
                <a:ln>
                  <a:noFill/>
                </a:ln>
                <a:solidFill>
                  <a:schemeClr val="tx1"/>
                </a:solidFill>
                <a:effectLst/>
                <a:latin typeface="Arial" panose="020B0604020202020204" pitchFamily="34" charset="0"/>
              </a:rPr>
              <a:t>Metrics</a:t>
            </a:r>
            <a:r>
              <a:rPr kumimoji="0" lang="pt-BR" altLang="pt-BR" sz="800" b="0" i="1" u="none" strike="noStrike" cap="none" normalizeH="0" baseline="0">
                <a:ln>
                  <a:noFill/>
                </a:ln>
                <a:solidFill>
                  <a:schemeClr val="tx1"/>
                </a:solidFill>
                <a:effectLst/>
                <a:latin typeface="Arial" panose="020B0604020202020204" pitchFamily="34" charset="0"/>
              </a:rPr>
              <a:t> </a:t>
            </a:r>
            <a:r>
              <a:rPr kumimoji="0" lang="pt-BR" altLang="pt-BR" sz="800" b="0" i="1" u="none" strike="noStrike" cap="none" normalizeH="0" baseline="0" err="1">
                <a:ln>
                  <a:noFill/>
                </a:ln>
                <a:solidFill>
                  <a:schemeClr val="tx1"/>
                </a:solidFill>
                <a:effectLst/>
                <a:latin typeface="Arial" panose="020B0604020202020204" pitchFamily="34" charset="0"/>
              </a:rPr>
              <a:t>marked</a:t>
            </a:r>
            <a:r>
              <a:rPr kumimoji="0" lang="pt-BR" altLang="pt-BR" sz="800" b="0" i="1" u="none" strike="noStrike" cap="none" normalizeH="0" baseline="0">
                <a:ln>
                  <a:noFill/>
                </a:ln>
                <a:solidFill>
                  <a:schemeClr val="tx1"/>
                </a:solidFill>
                <a:effectLst/>
                <a:latin typeface="Arial" panose="020B0604020202020204" pitchFamily="34" charset="0"/>
              </a:rPr>
              <a:t> </a:t>
            </a:r>
            <a:r>
              <a:rPr kumimoji="0" lang="pt-BR" altLang="pt-BR" sz="800" b="0" i="1" u="none" strike="noStrike" cap="none" normalizeH="0" baseline="0" err="1">
                <a:ln>
                  <a:noFill/>
                </a:ln>
                <a:solidFill>
                  <a:schemeClr val="tx1"/>
                </a:solidFill>
                <a:effectLst/>
                <a:latin typeface="Arial" panose="020B0604020202020204" pitchFamily="34" charset="0"/>
              </a:rPr>
              <a:t>with</a:t>
            </a:r>
            <a:r>
              <a:rPr kumimoji="0" lang="pt-BR" altLang="pt-BR" sz="800" b="0" i="1" u="none" strike="noStrike" cap="none" normalizeH="0" baseline="0">
                <a:ln>
                  <a:noFill/>
                </a:ln>
                <a:solidFill>
                  <a:schemeClr val="tx1"/>
                </a:solidFill>
                <a:effectLst/>
                <a:latin typeface="Arial" panose="020B0604020202020204" pitchFamily="34" charset="0"/>
              </a:rPr>
              <a:t> </a:t>
            </a:r>
            <a:r>
              <a:rPr kumimoji="0" lang="pt-BR" altLang="pt-BR" sz="800" b="0" i="1" u="none" strike="noStrike" cap="none" normalizeH="0" baseline="0" err="1">
                <a:ln>
                  <a:noFill/>
                </a:ln>
                <a:solidFill>
                  <a:schemeClr val="tx1"/>
                </a:solidFill>
                <a:effectLst/>
                <a:latin typeface="Arial" panose="020B0604020202020204" pitchFamily="34" charset="0"/>
              </a:rPr>
              <a:t>an</a:t>
            </a:r>
            <a:r>
              <a:rPr kumimoji="0" lang="pt-BR" altLang="pt-BR" sz="800" b="0" i="1" u="none" strike="noStrike" cap="none" normalizeH="0" baseline="0">
                <a:ln>
                  <a:noFill/>
                </a:ln>
                <a:solidFill>
                  <a:schemeClr val="tx1"/>
                </a:solidFill>
                <a:effectLst/>
                <a:latin typeface="Arial" panose="020B0604020202020204" pitchFamily="34" charset="0"/>
              </a:rPr>
              <a:t> </a:t>
            </a:r>
            <a:r>
              <a:rPr kumimoji="0" lang="pt-BR" altLang="pt-BR" sz="800" b="0" i="1" u="none" strike="noStrike" cap="none" normalizeH="0" baseline="0" err="1">
                <a:ln>
                  <a:noFill/>
                </a:ln>
                <a:solidFill>
                  <a:schemeClr val="tx1"/>
                </a:solidFill>
                <a:effectLst/>
                <a:latin typeface="Arial" panose="020B0604020202020204" pitchFamily="34" charset="0"/>
              </a:rPr>
              <a:t>asterisk</a:t>
            </a:r>
            <a:r>
              <a:rPr kumimoji="0" lang="pt-BR" altLang="pt-BR" sz="800" b="0" i="1" u="none" strike="noStrike" cap="none" normalizeH="0" baseline="0">
                <a:ln>
                  <a:noFill/>
                </a:ln>
                <a:solidFill>
                  <a:schemeClr val="tx1"/>
                </a:solidFill>
                <a:effectLst/>
                <a:latin typeface="Arial" panose="020B0604020202020204" pitchFamily="34" charset="0"/>
              </a:rPr>
              <a:t> are </a:t>
            </a:r>
            <a:r>
              <a:rPr kumimoji="0" lang="pt-BR" altLang="pt-BR" sz="800" b="0" i="1" u="none" strike="noStrike" cap="none" normalizeH="0" baseline="0" err="1">
                <a:ln>
                  <a:noFill/>
                </a:ln>
                <a:solidFill>
                  <a:schemeClr val="tx1"/>
                </a:solidFill>
                <a:effectLst/>
                <a:latin typeface="Arial" panose="020B0604020202020204" pitchFamily="34" charset="0"/>
              </a:rPr>
              <a:t>examples</a:t>
            </a:r>
            <a:r>
              <a:rPr kumimoji="0" lang="pt-BR" altLang="pt-BR" sz="800" b="0" i="1" u="none" strike="noStrike" cap="none" normalizeH="0" baseline="0">
                <a:ln>
                  <a:noFill/>
                </a:ln>
                <a:solidFill>
                  <a:schemeClr val="tx1"/>
                </a:solidFill>
                <a:effectLst/>
                <a:latin typeface="Arial" panose="020B0604020202020204" pitchFamily="34" charset="0"/>
              </a:rPr>
              <a:t> </a:t>
            </a:r>
            <a:r>
              <a:rPr kumimoji="0" lang="pt-BR" altLang="pt-BR" sz="800" b="0" i="1" u="none" strike="noStrike" cap="none" normalizeH="0" baseline="0" err="1">
                <a:ln>
                  <a:noFill/>
                </a:ln>
                <a:solidFill>
                  <a:schemeClr val="tx1"/>
                </a:solidFill>
                <a:effectLst/>
                <a:latin typeface="Arial" panose="020B0604020202020204" pitchFamily="34" charset="0"/>
              </a:rPr>
              <a:t>from</a:t>
            </a:r>
            <a:r>
              <a:rPr kumimoji="0" lang="pt-BR" altLang="pt-BR" sz="800" b="0" i="1" u="none" strike="noStrike" cap="none" normalizeH="0" baseline="0">
                <a:ln>
                  <a:noFill/>
                </a:ln>
                <a:solidFill>
                  <a:schemeClr val="tx1"/>
                </a:solidFill>
                <a:effectLst/>
                <a:latin typeface="Arial" panose="020B0604020202020204" pitchFamily="34" charset="0"/>
              </a:rPr>
              <a:t> </a:t>
            </a:r>
            <a:r>
              <a:rPr kumimoji="0" lang="pt-BR" altLang="pt-BR" sz="800" b="0" i="1" u="none" strike="noStrike" cap="none" normalizeH="0" baseline="0" err="1">
                <a:ln>
                  <a:noFill/>
                </a:ln>
                <a:solidFill>
                  <a:schemeClr val="tx1"/>
                </a:solidFill>
                <a:effectLst/>
                <a:latin typeface="Arial" panose="020B0604020202020204" pitchFamily="34" charset="0"/>
              </a:rPr>
              <a:t>weekly</a:t>
            </a:r>
            <a:r>
              <a:rPr kumimoji="0" lang="pt-BR" altLang="pt-BR" sz="800" b="0" i="1" u="none" strike="noStrike" cap="none" normalizeH="0" baseline="0">
                <a:ln>
                  <a:noFill/>
                </a:ln>
                <a:solidFill>
                  <a:schemeClr val="tx1"/>
                </a:solidFill>
                <a:effectLst/>
                <a:latin typeface="Arial" panose="020B0604020202020204" pitchFamily="34" charset="0"/>
              </a:rPr>
              <a:t>/</a:t>
            </a:r>
            <a:r>
              <a:rPr kumimoji="0" lang="pt-BR" altLang="pt-BR" sz="800" b="0" i="1" u="none" strike="noStrike" cap="none" normalizeH="0" baseline="0" err="1">
                <a:ln>
                  <a:noFill/>
                </a:ln>
                <a:solidFill>
                  <a:schemeClr val="tx1"/>
                </a:solidFill>
                <a:effectLst/>
                <a:latin typeface="Arial" panose="020B0604020202020204" pitchFamily="34" charset="0"/>
              </a:rPr>
              <a:t>touch-by-touch</a:t>
            </a:r>
            <a:r>
              <a:rPr kumimoji="0" lang="pt-BR" altLang="pt-BR" sz="800" b="0" i="1" u="none" strike="noStrike" cap="none" normalizeH="0" baseline="0">
                <a:ln>
                  <a:noFill/>
                </a:ln>
                <a:solidFill>
                  <a:schemeClr val="tx1"/>
                </a:solidFill>
                <a:effectLst/>
                <a:latin typeface="Arial" panose="020B0604020202020204" pitchFamily="34" charset="0"/>
              </a:rPr>
              <a:t> </a:t>
            </a:r>
            <a:r>
              <a:rPr kumimoji="0" lang="pt-BR" altLang="pt-BR" sz="800" b="0" i="1" u="none" strike="noStrike" cap="none" normalizeH="0" baseline="0" err="1">
                <a:ln>
                  <a:noFill/>
                </a:ln>
                <a:solidFill>
                  <a:schemeClr val="tx1"/>
                </a:solidFill>
                <a:effectLst/>
                <a:latin typeface="Arial" panose="020B0604020202020204" pitchFamily="34" charset="0"/>
              </a:rPr>
              <a:t>analyses</a:t>
            </a:r>
            <a:r>
              <a:rPr kumimoji="0" lang="pt-BR" altLang="pt-BR" sz="800" b="0" i="1" u="none" strike="noStrike" cap="none" normalizeH="0" baseline="0">
                <a:ln>
                  <a:noFill/>
                </a:ln>
                <a:solidFill>
                  <a:schemeClr val="tx1"/>
                </a:solidFill>
                <a:effectLst/>
                <a:latin typeface="Arial" panose="020B0604020202020204" pitchFamily="34" charset="0"/>
              </a:rPr>
              <a:t> and </a:t>
            </a:r>
            <a:r>
              <a:rPr kumimoji="0" lang="pt-BR" altLang="pt-BR" sz="800" b="0" i="1" u="none" strike="noStrike" cap="none" normalizeH="0" baseline="0" err="1">
                <a:ln>
                  <a:noFill/>
                </a:ln>
                <a:solidFill>
                  <a:schemeClr val="tx1"/>
                </a:solidFill>
                <a:effectLst/>
                <a:latin typeface="Arial" panose="020B0604020202020204" pitchFamily="34" charset="0"/>
              </a:rPr>
              <a:t>should</a:t>
            </a:r>
            <a:r>
              <a:rPr kumimoji="0" lang="pt-BR" altLang="pt-BR" sz="800" b="0" i="1" u="none" strike="noStrike" cap="none" normalizeH="0" baseline="0">
                <a:ln>
                  <a:noFill/>
                </a:ln>
                <a:solidFill>
                  <a:schemeClr val="tx1"/>
                </a:solidFill>
                <a:effectLst/>
                <a:latin typeface="Arial" panose="020B0604020202020204" pitchFamily="34" charset="0"/>
              </a:rPr>
              <a:t> </a:t>
            </a:r>
            <a:r>
              <a:rPr kumimoji="0" lang="pt-BR" altLang="pt-BR" sz="800" b="0" i="1" u="none" strike="noStrike" cap="none" normalizeH="0" baseline="0" err="1">
                <a:ln>
                  <a:noFill/>
                </a:ln>
                <a:solidFill>
                  <a:schemeClr val="tx1"/>
                </a:solidFill>
                <a:effectLst/>
                <a:latin typeface="Arial" panose="020B0604020202020204" pitchFamily="34" charset="0"/>
              </a:rPr>
              <a:t>be</a:t>
            </a:r>
            <a:r>
              <a:rPr kumimoji="0" lang="pt-BR" altLang="pt-BR" sz="800" b="0" i="1" u="none" strike="noStrike" cap="none" normalizeH="0" baseline="0">
                <a:ln>
                  <a:noFill/>
                </a:ln>
                <a:solidFill>
                  <a:schemeClr val="tx1"/>
                </a:solidFill>
                <a:effectLst/>
                <a:latin typeface="Arial" panose="020B0604020202020204" pitchFamily="34" charset="0"/>
              </a:rPr>
              <a:t> </a:t>
            </a:r>
            <a:r>
              <a:rPr kumimoji="0" lang="pt-BR" altLang="pt-BR" sz="800" b="0" i="1" u="none" strike="noStrike" cap="none" normalizeH="0" baseline="0" err="1">
                <a:ln>
                  <a:noFill/>
                </a:ln>
                <a:solidFill>
                  <a:schemeClr val="tx1"/>
                </a:solidFill>
                <a:effectLst/>
                <a:latin typeface="Arial" panose="020B0604020202020204" pitchFamily="34" charset="0"/>
              </a:rPr>
              <a:t>interpreted</a:t>
            </a:r>
            <a:r>
              <a:rPr kumimoji="0" lang="pt-BR" altLang="pt-BR" sz="800" b="0" i="1" u="none" strike="noStrike" cap="none" normalizeH="0" baseline="0">
                <a:ln>
                  <a:noFill/>
                </a:ln>
                <a:solidFill>
                  <a:schemeClr val="tx1"/>
                </a:solidFill>
                <a:effectLst/>
                <a:latin typeface="Arial" panose="020B0604020202020204" pitchFamily="34" charset="0"/>
              </a:rPr>
              <a:t> </a:t>
            </a:r>
            <a:r>
              <a:rPr kumimoji="0" lang="pt-BR" altLang="pt-BR" sz="800" b="0" i="1" u="none" strike="noStrike" cap="none" normalizeH="0" baseline="0" err="1">
                <a:ln>
                  <a:noFill/>
                </a:ln>
                <a:solidFill>
                  <a:schemeClr val="tx1"/>
                </a:solidFill>
                <a:effectLst/>
                <a:latin typeface="Arial" panose="020B0604020202020204" pitchFamily="34" charset="0"/>
              </a:rPr>
              <a:t>within</a:t>
            </a:r>
            <a:r>
              <a:rPr kumimoji="0" lang="pt-BR" altLang="pt-BR" sz="800" b="0" i="1" u="none" strike="noStrike" cap="none" normalizeH="0" baseline="0">
                <a:ln>
                  <a:noFill/>
                </a:ln>
                <a:solidFill>
                  <a:schemeClr val="tx1"/>
                </a:solidFill>
                <a:effectLst/>
                <a:latin typeface="Arial" panose="020B0604020202020204" pitchFamily="34" charset="0"/>
              </a:rPr>
              <a:t> </a:t>
            </a:r>
            <a:r>
              <a:rPr kumimoji="0" lang="pt-BR" altLang="pt-BR" sz="800" b="0" i="1" u="none" strike="noStrike" cap="none" normalizeH="0" baseline="0" err="1">
                <a:ln>
                  <a:noFill/>
                </a:ln>
                <a:solidFill>
                  <a:schemeClr val="tx1"/>
                </a:solidFill>
                <a:effectLst/>
                <a:latin typeface="Arial" panose="020B0604020202020204" pitchFamily="34" charset="0"/>
              </a:rPr>
              <a:t>the</a:t>
            </a:r>
            <a:r>
              <a:rPr kumimoji="0" lang="pt-BR" altLang="pt-BR" sz="800" b="0" i="1" u="none" strike="noStrike" cap="none" normalizeH="0" baseline="0">
                <a:ln>
                  <a:noFill/>
                </a:ln>
                <a:solidFill>
                  <a:schemeClr val="tx1"/>
                </a:solidFill>
                <a:effectLst/>
                <a:latin typeface="Arial" panose="020B0604020202020204" pitchFamily="34" charset="0"/>
              </a:rPr>
              <a:t> </a:t>
            </a:r>
            <a:r>
              <a:rPr kumimoji="0" lang="pt-BR" altLang="pt-BR" sz="800" b="0" i="1" u="none" strike="noStrike" cap="none" normalizeH="0" baseline="0" err="1">
                <a:ln>
                  <a:noFill/>
                </a:ln>
                <a:solidFill>
                  <a:schemeClr val="tx1"/>
                </a:solidFill>
                <a:effectLst/>
                <a:latin typeface="Arial" panose="020B0604020202020204" pitchFamily="34" charset="0"/>
              </a:rPr>
              <a:t>context</a:t>
            </a:r>
            <a:r>
              <a:rPr kumimoji="0" lang="pt-BR" altLang="pt-BR" sz="800" b="0" i="1" u="none" strike="noStrike" cap="none" normalizeH="0" baseline="0">
                <a:ln>
                  <a:noFill/>
                </a:ln>
                <a:solidFill>
                  <a:schemeClr val="tx1"/>
                </a:solidFill>
                <a:effectLst/>
                <a:latin typeface="Arial" panose="020B0604020202020204" pitchFamily="34" charset="0"/>
              </a:rPr>
              <a:t> </a:t>
            </a:r>
            <a:r>
              <a:rPr kumimoji="0" lang="pt-BR" altLang="pt-BR" sz="800" b="0" i="1" u="none" strike="noStrike" cap="none" normalizeH="0" baseline="0" err="1">
                <a:ln>
                  <a:noFill/>
                </a:ln>
                <a:solidFill>
                  <a:schemeClr val="tx1"/>
                </a:solidFill>
                <a:effectLst/>
                <a:latin typeface="Arial" panose="020B0604020202020204" pitchFamily="34" charset="0"/>
              </a:rPr>
              <a:t>of</a:t>
            </a:r>
            <a:r>
              <a:rPr kumimoji="0" lang="pt-BR" altLang="pt-BR" sz="800" b="0" i="1" u="none" strike="noStrike" cap="none" normalizeH="0" baseline="0">
                <a:ln>
                  <a:noFill/>
                </a:ln>
                <a:solidFill>
                  <a:schemeClr val="tx1"/>
                </a:solidFill>
                <a:effectLst/>
                <a:latin typeface="Arial" panose="020B0604020202020204" pitchFamily="34" charset="0"/>
              </a:rPr>
              <a:t> </a:t>
            </a:r>
            <a:r>
              <a:rPr kumimoji="0" lang="pt-BR" altLang="pt-BR" sz="800" b="0" i="1" u="none" strike="noStrike" cap="none" normalizeH="0" baseline="0" err="1">
                <a:ln>
                  <a:noFill/>
                </a:ln>
                <a:solidFill>
                  <a:schemeClr val="tx1"/>
                </a:solidFill>
                <a:effectLst/>
                <a:latin typeface="Arial" panose="020B0604020202020204" pitchFamily="34" charset="0"/>
              </a:rPr>
              <a:t>each</a:t>
            </a:r>
            <a:r>
              <a:rPr kumimoji="0" lang="pt-BR" altLang="pt-BR" sz="800" b="0" i="1" u="none" strike="noStrike" cap="none" normalizeH="0" baseline="0">
                <a:ln>
                  <a:noFill/>
                </a:ln>
                <a:solidFill>
                  <a:schemeClr val="tx1"/>
                </a:solidFill>
                <a:effectLst/>
                <a:latin typeface="Arial" panose="020B0604020202020204" pitchFamily="34" charset="0"/>
              </a:rPr>
              <a:t> </a:t>
            </a:r>
            <a:r>
              <a:rPr kumimoji="0" lang="pt-BR" altLang="pt-BR" sz="800" b="0" i="1" u="none" strike="noStrike" cap="none" normalizeH="0" baseline="0" err="1">
                <a:ln>
                  <a:noFill/>
                </a:ln>
                <a:solidFill>
                  <a:schemeClr val="tx1"/>
                </a:solidFill>
                <a:effectLst/>
                <a:latin typeface="Arial" panose="020B0604020202020204" pitchFamily="34" charset="0"/>
              </a:rPr>
              <a:t>campaign</a:t>
            </a:r>
            <a:r>
              <a:rPr kumimoji="0" lang="pt-BR" altLang="pt-BR" sz="800" b="0" i="1" u="none" strike="noStrike" cap="none" normalizeH="0" baseline="0">
                <a:ln>
                  <a:noFill/>
                </a:ln>
                <a:solidFill>
                  <a:schemeClr val="tx1"/>
                </a:solidFill>
                <a:effectLst/>
                <a:latin typeface="Arial" panose="020B0604020202020204" pitchFamily="34" charset="0"/>
              </a:rPr>
              <a:t>.</a:t>
            </a:r>
            <a:endParaRPr kumimoji="0" lang="pt-BR" altLang="pt-BR" sz="800" b="0" i="0" u="none" strike="noStrike" cap="none" normalizeH="0" baseline="0">
              <a:ln>
                <a:noFill/>
              </a:ln>
              <a:solidFill>
                <a:schemeClr val="tx1"/>
              </a:solidFill>
              <a:effectLst/>
              <a:latin typeface="Arial" panose="020B0604020202020204" pitchFamily="34" charset="0"/>
            </a:endParaRPr>
          </a:p>
        </p:txBody>
      </p:sp>
      <p:sp>
        <p:nvSpPr>
          <p:cNvPr id="114" name="Título 1">
            <a:extLst>
              <a:ext uri="{FF2B5EF4-FFF2-40B4-BE49-F238E27FC236}">
                <a16:creationId xmlns:a16="http://schemas.microsoft.com/office/drawing/2014/main" id="{5642E48D-F17A-4383-8B7E-B502D91F9127}"/>
              </a:ext>
            </a:extLst>
          </p:cNvPr>
          <p:cNvSpPr txBox="1"/>
          <p:nvPr/>
        </p:nvSpPr>
        <p:spPr>
          <a:xfrm>
            <a:off x="207355" y="86336"/>
            <a:ext cx="8453563" cy="483772"/>
          </a:xfrm>
          <a:prstGeom prst="rect">
            <a:avLst/>
          </a:prstGeom>
          <a:noFill/>
          <a:ln cap="flat">
            <a:noFill/>
          </a:ln>
        </p:spPr>
        <p:txBody>
          <a:bodyPr vert="horz" wrap="square" lIns="75730" tIns="37865" rIns="75730" bIns="37865" anchor="ctr" anchorCtr="0" compatLnSpc="1">
            <a:noAutofit/>
          </a:bodyPr>
          <a:lstStyle/>
          <a:p>
            <a:pPr marL="0" marR="0" lvl="0" indent="0" algn="l" defTabSz="914400" rtl="0" eaLnBrk="1" fontAlgn="auto" latinLnBrk="0" hangingPunct="1">
              <a:lnSpc>
                <a:spcPct val="90000"/>
              </a:lnSpc>
              <a:spcBef>
                <a:spcPts val="0"/>
              </a:spcBef>
              <a:spcAft>
                <a:spcPts val="0"/>
              </a:spcAft>
              <a:buClrTx/>
              <a:buSzTx/>
              <a:buFontTx/>
              <a:buNone/>
              <a:tabLst/>
              <a:defRPr sz="1800" b="0" i="0" u="none" strike="noStrike" kern="0" cap="none" spc="0" baseline="0">
                <a:solidFill>
                  <a:srgbClr val="000000"/>
                </a:solidFill>
                <a:uFillTx/>
              </a:defRPr>
            </a:pPr>
            <a:r>
              <a:rPr kumimoji="0" lang="en-GB" sz="2000" b="1" i="0" u="none" strike="noStrike" kern="0" cap="none" spc="0" normalizeH="0" baseline="0" noProof="0">
                <a:ln>
                  <a:noFill/>
                </a:ln>
                <a:solidFill>
                  <a:srgbClr val="000000"/>
                </a:solidFill>
                <a:effectLst/>
                <a:uLnTx/>
                <a:uFillTx/>
                <a:latin typeface="Roboto"/>
                <a:ea typeface="Roboto"/>
                <a:cs typeface="+mn-cs"/>
              </a:rPr>
              <a:t>GTM | </a:t>
            </a:r>
            <a:r>
              <a:rPr kumimoji="0" lang="pt-BR" sz="2000" b="1" i="0" u="none" strike="noStrike" kern="0" cap="none" spc="0" normalizeH="0" baseline="0" noProof="0">
                <a:ln>
                  <a:noFill/>
                </a:ln>
                <a:solidFill>
                  <a:srgbClr val="1428A0"/>
                </a:solidFill>
                <a:effectLst/>
                <a:uLnTx/>
                <a:uFillTx/>
                <a:latin typeface="Roboto"/>
                <a:ea typeface="Roboto"/>
                <a:cs typeface="+mn-cs"/>
              </a:rPr>
              <a:t>Ago’26 Scorecard por Objetivo de Campanha</a:t>
            </a:r>
            <a:endParaRPr kumimoji="0" lang="en-GB" sz="2000" b="1" i="0" u="none" strike="noStrike" kern="0" cap="none" spc="0" normalizeH="0" baseline="0" noProof="0">
              <a:ln>
                <a:noFill/>
              </a:ln>
              <a:solidFill>
                <a:srgbClr val="1428A0"/>
              </a:solidFill>
              <a:effectLst/>
              <a:uLnTx/>
              <a:uFillTx/>
              <a:latin typeface="Roboto"/>
              <a:ea typeface="Roboto"/>
              <a:cs typeface="+mn-cs"/>
            </a:endParaRPr>
          </a:p>
        </p:txBody>
      </p:sp>
      <p:sp>
        <p:nvSpPr>
          <p:cNvPr id="118" name="Rectangle 4">
            <a:extLst>
              <a:ext uri="{FF2B5EF4-FFF2-40B4-BE49-F238E27FC236}">
                <a16:creationId xmlns:a16="http://schemas.microsoft.com/office/drawing/2014/main" id="{8C150E07-15A7-47DD-A322-1560C96583D4}"/>
              </a:ext>
            </a:extLst>
          </p:cNvPr>
          <p:cNvSpPr/>
          <p:nvPr/>
        </p:nvSpPr>
        <p:spPr>
          <a:xfrm>
            <a:off x="987552" y="1322927"/>
            <a:ext cx="1600200" cy="384048"/>
          </a:xfrm>
          <a:prstGeom prst="rect">
            <a:avLst/>
          </a:prstGeom>
          <a:solidFill>
            <a:srgbClr val="2C4F89"/>
          </a:solidFill>
          <a:ln>
            <a:solidFill>
              <a:srgbClr val="2C4F8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19" name="TextBox 5">
            <a:extLst>
              <a:ext uri="{FF2B5EF4-FFF2-40B4-BE49-F238E27FC236}">
                <a16:creationId xmlns:a16="http://schemas.microsoft.com/office/drawing/2014/main" id="{2E6C63EE-D7D4-4476-973A-96E26B57A952}"/>
              </a:ext>
            </a:extLst>
          </p:cNvPr>
          <p:cNvSpPr txBox="1"/>
          <p:nvPr/>
        </p:nvSpPr>
        <p:spPr>
          <a:xfrm>
            <a:off x="987552" y="1405754"/>
            <a:ext cx="1600200" cy="218393"/>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819" b="1" i="0" u="none" strike="noStrike" kern="1200" cap="none" spc="0" normalizeH="0" baseline="0" noProof="0">
                <a:ln>
                  <a:noFill/>
                </a:ln>
                <a:solidFill>
                  <a:srgbClr val="FFFFFF"/>
                </a:solidFill>
                <a:effectLst/>
                <a:uLnTx/>
                <a:uFillTx/>
                <a:latin typeface="Arial"/>
                <a:ea typeface="+mn-ea"/>
                <a:cs typeface="+mn-cs"/>
              </a:rPr>
              <a:t>CAMPAIGN</a:t>
            </a:r>
          </a:p>
        </p:txBody>
      </p:sp>
      <p:sp>
        <p:nvSpPr>
          <p:cNvPr id="120" name="Rectangle 6">
            <a:extLst>
              <a:ext uri="{FF2B5EF4-FFF2-40B4-BE49-F238E27FC236}">
                <a16:creationId xmlns:a16="http://schemas.microsoft.com/office/drawing/2014/main" id="{54A35672-4598-4971-B451-086B8010C5B2}"/>
              </a:ext>
            </a:extLst>
          </p:cNvPr>
          <p:cNvSpPr/>
          <p:nvPr/>
        </p:nvSpPr>
        <p:spPr>
          <a:xfrm>
            <a:off x="2633472" y="1322927"/>
            <a:ext cx="1234440" cy="384048"/>
          </a:xfrm>
          <a:prstGeom prst="rect">
            <a:avLst/>
          </a:prstGeom>
          <a:solidFill>
            <a:srgbClr val="2C4F89"/>
          </a:solidFill>
          <a:ln>
            <a:solidFill>
              <a:srgbClr val="2C4F8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21" name="TextBox 7">
            <a:extLst>
              <a:ext uri="{FF2B5EF4-FFF2-40B4-BE49-F238E27FC236}">
                <a16:creationId xmlns:a16="http://schemas.microsoft.com/office/drawing/2014/main" id="{44385924-B216-4D8E-A4A2-83BADC28F443}"/>
              </a:ext>
            </a:extLst>
          </p:cNvPr>
          <p:cNvSpPr txBox="1"/>
          <p:nvPr/>
        </p:nvSpPr>
        <p:spPr>
          <a:xfrm>
            <a:off x="2633472" y="1405754"/>
            <a:ext cx="1234440" cy="218393"/>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819" b="1" i="0" u="none" strike="noStrike" kern="1200" cap="none" spc="0" normalizeH="0" baseline="0" noProof="0">
                <a:ln>
                  <a:noFill/>
                </a:ln>
                <a:solidFill>
                  <a:srgbClr val="FFFFFF"/>
                </a:solidFill>
                <a:effectLst/>
                <a:uLnTx/>
                <a:uFillTx/>
                <a:latin typeface="Arial"/>
                <a:ea typeface="+mn-ea"/>
                <a:cs typeface="+mn-cs"/>
              </a:rPr>
              <a:t>OBJECTIVE</a:t>
            </a:r>
          </a:p>
        </p:txBody>
      </p:sp>
      <p:sp>
        <p:nvSpPr>
          <p:cNvPr id="122" name="Rectangle 8">
            <a:extLst>
              <a:ext uri="{FF2B5EF4-FFF2-40B4-BE49-F238E27FC236}">
                <a16:creationId xmlns:a16="http://schemas.microsoft.com/office/drawing/2014/main" id="{F9646DDD-0659-4C57-BDA9-4E884F6E6DC8}"/>
              </a:ext>
            </a:extLst>
          </p:cNvPr>
          <p:cNvSpPr/>
          <p:nvPr/>
        </p:nvSpPr>
        <p:spPr>
          <a:xfrm>
            <a:off x="3913632" y="1322927"/>
            <a:ext cx="1417320" cy="384048"/>
          </a:xfrm>
          <a:prstGeom prst="rect">
            <a:avLst/>
          </a:prstGeom>
          <a:solidFill>
            <a:srgbClr val="2C4F89"/>
          </a:solidFill>
          <a:ln>
            <a:solidFill>
              <a:srgbClr val="2C4F8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23" name="TextBox 9">
            <a:extLst>
              <a:ext uri="{FF2B5EF4-FFF2-40B4-BE49-F238E27FC236}">
                <a16:creationId xmlns:a16="http://schemas.microsoft.com/office/drawing/2014/main" id="{BB8884D0-38C9-48B9-9770-6BFA9852CFC6}"/>
              </a:ext>
            </a:extLst>
          </p:cNvPr>
          <p:cNvSpPr txBox="1"/>
          <p:nvPr/>
        </p:nvSpPr>
        <p:spPr>
          <a:xfrm>
            <a:off x="3913632" y="1405754"/>
            <a:ext cx="1417320" cy="218393"/>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819" b="1" i="0" u="none" strike="noStrike" kern="1200" cap="none" spc="0" normalizeH="0" baseline="0" noProof="0">
                <a:ln>
                  <a:noFill/>
                </a:ln>
                <a:solidFill>
                  <a:srgbClr val="FFFFFF"/>
                </a:solidFill>
                <a:effectLst/>
                <a:uLnTx/>
                <a:uFillTx/>
                <a:latin typeface="Arial"/>
                <a:ea typeface="+mn-ea"/>
                <a:cs typeface="+mn-cs"/>
              </a:rPr>
              <a:t>SUCCESS KPI</a:t>
            </a:r>
          </a:p>
        </p:txBody>
      </p:sp>
      <p:sp>
        <p:nvSpPr>
          <p:cNvPr id="124" name="Rectangle 10">
            <a:extLst>
              <a:ext uri="{FF2B5EF4-FFF2-40B4-BE49-F238E27FC236}">
                <a16:creationId xmlns:a16="http://schemas.microsoft.com/office/drawing/2014/main" id="{00AFB16A-16F5-424C-86B3-E98D3F60E769}"/>
              </a:ext>
            </a:extLst>
          </p:cNvPr>
          <p:cNvSpPr/>
          <p:nvPr/>
        </p:nvSpPr>
        <p:spPr>
          <a:xfrm>
            <a:off x="5376672" y="1322927"/>
            <a:ext cx="1600200" cy="384048"/>
          </a:xfrm>
          <a:prstGeom prst="rect">
            <a:avLst/>
          </a:prstGeom>
          <a:solidFill>
            <a:srgbClr val="2C4F89"/>
          </a:solidFill>
          <a:ln>
            <a:solidFill>
              <a:srgbClr val="2C4F8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25" name="TextBox 11">
            <a:extLst>
              <a:ext uri="{FF2B5EF4-FFF2-40B4-BE49-F238E27FC236}">
                <a16:creationId xmlns:a16="http://schemas.microsoft.com/office/drawing/2014/main" id="{F299FD7F-D916-4B16-82F8-2B771FA40339}"/>
              </a:ext>
            </a:extLst>
          </p:cNvPr>
          <p:cNvSpPr txBox="1"/>
          <p:nvPr/>
        </p:nvSpPr>
        <p:spPr>
          <a:xfrm>
            <a:off x="5376672" y="1405754"/>
            <a:ext cx="1600200" cy="218393"/>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819" b="1" i="0" u="none" strike="noStrike" kern="1200" cap="none" spc="0" normalizeH="0" baseline="0" noProof="0">
                <a:ln>
                  <a:noFill/>
                </a:ln>
                <a:solidFill>
                  <a:srgbClr val="FFFFFF"/>
                </a:solidFill>
                <a:effectLst/>
                <a:uLnTx/>
                <a:uFillTx/>
                <a:latin typeface="Arial"/>
                <a:ea typeface="+mn-ea"/>
                <a:cs typeface="+mn-cs"/>
              </a:rPr>
              <a:t>EVIDENCE</a:t>
            </a:r>
          </a:p>
        </p:txBody>
      </p:sp>
      <p:sp>
        <p:nvSpPr>
          <p:cNvPr id="126" name="Rectangle 12">
            <a:extLst>
              <a:ext uri="{FF2B5EF4-FFF2-40B4-BE49-F238E27FC236}">
                <a16:creationId xmlns:a16="http://schemas.microsoft.com/office/drawing/2014/main" id="{47071298-AC85-43BD-9190-A3FD64A49611}"/>
              </a:ext>
            </a:extLst>
          </p:cNvPr>
          <p:cNvSpPr/>
          <p:nvPr/>
        </p:nvSpPr>
        <p:spPr>
          <a:xfrm>
            <a:off x="7022592" y="1322927"/>
            <a:ext cx="1874519" cy="384048"/>
          </a:xfrm>
          <a:prstGeom prst="rect">
            <a:avLst/>
          </a:prstGeom>
          <a:solidFill>
            <a:srgbClr val="2C4F89"/>
          </a:solidFill>
          <a:ln>
            <a:solidFill>
              <a:srgbClr val="2C4F8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27" name="TextBox 13">
            <a:extLst>
              <a:ext uri="{FF2B5EF4-FFF2-40B4-BE49-F238E27FC236}">
                <a16:creationId xmlns:a16="http://schemas.microsoft.com/office/drawing/2014/main" id="{7719D775-15B8-4B30-8473-DEB7BE8E1BF3}"/>
              </a:ext>
            </a:extLst>
          </p:cNvPr>
          <p:cNvSpPr txBox="1"/>
          <p:nvPr/>
        </p:nvSpPr>
        <p:spPr>
          <a:xfrm>
            <a:off x="7022592" y="1405754"/>
            <a:ext cx="1874519" cy="218393"/>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819" b="1" i="0" u="none" strike="noStrike" kern="1200" cap="none" spc="0" normalizeH="0" baseline="0" noProof="0">
                <a:ln>
                  <a:noFill/>
                </a:ln>
                <a:solidFill>
                  <a:srgbClr val="FFFFFF"/>
                </a:solidFill>
                <a:effectLst/>
                <a:uLnTx/>
                <a:uFillTx/>
                <a:latin typeface="Arial"/>
                <a:ea typeface="+mn-ea"/>
                <a:cs typeface="+mn-cs"/>
              </a:rPr>
              <a:t>KEY LEARNING</a:t>
            </a:r>
          </a:p>
        </p:txBody>
      </p:sp>
      <p:sp>
        <p:nvSpPr>
          <p:cNvPr id="128" name="Rectangle 14">
            <a:extLst>
              <a:ext uri="{FF2B5EF4-FFF2-40B4-BE49-F238E27FC236}">
                <a16:creationId xmlns:a16="http://schemas.microsoft.com/office/drawing/2014/main" id="{90BFAB74-CDE5-41A3-BDBB-C091F880C82C}"/>
              </a:ext>
            </a:extLst>
          </p:cNvPr>
          <p:cNvSpPr/>
          <p:nvPr/>
        </p:nvSpPr>
        <p:spPr>
          <a:xfrm>
            <a:off x="8942832" y="1322927"/>
            <a:ext cx="1051560" cy="384048"/>
          </a:xfrm>
          <a:prstGeom prst="rect">
            <a:avLst/>
          </a:prstGeom>
          <a:solidFill>
            <a:srgbClr val="2C4F89"/>
          </a:solidFill>
          <a:ln>
            <a:solidFill>
              <a:srgbClr val="2C4F8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29" name="TextBox 15">
            <a:extLst>
              <a:ext uri="{FF2B5EF4-FFF2-40B4-BE49-F238E27FC236}">
                <a16:creationId xmlns:a16="http://schemas.microsoft.com/office/drawing/2014/main" id="{CE51D2AC-C747-4FC1-93AD-B6D1199B7ABE}"/>
              </a:ext>
            </a:extLst>
          </p:cNvPr>
          <p:cNvSpPr txBox="1"/>
          <p:nvPr/>
        </p:nvSpPr>
        <p:spPr>
          <a:xfrm>
            <a:off x="8942832" y="1322927"/>
            <a:ext cx="1051560" cy="384048"/>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819" b="1" i="0" u="none" strike="noStrike" kern="1200" cap="none" spc="0" normalizeH="0" baseline="0" noProof="0">
                <a:ln>
                  <a:noFill/>
                </a:ln>
                <a:solidFill>
                  <a:srgbClr val="FFFFFF"/>
                </a:solidFill>
                <a:effectLst/>
                <a:uLnTx/>
                <a:uFillTx/>
                <a:latin typeface="Arial"/>
                <a:ea typeface="+mn-ea"/>
                <a:cs typeface="+mn-cs"/>
              </a:rPr>
              <a:t>STATUS</a:t>
            </a:r>
          </a:p>
        </p:txBody>
      </p:sp>
      <p:sp>
        <p:nvSpPr>
          <p:cNvPr id="130" name="Rectangle 16">
            <a:extLst>
              <a:ext uri="{FF2B5EF4-FFF2-40B4-BE49-F238E27FC236}">
                <a16:creationId xmlns:a16="http://schemas.microsoft.com/office/drawing/2014/main" id="{054C721F-4C20-441E-848C-BDA963314C2F}"/>
              </a:ext>
            </a:extLst>
          </p:cNvPr>
          <p:cNvSpPr/>
          <p:nvPr/>
        </p:nvSpPr>
        <p:spPr>
          <a:xfrm>
            <a:off x="10040112" y="1322927"/>
            <a:ext cx="1435608" cy="384048"/>
          </a:xfrm>
          <a:prstGeom prst="rect">
            <a:avLst/>
          </a:prstGeom>
          <a:solidFill>
            <a:srgbClr val="2C4F89"/>
          </a:solidFill>
          <a:ln>
            <a:solidFill>
              <a:srgbClr val="2C4F8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31" name="TextBox 17">
            <a:extLst>
              <a:ext uri="{FF2B5EF4-FFF2-40B4-BE49-F238E27FC236}">
                <a16:creationId xmlns:a16="http://schemas.microsoft.com/office/drawing/2014/main" id="{E9812311-2FED-45E8-9BFC-6CC5BC58657E}"/>
              </a:ext>
            </a:extLst>
          </p:cNvPr>
          <p:cNvSpPr txBox="1"/>
          <p:nvPr/>
        </p:nvSpPr>
        <p:spPr>
          <a:xfrm>
            <a:off x="10040112" y="1405754"/>
            <a:ext cx="1435608" cy="218393"/>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819" b="1" i="0" u="none" strike="noStrike" kern="1200" cap="none" spc="0" normalizeH="0" baseline="0" noProof="0">
                <a:ln>
                  <a:noFill/>
                </a:ln>
                <a:solidFill>
                  <a:srgbClr val="FFFFFF"/>
                </a:solidFill>
                <a:effectLst/>
                <a:uLnTx/>
                <a:uFillTx/>
                <a:latin typeface="Arial"/>
                <a:ea typeface="+mn-ea"/>
                <a:cs typeface="+mn-cs"/>
              </a:rPr>
              <a:t>HOW TO EVOLVE</a:t>
            </a:r>
          </a:p>
        </p:txBody>
      </p:sp>
      <p:sp>
        <p:nvSpPr>
          <p:cNvPr id="132" name="Rectangle 18">
            <a:extLst>
              <a:ext uri="{FF2B5EF4-FFF2-40B4-BE49-F238E27FC236}">
                <a16:creationId xmlns:a16="http://schemas.microsoft.com/office/drawing/2014/main" id="{D22A78C0-8C09-404A-BEA2-3320D6FFDA0A}"/>
              </a:ext>
            </a:extLst>
          </p:cNvPr>
          <p:cNvSpPr/>
          <p:nvPr/>
        </p:nvSpPr>
        <p:spPr>
          <a:xfrm>
            <a:off x="987552" y="1734407"/>
            <a:ext cx="1600200" cy="502919"/>
          </a:xfrm>
          <a:prstGeom prst="rect">
            <a:avLst/>
          </a:prstGeom>
          <a:solidFill>
            <a:srgbClr val="F7F7F7"/>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33" name="Rectangle 19">
            <a:extLst>
              <a:ext uri="{FF2B5EF4-FFF2-40B4-BE49-F238E27FC236}">
                <a16:creationId xmlns:a16="http://schemas.microsoft.com/office/drawing/2014/main" id="{4C450E45-1F8B-4D94-97A2-61DBFF1CA5B5}"/>
              </a:ext>
            </a:extLst>
          </p:cNvPr>
          <p:cNvSpPr/>
          <p:nvPr/>
        </p:nvSpPr>
        <p:spPr>
          <a:xfrm>
            <a:off x="2633472" y="1734407"/>
            <a:ext cx="1234440" cy="502919"/>
          </a:xfrm>
          <a:prstGeom prst="rect">
            <a:avLst/>
          </a:prstGeom>
          <a:solidFill>
            <a:srgbClr val="F7F7F7"/>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34" name="Rectangle 20">
            <a:extLst>
              <a:ext uri="{FF2B5EF4-FFF2-40B4-BE49-F238E27FC236}">
                <a16:creationId xmlns:a16="http://schemas.microsoft.com/office/drawing/2014/main" id="{2A8E1F06-4B4E-40C1-BA90-DCA249218D1F}"/>
              </a:ext>
            </a:extLst>
          </p:cNvPr>
          <p:cNvSpPr/>
          <p:nvPr/>
        </p:nvSpPr>
        <p:spPr>
          <a:xfrm>
            <a:off x="3913632" y="1734407"/>
            <a:ext cx="1417320" cy="502919"/>
          </a:xfrm>
          <a:prstGeom prst="rect">
            <a:avLst/>
          </a:prstGeom>
          <a:solidFill>
            <a:srgbClr val="F7F7F7"/>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35" name="Rectangle 21">
            <a:extLst>
              <a:ext uri="{FF2B5EF4-FFF2-40B4-BE49-F238E27FC236}">
                <a16:creationId xmlns:a16="http://schemas.microsoft.com/office/drawing/2014/main" id="{0E4667D1-E34E-4969-BBE1-F3A905733CBF}"/>
              </a:ext>
            </a:extLst>
          </p:cNvPr>
          <p:cNvSpPr/>
          <p:nvPr/>
        </p:nvSpPr>
        <p:spPr>
          <a:xfrm>
            <a:off x="5376672" y="1734407"/>
            <a:ext cx="1600200" cy="502919"/>
          </a:xfrm>
          <a:prstGeom prst="rect">
            <a:avLst/>
          </a:prstGeom>
          <a:solidFill>
            <a:srgbClr val="F7F7F7"/>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36" name="Rectangle 22">
            <a:extLst>
              <a:ext uri="{FF2B5EF4-FFF2-40B4-BE49-F238E27FC236}">
                <a16:creationId xmlns:a16="http://schemas.microsoft.com/office/drawing/2014/main" id="{018DE56A-748E-4BA5-AB9A-1B19E4995FB4}"/>
              </a:ext>
            </a:extLst>
          </p:cNvPr>
          <p:cNvSpPr/>
          <p:nvPr/>
        </p:nvSpPr>
        <p:spPr>
          <a:xfrm>
            <a:off x="7022592" y="1734407"/>
            <a:ext cx="1874519" cy="502919"/>
          </a:xfrm>
          <a:prstGeom prst="rect">
            <a:avLst/>
          </a:prstGeom>
          <a:solidFill>
            <a:srgbClr val="F7F7F7"/>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37" name="Rectangle 23">
            <a:extLst>
              <a:ext uri="{FF2B5EF4-FFF2-40B4-BE49-F238E27FC236}">
                <a16:creationId xmlns:a16="http://schemas.microsoft.com/office/drawing/2014/main" id="{DEDC3B58-CE75-4983-BF63-319DAE4EF318}"/>
              </a:ext>
            </a:extLst>
          </p:cNvPr>
          <p:cNvSpPr/>
          <p:nvPr/>
        </p:nvSpPr>
        <p:spPr>
          <a:xfrm>
            <a:off x="8942832" y="1734407"/>
            <a:ext cx="1051560" cy="502919"/>
          </a:xfrm>
          <a:prstGeom prst="rect">
            <a:avLst/>
          </a:prstGeom>
          <a:solidFill>
            <a:srgbClr val="F7F7F7"/>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38" name="Rectangle 24">
            <a:extLst>
              <a:ext uri="{FF2B5EF4-FFF2-40B4-BE49-F238E27FC236}">
                <a16:creationId xmlns:a16="http://schemas.microsoft.com/office/drawing/2014/main" id="{1816F446-6C21-450C-867C-84918B165927}"/>
              </a:ext>
            </a:extLst>
          </p:cNvPr>
          <p:cNvSpPr/>
          <p:nvPr/>
        </p:nvSpPr>
        <p:spPr>
          <a:xfrm>
            <a:off x="10040112" y="1734407"/>
            <a:ext cx="1435608" cy="502919"/>
          </a:xfrm>
          <a:prstGeom prst="rect">
            <a:avLst/>
          </a:prstGeom>
          <a:solidFill>
            <a:srgbClr val="F7F7F7"/>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39" name="TextBox 25">
            <a:extLst>
              <a:ext uri="{FF2B5EF4-FFF2-40B4-BE49-F238E27FC236}">
                <a16:creationId xmlns:a16="http://schemas.microsoft.com/office/drawing/2014/main" id="{EEF22247-E3C4-467A-9F38-18A5DAC65E91}"/>
              </a:ext>
            </a:extLst>
          </p:cNvPr>
          <p:cNvSpPr txBox="1"/>
          <p:nvPr/>
        </p:nvSpPr>
        <p:spPr>
          <a:xfrm>
            <a:off x="1051560" y="1752695"/>
            <a:ext cx="1444752" cy="466344"/>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40" b="1" i="0" u="none" strike="noStrike" kern="1200" cap="none" spc="0" normalizeH="0" baseline="0" noProof="0">
                <a:ln>
                  <a:noFill/>
                </a:ln>
                <a:solidFill>
                  <a:srgbClr val="141414"/>
                </a:solidFill>
                <a:effectLst/>
                <a:uLnTx/>
                <a:uFillTx/>
                <a:latin typeface="Arial"/>
                <a:ea typeface="+mn-ea"/>
                <a:cs typeface="+mn-cs"/>
              </a:rPr>
              <a:t>VD One</a:t>
            </a:r>
          </a:p>
        </p:txBody>
      </p:sp>
      <p:sp>
        <p:nvSpPr>
          <p:cNvPr id="140" name="TextBox 26">
            <a:extLst>
              <a:ext uri="{FF2B5EF4-FFF2-40B4-BE49-F238E27FC236}">
                <a16:creationId xmlns:a16="http://schemas.microsoft.com/office/drawing/2014/main" id="{52F865D7-EAC4-4CCD-A1CD-DEB8740555AA}"/>
              </a:ext>
            </a:extLst>
          </p:cNvPr>
          <p:cNvSpPr txBox="1"/>
          <p:nvPr/>
        </p:nvSpPr>
        <p:spPr>
          <a:xfrm>
            <a:off x="2697480" y="1752695"/>
            <a:ext cx="1097280" cy="466344"/>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80" b="0" i="0" u="none" strike="noStrike" kern="1200" cap="none" spc="0" normalizeH="0" baseline="0" noProof="0">
                <a:ln>
                  <a:noFill/>
                </a:ln>
                <a:solidFill>
                  <a:srgbClr val="141414"/>
                </a:solidFill>
                <a:effectLst/>
                <a:uLnTx/>
                <a:uFillTx/>
                <a:latin typeface="Arial"/>
                <a:ea typeface="+mn-ea"/>
                <a:cs typeface="+mn-cs"/>
              </a:rPr>
              <a:t>Handraiser / Intenção</a:t>
            </a:r>
          </a:p>
        </p:txBody>
      </p:sp>
      <p:sp>
        <p:nvSpPr>
          <p:cNvPr id="141" name="TextBox 27">
            <a:extLst>
              <a:ext uri="{FF2B5EF4-FFF2-40B4-BE49-F238E27FC236}">
                <a16:creationId xmlns:a16="http://schemas.microsoft.com/office/drawing/2014/main" id="{9279055E-5330-45CA-82FD-272D236E38C1}"/>
              </a:ext>
            </a:extLst>
          </p:cNvPr>
          <p:cNvSpPr txBox="1"/>
          <p:nvPr/>
        </p:nvSpPr>
        <p:spPr>
          <a:xfrm>
            <a:off x="3977640" y="1821206"/>
            <a:ext cx="1280160" cy="329321"/>
          </a:xfrm>
          <a:prstGeom prst="rect">
            <a:avLst/>
          </a:prstGeom>
          <a:noFill/>
        </p:spPr>
        <p:txBody>
          <a:bodyPr wrap="square" anchor="ctr">
            <a:spAutoFit/>
          </a:bodyPr>
          <a:lstStyle/>
          <a:p>
            <a:pPr algn="ctr"/>
            <a:r>
              <a:rPr lang="sv-SE" sz="770" b="0">
                <a:solidFill>
                  <a:srgbClr val="141414"/>
                </a:solidFill>
                <a:latin typeface="Arial"/>
              </a:rPr>
              <a:t>HR vs. Meta</a:t>
            </a:r>
            <a:br>
              <a:rPr lang="sv-SE" sz="800"/>
            </a:br>
            <a:r>
              <a:rPr lang="sv-SE" sz="770" b="0">
                <a:solidFill>
                  <a:srgbClr val="141414"/>
                </a:solidFill>
                <a:latin typeface="Arial"/>
              </a:rPr>
              <a:t>FF/OC vs. Meta</a:t>
            </a:r>
          </a:p>
        </p:txBody>
      </p:sp>
      <p:sp>
        <p:nvSpPr>
          <p:cNvPr id="142" name="TextBox 28">
            <a:extLst>
              <a:ext uri="{FF2B5EF4-FFF2-40B4-BE49-F238E27FC236}">
                <a16:creationId xmlns:a16="http://schemas.microsoft.com/office/drawing/2014/main" id="{7A7821C4-60E1-4B33-A152-13A748CD3A97}"/>
              </a:ext>
            </a:extLst>
          </p:cNvPr>
          <p:cNvSpPr txBox="1"/>
          <p:nvPr/>
        </p:nvSpPr>
        <p:spPr>
          <a:xfrm>
            <a:off x="5440680" y="1822745"/>
            <a:ext cx="1463040" cy="326243"/>
          </a:xfrm>
          <a:prstGeom prst="rect">
            <a:avLst/>
          </a:prstGeom>
          <a:noFill/>
        </p:spPr>
        <p:txBody>
          <a:bodyPr wrap="square" anchor="ctr">
            <a:spAutoFit/>
          </a:bodyPr>
          <a:lstStyle/>
          <a:p>
            <a:pPr algn="ctr"/>
            <a:r>
              <a:rPr lang="pt-BR" sz="760" b="0">
                <a:solidFill>
                  <a:srgbClr val="141414"/>
                </a:solidFill>
                <a:latin typeface="Arial"/>
              </a:rPr>
              <a:t>28,5K HR</a:t>
            </a:r>
            <a:br>
              <a:rPr lang="pt-BR" sz="800"/>
            </a:br>
            <a:r>
              <a:rPr lang="pt-BR" sz="760" b="0">
                <a:solidFill>
                  <a:srgbClr val="141414"/>
                </a:solidFill>
                <a:latin typeface="Arial"/>
              </a:rPr>
              <a:t>2.58 A/R FF | 1.13 A/R OC</a:t>
            </a:r>
          </a:p>
        </p:txBody>
      </p:sp>
      <p:sp>
        <p:nvSpPr>
          <p:cNvPr id="143" name="TextBox 29">
            <a:extLst>
              <a:ext uri="{FF2B5EF4-FFF2-40B4-BE49-F238E27FC236}">
                <a16:creationId xmlns:a16="http://schemas.microsoft.com/office/drawing/2014/main" id="{189436AE-3969-49F0-AF5A-83BE23370C6A}"/>
              </a:ext>
            </a:extLst>
          </p:cNvPr>
          <p:cNvSpPr txBox="1"/>
          <p:nvPr/>
        </p:nvSpPr>
        <p:spPr>
          <a:xfrm>
            <a:off x="7086600" y="1778118"/>
            <a:ext cx="1737360" cy="415498"/>
          </a:xfrm>
          <a:prstGeom prst="rect">
            <a:avLst/>
          </a:prstGeom>
          <a:noFill/>
        </p:spPr>
        <p:txBody>
          <a:bodyPr wrap="square" anchor="ctr">
            <a:spAutoFit/>
          </a:bodyPr>
          <a:lstStyle/>
          <a:p>
            <a:r>
              <a:rPr lang="en-US" sz="700"/>
              <a:t>Target reached one week ahead of schedule, with E-mail Full Forms as the main highlight.</a:t>
            </a:r>
            <a:endParaRPr lang="en-US" sz="600">
              <a:solidFill>
                <a:srgbClr val="141414"/>
              </a:solidFill>
              <a:latin typeface="Arial"/>
            </a:endParaRPr>
          </a:p>
        </p:txBody>
      </p:sp>
      <p:sp>
        <p:nvSpPr>
          <p:cNvPr id="144" name="Rounded Rectangle 30">
            <a:extLst>
              <a:ext uri="{FF2B5EF4-FFF2-40B4-BE49-F238E27FC236}">
                <a16:creationId xmlns:a16="http://schemas.microsoft.com/office/drawing/2014/main" id="{ED56A434-DEA6-483D-8277-52E9538993AA}"/>
              </a:ext>
            </a:extLst>
          </p:cNvPr>
          <p:cNvSpPr/>
          <p:nvPr/>
        </p:nvSpPr>
        <p:spPr>
          <a:xfrm>
            <a:off x="9079992" y="1862422"/>
            <a:ext cx="777240" cy="246888"/>
          </a:xfrm>
          <a:prstGeom prst="roundRect">
            <a:avLst/>
          </a:prstGeom>
          <a:solidFill>
            <a:srgbClr val="009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45" name="TextBox 31">
            <a:extLst>
              <a:ext uri="{FF2B5EF4-FFF2-40B4-BE49-F238E27FC236}">
                <a16:creationId xmlns:a16="http://schemas.microsoft.com/office/drawing/2014/main" id="{D0D37283-55D5-40EE-AA01-AE063D0E58F8}"/>
              </a:ext>
            </a:extLst>
          </p:cNvPr>
          <p:cNvSpPr txBox="1"/>
          <p:nvPr/>
        </p:nvSpPr>
        <p:spPr>
          <a:xfrm>
            <a:off x="9079992" y="1883530"/>
            <a:ext cx="777240" cy="204671"/>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730" b="1" i="0">
                <a:solidFill>
                  <a:schemeClr val="bg1"/>
                </a:solidFill>
                <a:latin typeface="Arial"/>
              </a:rPr>
              <a:t>ABOVE</a:t>
            </a:r>
            <a:endParaRPr kumimoji="0" sz="730" b="1" i="0" u="none" strike="noStrike" kern="1200" cap="none" spc="0" normalizeH="0" baseline="0" noProof="0">
              <a:ln>
                <a:noFill/>
              </a:ln>
              <a:solidFill>
                <a:schemeClr val="bg1"/>
              </a:solidFill>
              <a:effectLst/>
              <a:uLnTx/>
              <a:uFillTx/>
              <a:latin typeface="Arial"/>
              <a:ea typeface="+mn-ea"/>
              <a:cs typeface="+mn-cs"/>
            </a:endParaRPr>
          </a:p>
        </p:txBody>
      </p:sp>
      <p:sp>
        <p:nvSpPr>
          <p:cNvPr id="146" name="TextBox 32">
            <a:extLst>
              <a:ext uri="{FF2B5EF4-FFF2-40B4-BE49-F238E27FC236}">
                <a16:creationId xmlns:a16="http://schemas.microsoft.com/office/drawing/2014/main" id="{CA5CC83A-7E2B-4C9E-BBAB-FD80E86D8AF9}"/>
              </a:ext>
            </a:extLst>
          </p:cNvPr>
          <p:cNvSpPr txBox="1"/>
          <p:nvPr/>
        </p:nvSpPr>
        <p:spPr>
          <a:xfrm>
            <a:off x="10104120" y="1768884"/>
            <a:ext cx="1276096" cy="433965"/>
          </a:xfrm>
          <a:prstGeom prst="rect">
            <a:avLst/>
          </a:prstGeom>
          <a:noFill/>
        </p:spPr>
        <p:txBody>
          <a:bodyPr wrap="square" anchor="ctr">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740" b="0" i="0">
                <a:latin typeface="Arial"/>
              </a:rPr>
              <a:t>Leverage HRs and intent signals in Pre-Order and the next journey phases.</a:t>
            </a:r>
          </a:p>
        </p:txBody>
      </p:sp>
      <p:sp>
        <p:nvSpPr>
          <p:cNvPr id="147" name="Rectangle 33">
            <a:extLst>
              <a:ext uri="{FF2B5EF4-FFF2-40B4-BE49-F238E27FC236}">
                <a16:creationId xmlns:a16="http://schemas.microsoft.com/office/drawing/2014/main" id="{0529176C-30EF-4406-84F4-0B0AD6DDB1C4}"/>
              </a:ext>
            </a:extLst>
          </p:cNvPr>
          <p:cNvSpPr/>
          <p:nvPr/>
        </p:nvSpPr>
        <p:spPr>
          <a:xfrm>
            <a:off x="987552" y="2264759"/>
            <a:ext cx="1600200" cy="502919"/>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48" name="Rectangle 34">
            <a:extLst>
              <a:ext uri="{FF2B5EF4-FFF2-40B4-BE49-F238E27FC236}">
                <a16:creationId xmlns:a16="http://schemas.microsoft.com/office/drawing/2014/main" id="{2998653E-1CCE-4A08-9B1D-8637C1CB4A49}"/>
              </a:ext>
            </a:extLst>
          </p:cNvPr>
          <p:cNvSpPr/>
          <p:nvPr/>
        </p:nvSpPr>
        <p:spPr>
          <a:xfrm>
            <a:off x="2633472" y="2264759"/>
            <a:ext cx="1234440" cy="502919"/>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49" name="Rectangle 35">
            <a:extLst>
              <a:ext uri="{FF2B5EF4-FFF2-40B4-BE49-F238E27FC236}">
                <a16:creationId xmlns:a16="http://schemas.microsoft.com/office/drawing/2014/main" id="{589B8F10-79A5-43E7-8B6E-BEDD1A5DCB16}"/>
              </a:ext>
            </a:extLst>
          </p:cNvPr>
          <p:cNvSpPr/>
          <p:nvPr/>
        </p:nvSpPr>
        <p:spPr>
          <a:xfrm>
            <a:off x="3913632" y="2264759"/>
            <a:ext cx="1417320" cy="502919"/>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50" name="Rectangle 36">
            <a:extLst>
              <a:ext uri="{FF2B5EF4-FFF2-40B4-BE49-F238E27FC236}">
                <a16:creationId xmlns:a16="http://schemas.microsoft.com/office/drawing/2014/main" id="{B254E583-7602-4086-AFFE-504A22E91269}"/>
              </a:ext>
            </a:extLst>
          </p:cNvPr>
          <p:cNvSpPr/>
          <p:nvPr/>
        </p:nvSpPr>
        <p:spPr>
          <a:xfrm>
            <a:off x="5376672" y="2264759"/>
            <a:ext cx="1600200" cy="502919"/>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51" name="Rectangle 37">
            <a:extLst>
              <a:ext uri="{FF2B5EF4-FFF2-40B4-BE49-F238E27FC236}">
                <a16:creationId xmlns:a16="http://schemas.microsoft.com/office/drawing/2014/main" id="{73EBF626-9468-4EEB-B128-76FD13CB614E}"/>
              </a:ext>
            </a:extLst>
          </p:cNvPr>
          <p:cNvSpPr/>
          <p:nvPr/>
        </p:nvSpPr>
        <p:spPr>
          <a:xfrm>
            <a:off x="7022592" y="2264759"/>
            <a:ext cx="1874519" cy="502919"/>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52" name="Rectangle 38">
            <a:extLst>
              <a:ext uri="{FF2B5EF4-FFF2-40B4-BE49-F238E27FC236}">
                <a16:creationId xmlns:a16="http://schemas.microsoft.com/office/drawing/2014/main" id="{D74515C9-8FE2-4FDD-8142-9F296D1655E6}"/>
              </a:ext>
            </a:extLst>
          </p:cNvPr>
          <p:cNvSpPr/>
          <p:nvPr/>
        </p:nvSpPr>
        <p:spPr>
          <a:xfrm>
            <a:off x="8942832" y="2264759"/>
            <a:ext cx="1051560" cy="502919"/>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53" name="Rectangle 39">
            <a:extLst>
              <a:ext uri="{FF2B5EF4-FFF2-40B4-BE49-F238E27FC236}">
                <a16:creationId xmlns:a16="http://schemas.microsoft.com/office/drawing/2014/main" id="{5E1D0B7C-46D4-43C7-B9C2-9583EF5AFFDB}"/>
              </a:ext>
            </a:extLst>
          </p:cNvPr>
          <p:cNvSpPr/>
          <p:nvPr/>
        </p:nvSpPr>
        <p:spPr>
          <a:xfrm>
            <a:off x="10040112" y="2264759"/>
            <a:ext cx="1435608" cy="502919"/>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54" name="TextBox 40">
            <a:extLst>
              <a:ext uri="{FF2B5EF4-FFF2-40B4-BE49-F238E27FC236}">
                <a16:creationId xmlns:a16="http://schemas.microsoft.com/office/drawing/2014/main" id="{E0AF95C5-E4B6-425A-A463-9E773E7609C9}"/>
              </a:ext>
            </a:extLst>
          </p:cNvPr>
          <p:cNvSpPr txBox="1"/>
          <p:nvPr/>
        </p:nvSpPr>
        <p:spPr>
          <a:xfrm>
            <a:off x="1051560" y="2283047"/>
            <a:ext cx="1444752" cy="466344"/>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40" b="1" i="0" u="none" strike="noStrike" kern="1200" cap="none" spc="0" normalizeH="0" baseline="0" noProof="0">
                <a:ln>
                  <a:noFill/>
                </a:ln>
                <a:solidFill>
                  <a:srgbClr val="141414"/>
                </a:solidFill>
                <a:effectLst/>
                <a:uLnTx/>
                <a:uFillTx/>
                <a:latin typeface="Arial"/>
                <a:ea typeface="+mn-ea"/>
                <a:cs typeface="+mn-cs"/>
              </a:rPr>
              <a:t>Q8H8B8</a:t>
            </a:r>
          </a:p>
        </p:txBody>
      </p:sp>
      <p:sp>
        <p:nvSpPr>
          <p:cNvPr id="155" name="TextBox 41">
            <a:extLst>
              <a:ext uri="{FF2B5EF4-FFF2-40B4-BE49-F238E27FC236}">
                <a16:creationId xmlns:a16="http://schemas.microsoft.com/office/drawing/2014/main" id="{D89A801C-47D5-46BA-98FD-6C97B0B48B19}"/>
              </a:ext>
            </a:extLst>
          </p:cNvPr>
          <p:cNvSpPr txBox="1"/>
          <p:nvPr/>
        </p:nvSpPr>
        <p:spPr>
          <a:xfrm>
            <a:off x="2697480" y="2283047"/>
            <a:ext cx="1097280" cy="466344"/>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80" b="0" i="0" u="none" strike="noStrike" kern="1200" cap="none" spc="0" normalizeH="0" baseline="0" noProof="0">
                <a:ln>
                  <a:noFill/>
                </a:ln>
                <a:solidFill>
                  <a:srgbClr val="141414"/>
                </a:solidFill>
                <a:effectLst/>
                <a:uLnTx/>
                <a:uFillTx/>
                <a:latin typeface="Arial"/>
                <a:ea typeface="+mn-ea"/>
                <a:cs typeface="+mn-cs"/>
              </a:rPr>
              <a:t>Launch Activation</a:t>
            </a:r>
          </a:p>
        </p:txBody>
      </p:sp>
      <p:sp>
        <p:nvSpPr>
          <p:cNvPr id="156" name="TextBox 42">
            <a:extLst>
              <a:ext uri="{FF2B5EF4-FFF2-40B4-BE49-F238E27FC236}">
                <a16:creationId xmlns:a16="http://schemas.microsoft.com/office/drawing/2014/main" id="{8CBBFF66-DAF3-418F-B219-76BA42B5D335}"/>
              </a:ext>
            </a:extLst>
          </p:cNvPr>
          <p:cNvSpPr txBox="1"/>
          <p:nvPr/>
        </p:nvSpPr>
        <p:spPr>
          <a:xfrm>
            <a:off x="3977640" y="2351558"/>
            <a:ext cx="1280160" cy="329321"/>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70" b="0" i="0" u="none" strike="noStrike" kern="1200" cap="none" spc="0" normalizeH="0" baseline="0" noProof="0">
                <a:ln>
                  <a:noFill/>
                </a:ln>
                <a:solidFill>
                  <a:srgbClr val="141414"/>
                </a:solidFill>
                <a:effectLst/>
                <a:uLnTx/>
                <a:uFillTx/>
                <a:latin typeface="Arial"/>
                <a:ea typeface="+mn-ea"/>
                <a:cs typeface="+mn-cs"/>
              </a:rPr>
              <a:t>OR / CTR / CTOR</a:t>
            </a:r>
            <a:br>
              <a:rPr kumimoji="0" sz="1800" b="0" i="0" u="none" strike="noStrike" kern="1200" cap="none" spc="0" normalizeH="0" baseline="0" noProof="0">
                <a:ln>
                  <a:noFill/>
                </a:ln>
                <a:solidFill>
                  <a:prstClr val="black"/>
                </a:solidFill>
                <a:effectLst/>
                <a:uLnTx/>
                <a:uFillTx/>
                <a:latin typeface="Aptos" panose="020B0004020202020204"/>
                <a:ea typeface="+mn-ea"/>
                <a:cs typeface="+mn-cs"/>
              </a:rPr>
            </a:br>
            <a:r>
              <a:rPr kumimoji="0" sz="770" b="0" i="0" u="none" strike="noStrike" kern="1200" cap="none" spc="0" normalizeH="0" baseline="0" noProof="0">
                <a:ln>
                  <a:noFill/>
                </a:ln>
                <a:solidFill>
                  <a:srgbClr val="141414"/>
                </a:solidFill>
                <a:effectLst/>
                <a:uLnTx/>
                <a:uFillTx/>
                <a:latin typeface="Arial"/>
                <a:ea typeface="+mn-ea"/>
                <a:cs typeface="+mn-cs"/>
              </a:rPr>
              <a:t>+ </a:t>
            </a:r>
            <a:r>
              <a:rPr kumimoji="0" lang="pt-BR" sz="770" b="0" i="0" u="none" strike="noStrike" kern="1200" cap="none" spc="0" normalizeH="0" baseline="0" noProof="0" err="1">
                <a:ln>
                  <a:noFill/>
                </a:ln>
                <a:solidFill>
                  <a:srgbClr val="141414"/>
                </a:solidFill>
                <a:effectLst/>
                <a:uLnTx/>
                <a:uFillTx/>
                <a:latin typeface="Arial"/>
                <a:ea typeface="+mn-ea"/>
                <a:cs typeface="+mn-cs"/>
              </a:rPr>
              <a:t>Revenue</a:t>
            </a:r>
            <a:endParaRPr kumimoji="0" sz="770" b="0" i="0" u="none" strike="noStrike" kern="1200" cap="none" spc="0" normalizeH="0" baseline="0" noProof="0">
              <a:ln>
                <a:noFill/>
              </a:ln>
              <a:solidFill>
                <a:srgbClr val="141414"/>
              </a:solidFill>
              <a:effectLst/>
              <a:uLnTx/>
              <a:uFillTx/>
              <a:latin typeface="Arial"/>
              <a:ea typeface="+mn-ea"/>
              <a:cs typeface="+mn-cs"/>
            </a:endParaRPr>
          </a:p>
        </p:txBody>
      </p:sp>
      <p:sp>
        <p:nvSpPr>
          <p:cNvPr id="157" name="TextBox 43">
            <a:extLst>
              <a:ext uri="{FF2B5EF4-FFF2-40B4-BE49-F238E27FC236}">
                <a16:creationId xmlns:a16="http://schemas.microsoft.com/office/drawing/2014/main" id="{0E82B480-050E-428E-8A6C-9667657FA29E}"/>
              </a:ext>
            </a:extLst>
          </p:cNvPr>
          <p:cNvSpPr txBox="1"/>
          <p:nvPr/>
        </p:nvSpPr>
        <p:spPr>
          <a:xfrm>
            <a:off x="5440680" y="2283047"/>
            <a:ext cx="1463040" cy="466344"/>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effectLst/>
              </a:rPr>
              <a:t>EDM T1 – L2: 11,0% OR | 10,36% CTR | 17.9% CTOR</a:t>
            </a:r>
            <a:br>
              <a:rPr lang="en-US" sz="800"/>
            </a:br>
            <a:r>
              <a:rPr lang="en-US" sz="800">
                <a:effectLst/>
              </a:rPr>
              <a:t>R$ 269,7K Revenue</a:t>
            </a:r>
            <a:endParaRPr kumimoji="0" sz="760" b="0" i="0" u="none" strike="noStrike" kern="1200" cap="none" spc="0" normalizeH="0" baseline="0" noProof="0">
              <a:ln>
                <a:noFill/>
              </a:ln>
              <a:solidFill>
                <a:srgbClr val="141414"/>
              </a:solidFill>
              <a:effectLst/>
              <a:uLnTx/>
              <a:uFillTx/>
              <a:latin typeface="Arial"/>
              <a:ea typeface="+mn-ea"/>
              <a:cs typeface="+mn-cs"/>
            </a:endParaRPr>
          </a:p>
        </p:txBody>
      </p:sp>
      <p:sp>
        <p:nvSpPr>
          <p:cNvPr id="158" name="TextBox 44">
            <a:extLst>
              <a:ext uri="{FF2B5EF4-FFF2-40B4-BE49-F238E27FC236}">
                <a16:creationId xmlns:a16="http://schemas.microsoft.com/office/drawing/2014/main" id="{F3A02535-E08C-4286-B2DD-6DC0FF6638D3}"/>
              </a:ext>
            </a:extLst>
          </p:cNvPr>
          <p:cNvSpPr txBox="1"/>
          <p:nvPr/>
        </p:nvSpPr>
        <p:spPr>
          <a:xfrm>
            <a:off x="7086600" y="2294620"/>
            <a:ext cx="1737360" cy="443198"/>
          </a:xfrm>
          <a:prstGeom prst="rect">
            <a:avLst/>
          </a:prstGeom>
          <a:noFill/>
        </p:spPr>
        <p:txBody>
          <a:bodyPr wrap="square" anchor="ctr">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760" b="0" i="0">
                <a:latin typeface="Arial"/>
              </a:rPr>
              <a:t>Main journey of the month; qualified audiences sustained strong interaction throughout the launch.</a:t>
            </a:r>
          </a:p>
        </p:txBody>
      </p:sp>
      <p:sp>
        <p:nvSpPr>
          <p:cNvPr id="159" name="Rounded Rectangle 45">
            <a:extLst>
              <a:ext uri="{FF2B5EF4-FFF2-40B4-BE49-F238E27FC236}">
                <a16:creationId xmlns:a16="http://schemas.microsoft.com/office/drawing/2014/main" id="{0E5305D5-EAAF-4B12-834E-DA8D2C7A9D37}"/>
              </a:ext>
            </a:extLst>
          </p:cNvPr>
          <p:cNvSpPr/>
          <p:nvPr/>
        </p:nvSpPr>
        <p:spPr>
          <a:xfrm>
            <a:off x="9079992" y="2392775"/>
            <a:ext cx="777240" cy="246888"/>
          </a:xfrm>
          <a:prstGeom prst="roundRect">
            <a:avLst/>
          </a:prstGeom>
          <a:solidFill>
            <a:srgbClr val="009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60" name="TextBox 46">
            <a:extLst>
              <a:ext uri="{FF2B5EF4-FFF2-40B4-BE49-F238E27FC236}">
                <a16:creationId xmlns:a16="http://schemas.microsoft.com/office/drawing/2014/main" id="{8BF4DE0C-1D55-4301-96A3-2C75BE922F48}"/>
              </a:ext>
            </a:extLst>
          </p:cNvPr>
          <p:cNvSpPr txBox="1"/>
          <p:nvPr/>
        </p:nvSpPr>
        <p:spPr>
          <a:xfrm>
            <a:off x="9079992" y="2413883"/>
            <a:ext cx="777240" cy="204671"/>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730" b="1" i="0">
                <a:solidFill>
                  <a:schemeClr val="bg1"/>
                </a:solidFill>
                <a:latin typeface="Arial"/>
              </a:rPr>
              <a:t>ABOVE</a:t>
            </a:r>
            <a:endParaRPr kumimoji="0" sz="730" b="1" i="0" u="none" strike="noStrike" kern="1200" cap="none" spc="0" normalizeH="0" baseline="0" noProof="0">
              <a:ln>
                <a:noFill/>
              </a:ln>
              <a:solidFill>
                <a:schemeClr val="bg1"/>
              </a:solidFill>
              <a:effectLst/>
              <a:uLnTx/>
              <a:uFillTx/>
              <a:latin typeface="Arial"/>
              <a:ea typeface="+mn-ea"/>
              <a:cs typeface="+mn-cs"/>
            </a:endParaRPr>
          </a:p>
        </p:txBody>
      </p:sp>
      <p:sp>
        <p:nvSpPr>
          <p:cNvPr id="161" name="TextBox 47">
            <a:extLst>
              <a:ext uri="{FF2B5EF4-FFF2-40B4-BE49-F238E27FC236}">
                <a16:creationId xmlns:a16="http://schemas.microsoft.com/office/drawing/2014/main" id="{0381CADE-B7B2-429D-998A-D7D7490E6980}"/>
              </a:ext>
            </a:extLst>
          </p:cNvPr>
          <p:cNvSpPr txBox="1"/>
          <p:nvPr/>
        </p:nvSpPr>
        <p:spPr>
          <a:xfrm>
            <a:off x="10104120" y="2242298"/>
            <a:ext cx="1276096" cy="547842"/>
          </a:xfrm>
          <a:prstGeom prst="rect">
            <a:avLst/>
          </a:prstGeom>
          <a:noFill/>
        </p:spPr>
        <p:txBody>
          <a:bodyPr wrap="square" anchor="ctr">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740" b="0" i="0">
                <a:latin typeface="Arial"/>
              </a:rPr>
              <a:t>Replicate learnings from HR, </a:t>
            </a:r>
            <a:r>
              <a:rPr lang="en-US" sz="740" b="0" i="0" err="1">
                <a:latin typeface="Arial"/>
              </a:rPr>
              <a:t>Co.A</a:t>
            </a:r>
            <a:r>
              <a:rPr lang="en-US" sz="740" b="0" i="0">
                <a:latin typeface="Arial"/>
              </a:rPr>
              <a:t> and engaged audiences in upcoming launches.</a:t>
            </a:r>
          </a:p>
        </p:txBody>
      </p:sp>
      <p:sp>
        <p:nvSpPr>
          <p:cNvPr id="162" name="Rectangle 48">
            <a:extLst>
              <a:ext uri="{FF2B5EF4-FFF2-40B4-BE49-F238E27FC236}">
                <a16:creationId xmlns:a16="http://schemas.microsoft.com/office/drawing/2014/main" id="{7BB78DBD-0E13-483E-8249-26B1B2106958}"/>
              </a:ext>
            </a:extLst>
          </p:cNvPr>
          <p:cNvSpPr/>
          <p:nvPr/>
        </p:nvSpPr>
        <p:spPr>
          <a:xfrm>
            <a:off x="987552" y="2795111"/>
            <a:ext cx="1600200" cy="502919"/>
          </a:xfrm>
          <a:prstGeom prst="rect">
            <a:avLst/>
          </a:prstGeom>
          <a:solidFill>
            <a:srgbClr val="F7F7F7"/>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63" name="Rectangle 49">
            <a:extLst>
              <a:ext uri="{FF2B5EF4-FFF2-40B4-BE49-F238E27FC236}">
                <a16:creationId xmlns:a16="http://schemas.microsoft.com/office/drawing/2014/main" id="{E6787790-E014-4351-974F-BAF8AF1BBBDC}"/>
              </a:ext>
            </a:extLst>
          </p:cNvPr>
          <p:cNvSpPr/>
          <p:nvPr/>
        </p:nvSpPr>
        <p:spPr>
          <a:xfrm>
            <a:off x="2633472" y="2795111"/>
            <a:ext cx="1234440" cy="502919"/>
          </a:xfrm>
          <a:prstGeom prst="rect">
            <a:avLst/>
          </a:prstGeom>
          <a:solidFill>
            <a:srgbClr val="F7F7F7"/>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64" name="Rectangle 50">
            <a:extLst>
              <a:ext uri="{FF2B5EF4-FFF2-40B4-BE49-F238E27FC236}">
                <a16:creationId xmlns:a16="http://schemas.microsoft.com/office/drawing/2014/main" id="{D65FA332-A020-4E8D-9252-ECB0CA2540CE}"/>
              </a:ext>
            </a:extLst>
          </p:cNvPr>
          <p:cNvSpPr/>
          <p:nvPr/>
        </p:nvSpPr>
        <p:spPr>
          <a:xfrm>
            <a:off x="3913632" y="2795111"/>
            <a:ext cx="1417320" cy="502919"/>
          </a:xfrm>
          <a:prstGeom prst="rect">
            <a:avLst/>
          </a:prstGeom>
          <a:solidFill>
            <a:srgbClr val="F7F7F7"/>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65" name="Rectangle 51">
            <a:extLst>
              <a:ext uri="{FF2B5EF4-FFF2-40B4-BE49-F238E27FC236}">
                <a16:creationId xmlns:a16="http://schemas.microsoft.com/office/drawing/2014/main" id="{CD05E0F4-E269-4A93-900A-5A3A65F82567}"/>
              </a:ext>
            </a:extLst>
          </p:cNvPr>
          <p:cNvSpPr/>
          <p:nvPr/>
        </p:nvSpPr>
        <p:spPr>
          <a:xfrm>
            <a:off x="5376672" y="2795111"/>
            <a:ext cx="1600200" cy="502919"/>
          </a:xfrm>
          <a:prstGeom prst="rect">
            <a:avLst/>
          </a:prstGeom>
          <a:solidFill>
            <a:srgbClr val="F7F7F7"/>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66" name="Rectangle 52">
            <a:extLst>
              <a:ext uri="{FF2B5EF4-FFF2-40B4-BE49-F238E27FC236}">
                <a16:creationId xmlns:a16="http://schemas.microsoft.com/office/drawing/2014/main" id="{E830E99F-AB35-4462-A9B2-8E571AC25F14}"/>
              </a:ext>
            </a:extLst>
          </p:cNvPr>
          <p:cNvSpPr/>
          <p:nvPr/>
        </p:nvSpPr>
        <p:spPr>
          <a:xfrm>
            <a:off x="7022592" y="2795111"/>
            <a:ext cx="1874519" cy="502919"/>
          </a:xfrm>
          <a:prstGeom prst="rect">
            <a:avLst/>
          </a:prstGeom>
          <a:solidFill>
            <a:srgbClr val="F7F7F7"/>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67" name="Rectangle 53">
            <a:extLst>
              <a:ext uri="{FF2B5EF4-FFF2-40B4-BE49-F238E27FC236}">
                <a16:creationId xmlns:a16="http://schemas.microsoft.com/office/drawing/2014/main" id="{16E624C3-C650-49DC-B1FD-5AD48DD547F3}"/>
              </a:ext>
            </a:extLst>
          </p:cNvPr>
          <p:cNvSpPr/>
          <p:nvPr/>
        </p:nvSpPr>
        <p:spPr>
          <a:xfrm>
            <a:off x="8942832" y="2795111"/>
            <a:ext cx="1051560" cy="502919"/>
          </a:xfrm>
          <a:prstGeom prst="rect">
            <a:avLst/>
          </a:prstGeom>
          <a:solidFill>
            <a:srgbClr val="F7F7F7"/>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68" name="Rectangle 54">
            <a:extLst>
              <a:ext uri="{FF2B5EF4-FFF2-40B4-BE49-F238E27FC236}">
                <a16:creationId xmlns:a16="http://schemas.microsoft.com/office/drawing/2014/main" id="{0457715F-E0DF-40C4-8B68-A64DE1F50D58}"/>
              </a:ext>
            </a:extLst>
          </p:cNvPr>
          <p:cNvSpPr/>
          <p:nvPr/>
        </p:nvSpPr>
        <p:spPr>
          <a:xfrm>
            <a:off x="10040112" y="2795111"/>
            <a:ext cx="1435608" cy="502919"/>
          </a:xfrm>
          <a:prstGeom prst="rect">
            <a:avLst/>
          </a:prstGeom>
          <a:solidFill>
            <a:srgbClr val="F7F7F7"/>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69" name="TextBox 55">
            <a:extLst>
              <a:ext uri="{FF2B5EF4-FFF2-40B4-BE49-F238E27FC236}">
                <a16:creationId xmlns:a16="http://schemas.microsoft.com/office/drawing/2014/main" id="{4B183561-736E-4C87-94C3-34159B4A772E}"/>
              </a:ext>
            </a:extLst>
          </p:cNvPr>
          <p:cNvSpPr txBox="1"/>
          <p:nvPr/>
        </p:nvSpPr>
        <p:spPr>
          <a:xfrm>
            <a:off x="1051560" y="2813399"/>
            <a:ext cx="1444752" cy="466344"/>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40" b="1" i="0" u="none" strike="noStrike" kern="1200" cap="none" spc="0" normalizeH="0" baseline="0" noProof="0">
                <a:ln>
                  <a:noFill/>
                </a:ln>
                <a:solidFill>
                  <a:srgbClr val="141414"/>
                </a:solidFill>
                <a:effectLst/>
                <a:uLnTx/>
                <a:uFillTx/>
                <a:latin typeface="Arial"/>
                <a:ea typeface="+mn-ea"/>
                <a:cs typeface="+mn-cs"/>
              </a:rPr>
              <a:t>Galaxy Book6</a:t>
            </a:r>
          </a:p>
        </p:txBody>
      </p:sp>
      <p:sp>
        <p:nvSpPr>
          <p:cNvPr id="170" name="TextBox 56">
            <a:extLst>
              <a:ext uri="{FF2B5EF4-FFF2-40B4-BE49-F238E27FC236}">
                <a16:creationId xmlns:a16="http://schemas.microsoft.com/office/drawing/2014/main" id="{4E7FDD43-4322-43B2-9D5F-0C418E160075}"/>
              </a:ext>
            </a:extLst>
          </p:cNvPr>
          <p:cNvSpPr txBox="1"/>
          <p:nvPr/>
        </p:nvSpPr>
        <p:spPr>
          <a:xfrm>
            <a:off x="2697480" y="2813399"/>
            <a:ext cx="1097280" cy="466344"/>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80" b="0" i="0" u="none" strike="noStrike" kern="1200" cap="none" spc="0" normalizeH="0" baseline="0" noProof="0">
                <a:ln>
                  <a:noFill/>
                </a:ln>
                <a:solidFill>
                  <a:srgbClr val="141414"/>
                </a:solidFill>
                <a:effectLst/>
                <a:uLnTx/>
                <a:uFillTx/>
                <a:latin typeface="Arial"/>
                <a:ea typeface="+mn-ea"/>
                <a:cs typeface="+mn-cs"/>
              </a:rPr>
              <a:t>Awareness &amp;</a:t>
            </a:r>
            <a:br>
              <a:rPr kumimoji="0" sz="1800" b="0" i="0" u="none" strike="noStrike" kern="1200" cap="none" spc="0" normalizeH="0" baseline="0" noProof="0">
                <a:ln>
                  <a:noFill/>
                </a:ln>
                <a:solidFill>
                  <a:prstClr val="black"/>
                </a:solidFill>
                <a:effectLst/>
                <a:uLnTx/>
                <a:uFillTx/>
                <a:latin typeface="Aptos" panose="020B0004020202020204"/>
                <a:ea typeface="+mn-ea"/>
                <a:cs typeface="+mn-cs"/>
              </a:rPr>
            </a:br>
            <a:r>
              <a:rPr kumimoji="0" sz="780" b="0" i="0" u="none" strike="noStrike" kern="1200" cap="none" spc="0" normalizeH="0" baseline="0" noProof="0">
                <a:ln>
                  <a:noFill/>
                </a:ln>
                <a:solidFill>
                  <a:srgbClr val="141414"/>
                </a:solidFill>
                <a:effectLst/>
                <a:uLnTx/>
                <a:uFillTx/>
                <a:latin typeface="Arial"/>
                <a:ea typeface="+mn-ea"/>
                <a:cs typeface="+mn-cs"/>
              </a:rPr>
              <a:t>Consideration</a:t>
            </a:r>
          </a:p>
        </p:txBody>
      </p:sp>
      <p:sp>
        <p:nvSpPr>
          <p:cNvPr id="171" name="TextBox 57">
            <a:extLst>
              <a:ext uri="{FF2B5EF4-FFF2-40B4-BE49-F238E27FC236}">
                <a16:creationId xmlns:a16="http://schemas.microsoft.com/office/drawing/2014/main" id="{1B0D5AE3-EB50-4473-9539-F56009E3E859}"/>
              </a:ext>
            </a:extLst>
          </p:cNvPr>
          <p:cNvSpPr txBox="1"/>
          <p:nvPr/>
        </p:nvSpPr>
        <p:spPr>
          <a:xfrm>
            <a:off x="3977640" y="2813399"/>
            <a:ext cx="1280160" cy="466344"/>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70" b="0" i="0" u="none" strike="noStrike" kern="1200" cap="none" spc="0" normalizeH="0" baseline="0" noProof="0">
                <a:ln>
                  <a:noFill/>
                </a:ln>
                <a:solidFill>
                  <a:srgbClr val="141414"/>
                </a:solidFill>
                <a:effectLst/>
                <a:uLnTx/>
                <a:uFillTx/>
                <a:latin typeface="Arial"/>
                <a:ea typeface="+mn-ea"/>
                <a:cs typeface="+mn-cs"/>
              </a:rPr>
              <a:t>OR / CTOR</a:t>
            </a:r>
          </a:p>
        </p:txBody>
      </p:sp>
      <p:sp>
        <p:nvSpPr>
          <p:cNvPr id="172" name="TextBox 58">
            <a:extLst>
              <a:ext uri="{FF2B5EF4-FFF2-40B4-BE49-F238E27FC236}">
                <a16:creationId xmlns:a16="http://schemas.microsoft.com/office/drawing/2014/main" id="{6DB26FE6-55C4-423F-B26A-D12C99303AB1}"/>
              </a:ext>
            </a:extLst>
          </p:cNvPr>
          <p:cNvSpPr txBox="1"/>
          <p:nvPr/>
        </p:nvSpPr>
        <p:spPr>
          <a:xfrm>
            <a:off x="5440680" y="2883449"/>
            <a:ext cx="1463040" cy="326243"/>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60" b="0" i="0" u="none" strike="noStrike" kern="1200" cap="none" spc="0" normalizeH="0" baseline="0" noProof="0">
                <a:ln>
                  <a:noFill/>
                </a:ln>
                <a:solidFill>
                  <a:srgbClr val="141414"/>
                </a:solidFill>
                <a:effectLst/>
                <a:uLnTx/>
                <a:uFillTx/>
                <a:latin typeface="Arial"/>
                <a:ea typeface="+mn-ea"/>
                <a:cs typeface="+mn-cs"/>
              </a:rPr>
              <a:t>New Owners: </a:t>
            </a:r>
            <a:r>
              <a:rPr kumimoji="0" lang="pt-BR" sz="760" b="0" i="0" u="none" strike="noStrike" kern="1200" cap="none" spc="0" normalizeH="0" baseline="0" noProof="0">
                <a:ln>
                  <a:noFill/>
                </a:ln>
                <a:solidFill>
                  <a:srgbClr val="141414"/>
                </a:solidFill>
                <a:effectLst/>
                <a:uLnTx/>
                <a:uFillTx/>
                <a:latin typeface="Arial"/>
                <a:ea typeface="+mn-ea"/>
                <a:cs typeface="+mn-cs"/>
              </a:rPr>
              <a:t>10</a:t>
            </a:r>
            <a:r>
              <a:rPr kumimoji="0" sz="760" b="0" i="0" u="none" strike="noStrike" kern="1200" cap="none" spc="0" normalizeH="0" baseline="0" noProof="0">
                <a:ln>
                  <a:noFill/>
                </a:ln>
                <a:solidFill>
                  <a:srgbClr val="141414"/>
                </a:solidFill>
                <a:effectLst/>
                <a:uLnTx/>
                <a:uFillTx/>
                <a:latin typeface="Arial"/>
                <a:ea typeface="+mn-ea"/>
                <a:cs typeface="+mn-cs"/>
              </a:rPr>
              <a:t>,</a:t>
            </a:r>
            <a:r>
              <a:rPr kumimoji="0" lang="pt-BR" sz="760" b="0" i="0" u="none" strike="noStrike" kern="1200" cap="none" spc="0" normalizeH="0" baseline="0" noProof="0">
                <a:ln>
                  <a:noFill/>
                </a:ln>
                <a:solidFill>
                  <a:srgbClr val="141414"/>
                </a:solidFill>
                <a:effectLst/>
                <a:uLnTx/>
                <a:uFillTx/>
                <a:latin typeface="Arial"/>
                <a:ea typeface="+mn-ea"/>
                <a:cs typeface="+mn-cs"/>
              </a:rPr>
              <a:t>04</a:t>
            </a:r>
            <a:r>
              <a:rPr kumimoji="0" sz="760" b="0" i="0" u="none" strike="noStrike" kern="1200" cap="none" spc="0" normalizeH="0" baseline="0" noProof="0">
                <a:ln>
                  <a:noFill/>
                </a:ln>
                <a:solidFill>
                  <a:srgbClr val="141414"/>
                </a:solidFill>
                <a:effectLst/>
                <a:uLnTx/>
                <a:uFillTx/>
                <a:latin typeface="Arial"/>
                <a:ea typeface="+mn-ea"/>
                <a:cs typeface="+mn-cs"/>
              </a:rPr>
              <a:t>% OR</a:t>
            </a:r>
            <a:br>
              <a:rPr kumimoji="0" sz="1800" b="0" i="0" u="none" strike="noStrike" kern="1200" cap="none" spc="0" normalizeH="0" baseline="0" noProof="0">
                <a:ln>
                  <a:noFill/>
                </a:ln>
                <a:solidFill>
                  <a:prstClr val="black"/>
                </a:solidFill>
                <a:effectLst/>
                <a:uLnTx/>
                <a:uFillTx/>
                <a:latin typeface="Aptos" panose="020B0004020202020204"/>
                <a:ea typeface="+mn-ea"/>
                <a:cs typeface="+mn-cs"/>
              </a:rPr>
            </a:br>
            <a:r>
              <a:rPr kumimoji="0" lang="pt-BR" sz="760" b="0" i="0" u="none" strike="noStrike" kern="1200" cap="none" spc="0" normalizeH="0" baseline="0" noProof="0">
                <a:ln>
                  <a:noFill/>
                </a:ln>
                <a:solidFill>
                  <a:srgbClr val="141414"/>
                </a:solidFill>
                <a:effectLst/>
                <a:uLnTx/>
                <a:uFillTx/>
                <a:latin typeface="Arial"/>
                <a:ea typeface="+mn-ea"/>
                <a:cs typeface="+mn-cs"/>
              </a:rPr>
              <a:t>4</a:t>
            </a:r>
            <a:r>
              <a:rPr kumimoji="0" sz="760" b="0" i="0" u="none" strike="noStrike" kern="1200" cap="none" spc="0" normalizeH="0" baseline="0" noProof="0">
                <a:ln>
                  <a:noFill/>
                </a:ln>
                <a:solidFill>
                  <a:srgbClr val="141414"/>
                </a:solidFill>
                <a:effectLst/>
                <a:uLnTx/>
                <a:uFillTx/>
                <a:latin typeface="Arial"/>
                <a:ea typeface="+mn-ea"/>
                <a:cs typeface="+mn-cs"/>
              </a:rPr>
              <a:t>,</a:t>
            </a:r>
            <a:r>
              <a:rPr kumimoji="0" lang="pt-BR" sz="760" b="0" i="0" u="none" strike="noStrike" kern="1200" cap="none" spc="0" normalizeH="0" baseline="0" noProof="0">
                <a:ln>
                  <a:noFill/>
                </a:ln>
                <a:solidFill>
                  <a:srgbClr val="141414"/>
                </a:solidFill>
                <a:effectLst/>
                <a:uLnTx/>
                <a:uFillTx/>
                <a:latin typeface="Arial"/>
                <a:ea typeface="+mn-ea"/>
                <a:cs typeface="+mn-cs"/>
              </a:rPr>
              <a:t>91</a:t>
            </a:r>
            <a:r>
              <a:rPr kumimoji="0" sz="760" b="0" i="0" u="none" strike="noStrike" kern="1200" cap="none" spc="0" normalizeH="0" baseline="0" noProof="0">
                <a:ln>
                  <a:noFill/>
                </a:ln>
                <a:solidFill>
                  <a:srgbClr val="141414"/>
                </a:solidFill>
                <a:effectLst/>
                <a:uLnTx/>
                <a:uFillTx/>
                <a:latin typeface="Arial"/>
                <a:ea typeface="+mn-ea"/>
                <a:cs typeface="+mn-cs"/>
              </a:rPr>
              <a:t>% CTOR</a:t>
            </a:r>
          </a:p>
        </p:txBody>
      </p:sp>
      <p:sp>
        <p:nvSpPr>
          <p:cNvPr id="173" name="TextBox 59">
            <a:extLst>
              <a:ext uri="{FF2B5EF4-FFF2-40B4-BE49-F238E27FC236}">
                <a16:creationId xmlns:a16="http://schemas.microsoft.com/office/drawing/2014/main" id="{A3CB629C-659E-4A6C-9606-53D0EE34350F}"/>
              </a:ext>
            </a:extLst>
          </p:cNvPr>
          <p:cNvSpPr txBox="1"/>
          <p:nvPr/>
        </p:nvSpPr>
        <p:spPr>
          <a:xfrm>
            <a:off x="7086600" y="2883450"/>
            <a:ext cx="1737360" cy="326243"/>
          </a:xfrm>
          <a:prstGeom prst="rect">
            <a:avLst/>
          </a:prstGeom>
          <a:noFill/>
        </p:spPr>
        <p:txBody>
          <a:bodyPr wrap="square" anchor="ctr">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760" b="0" i="0">
                <a:latin typeface="Arial"/>
              </a:rPr>
              <a:t>Category affinity increased interaction depth.</a:t>
            </a:r>
          </a:p>
        </p:txBody>
      </p:sp>
      <p:sp>
        <p:nvSpPr>
          <p:cNvPr id="174" name="Rounded Rectangle 60">
            <a:extLst>
              <a:ext uri="{FF2B5EF4-FFF2-40B4-BE49-F238E27FC236}">
                <a16:creationId xmlns:a16="http://schemas.microsoft.com/office/drawing/2014/main" id="{D41A0469-1570-43D4-ACE9-67E7196A4C3D}"/>
              </a:ext>
            </a:extLst>
          </p:cNvPr>
          <p:cNvSpPr/>
          <p:nvPr/>
        </p:nvSpPr>
        <p:spPr>
          <a:xfrm>
            <a:off x="9079992" y="2923127"/>
            <a:ext cx="777240" cy="246888"/>
          </a:xfrm>
          <a:prstGeom prst="roundRect">
            <a:avLst/>
          </a:prstGeom>
          <a:solidFill>
            <a:srgbClr val="009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75" name="TextBox 61">
            <a:extLst>
              <a:ext uri="{FF2B5EF4-FFF2-40B4-BE49-F238E27FC236}">
                <a16:creationId xmlns:a16="http://schemas.microsoft.com/office/drawing/2014/main" id="{2ACAF2AB-160F-45C9-8B2A-A8181388D346}"/>
              </a:ext>
            </a:extLst>
          </p:cNvPr>
          <p:cNvSpPr txBox="1"/>
          <p:nvPr/>
        </p:nvSpPr>
        <p:spPr>
          <a:xfrm>
            <a:off x="9079992" y="2944235"/>
            <a:ext cx="777240" cy="204671"/>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730" b="1" i="0" u="none" strike="noStrike" kern="1200" cap="none" spc="0" normalizeH="0" baseline="0" noProof="0">
                <a:ln>
                  <a:noFill/>
                </a:ln>
                <a:solidFill>
                  <a:srgbClr val="FFFFFF"/>
                </a:solidFill>
                <a:effectLst/>
                <a:uLnTx/>
                <a:uFillTx/>
                <a:latin typeface="Arial"/>
                <a:ea typeface="+mn-ea"/>
                <a:cs typeface="+mn-cs"/>
              </a:rPr>
              <a:t>ABOVE</a:t>
            </a:r>
            <a:endParaRPr kumimoji="0" sz="730" b="1" i="0" u="none" strike="noStrike" kern="1200" cap="none" spc="0" normalizeH="0" baseline="0" noProof="0">
              <a:ln>
                <a:noFill/>
              </a:ln>
              <a:solidFill>
                <a:srgbClr val="FFFFFF"/>
              </a:solidFill>
              <a:effectLst/>
              <a:uLnTx/>
              <a:uFillTx/>
              <a:latin typeface="Arial"/>
              <a:ea typeface="+mn-ea"/>
              <a:cs typeface="+mn-cs"/>
            </a:endParaRPr>
          </a:p>
        </p:txBody>
      </p:sp>
      <p:sp>
        <p:nvSpPr>
          <p:cNvPr id="176" name="TextBox 62">
            <a:extLst>
              <a:ext uri="{FF2B5EF4-FFF2-40B4-BE49-F238E27FC236}">
                <a16:creationId xmlns:a16="http://schemas.microsoft.com/office/drawing/2014/main" id="{649DBE72-ED08-4DE2-B7A4-29773CFC7CB5}"/>
              </a:ext>
            </a:extLst>
          </p:cNvPr>
          <p:cNvSpPr txBox="1"/>
          <p:nvPr/>
        </p:nvSpPr>
        <p:spPr>
          <a:xfrm>
            <a:off x="10104120" y="2829588"/>
            <a:ext cx="1276096" cy="433965"/>
          </a:xfrm>
          <a:prstGeom prst="rect">
            <a:avLst/>
          </a:prstGeom>
          <a:noFill/>
        </p:spPr>
        <p:txBody>
          <a:bodyPr wrap="square" anchor="ctr">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740" b="0" i="0">
                <a:latin typeface="Arial"/>
              </a:rPr>
              <a:t>Prioritize owners and audiences closer to the category.</a:t>
            </a:r>
          </a:p>
        </p:txBody>
      </p:sp>
      <p:sp>
        <p:nvSpPr>
          <p:cNvPr id="177" name="Rectangle 63">
            <a:extLst>
              <a:ext uri="{FF2B5EF4-FFF2-40B4-BE49-F238E27FC236}">
                <a16:creationId xmlns:a16="http://schemas.microsoft.com/office/drawing/2014/main" id="{70DD24D8-17EB-46CE-B7D0-2327DBA61F71}"/>
              </a:ext>
            </a:extLst>
          </p:cNvPr>
          <p:cNvSpPr/>
          <p:nvPr/>
        </p:nvSpPr>
        <p:spPr>
          <a:xfrm>
            <a:off x="987552" y="3325463"/>
            <a:ext cx="1600200" cy="502919"/>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78" name="Rectangle 64">
            <a:extLst>
              <a:ext uri="{FF2B5EF4-FFF2-40B4-BE49-F238E27FC236}">
                <a16:creationId xmlns:a16="http://schemas.microsoft.com/office/drawing/2014/main" id="{948165C0-BA27-4145-A1D2-B1D89C9E8B01}"/>
              </a:ext>
            </a:extLst>
          </p:cNvPr>
          <p:cNvSpPr/>
          <p:nvPr/>
        </p:nvSpPr>
        <p:spPr>
          <a:xfrm>
            <a:off x="2633472" y="3325463"/>
            <a:ext cx="1234440" cy="502919"/>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79" name="Rectangle 65">
            <a:extLst>
              <a:ext uri="{FF2B5EF4-FFF2-40B4-BE49-F238E27FC236}">
                <a16:creationId xmlns:a16="http://schemas.microsoft.com/office/drawing/2014/main" id="{BF554EBC-CF8D-4A19-8673-220EBF6D0FFB}"/>
              </a:ext>
            </a:extLst>
          </p:cNvPr>
          <p:cNvSpPr/>
          <p:nvPr/>
        </p:nvSpPr>
        <p:spPr>
          <a:xfrm>
            <a:off x="3913632" y="3325463"/>
            <a:ext cx="1417320" cy="502919"/>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80" name="Rectangle 66">
            <a:extLst>
              <a:ext uri="{FF2B5EF4-FFF2-40B4-BE49-F238E27FC236}">
                <a16:creationId xmlns:a16="http://schemas.microsoft.com/office/drawing/2014/main" id="{BDBE8F3C-BCEB-4179-A5DC-553AB1B9E7A1}"/>
              </a:ext>
            </a:extLst>
          </p:cNvPr>
          <p:cNvSpPr/>
          <p:nvPr/>
        </p:nvSpPr>
        <p:spPr>
          <a:xfrm>
            <a:off x="5376672" y="3325463"/>
            <a:ext cx="1600200" cy="502919"/>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81" name="Rectangle 67">
            <a:extLst>
              <a:ext uri="{FF2B5EF4-FFF2-40B4-BE49-F238E27FC236}">
                <a16:creationId xmlns:a16="http://schemas.microsoft.com/office/drawing/2014/main" id="{7F94A964-B020-4783-AB99-C1E234DED169}"/>
              </a:ext>
            </a:extLst>
          </p:cNvPr>
          <p:cNvSpPr/>
          <p:nvPr/>
        </p:nvSpPr>
        <p:spPr>
          <a:xfrm>
            <a:off x="7022592" y="3325463"/>
            <a:ext cx="1874519" cy="502919"/>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82" name="Rectangle 68">
            <a:extLst>
              <a:ext uri="{FF2B5EF4-FFF2-40B4-BE49-F238E27FC236}">
                <a16:creationId xmlns:a16="http://schemas.microsoft.com/office/drawing/2014/main" id="{A224AC2F-B3A3-429C-8CF9-66087BD67A60}"/>
              </a:ext>
            </a:extLst>
          </p:cNvPr>
          <p:cNvSpPr/>
          <p:nvPr/>
        </p:nvSpPr>
        <p:spPr>
          <a:xfrm>
            <a:off x="8942832" y="3325463"/>
            <a:ext cx="1051560" cy="502919"/>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83" name="Rectangle 69">
            <a:extLst>
              <a:ext uri="{FF2B5EF4-FFF2-40B4-BE49-F238E27FC236}">
                <a16:creationId xmlns:a16="http://schemas.microsoft.com/office/drawing/2014/main" id="{D3984D7F-C152-49B2-B34B-41F330D81AF6}"/>
              </a:ext>
            </a:extLst>
          </p:cNvPr>
          <p:cNvSpPr/>
          <p:nvPr/>
        </p:nvSpPr>
        <p:spPr>
          <a:xfrm>
            <a:off x="10040112" y="3325463"/>
            <a:ext cx="1435608" cy="502919"/>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84" name="TextBox 70">
            <a:extLst>
              <a:ext uri="{FF2B5EF4-FFF2-40B4-BE49-F238E27FC236}">
                <a16:creationId xmlns:a16="http://schemas.microsoft.com/office/drawing/2014/main" id="{AFDC5F38-568D-473E-9CB4-0D025294F50A}"/>
              </a:ext>
            </a:extLst>
          </p:cNvPr>
          <p:cNvSpPr txBox="1"/>
          <p:nvPr/>
        </p:nvSpPr>
        <p:spPr>
          <a:xfrm>
            <a:off x="1051560" y="3343751"/>
            <a:ext cx="1444752" cy="466344"/>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40" b="1" i="0" u="none" strike="noStrike" kern="1200" cap="none" spc="0" normalizeH="0" baseline="0" noProof="0">
                <a:ln>
                  <a:noFill/>
                </a:ln>
                <a:solidFill>
                  <a:srgbClr val="141414"/>
                </a:solidFill>
                <a:effectLst/>
                <a:uLnTx/>
                <a:uFillTx/>
                <a:latin typeface="Arial"/>
                <a:ea typeface="+mn-ea"/>
                <a:cs typeface="+mn-cs"/>
              </a:rPr>
              <a:t>Music Studio</a:t>
            </a:r>
          </a:p>
        </p:txBody>
      </p:sp>
      <p:sp>
        <p:nvSpPr>
          <p:cNvPr id="185" name="TextBox 71">
            <a:extLst>
              <a:ext uri="{FF2B5EF4-FFF2-40B4-BE49-F238E27FC236}">
                <a16:creationId xmlns:a16="http://schemas.microsoft.com/office/drawing/2014/main" id="{7551B5A8-F762-4A30-9EEF-FCB4459244CB}"/>
              </a:ext>
            </a:extLst>
          </p:cNvPr>
          <p:cNvSpPr txBox="1"/>
          <p:nvPr/>
        </p:nvSpPr>
        <p:spPr>
          <a:xfrm>
            <a:off x="2697480" y="3343751"/>
            <a:ext cx="1097280" cy="466344"/>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80" b="0" i="0" u="none" strike="noStrike" kern="1200" cap="none" spc="0" normalizeH="0" baseline="0" noProof="0">
                <a:ln>
                  <a:noFill/>
                </a:ln>
                <a:solidFill>
                  <a:srgbClr val="141414"/>
                </a:solidFill>
                <a:effectLst/>
                <a:uLnTx/>
                <a:uFillTx/>
                <a:latin typeface="Arial"/>
                <a:ea typeface="+mn-ea"/>
                <a:cs typeface="+mn-cs"/>
              </a:rPr>
              <a:t>Awareness &amp;</a:t>
            </a:r>
            <a:br>
              <a:rPr kumimoji="0" sz="1800" b="0" i="0" u="none" strike="noStrike" kern="1200" cap="none" spc="0" normalizeH="0" baseline="0" noProof="0">
                <a:ln>
                  <a:noFill/>
                </a:ln>
                <a:solidFill>
                  <a:prstClr val="black"/>
                </a:solidFill>
                <a:effectLst/>
                <a:uLnTx/>
                <a:uFillTx/>
                <a:latin typeface="Aptos" panose="020B0004020202020204"/>
                <a:ea typeface="+mn-ea"/>
                <a:cs typeface="+mn-cs"/>
              </a:rPr>
            </a:br>
            <a:r>
              <a:rPr kumimoji="0" sz="780" b="0" i="0" u="none" strike="noStrike" kern="1200" cap="none" spc="0" normalizeH="0" baseline="0" noProof="0">
                <a:ln>
                  <a:noFill/>
                </a:ln>
                <a:solidFill>
                  <a:srgbClr val="141414"/>
                </a:solidFill>
                <a:effectLst/>
                <a:uLnTx/>
                <a:uFillTx/>
                <a:latin typeface="Arial"/>
                <a:ea typeface="+mn-ea"/>
                <a:cs typeface="+mn-cs"/>
              </a:rPr>
              <a:t>Engagement</a:t>
            </a:r>
          </a:p>
        </p:txBody>
      </p:sp>
      <p:sp>
        <p:nvSpPr>
          <p:cNvPr id="186" name="TextBox 72">
            <a:extLst>
              <a:ext uri="{FF2B5EF4-FFF2-40B4-BE49-F238E27FC236}">
                <a16:creationId xmlns:a16="http://schemas.microsoft.com/office/drawing/2014/main" id="{C61A622F-47C5-4D7C-AFC1-536C2C13FBD3}"/>
              </a:ext>
            </a:extLst>
          </p:cNvPr>
          <p:cNvSpPr txBox="1"/>
          <p:nvPr/>
        </p:nvSpPr>
        <p:spPr>
          <a:xfrm>
            <a:off x="3977640" y="3343751"/>
            <a:ext cx="1280160" cy="466344"/>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70" b="0" i="0" u="none" strike="noStrike" kern="1200" cap="none" spc="0" normalizeH="0" baseline="0" noProof="0">
                <a:ln>
                  <a:noFill/>
                </a:ln>
                <a:solidFill>
                  <a:srgbClr val="141414"/>
                </a:solidFill>
                <a:effectLst/>
                <a:uLnTx/>
                <a:uFillTx/>
                <a:latin typeface="Arial"/>
                <a:ea typeface="+mn-ea"/>
                <a:cs typeface="+mn-cs"/>
              </a:rPr>
              <a:t>OR → CTOR / CTR</a:t>
            </a:r>
          </a:p>
        </p:txBody>
      </p:sp>
      <p:sp>
        <p:nvSpPr>
          <p:cNvPr id="187" name="TextBox 73">
            <a:extLst>
              <a:ext uri="{FF2B5EF4-FFF2-40B4-BE49-F238E27FC236}">
                <a16:creationId xmlns:a16="http://schemas.microsoft.com/office/drawing/2014/main" id="{4803DCFB-8B47-4FAA-B11C-CF64D61AE5CE}"/>
              </a:ext>
            </a:extLst>
          </p:cNvPr>
          <p:cNvSpPr txBox="1"/>
          <p:nvPr/>
        </p:nvSpPr>
        <p:spPr>
          <a:xfrm>
            <a:off x="5440680" y="3349940"/>
            <a:ext cx="1463040" cy="466344"/>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60" b="0" i="0" u="none" strike="noStrike" kern="1200" cap="none" spc="0" normalizeH="0" baseline="0" noProof="0">
                <a:ln>
                  <a:noFill/>
                </a:ln>
                <a:solidFill>
                  <a:srgbClr val="141414"/>
                </a:solidFill>
                <a:effectLst/>
                <a:uLnTx/>
                <a:uFillTx/>
                <a:latin typeface="Arial"/>
                <a:ea typeface="+mn-ea"/>
                <a:cs typeface="+mn-cs"/>
              </a:rPr>
              <a:t>7,46% OR → 0,36% CTOR</a:t>
            </a:r>
            <a:br>
              <a:rPr kumimoji="0" sz="1800" b="0" i="0" u="none" strike="noStrike" kern="1200" cap="none" spc="0" normalizeH="0" baseline="0" noProof="0">
                <a:ln>
                  <a:noFill/>
                </a:ln>
                <a:solidFill>
                  <a:prstClr val="black"/>
                </a:solidFill>
                <a:effectLst/>
                <a:uLnTx/>
                <a:uFillTx/>
                <a:latin typeface="Aptos" panose="020B0004020202020204"/>
                <a:ea typeface="+mn-ea"/>
                <a:cs typeface="+mn-cs"/>
              </a:rPr>
            </a:br>
            <a:r>
              <a:rPr kumimoji="0" sz="760" b="0" i="0" u="none" strike="noStrike" kern="1200" cap="none" spc="0" normalizeH="0" baseline="0" noProof="0">
                <a:ln>
                  <a:noFill/>
                </a:ln>
                <a:solidFill>
                  <a:srgbClr val="141414"/>
                </a:solidFill>
                <a:effectLst/>
                <a:uLnTx/>
                <a:uFillTx/>
                <a:latin typeface="Arial"/>
                <a:ea typeface="+mn-ea"/>
                <a:cs typeface="+mn-cs"/>
              </a:rPr>
              <a:t>0,03% CTR</a:t>
            </a:r>
          </a:p>
        </p:txBody>
      </p:sp>
      <p:sp>
        <p:nvSpPr>
          <p:cNvPr id="188" name="TextBox 74">
            <a:extLst>
              <a:ext uri="{FF2B5EF4-FFF2-40B4-BE49-F238E27FC236}">
                <a16:creationId xmlns:a16="http://schemas.microsoft.com/office/drawing/2014/main" id="{940789D4-0948-4E97-BA8B-2293D7D00974}"/>
              </a:ext>
            </a:extLst>
          </p:cNvPr>
          <p:cNvSpPr txBox="1"/>
          <p:nvPr/>
        </p:nvSpPr>
        <p:spPr>
          <a:xfrm>
            <a:off x="7086600" y="3413801"/>
            <a:ext cx="1737360" cy="326243"/>
          </a:xfrm>
          <a:prstGeom prst="rect">
            <a:avLst/>
          </a:prstGeom>
          <a:noFill/>
        </p:spPr>
        <p:txBody>
          <a:bodyPr wrap="square" anchor="ctr">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760" b="0" i="0">
                <a:latin typeface="Arial"/>
              </a:rPr>
              <a:t>Generated attention, but opens did not progress into interaction.</a:t>
            </a:r>
          </a:p>
        </p:txBody>
      </p:sp>
      <p:sp>
        <p:nvSpPr>
          <p:cNvPr id="189" name="Rounded Rectangle 75">
            <a:extLst>
              <a:ext uri="{FF2B5EF4-FFF2-40B4-BE49-F238E27FC236}">
                <a16:creationId xmlns:a16="http://schemas.microsoft.com/office/drawing/2014/main" id="{2336AAC9-14A7-49F4-85CC-EB820F0D8275}"/>
              </a:ext>
            </a:extLst>
          </p:cNvPr>
          <p:cNvSpPr/>
          <p:nvPr/>
        </p:nvSpPr>
        <p:spPr>
          <a:xfrm>
            <a:off x="9079992" y="3453479"/>
            <a:ext cx="777240" cy="246888"/>
          </a:xfrm>
          <a:prstGeom prst="roundRect">
            <a:avLst/>
          </a:prstGeom>
          <a:solidFill>
            <a:srgbClr val="F291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90" name="TextBox 76">
            <a:extLst>
              <a:ext uri="{FF2B5EF4-FFF2-40B4-BE49-F238E27FC236}">
                <a16:creationId xmlns:a16="http://schemas.microsoft.com/office/drawing/2014/main" id="{E4A051EF-AD69-48AA-A8D9-05B0A5AEDE00}"/>
              </a:ext>
            </a:extLst>
          </p:cNvPr>
          <p:cNvSpPr txBox="1"/>
          <p:nvPr/>
        </p:nvSpPr>
        <p:spPr>
          <a:xfrm>
            <a:off x="9079992" y="3474587"/>
            <a:ext cx="777240" cy="204671"/>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730" b="1" i="0" u="none" strike="noStrike" kern="1200" cap="none" spc="0" normalizeH="0" baseline="0" noProof="0">
                <a:ln>
                  <a:noFill/>
                </a:ln>
                <a:solidFill>
                  <a:srgbClr val="FFFFFF"/>
                </a:solidFill>
                <a:effectLst/>
                <a:uLnTx/>
                <a:uFillTx/>
                <a:latin typeface="Arial"/>
                <a:ea typeface="+mn-ea"/>
                <a:cs typeface="+mn-cs"/>
              </a:rPr>
              <a:t>PARTIAL</a:t>
            </a:r>
          </a:p>
        </p:txBody>
      </p:sp>
      <p:sp>
        <p:nvSpPr>
          <p:cNvPr id="191" name="TextBox 77">
            <a:extLst>
              <a:ext uri="{FF2B5EF4-FFF2-40B4-BE49-F238E27FC236}">
                <a16:creationId xmlns:a16="http://schemas.microsoft.com/office/drawing/2014/main" id="{586B7D53-8D8A-4B8F-A0BA-E8713555FAEA}"/>
              </a:ext>
            </a:extLst>
          </p:cNvPr>
          <p:cNvSpPr txBox="1"/>
          <p:nvPr/>
        </p:nvSpPr>
        <p:spPr>
          <a:xfrm>
            <a:off x="10104120" y="3359940"/>
            <a:ext cx="1276096" cy="433965"/>
          </a:xfrm>
          <a:prstGeom prst="rect">
            <a:avLst/>
          </a:prstGeom>
          <a:noFill/>
        </p:spPr>
        <p:txBody>
          <a:bodyPr wrap="square" anchor="ctr">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740" b="0" i="0">
                <a:latin typeface="Arial"/>
              </a:rPr>
              <a:t>Strengthen the value proposition, creative/CTA and audience affinity.</a:t>
            </a:r>
          </a:p>
        </p:txBody>
      </p:sp>
      <p:sp>
        <p:nvSpPr>
          <p:cNvPr id="192" name="Rectangle 78">
            <a:extLst>
              <a:ext uri="{FF2B5EF4-FFF2-40B4-BE49-F238E27FC236}">
                <a16:creationId xmlns:a16="http://schemas.microsoft.com/office/drawing/2014/main" id="{85F5E4F1-EECC-4250-B595-6680DE0F9B4E}"/>
              </a:ext>
            </a:extLst>
          </p:cNvPr>
          <p:cNvSpPr/>
          <p:nvPr/>
        </p:nvSpPr>
        <p:spPr>
          <a:xfrm>
            <a:off x="987552" y="3855815"/>
            <a:ext cx="1600200" cy="502919"/>
          </a:xfrm>
          <a:prstGeom prst="rect">
            <a:avLst/>
          </a:prstGeom>
          <a:solidFill>
            <a:srgbClr val="F7F7F7"/>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93" name="Rectangle 79">
            <a:extLst>
              <a:ext uri="{FF2B5EF4-FFF2-40B4-BE49-F238E27FC236}">
                <a16:creationId xmlns:a16="http://schemas.microsoft.com/office/drawing/2014/main" id="{5A952183-5541-423A-92FB-7D06AD777C7E}"/>
              </a:ext>
            </a:extLst>
          </p:cNvPr>
          <p:cNvSpPr/>
          <p:nvPr/>
        </p:nvSpPr>
        <p:spPr>
          <a:xfrm>
            <a:off x="2633472" y="3855815"/>
            <a:ext cx="1234440" cy="502919"/>
          </a:xfrm>
          <a:prstGeom prst="rect">
            <a:avLst/>
          </a:prstGeom>
          <a:solidFill>
            <a:srgbClr val="F7F7F7"/>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94" name="Rectangle 80">
            <a:extLst>
              <a:ext uri="{FF2B5EF4-FFF2-40B4-BE49-F238E27FC236}">
                <a16:creationId xmlns:a16="http://schemas.microsoft.com/office/drawing/2014/main" id="{10E79584-959F-4691-AD0F-A93B589CDF82}"/>
              </a:ext>
            </a:extLst>
          </p:cNvPr>
          <p:cNvSpPr/>
          <p:nvPr/>
        </p:nvSpPr>
        <p:spPr>
          <a:xfrm>
            <a:off x="3913632" y="3855815"/>
            <a:ext cx="1417320" cy="502919"/>
          </a:xfrm>
          <a:prstGeom prst="rect">
            <a:avLst/>
          </a:prstGeom>
          <a:solidFill>
            <a:srgbClr val="F7F7F7"/>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95" name="Rectangle 81">
            <a:extLst>
              <a:ext uri="{FF2B5EF4-FFF2-40B4-BE49-F238E27FC236}">
                <a16:creationId xmlns:a16="http://schemas.microsoft.com/office/drawing/2014/main" id="{722ABA2B-D41F-4E04-B978-C4578520BDB5}"/>
              </a:ext>
            </a:extLst>
          </p:cNvPr>
          <p:cNvSpPr/>
          <p:nvPr/>
        </p:nvSpPr>
        <p:spPr>
          <a:xfrm>
            <a:off x="5376672" y="3855815"/>
            <a:ext cx="1600200" cy="502919"/>
          </a:xfrm>
          <a:prstGeom prst="rect">
            <a:avLst/>
          </a:prstGeom>
          <a:solidFill>
            <a:srgbClr val="F7F7F7"/>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96" name="Rectangle 82">
            <a:extLst>
              <a:ext uri="{FF2B5EF4-FFF2-40B4-BE49-F238E27FC236}">
                <a16:creationId xmlns:a16="http://schemas.microsoft.com/office/drawing/2014/main" id="{C78E9A57-6631-4C21-9D06-993D6A0B5372}"/>
              </a:ext>
            </a:extLst>
          </p:cNvPr>
          <p:cNvSpPr/>
          <p:nvPr/>
        </p:nvSpPr>
        <p:spPr>
          <a:xfrm>
            <a:off x="7022592" y="3855815"/>
            <a:ext cx="1874519" cy="502919"/>
          </a:xfrm>
          <a:prstGeom prst="rect">
            <a:avLst/>
          </a:prstGeom>
          <a:solidFill>
            <a:srgbClr val="F7F7F7"/>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97" name="Rectangle 83">
            <a:extLst>
              <a:ext uri="{FF2B5EF4-FFF2-40B4-BE49-F238E27FC236}">
                <a16:creationId xmlns:a16="http://schemas.microsoft.com/office/drawing/2014/main" id="{59B524A8-8349-4EE1-AF03-E6F44848EE4A}"/>
              </a:ext>
            </a:extLst>
          </p:cNvPr>
          <p:cNvSpPr/>
          <p:nvPr/>
        </p:nvSpPr>
        <p:spPr>
          <a:xfrm>
            <a:off x="8942832" y="3855815"/>
            <a:ext cx="1051560" cy="502919"/>
          </a:xfrm>
          <a:prstGeom prst="rect">
            <a:avLst/>
          </a:prstGeom>
          <a:solidFill>
            <a:srgbClr val="F7F7F7"/>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98" name="Rectangle 84">
            <a:extLst>
              <a:ext uri="{FF2B5EF4-FFF2-40B4-BE49-F238E27FC236}">
                <a16:creationId xmlns:a16="http://schemas.microsoft.com/office/drawing/2014/main" id="{C4FD93BE-899D-4AB2-A712-1F5DF1468604}"/>
              </a:ext>
            </a:extLst>
          </p:cNvPr>
          <p:cNvSpPr/>
          <p:nvPr/>
        </p:nvSpPr>
        <p:spPr>
          <a:xfrm>
            <a:off x="10040112" y="3855815"/>
            <a:ext cx="1435608" cy="502919"/>
          </a:xfrm>
          <a:prstGeom prst="rect">
            <a:avLst/>
          </a:prstGeom>
          <a:solidFill>
            <a:srgbClr val="F7F7F7"/>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99" name="TextBox 85">
            <a:extLst>
              <a:ext uri="{FF2B5EF4-FFF2-40B4-BE49-F238E27FC236}">
                <a16:creationId xmlns:a16="http://schemas.microsoft.com/office/drawing/2014/main" id="{DD45283F-75E4-4708-AC44-1A04D95D7DF0}"/>
              </a:ext>
            </a:extLst>
          </p:cNvPr>
          <p:cNvSpPr txBox="1"/>
          <p:nvPr/>
        </p:nvSpPr>
        <p:spPr>
          <a:xfrm>
            <a:off x="1051560" y="3874102"/>
            <a:ext cx="1444752" cy="466344"/>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40" b="1" i="0" u="none" strike="noStrike" kern="1200" cap="none" spc="0" normalizeH="0" baseline="0" noProof="0">
                <a:ln>
                  <a:noFill/>
                </a:ln>
                <a:solidFill>
                  <a:srgbClr val="141414"/>
                </a:solidFill>
                <a:effectLst/>
                <a:uLnTx/>
                <a:uFillTx/>
                <a:latin typeface="Arial"/>
                <a:ea typeface="+mn-ea"/>
                <a:cs typeface="+mn-cs"/>
              </a:rPr>
              <a:t>Galaxy S26 FE</a:t>
            </a:r>
          </a:p>
        </p:txBody>
      </p:sp>
      <p:sp>
        <p:nvSpPr>
          <p:cNvPr id="200" name="TextBox 86">
            <a:extLst>
              <a:ext uri="{FF2B5EF4-FFF2-40B4-BE49-F238E27FC236}">
                <a16:creationId xmlns:a16="http://schemas.microsoft.com/office/drawing/2014/main" id="{9F282CBE-8870-465D-9E5B-702F0F5C974D}"/>
              </a:ext>
            </a:extLst>
          </p:cNvPr>
          <p:cNvSpPr txBox="1"/>
          <p:nvPr/>
        </p:nvSpPr>
        <p:spPr>
          <a:xfrm>
            <a:off x="2697480" y="3874102"/>
            <a:ext cx="1097280" cy="466344"/>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80" b="0" i="0" u="none" strike="noStrike" kern="1200" cap="none" spc="0" normalizeH="0" baseline="0" noProof="0">
                <a:ln>
                  <a:noFill/>
                </a:ln>
                <a:solidFill>
                  <a:srgbClr val="141414"/>
                </a:solidFill>
                <a:effectLst/>
                <a:uLnTx/>
                <a:uFillTx/>
                <a:latin typeface="Arial"/>
                <a:ea typeface="+mn-ea"/>
                <a:cs typeface="+mn-cs"/>
              </a:rPr>
              <a:t>Awareness &amp;</a:t>
            </a:r>
            <a:br>
              <a:rPr kumimoji="0" sz="1800" b="0" i="0" u="none" strike="noStrike" kern="1200" cap="none" spc="0" normalizeH="0" baseline="0" noProof="0">
                <a:ln>
                  <a:noFill/>
                </a:ln>
                <a:solidFill>
                  <a:prstClr val="black"/>
                </a:solidFill>
                <a:effectLst/>
                <a:uLnTx/>
                <a:uFillTx/>
                <a:latin typeface="Aptos" panose="020B0004020202020204"/>
                <a:ea typeface="+mn-ea"/>
                <a:cs typeface="+mn-cs"/>
              </a:rPr>
            </a:br>
            <a:r>
              <a:rPr kumimoji="0" sz="780" b="0" i="0" u="none" strike="noStrike" kern="1200" cap="none" spc="0" normalizeH="0" baseline="0" noProof="0">
                <a:ln>
                  <a:noFill/>
                </a:ln>
                <a:solidFill>
                  <a:srgbClr val="141414"/>
                </a:solidFill>
                <a:effectLst/>
                <a:uLnTx/>
                <a:uFillTx/>
                <a:latin typeface="Arial"/>
                <a:ea typeface="+mn-ea"/>
                <a:cs typeface="+mn-cs"/>
              </a:rPr>
              <a:t>Engagement</a:t>
            </a:r>
          </a:p>
        </p:txBody>
      </p:sp>
      <p:sp>
        <p:nvSpPr>
          <p:cNvPr id="201" name="TextBox 87">
            <a:extLst>
              <a:ext uri="{FF2B5EF4-FFF2-40B4-BE49-F238E27FC236}">
                <a16:creationId xmlns:a16="http://schemas.microsoft.com/office/drawing/2014/main" id="{EE066DD2-1BF6-4874-97D6-E32DD3A1E639}"/>
              </a:ext>
            </a:extLst>
          </p:cNvPr>
          <p:cNvSpPr txBox="1"/>
          <p:nvPr/>
        </p:nvSpPr>
        <p:spPr>
          <a:xfrm>
            <a:off x="3977640" y="3874102"/>
            <a:ext cx="1280160" cy="466344"/>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70" b="0" i="0" u="none" strike="noStrike" kern="1200" cap="none" spc="0" normalizeH="0" baseline="0" noProof="0">
                <a:ln>
                  <a:noFill/>
                </a:ln>
                <a:solidFill>
                  <a:srgbClr val="141414"/>
                </a:solidFill>
                <a:effectLst/>
                <a:uLnTx/>
                <a:uFillTx/>
                <a:latin typeface="Arial"/>
                <a:ea typeface="+mn-ea"/>
                <a:cs typeface="+mn-cs"/>
              </a:rPr>
              <a:t>Reach → CTOR</a:t>
            </a:r>
            <a:br>
              <a:rPr kumimoji="0" sz="1800" b="0" i="0" u="none" strike="noStrike" kern="1200" cap="none" spc="0" normalizeH="0" baseline="0" noProof="0">
                <a:ln>
                  <a:noFill/>
                </a:ln>
                <a:solidFill>
                  <a:prstClr val="black"/>
                </a:solidFill>
                <a:effectLst/>
                <a:uLnTx/>
                <a:uFillTx/>
                <a:latin typeface="Aptos" panose="020B0004020202020204"/>
                <a:ea typeface="+mn-ea"/>
                <a:cs typeface="+mn-cs"/>
              </a:rPr>
            </a:br>
            <a:r>
              <a:rPr kumimoji="0" sz="770" b="0" i="0" u="none" strike="noStrike" kern="1200" cap="none" spc="0" normalizeH="0" baseline="0" noProof="0">
                <a:ln>
                  <a:noFill/>
                </a:ln>
                <a:solidFill>
                  <a:srgbClr val="141414"/>
                </a:solidFill>
                <a:effectLst/>
                <a:uLnTx/>
                <a:uFillTx/>
                <a:latin typeface="Arial"/>
                <a:ea typeface="+mn-ea"/>
                <a:cs typeface="+mn-cs"/>
              </a:rPr>
              <a:t>→ Visits</a:t>
            </a:r>
          </a:p>
        </p:txBody>
      </p:sp>
      <p:sp>
        <p:nvSpPr>
          <p:cNvPr id="202" name="TextBox 88">
            <a:extLst>
              <a:ext uri="{FF2B5EF4-FFF2-40B4-BE49-F238E27FC236}">
                <a16:creationId xmlns:a16="http://schemas.microsoft.com/office/drawing/2014/main" id="{1571691A-EB19-4C05-856B-34391C029DB8}"/>
              </a:ext>
            </a:extLst>
          </p:cNvPr>
          <p:cNvSpPr txBox="1"/>
          <p:nvPr/>
        </p:nvSpPr>
        <p:spPr>
          <a:xfrm>
            <a:off x="5440680" y="3874102"/>
            <a:ext cx="1463040" cy="466344"/>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60" b="0" i="0" u="none" strike="noStrike" kern="1200" cap="none" spc="0" normalizeH="0" baseline="0" noProof="0">
                <a:ln>
                  <a:noFill/>
                </a:ln>
                <a:solidFill>
                  <a:srgbClr val="141414"/>
                </a:solidFill>
                <a:effectLst/>
                <a:uLnTx/>
                <a:uFillTx/>
                <a:latin typeface="Arial"/>
                <a:ea typeface="+mn-ea"/>
                <a:cs typeface="+mn-cs"/>
              </a:rPr>
              <a:t>31,1M deliveries | 0,22% CTOR</a:t>
            </a:r>
            <a:br>
              <a:rPr kumimoji="0" sz="1800" b="0" i="0" u="none" strike="noStrike" kern="1200" cap="none" spc="0" normalizeH="0" baseline="0" noProof="0">
                <a:ln>
                  <a:noFill/>
                </a:ln>
                <a:solidFill>
                  <a:prstClr val="black"/>
                </a:solidFill>
                <a:effectLst/>
                <a:uLnTx/>
                <a:uFillTx/>
                <a:latin typeface="Aptos" panose="020B0004020202020204"/>
                <a:ea typeface="+mn-ea"/>
                <a:cs typeface="+mn-cs"/>
              </a:rPr>
            </a:br>
            <a:r>
              <a:rPr kumimoji="0" sz="760" b="0" i="0" u="none" strike="noStrike" kern="1200" cap="none" spc="0" normalizeH="0" baseline="0" noProof="0">
                <a:ln>
                  <a:noFill/>
                </a:ln>
                <a:solidFill>
                  <a:srgbClr val="141414"/>
                </a:solidFill>
                <a:effectLst/>
                <a:uLnTx/>
                <a:uFillTx/>
                <a:latin typeface="Arial"/>
                <a:ea typeface="+mn-ea"/>
                <a:cs typeface="+mn-cs"/>
              </a:rPr>
              <a:t>227 visits</a:t>
            </a:r>
          </a:p>
        </p:txBody>
      </p:sp>
      <p:sp>
        <p:nvSpPr>
          <p:cNvPr id="203" name="TextBox 89">
            <a:extLst>
              <a:ext uri="{FF2B5EF4-FFF2-40B4-BE49-F238E27FC236}">
                <a16:creationId xmlns:a16="http://schemas.microsoft.com/office/drawing/2014/main" id="{16E40E1C-75BD-4761-930E-B1BB36B614E2}"/>
              </a:ext>
            </a:extLst>
          </p:cNvPr>
          <p:cNvSpPr txBox="1"/>
          <p:nvPr/>
        </p:nvSpPr>
        <p:spPr>
          <a:xfrm>
            <a:off x="7086600" y="3944152"/>
            <a:ext cx="1737360" cy="326243"/>
          </a:xfrm>
          <a:prstGeom prst="rect">
            <a:avLst/>
          </a:prstGeom>
          <a:noFill/>
        </p:spPr>
        <p:txBody>
          <a:bodyPr wrap="square" anchor="ctr">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760" b="0" i="0" err="1">
                <a:latin typeface="Arial"/>
              </a:rPr>
              <a:t>Relevant</a:t>
            </a:r>
            <a:r>
              <a:rPr lang="pt-BR" sz="760" b="0" i="0">
                <a:latin typeface="Arial"/>
              </a:rPr>
              <a:t> </a:t>
            </a:r>
            <a:r>
              <a:rPr lang="pt-BR" sz="760" b="0" i="0" err="1">
                <a:latin typeface="Arial"/>
              </a:rPr>
              <a:t>scale</a:t>
            </a:r>
            <a:r>
              <a:rPr lang="pt-BR" sz="760" b="0" i="0">
                <a:latin typeface="Arial"/>
              </a:rPr>
              <a:t> </a:t>
            </a:r>
            <a:r>
              <a:rPr lang="pt-BR" sz="760" b="0" i="0" err="1">
                <a:latin typeface="Arial"/>
              </a:rPr>
              <a:t>without</a:t>
            </a:r>
            <a:r>
              <a:rPr lang="pt-BR" sz="760" b="0" i="0">
                <a:latin typeface="Arial"/>
              </a:rPr>
              <a:t> </a:t>
            </a:r>
            <a:r>
              <a:rPr lang="pt-BR" sz="760" b="0" i="0" err="1">
                <a:latin typeface="Arial"/>
              </a:rPr>
              <a:t>proportional</a:t>
            </a:r>
            <a:r>
              <a:rPr lang="pt-BR" sz="760" b="0" i="0">
                <a:latin typeface="Arial"/>
              </a:rPr>
              <a:t> </a:t>
            </a:r>
            <a:r>
              <a:rPr lang="pt-BR" sz="760" b="0" i="0" err="1">
                <a:latin typeface="Arial"/>
              </a:rPr>
              <a:t>interaction</a:t>
            </a:r>
            <a:r>
              <a:rPr lang="pt-BR" sz="760" b="0" i="0">
                <a:latin typeface="Arial"/>
              </a:rPr>
              <a:t> </a:t>
            </a:r>
            <a:r>
              <a:rPr lang="pt-BR" sz="760" b="0" i="0" err="1">
                <a:latin typeface="Arial"/>
              </a:rPr>
              <a:t>depth</a:t>
            </a:r>
            <a:r>
              <a:rPr lang="pt-BR" sz="760" b="0" i="0">
                <a:latin typeface="Arial"/>
              </a:rPr>
              <a:t>.</a:t>
            </a:r>
          </a:p>
        </p:txBody>
      </p:sp>
      <p:sp>
        <p:nvSpPr>
          <p:cNvPr id="204" name="Rounded Rectangle 90">
            <a:extLst>
              <a:ext uri="{FF2B5EF4-FFF2-40B4-BE49-F238E27FC236}">
                <a16:creationId xmlns:a16="http://schemas.microsoft.com/office/drawing/2014/main" id="{75F15105-20B2-4B89-854E-6E4E7B7F377E}"/>
              </a:ext>
            </a:extLst>
          </p:cNvPr>
          <p:cNvSpPr/>
          <p:nvPr/>
        </p:nvSpPr>
        <p:spPr>
          <a:xfrm>
            <a:off x="9079992" y="3983830"/>
            <a:ext cx="777240" cy="246888"/>
          </a:xfrm>
          <a:prstGeom prst="roundRect">
            <a:avLst/>
          </a:prstGeom>
          <a:solidFill>
            <a:srgbClr val="EB2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05" name="TextBox 91">
            <a:extLst>
              <a:ext uri="{FF2B5EF4-FFF2-40B4-BE49-F238E27FC236}">
                <a16:creationId xmlns:a16="http://schemas.microsoft.com/office/drawing/2014/main" id="{ACFD9BB0-5230-49AF-A13E-E5F825EAE90C}"/>
              </a:ext>
            </a:extLst>
          </p:cNvPr>
          <p:cNvSpPr txBox="1"/>
          <p:nvPr/>
        </p:nvSpPr>
        <p:spPr>
          <a:xfrm>
            <a:off x="9079992" y="4004938"/>
            <a:ext cx="777240" cy="204671"/>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730" b="1" i="0" u="none" strike="noStrike" kern="1200" cap="none" spc="0" normalizeH="0" baseline="0" noProof="0">
                <a:ln>
                  <a:noFill/>
                </a:ln>
                <a:solidFill>
                  <a:srgbClr val="FFFFFF"/>
                </a:solidFill>
                <a:effectLst/>
                <a:uLnTx/>
                <a:uFillTx/>
                <a:latin typeface="Arial"/>
                <a:ea typeface="+mn-ea"/>
                <a:cs typeface="+mn-cs"/>
              </a:rPr>
              <a:t>BELOW</a:t>
            </a:r>
          </a:p>
        </p:txBody>
      </p:sp>
      <p:sp>
        <p:nvSpPr>
          <p:cNvPr id="206" name="TextBox 92">
            <a:extLst>
              <a:ext uri="{FF2B5EF4-FFF2-40B4-BE49-F238E27FC236}">
                <a16:creationId xmlns:a16="http://schemas.microsoft.com/office/drawing/2014/main" id="{AEAD0EB1-BB82-41B1-A271-AA62966EC038}"/>
              </a:ext>
            </a:extLst>
          </p:cNvPr>
          <p:cNvSpPr txBox="1"/>
          <p:nvPr/>
        </p:nvSpPr>
        <p:spPr>
          <a:xfrm>
            <a:off x="10104120" y="3890291"/>
            <a:ext cx="1276096" cy="433965"/>
          </a:xfrm>
          <a:prstGeom prst="rect">
            <a:avLst/>
          </a:prstGeom>
          <a:noFill/>
        </p:spPr>
        <p:txBody>
          <a:bodyPr wrap="square" anchor="ctr">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740" b="0" i="0">
                <a:latin typeface="Arial"/>
              </a:rPr>
              <a:t>Reassess audience, timing and benefit-led messaging.</a:t>
            </a:r>
          </a:p>
        </p:txBody>
      </p:sp>
      <p:sp>
        <p:nvSpPr>
          <p:cNvPr id="207" name="Rectangle 93">
            <a:extLst>
              <a:ext uri="{FF2B5EF4-FFF2-40B4-BE49-F238E27FC236}">
                <a16:creationId xmlns:a16="http://schemas.microsoft.com/office/drawing/2014/main" id="{C4DE0971-C2B7-445C-8A26-E8659938EE47}"/>
              </a:ext>
            </a:extLst>
          </p:cNvPr>
          <p:cNvSpPr/>
          <p:nvPr/>
        </p:nvSpPr>
        <p:spPr>
          <a:xfrm>
            <a:off x="987552" y="4386167"/>
            <a:ext cx="1600200" cy="502919"/>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08" name="Rectangle 94">
            <a:extLst>
              <a:ext uri="{FF2B5EF4-FFF2-40B4-BE49-F238E27FC236}">
                <a16:creationId xmlns:a16="http://schemas.microsoft.com/office/drawing/2014/main" id="{1418985B-2BC4-4E7C-AEC2-2266426F9C25}"/>
              </a:ext>
            </a:extLst>
          </p:cNvPr>
          <p:cNvSpPr/>
          <p:nvPr/>
        </p:nvSpPr>
        <p:spPr>
          <a:xfrm>
            <a:off x="2633472" y="4386167"/>
            <a:ext cx="1234440" cy="502919"/>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09" name="Rectangle 95">
            <a:extLst>
              <a:ext uri="{FF2B5EF4-FFF2-40B4-BE49-F238E27FC236}">
                <a16:creationId xmlns:a16="http://schemas.microsoft.com/office/drawing/2014/main" id="{77593CC1-C690-4155-9A2E-4CE5D893A04D}"/>
              </a:ext>
            </a:extLst>
          </p:cNvPr>
          <p:cNvSpPr/>
          <p:nvPr/>
        </p:nvSpPr>
        <p:spPr>
          <a:xfrm>
            <a:off x="3913632" y="4386167"/>
            <a:ext cx="1417320" cy="502919"/>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10" name="Rectangle 96">
            <a:extLst>
              <a:ext uri="{FF2B5EF4-FFF2-40B4-BE49-F238E27FC236}">
                <a16:creationId xmlns:a16="http://schemas.microsoft.com/office/drawing/2014/main" id="{D48CAF66-D63F-490A-9E12-252BCCA80B9F}"/>
              </a:ext>
            </a:extLst>
          </p:cNvPr>
          <p:cNvSpPr/>
          <p:nvPr/>
        </p:nvSpPr>
        <p:spPr>
          <a:xfrm>
            <a:off x="5376672" y="4386167"/>
            <a:ext cx="1600200" cy="502919"/>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11" name="Rectangle 97">
            <a:extLst>
              <a:ext uri="{FF2B5EF4-FFF2-40B4-BE49-F238E27FC236}">
                <a16:creationId xmlns:a16="http://schemas.microsoft.com/office/drawing/2014/main" id="{3513EB0A-71A9-4A7C-8061-22F1367E5380}"/>
              </a:ext>
            </a:extLst>
          </p:cNvPr>
          <p:cNvSpPr/>
          <p:nvPr/>
        </p:nvSpPr>
        <p:spPr>
          <a:xfrm>
            <a:off x="7022592" y="4386167"/>
            <a:ext cx="1874519" cy="502919"/>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12" name="Rectangle 98">
            <a:extLst>
              <a:ext uri="{FF2B5EF4-FFF2-40B4-BE49-F238E27FC236}">
                <a16:creationId xmlns:a16="http://schemas.microsoft.com/office/drawing/2014/main" id="{2D53EB73-D4EB-4246-8F49-1CF28D7D1AC2}"/>
              </a:ext>
            </a:extLst>
          </p:cNvPr>
          <p:cNvSpPr/>
          <p:nvPr/>
        </p:nvSpPr>
        <p:spPr>
          <a:xfrm>
            <a:off x="8942832" y="4386167"/>
            <a:ext cx="1051560" cy="502919"/>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13" name="Rectangle 99">
            <a:extLst>
              <a:ext uri="{FF2B5EF4-FFF2-40B4-BE49-F238E27FC236}">
                <a16:creationId xmlns:a16="http://schemas.microsoft.com/office/drawing/2014/main" id="{DFDF7C38-D855-4CB4-B0E5-A64F86951C3A}"/>
              </a:ext>
            </a:extLst>
          </p:cNvPr>
          <p:cNvSpPr/>
          <p:nvPr/>
        </p:nvSpPr>
        <p:spPr>
          <a:xfrm>
            <a:off x="10040112" y="4386167"/>
            <a:ext cx="1435608" cy="502919"/>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14" name="TextBox 100">
            <a:extLst>
              <a:ext uri="{FF2B5EF4-FFF2-40B4-BE49-F238E27FC236}">
                <a16:creationId xmlns:a16="http://schemas.microsoft.com/office/drawing/2014/main" id="{FB95E8E0-3744-4E55-AEBA-B89DD842BDD3}"/>
              </a:ext>
            </a:extLst>
          </p:cNvPr>
          <p:cNvSpPr txBox="1"/>
          <p:nvPr/>
        </p:nvSpPr>
        <p:spPr>
          <a:xfrm>
            <a:off x="1051560" y="4404455"/>
            <a:ext cx="1444752" cy="466344"/>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40" b="1" i="0" u="none" strike="noStrike" kern="1200" cap="none" spc="0" normalizeH="0" baseline="0" noProof="0">
                <a:ln>
                  <a:noFill/>
                </a:ln>
                <a:solidFill>
                  <a:srgbClr val="141414"/>
                </a:solidFill>
                <a:effectLst/>
                <a:uLnTx/>
                <a:uFillTx/>
                <a:latin typeface="Arial"/>
                <a:ea typeface="+mn-ea"/>
                <a:cs typeface="+mn-cs"/>
              </a:rPr>
              <a:t>Odyssey Monitores</a:t>
            </a:r>
          </a:p>
        </p:txBody>
      </p:sp>
      <p:sp>
        <p:nvSpPr>
          <p:cNvPr id="215" name="TextBox 101">
            <a:extLst>
              <a:ext uri="{FF2B5EF4-FFF2-40B4-BE49-F238E27FC236}">
                <a16:creationId xmlns:a16="http://schemas.microsoft.com/office/drawing/2014/main" id="{B66C11E7-465A-4BA7-94DA-451252CF356F}"/>
              </a:ext>
            </a:extLst>
          </p:cNvPr>
          <p:cNvSpPr txBox="1"/>
          <p:nvPr/>
        </p:nvSpPr>
        <p:spPr>
          <a:xfrm>
            <a:off x="2697480" y="4404455"/>
            <a:ext cx="1097280" cy="466344"/>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80" b="0" i="0" u="none" strike="noStrike" kern="1200" cap="none" spc="0" normalizeH="0" baseline="0" noProof="0">
                <a:ln>
                  <a:noFill/>
                </a:ln>
                <a:solidFill>
                  <a:srgbClr val="141414"/>
                </a:solidFill>
                <a:effectLst/>
                <a:uLnTx/>
                <a:uFillTx/>
                <a:latin typeface="Arial"/>
                <a:ea typeface="+mn-ea"/>
                <a:cs typeface="+mn-cs"/>
              </a:rPr>
              <a:t>Awareness &amp;</a:t>
            </a:r>
            <a:br>
              <a:rPr kumimoji="0" sz="1800" b="0" i="0" u="none" strike="noStrike" kern="1200" cap="none" spc="0" normalizeH="0" baseline="0" noProof="0">
                <a:ln>
                  <a:noFill/>
                </a:ln>
                <a:solidFill>
                  <a:prstClr val="black"/>
                </a:solidFill>
                <a:effectLst/>
                <a:uLnTx/>
                <a:uFillTx/>
                <a:latin typeface="Aptos" panose="020B0004020202020204"/>
                <a:ea typeface="+mn-ea"/>
                <a:cs typeface="+mn-cs"/>
              </a:rPr>
            </a:br>
            <a:r>
              <a:rPr kumimoji="0" sz="780" b="0" i="0" u="none" strike="noStrike" kern="1200" cap="none" spc="0" normalizeH="0" baseline="0" noProof="0">
                <a:ln>
                  <a:noFill/>
                </a:ln>
                <a:solidFill>
                  <a:srgbClr val="141414"/>
                </a:solidFill>
                <a:effectLst/>
                <a:uLnTx/>
                <a:uFillTx/>
                <a:latin typeface="Arial"/>
                <a:ea typeface="+mn-ea"/>
                <a:cs typeface="+mn-cs"/>
              </a:rPr>
              <a:t>Engagement</a:t>
            </a:r>
          </a:p>
        </p:txBody>
      </p:sp>
      <p:sp>
        <p:nvSpPr>
          <p:cNvPr id="216" name="TextBox 102">
            <a:extLst>
              <a:ext uri="{FF2B5EF4-FFF2-40B4-BE49-F238E27FC236}">
                <a16:creationId xmlns:a16="http://schemas.microsoft.com/office/drawing/2014/main" id="{178D1855-E0A4-4EAE-89AE-AC629D94E20D}"/>
              </a:ext>
            </a:extLst>
          </p:cNvPr>
          <p:cNvSpPr txBox="1"/>
          <p:nvPr/>
        </p:nvSpPr>
        <p:spPr>
          <a:xfrm>
            <a:off x="3977640" y="4404455"/>
            <a:ext cx="1280160" cy="466344"/>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70" b="0" i="0" u="none" strike="noStrike" kern="1200" cap="none" spc="0" normalizeH="0" baseline="0" noProof="0">
                <a:ln>
                  <a:noFill/>
                </a:ln>
                <a:solidFill>
                  <a:srgbClr val="141414"/>
                </a:solidFill>
                <a:effectLst/>
                <a:uLnTx/>
                <a:uFillTx/>
                <a:latin typeface="Arial"/>
                <a:ea typeface="+mn-ea"/>
                <a:cs typeface="+mn-cs"/>
              </a:rPr>
              <a:t>CTR / Click→Visit</a:t>
            </a:r>
          </a:p>
        </p:txBody>
      </p:sp>
      <p:sp>
        <p:nvSpPr>
          <p:cNvPr id="217" name="TextBox 103">
            <a:extLst>
              <a:ext uri="{FF2B5EF4-FFF2-40B4-BE49-F238E27FC236}">
                <a16:creationId xmlns:a16="http://schemas.microsoft.com/office/drawing/2014/main" id="{02E74123-C7DD-40D8-98C5-46EDC340A3CD}"/>
              </a:ext>
            </a:extLst>
          </p:cNvPr>
          <p:cNvSpPr txBox="1"/>
          <p:nvPr/>
        </p:nvSpPr>
        <p:spPr>
          <a:xfrm>
            <a:off x="5440680" y="4404455"/>
            <a:ext cx="1463040" cy="466344"/>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60" b="0" i="0" u="none" strike="noStrike" kern="1200" cap="none" spc="0" normalizeH="0" baseline="0" noProof="0">
                <a:ln>
                  <a:noFill/>
                </a:ln>
                <a:solidFill>
                  <a:srgbClr val="141414"/>
                </a:solidFill>
                <a:effectLst/>
                <a:uLnTx/>
                <a:uFillTx/>
                <a:latin typeface="Arial"/>
                <a:ea typeface="+mn-ea"/>
                <a:cs typeface="+mn-cs"/>
              </a:rPr>
              <a:t>~0,50% CTR | até 68%</a:t>
            </a:r>
            <a:br>
              <a:rPr kumimoji="0" sz="1800" b="0" i="0" u="none" strike="noStrike" kern="1200" cap="none" spc="0" normalizeH="0" baseline="0" noProof="0">
                <a:ln>
                  <a:noFill/>
                </a:ln>
                <a:solidFill>
                  <a:prstClr val="black"/>
                </a:solidFill>
                <a:effectLst/>
                <a:uLnTx/>
                <a:uFillTx/>
                <a:latin typeface="Aptos" panose="020B0004020202020204"/>
                <a:ea typeface="+mn-ea"/>
                <a:cs typeface="+mn-cs"/>
              </a:rPr>
            </a:br>
            <a:r>
              <a:rPr kumimoji="0" sz="760" b="0" i="0" u="none" strike="noStrike" kern="1200" cap="none" spc="0" normalizeH="0" baseline="0" noProof="0">
                <a:ln>
                  <a:noFill/>
                </a:ln>
                <a:solidFill>
                  <a:srgbClr val="141414"/>
                </a:solidFill>
                <a:effectLst/>
                <a:uLnTx/>
                <a:uFillTx/>
                <a:latin typeface="Arial"/>
                <a:ea typeface="+mn-ea"/>
                <a:cs typeface="+mn-cs"/>
              </a:rPr>
              <a:t>Click→Visit</a:t>
            </a:r>
          </a:p>
        </p:txBody>
      </p:sp>
      <p:sp>
        <p:nvSpPr>
          <p:cNvPr id="218" name="TextBox 104">
            <a:extLst>
              <a:ext uri="{FF2B5EF4-FFF2-40B4-BE49-F238E27FC236}">
                <a16:creationId xmlns:a16="http://schemas.microsoft.com/office/drawing/2014/main" id="{82EED37F-FFCC-44B8-BB9B-35AF3B287765}"/>
              </a:ext>
            </a:extLst>
          </p:cNvPr>
          <p:cNvSpPr txBox="1"/>
          <p:nvPr/>
        </p:nvSpPr>
        <p:spPr>
          <a:xfrm>
            <a:off x="7086600" y="4474505"/>
            <a:ext cx="1737360" cy="326243"/>
          </a:xfrm>
          <a:prstGeom prst="rect">
            <a:avLst/>
          </a:prstGeom>
          <a:noFill/>
        </p:spPr>
        <p:txBody>
          <a:bodyPr wrap="square" anchor="ctr">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760" b="0" i="0">
                <a:latin typeface="Arial"/>
              </a:rPr>
              <a:t>Strong post-click quality, but reach was limited by the Pressure Rule.</a:t>
            </a:r>
          </a:p>
        </p:txBody>
      </p:sp>
      <p:sp>
        <p:nvSpPr>
          <p:cNvPr id="219" name="Rounded Rectangle 105">
            <a:extLst>
              <a:ext uri="{FF2B5EF4-FFF2-40B4-BE49-F238E27FC236}">
                <a16:creationId xmlns:a16="http://schemas.microsoft.com/office/drawing/2014/main" id="{5C16FC2E-5524-49FD-96BC-842FB6EE2240}"/>
              </a:ext>
            </a:extLst>
          </p:cNvPr>
          <p:cNvSpPr/>
          <p:nvPr/>
        </p:nvSpPr>
        <p:spPr>
          <a:xfrm>
            <a:off x="9079992" y="4514183"/>
            <a:ext cx="777240" cy="246888"/>
          </a:xfrm>
          <a:prstGeom prst="roundRect">
            <a:avLst/>
          </a:prstGeom>
          <a:solidFill>
            <a:srgbClr val="F291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20" name="TextBox 106">
            <a:extLst>
              <a:ext uri="{FF2B5EF4-FFF2-40B4-BE49-F238E27FC236}">
                <a16:creationId xmlns:a16="http://schemas.microsoft.com/office/drawing/2014/main" id="{882BF13E-E555-414A-9412-B6904105FC24}"/>
              </a:ext>
            </a:extLst>
          </p:cNvPr>
          <p:cNvSpPr txBox="1"/>
          <p:nvPr/>
        </p:nvSpPr>
        <p:spPr>
          <a:xfrm>
            <a:off x="9079992" y="4535291"/>
            <a:ext cx="777240" cy="204671"/>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730" b="1" i="0" u="none" strike="noStrike" kern="1200" cap="none" spc="0" normalizeH="0" baseline="0" noProof="0">
                <a:ln>
                  <a:noFill/>
                </a:ln>
                <a:solidFill>
                  <a:srgbClr val="FFFFFF"/>
                </a:solidFill>
                <a:effectLst/>
                <a:uLnTx/>
                <a:uFillTx/>
                <a:latin typeface="Arial"/>
                <a:ea typeface="+mn-ea"/>
                <a:cs typeface="+mn-cs"/>
              </a:rPr>
              <a:t>PARTIAL</a:t>
            </a:r>
          </a:p>
        </p:txBody>
      </p:sp>
      <p:sp>
        <p:nvSpPr>
          <p:cNvPr id="221" name="TextBox 107">
            <a:extLst>
              <a:ext uri="{FF2B5EF4-FFF2-40B4-BE49-F238E27FC236}">
                <a16:creationId xmlns:a16="http://schemas.microsoft.com/office/drawing/2014/main" id="{3CE34693-FC01-433F-B1D7-025BB53AD420}"/>
              </a:ext>
            </a:extLst>
          </p:cNvPr>
          <p:cNvSpPr txBox="1"/>
          <p:nvPr/>
        </p:nvSpPr>
        <p:spPr>
          <a:xfrm>
            <a:off x="10104120" y="4420644"/>
            <a:ext cx="1276096" cy="433965"/>
          </a:xfrm>
          <a:prstGeom prst="rect">
            <a:avLst/>
          </a:prstGeom>
          <a:noFill/>
        </p:spPr>
        <p:txBody>
          <a:bodyPr wrap="square" anchor="ctr">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740" b="0" i="0">
                <a:latin typeface="Arial"/>
              </a:rPr>
              <a:t>Preserve qualified audiences and reduce pressure-rule conflicts.</a:t>
            </a:r>
          </a:p>
        </p:txBody>
      </p:sp>
      <p:sp>
        <p:nvSpPr>
          <p:cNvPr id="222" name="Rectangle 108">
            <a:extLst>
              <a:ext uri="{FF2B5EF4-FFF2-40B4-BE49-F238E27FC236}">
                <a16:creationId xmlns:a16="http://schemas.microsoft.com/office/drawing/2014/main" id="{6E5764FF-37B4-4FDF-A77B-F8EB4939693A}"/>
              </a:ext>
            </a:extLst>
          </p:cNvPr>
          <p:cNvSpPr/>
          <p:nvPr/>
        </p:nvSpPr>
        <p:spPr>
          <a:xfrm>
            <a:off x="987552" y="4916518"/>
            <a:ext cx="1600200" cy="502919"/>
          </a:xfrm>
          <a:prstGeom prst="rect">
            <a:avLst/>
          </a:prstGeom>
          <a:solidFill>
            <a:srgbClr val="F7F7F7"/>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23" name="Rectangle 109">
            <a:extLst>
              <a:ext uri="{FF2B5EF4-FFF2-40B4-BE49-F238E27FC236}">
                <a16:creationId xmlns:a16="http://schemas.microsoft.com/office/drawing/2014/main" id="{80AD777C-23FF-476C-9475-8B76C6FC0305}"/>
              </a:ext>
            </a:extLst>
          </p:cNvPr>
          <p:cNvSpPr/>
          <p:nvPr/>
        </p:nvSpPr>
        <p:spPr>
          <a:xfrm>
            <a:off x="2633472" y="4916518"/>
            <a:ext cx="1234440" cy="502919"/>
          </a:xfrm>
          <a:prstGeom prst="rect">
            <a:avLst/>
          </a:prstGeom>
          <a:solidFill>
            <a:srgbClr val="F7F7F7"/>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24" name="Rectangle 110">
            <a:extLst>
              <a:ext uri="{FF2B5EF4-FFF2-40B4-BE49-F238E27FC236}">
                <a16:creationId xmlns:a16="http://schemas.microsoft.com/office/drawing/2014/main" id="{3BBFD2DE-A6AF-4168-B414-189E8D585772}"/>
              </a:ext>
            </a:extLst>
          </p:cNvPr>
          <p:cNvSpPr/>
          <p:nvPr/>
        </p:nvSpPr>
        <p:spPr>
          <a:xfrm>
            <a:off x="3913632" y="4916518"/>
            <a:ext cx="1417320" cy="502919"/>
          </a:xfrm>
          <a:prstGeom prst="rect">
            <a:avLst/>
          </a:prstGeom>
          <a:solidFill>
            <a:srgbClr val="F7F7F7"/>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25" name="Rectangle 111">
            <a:extLst>
              <a:ext uri="{FF2B5EF4-FFF2-40B4-BE49-F238E27FC236}">
                <a16:creationId xmlns:a16="http://schemas.microsoft.com/office/drawing/2014/main" id="{EC32B6D3-D260-4A04-BF34-12EA54BD7C89}"/>
              </a:ext>
            </a:extLst>
          </p:cNvPr>
          <p:cNvSpPr/>
          <p:nvPr/>
        </p:nvSpPr>
        <p:spPr>
          <a:xfrm>
            <a:off x="5376672" y="4916518"/>
            <a:ext cx="1600200" cy="502919"/>
          </a:xfrm>
          <a:prstGeom prst="rect">
            <a:avLst/>
          </a:prstGeom>
          <a:solidFill>
            <a:srgbClr val="F7F7F7"/>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26" name="Rectangle 112">
            <a:extLst>
              <a:ext uri="{FF2B5EF4-FFF2-40B4-BE49-F238E27FC236}">
                <a16:creationId xmlns:a16="http://schemas.microsoft.com/office/drawing/2014/main" id="{61FBE4C7-1790-40D3-8011-C219EC384EB6}"/>
              </a:ext>
            </a:extLst>
          </p:cNvPr>
          <p:cNvSpPr/>
          <p:nvPr/>
        </p:nvSpPr>
        <p:spPr>
          <a:xfrm>
            <a:off x="7022592" y="4916518"/>
            <a:ext cx="1874519" cy="502919"/>
          </a:xfrm>
          <a:prstGeom prst="rect">
            <a:avLst/>
          </a:prstGeom>
          <a:solidFill>
            <a:srgbClr val="F7F7F7"/>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27" name="Rectangle 113">
            <a:extLst>
              <a:ext uri="{FF2B5EF4-FFF2-40B4-BE49-F238E27FC236}">
                <a16:creationId xmlns:a16="http://schemas.microsoft.com/office/drawing/2014/main" id="{54CEAB4F-58BD-4297-9F93-F9A3D3604CE5}"/>
              </a:ext>
            </a:extLst>
          </p:cNvPr>
          <p:cNvSpPr/>
          <p:nvPr/>
        </p:nvSpPr>
        <p:spPr>
          <a:xfrm>
            <a:off x="8942832" y="4916518"/>
            <a:ext cx="1051560" cy="502919"/>
          </a:xfrm>
          <a:prstGeom prst="rect">
            <a:avLst/>
          </a:prstGeom>
          <a:solidFill>
            <a:srgbClr val="F7F7F7"/>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28" name="Rectangle 114">
            <a:extLst>
              <a:ext uri="{FF2B5EF4-FFF2-40B4-BE49-F238E27FC236}">
                <a16:creationId xmlns:a16="http://schemas.microsoft.com/office/drawing/2014/main" id="{8244FFA7-9BF6-4231-A692-D48C525798DE}"/>
              </a:ext>
            </a:extLst>
          </p:cNvPr>
          <p:cNvSpPr/>
          <p:nvPr/>
        </p:nvSpPr>
        <p:spPr>
          <a:xfrm>
            <a:off x="10040112" y="4916518"/>
            <a:ext cx="1435608" cy="502919"/>
          </a:xfrm>
          <a:prstGeom prst="rect">
            <a:avLst/>
          </a:prstGeom>
          <a:solidFill>
            <a:srgbClr val="F7F7F7"/>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29" name="TextBox 115">
            <a:extLst>
              <a:ext uri="{FF2B5EF4-FFF2-40B4-BE49-F238E27FC236}">
                <a16:creationId xmlns:a16="http://schemas.microsoft.com/office/drawing/2014/main" id="{4F553B10-5C9E-4627-B691-DA02767ABAD5}"/>
              </a:ext>
            </a:extLst>
          </p:cNvPr>
          <p:cNvSpPr txBox="1"/>
          <p:nvPr/>
        </p:nvSpPr>
        <p:spPr>
          <a:xfrm>
            <a:off x="1051560" y="4934806"/>
            <a:ext cx="1444752" cy="466344"/>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40" b="1" i="0" u="none" strike="noStrike" kern="1200" cap="none" spc="0" normalizeH="0" baseline="0" noProof="0">
                <a:ln>
                  <a:noFill/>
                </a:ln>
                <a:solidFill>
                  <a:srgbClr val="141414"/>
                </a:solidFill>
                <a:effectLst/>
                <a:uLnTx/>
                <a:uFillTx/>
                <a:latin typeface="Arial"/>
                <a:ea typeface="+mn-ea"/>
                <a:cs typeface="+mn-cs"/>
              </a:rPr>
              <a:t>Amazon Music +</a:t>
            </a:r>
            <a:br>
              <a:rPr kumimoji="0" sz="1800" b="0" i="0" u="none" strike="noStrike" kern="1200" cap="none" spc="0" normalizeH="0" baseline="0" noProof="0">
                <a:ln>
                  <a:noFill/>
                </a:ln>
                <a:solidFill>
                  <a:prstClr val="black"/>
                </a:solidFill>
                <a:effectLst/>
                <a:uLnTx/>
                <a:uFillTx/>
                <a:latin typeface="Aptos" panose="020B0004020202020204"/>
                <a:ea typeface="+mn-ea"/>
                <a:cs typeface="+mn-cs"/>
              </a:rPr>
            </a:br>
            <a:r>
              <a:rPr kumimoji="0" sz="840" b="1" i="0" u="none" strike="noStrike" kern="1200" cap="none" spc="0" normalizeH="0" baseline="0" noProof="0">
                <a:ln>
                  <a:noFill/>
                </a:ln>
                <a:solidFill>
                  <a:srgbClr val="141414"/>
                </a:solidFill>
                <a:effectLst/>
                <a:uLnTx/>
                <a:uFillTx/>
                <a:latin typeface="Arial"/>
                <a:ea typeface="+mn-ea"/>
                <a:cs typeface="+mn-cs"/>
              </a:rPr>
              <a:t>Galaxy A Spotify</a:t>
            </a:r>
          </a:p>
        </p:txBody>
      </p:sp>
      <p:sp>
        <p:nvSpPr>
          <p:cNvPr id="230" name="TextBox 116">
            <a:extLst>
              <a:ext uri="{FF2B5EF4-FFF2-40B4-BE49-F238E27FC236}">
                <a16:creationId xmlns:a16="http://schemas.microsoft.com/office/drawing/2014/main" id="{565466FE-3795-4157-90ED-0CED272476F0}"/>
              </a:ext>
            </a:extLst>
          </p:cNvPr>
          <p:cNvSpPr txBox="1"/>
          <p:nvPr/>
        </p:nvSpPr>
        <p:spPr>
          <a:xfrm>
            <a:off x="2697480" y="4934806"/>
            <a:ext cx="1097280" cy="466344"/>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80" b="0" i="0" u="none" strike="noStrike" kern="1200" cap="none" spc="0" normalizeH="0" baseline="0" noProof="0">
                <a:ln>
                  <a:noFill/>
                </a:ln>
                <a:solidFill>
                  <a:srgbClr val="141414"/>
                </a:solidFill>
                <a:effectLst/>
                <a:uLnTx/>
                <a:uFillTx/>
                <a:latin typeface="Arial"/>
                <a:ea typeface="+mn-ea"/>
                <a:cs typeface="+mn-cs"/>
              </a:rPr>
              <a:t>Benefit-led</a:t>
            </a:r>
            <a:br>
              <a:rPr kumimoji="0" sz="1800" b="0" i="0" u="none" strike="noStrike" kern="1200" cap="none" spc="0" normalizeH="0" baseline="0" noProof="0">
                <a:ln>
                  <a:noFill/>
                </a:ln>
                <a:solidFill>
                  <a:prstClr val="black"/>
                </a:solidFill>
                <a:effectLst/>
                <a:uLnTx/>
                <a:uFillTx/>
                <a:latin typeface="Aptos" panose="020B0004020202020204"/>
                <a:ea typeface="+mn-ea"/>
                <a:cs typeface="+mn-cs"/>
              </a:rPr>
            </a:br>
            <a:r>
              <a:rPr kumimoji="0" sz="780" b="0" i="0" u="none" strike="noStrike" kern="1200" cap="none" spc="0" normalizeH="0" baseline="0" noProof="0">
                <a:ln>
                  <a:noFill/>
                </a:ln>
                <a:solidFill>
                  <a:srgbClr val="141414"/>
                </a:solidFill>
                <a:effectLst/>
                <a:uLnTx/>
                <a:uFillTx/>
                <a:latin typeface="Arial"/>
                <a:ea typeface="+mn-ea"/>
                <a:cs typeface="+mn-cs"/>
              </a:rPr>
              <a:t>Engagement</a:t>
            </a:r>
          </a:p>
        </p:txBody>
      </p:sp>
      <p:sp>
        <p:nvSpPr>
          <p:cNvPr id="231" name="TextBox 117">
            <a:extLst>
              <a:ext uri="{FF2B5EF4-FFF2-40B4-BE49-F238E27FC236}">
                <a16:creationId xmlns:a16="http://schemas.microsoft.com/office/drawing/2014/main" id="{168EE289-43AD-482F-ADA5-74E621808371}"/>
              </a:ext>
            </a:extLst>
          </p:cNvPr>
          <p:cNvSpPr txBox="1"/>
          <p:nvPr/>
        </p:nvSpPr>
        <p:spPr>
          <a:xfrm>
            <a:off x="3977640" y="5003317"/>
            <a:ext cx="1280160" cy="329321"/>
          </a:xfrm>
          <a:prstGeom prst="rect">
            <a:avLst/>
          </a:prstGeom>
          <a:noFill/>
        </p:spPr>
        <p:txBody>
          <a:bodyPr wrap="square" anchor="ctr">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770" b="0" i="0">
                <a:latin typeface="Arial"/>
              </a:rPr>
              <a:t>OR / CTR / Visits</a:t>
            </a:r>
            <a:br>
              <a:rPr lang="en-US" sz="800"/>
            </a:br>
            <a:r>
              <a:rPr lang="en-US" sz="770" b="0" i="0">
                <a:latin typeface="Arial"/>
              </a:rPr>
              <a:t>(+ CVR if commercial)</a:t>
            </a:r>
          </a:p>
        </p:txBody>
      </p:sp>
      <p:sp>
        <p:nvSpPr>
          <p:cNvPr id="232" name="TextBox 118">
            <a:extLst>
              <a:ext uri="{FF2B5EF4-FFF2-40B4-BE49-F238E27FC236}">
                <a16:creationId xmlns:a16="http://schemas.microsoft.com/office/drawing/2014/main" id="{A6F0FBCC-1266-429E-BB64-D520895A3D93}"/>
              </a:ext>
            </a:extLst>
          </p:cNvPr>
          <p:cNvSpPr txBox="1"/>
          <p:nvPr/>
        </p:nvSpPr>
        <p:spPr>
          <a:xfrm>
            <a:off x="5440680" y="4934806"/>
            <a:ext cx="1463040" cy="466344"/>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60" b="0" i="0" u="none" strike="noStrike" kern="1200" cap="none" spc="0" normalizeH="0" baseline="0" noProof="0">
                <a:ln>
                  <a:noFill/>
                </a:ln>
                <a:solidFill>
                  <a:srgbClr val="141414"/>
                </a:solidFill>
                <a:effectLst/>
                <a:uLnTx/>
                <a:uFillTx/>
                <a:latin typeface="Arial"/>
                <a:ea typeface="+mn-ea"/>
                <a:cs typeface="+mn-cs"/>
              </a:rPr>
              <a:t>Amazon: 0,28% CTR | ~1,3K visits*</a:t>
            </a:r>
            <a:br>
              <a:rPr kumimoji="0" sz="1800" b="0" i="0" u="none" strike="noStrike" kern="1200" cap="none" spc="0" normalizeH="0" baseline="0" noProof="0">
                <a:ln>
                  <a:noFill/>
                </a:ln>
                <a:solidFill>
                  <a:prstClr val="black"/>
                </a:solidFill>
                <a:effectLst/>
                <a:uLnTx/>
                <a:uFillTx/>
                <a:latin typeface="Aptos" panose="020B0004020202020204"/>
                <a:ea typeface="+mn-ea"/>
                <a:cs typeface="+mn-cs"/>
              </a:rPr>
            </a:br>
            <a:r>
              <a:rPr kumimoji="0" sz="760" b="0" i="0" u="none" strike="noStrike" kern="1200" cap="none" spc="0" normalizeH="0" baseline="0" noProof="0">
                <a:ln>
                  <a:noFill/>
                </a:ln>
                <a:solidFill>
                  <a:srgbClr val="141414"/>
                </a:solidFill>
                <a:effectLst/>
                <a:uLnTx/>
                <a:uFillTx/>
                <a:latin typeface="Arial"/>
                <a:ea typeface="+mn-ea"/>
                <a:cs typeface="+mn-cs"/>
              </a:rPr>
              <a:t>Spotify: 7,57% OR | 0,09% CTR</a:t>
            </a:r>
          </a:p>
        </p:txBody>
      </p:sp>
      <p:sp>
        <p:nvSpPr>
          <p:cNvPr id="233" name="TextBox 119">
            <a:extLst>
              <a:ext uri="{FF2B5EF4-FFF2-40B4-BE49-F238E27FC236}">
                <a16:creationId xmlns:a16="http://schemas.microsoft.com/office/drawing/2014/main" id="{A2F99097-D368-43B6-A817-1999F3883A17}"/>
              </a:ext>
            </a:extLst>
          </p:cNvPr>
          <p:cNvSpPr txBox="1"/>
          <p:nvPr/>
        </p:nvSpPr>
        <p:spPr>
          <a:xfrm>
            <a:off x="7086600" y="4946379"/>
            <a:ext cx="1737360" cy="443198"/>
          </a:xfrm>
          <a:prstGeom prst="rect">
            <a:avLst/>
          </a:prstGeom>
          <a:noFill/>
        </p:spPr>
        <p:txBody>
          <a:bodyPr wrap="square" anchor="ctr">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760" b="0" i="0">
                <a:latin typeface="Arial"/>
              </a:rPr>
              <a:t>The benefit generated pockets of interest, but interaction depth varied by audience and touch.</a:t>
            </a:r>
          </a:p>
        </p:txBody>
      </p:sp>
      <p:sp>
        <p:nvSpPr>
          <p:cNvPr id="234" name="Rounded Rectangle 120">
            <a:extLst>
              <a:ext uri="{FF2B5EF4-FFF2-40B4-BE49-F238E27FC236}">
                <a16:creationId xmlns:a16="http://schemas.microsoft.com/office/drawing/2014/main" id="{765B1D2E-EE9C-4996-BD2E-15E3E72F51F6}"/>
              </a:ext>
            </a:extLst>
          </p:cNvPr>
          <p:cNvSpPr/>
          <p:nvPr/>
        </p:nvSpPr>
        <p:spPr>
          <a:xfrm>
            <a:off x="9079992" y="5044534"/>
            <a:ext cx="777240" cy="246888"/>
          </a:xfrm>
          <a:prstGeom prst="roundRect">
            <a:avLst/>
          </a:prstGeom>
          <a:solidFill>
            <a:srgbClr val="F291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35" name="TextBox 121">
            <a:extLst>
              <a:ext uri="{FF2B5EF4-FFF2-40B4-BE49-F238E27FC236}">
                <a16:creationId xmlns:a16="http://schemas.microsoft.com/office/drawing/2014/main" id="{00F5BE72-CFAE-4484-9BD5-39DC6934F6A0}"/>
              </a:ext>
            </a:extLst>
          </p:cNvPr>
          <p:cNvSpPr txBox="1"/>
          <p:nvPr/>
        </p:nvSpPr>
        <p:spPr>
          <a:xfrm>
            <a:off x="9079992" y="5065642"/>
            <a:ext cx="777240" cy="204671"/>
          </a:xfrm>
          <a:prstGeom prst="rect">
            <a:avLst/>
          </a:prstGeom>
          <a:noFill/>
        </p:spPr>
        <p:txBody>
          <a:bodyPr wrap="square" anchor="ctr">
            <a:spAutoFit/>
          </a:bodyPr>
          <a:lstStyle/>
          <a:p>
            <a:pPr algn="ctr">
              <a:defRPr/>
            </a:pPr>
            <a:r>
              <a:rPr kumimoji="0" lang="pt-BR" sz="730" b="1" i="0" u="none" strike="noStrike" kern="1200" cap="none" spc="0" normalizeH="0" baseline="0" noProof="0">
                <a:ln>
                  <a:noFill/>
                </a:ln>
                <a:solidFill>
                  <a:srgbClr val="FFFFFF"/>
                </a:solidFill>
                <a:effectLst/>
                <a:uLnTx/>
                <a:uFillTx/>
                <a:latin typeface="Arial"/>
                <a:ea typeface="+mn-ea"/>
                <a:cs typeface="+mn-cs"/>
              </a:rPr>
              <a:t>PARTIAL</a:t>
            </a:r>
          </a:p>
        </p:txBody>
      </p:sp>
      <p:sp>
        <p:nvSpPr>
          <p:cNvPr id="236" name="TextBox 122">
            <a:extLst>
              <a:ext uri="{FF2B5EF4-FFF2-40B4-BE49-F238E27FC236}">
                <a16:creationId xmlns:a16="http://schemas.microsoft.com/office/drawing/2014/main" id="{F1EFBBA9-E8F8-429A-821B-E9B6EDD6C6A3}"/>
              </a:ext>
            </a:extLst>
          </p:cNvPr>
          <p:cNvSpPr txBox="1"/>
          <p:nvPr/>
        </p:nvSpPr>
        <p:spPr>
          <a:xfrm>
            <a:off x="10104120" y="4894057"/>
            <a:ext cx="1276096" cy="547842"/>
          </a:xfrm>
          <a:prstGeom prst="rect">
            <a:avLst/>
          </a:prstGeom>
          <a:noFill/>
        </p:spPr>
        <p:txBody>
          <a:bodyPr wrap="square" anchor="ctr">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740" b="0" i="0">
                <a:latin typeface="Arial"/>
              </a:rPr>
              <a:t>Personalize the benefit by product/audience and validate with effective reach.</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Shape 29">
            <a:extLst>
              <a:ext uri="{FF2B5EF4-FFF2-40B4-BE49-F238E27FC236}">
                <a16:creationId xmlns:a16="http://schemas.microsoft.com/office/drawing/2014/main" id="{E43705DC-FDE5-4E55-90B8-6E5D7ADC108A}"/>
              </a:ext>
            </a:extLst>
          </p:cNvPr>
          <p:cNvSpPr/>
          <p:nvPr/>
        </p:nvSpPr>
        <p:spPr>
          <a:xfrm>
            <a:off x="384048" y="1989192"/>
            <a:ext cx="4570476" cy="4375032"/>
          </a:xfrm>
          <a:prstGeom prst="rect">
            <a:avLst/>
          </a:prstGeom>
          <a:solidFill>
            <a:srgbClr val="FFFFFF"/>
          </a:solidFill>
          <a:ln w="12700">
            <a:solidFill>
              <a:srgbClr val="C9C9C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sp>
        <p:nvSpPr>
          <p:cNvPr id="100" name="Shape 48">
            <a:extLst>
              <a:ext uri="{FF2B5EF4-FFF2-40B4-BE49-F238E27FC236}">
                <a16:creationId xmlns:a16="http://schemas.microsoft.com/office/drawing/2014/main" id="{1124D950-6183-40E0-94A9-DF41BBB7B73F}"/>
              </a:ext>
            </a:extLst>
          </p:cNvPr>
          <p:cNvSpPr/>
          <p:nvPr/>
        </p:nvSpPr>
        <p:spPr>
          <a:xfrm>
            <a:off x="5069331" y="1989192"/>
            <a:ext cx="6726429" cy="4375032"/>
          </a:xfrm>
          <a:prstGeom prst="rect">
            <a:avLst/>
          </a:prstGeom>
          <a:solidFill>
            <a:srgbClr val="FFFFFF"/>
          </a:solidFill>
          <a:ln w="12700">
            <a:solidFill>
              <a:srgbClr val="C9C9C9"/>
            </a:solidFill>
            <a:prstDash val="solid"/>
          </a:ln>
        </p:spPr>
      </p:sp>
      <p:sp>
        <p:nvSpPr>
          <p:cNvPr id="128" name="Shape 0">
            <a:extLst>
              <a:ext uri="{FF2B5EF4-FFF2-40B4-BE49-F238E27FC236}">
                <a16:creationId xmlns:a16="http://schemas.microsoft.com/office/drawing/2014/main" id="{8B15FF7D-DE4A-4370-9347-848B92FC6C13}"/>
              </a:ext>
            </a:extLst>
          </p:cNvPr>
          <p:cNvSpPr/>
          <p:nvPr/>
        </p:nvSpPr>
        <p:spPr>
          <a:xfrm>
            <a:off x="420624" y="740154"/>
            <a:ext cx="11411712" cy="1078992"/>
          </a:xfrm>
          <a:prstGeom prst="rect">
            <a:avLst/>
          </a:prstGeom>
          <a:solidFill>
            <a:srgbClr val="FFFFFF"/>
          </a:solidFill>
          <a:ln w="12700">
            <a:solidFill>
              <a:srgbClr val="C9C9C9"/>
            </a:solidFill>
            <a:prstDash val="soli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sp>
        <p:nvSpPr>
          <p:cNvPr id="211" name="Retângulo 210">
            <a:extLst>
              <a:ext uri="{FF2B5EF4-FFF2-40B4-BE49-F238E27FC236}">
                <a16:creationId xmlns:a16="http://schemas.microsoft.com/office/drawing/2014/main" id="{DC926A4C-B60B-4513-B9F1-34A911250EC0}"/>
              </a:ext>
            </a:extLst>
          </p:cNvPr>
          <p:cNvSpPr/>
          <p:nvPr/>
        </p:nvSpPr>
        <p:spPr>
          <a:xfrm>
            <a:off x="6865081" y="751719"/>
            <a:ext cx="4967255" cy="1092903"/>
          </a:xfrm>
          <a:prstGeom prst="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Rectangle 1"/>
          <p:cNvSpPr/>
          <p:nvPr/>
        </p:nvSpPr>
        <p:spPr>
          <a:xfrm>
            <a:off x="137160" y="182880"/>
            <a:ext cx="64008" cy="1170432"/>
          </a:xfrm>
          <a:prstGeom prst="rect">
            <a:avLst/>
          </a:prstGeom>
          <a:solidFill>
            <a:srgbClr val="0C2D5C"/>
          </a:solidFill>
          <a:ln>
            <a:solidFill>
              <a:srgbClr val="0C2D5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5" name="TextBox 34"/>
          <p:cNvSpPr txBox="1"/>
          <p:nvPr/>
        </p:nvSpPr>
        <p:spPr>
          <a:xfrm>
            <a:off x="623560" y="1895113"/>
            <a:ext cx="1308115" cy="233910"/>
          </a:xfrm>
          <a:prstGeom prst="rect">
            <a:avLst/>
          </a:prstGeom>
          <a:solidFill>
            <a:schemeClr val="bg1"/>
          </a:solidFill>
        </p:spPr>
        <p:txBody>
          <a:bodyPr wrap="none" lIns="18288" tIns="9144" rIns="18288" bIns="9144"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1400" b="1" i="0" u="none" strike="noStrike" kern="0" cap="none" spc="0" normalizeH="0" baseline="0" noProof="0">
                <a:ln>
                  <a:noFill/>
                </a:ln>
                <a:solidFill>
                  <a:srgbClr val="002060"/>
                </a:solidFill>
                <a:effectLst/>
                <a:uLnTx/>
                <a:uFillTx/>
                <a:latin typeface="Samsung Sharp Sans Bold" panose="02000503000000020004"/>
                <a:ea typeface="+mn-ea"/>
                <a:cs typeface="+mn-cs"/>
              </a:rPr>
              <a:t>OVERALL RESULT</a:t>
            </a:r>
          </a:p>
        </p:txBody>
      </p:sp>
      <p:sp>
        <p:nvSpPr>
          <p:cNvPr id="60" name="TextBox 59"/>
          <p:cNvSpPr txBox="1"/>
          <p:nvPr/>
        </p:nvSpPr>
        <p:spPr>
          <a:xfrm>
            <a:off x="5176525" y="1908312"/>
            <a:ext cx="1397883" cy="233910"/>
          </a:xfrm>
          <a:prstGeom prst="rect">
            <a:avLst/>
          </a:prstGeom>
          <a:solidFill>
            <a:schemeClr val="bg1"/>
          </a:solidFill>
        </p:spPr>
        <p:txBody>
          <a:bodyPr wrap="none" lIns="18288" tIns="9144" rIns="18288" bIns="9144" anchor="ctr">
            <a:spAutoFit/>
          </a:bodyPr>
          <a:lstStyle>
            <a:defPPr>
              <a:defRPr lang="de-DE"/>
            </a:defPPr>
            <a:lvl1pPr marR="0" lvl="0" indent="0" defTabSz="457200" fontAlgn="auto">
              <a:lnSpc>
                <a:spcPct val="100000"/>
              </a:lnSpc>
              <a:spcBef>
                <a:spcPts val="0"/>
              </a:spcBef>
              <a:spcAft>
                <a:spcPts val="0"/>
              </a:spcAft>
              <a:buClrTx/>
              <a:buSzTx/>
              <a:buFontTx/>
              <a:buNone/>
              <a:tabLst/>
              <a:defRPr sz="1400" b="1" kern="0">
                <a:solidFill>
                  <a:srgbClr val="002060"/>
                </a:solidFill>
                <a:latin typeface="Samsung Sharp Sans Bold" panose="02000503000000020004"/>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1400" b="1" i="0" u="none" strike="noStrike" kern="0" cap="none" spc="0" normalizeH="0" baseline="0" noProof="0">
                <a:ln>
                  <a:noFill/>
                </a:ln>
                <a:solidFill>
                  <a:srgbClr val="002060"/>
                </a:solidFill>
                <a:effectLst/>
                <a:uLnTx/>
                <a:uFillTx/>
                <a:latin typeface="Samsung Sharp Sans Bold" panose="02000503000000020004"/>
                <a:ea typeface="+mn-ea"/>
                <a:cs typeface="+mn-cs"/>
              </a:rPr>
              <a:t>GTM Performance</a:t>
            </a:r>
            <a:endParaRPr kumimoji="0" sz="1400" b="1" i="0" u="none" strike="noStrike" kern="0" cap="none" spc="0" normalizeH="0" baseline="0" noProof="0">
              <a:ln>
                <a:noFill/>
              </a:ln>
              <a:solidFill>
                <a:srgbClr val="002060"/>
              </a:solidFill>
              <a:effectLst/>
              <a:uLnTx/>
              <a:uFillTx/>
              <a:latin typeface="Samsung Sharp Sans Bold" panose="02000503000000020004"/>
              <a:ea typeface="+mn-ea"/>
              <a:cs typeface="+mn-cs"/>
            </a:endParaRPr>
          </a:p>
        </p:txBody>
      </p:sp>
      <p:sp>
        <p:nvSpPr>
          <p:cNvPr id="93" name="Rectangle 92"/>
          <p:cNvSpPr/>
          <p:nvPr/>
        </p:nvSpPr>
        <p:spPr>
          <a:xfrm>
            <a:off x="521207" y="6565392"/>
            <a:ext cx="11411712" cy="274320"/>
          </a:xfrm>
          <a:prstGeom prst="rect">
            <a:avLst/>
          </a:prstGeom>
          <a:solidFill>
            <a:srgbClr val="0C2D5C"/>
          </a:solidFill>
          <a:ln>
            <a:solidFill>
              <a:srgbClr val="0C2D5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4" name="TextBox 93"/>
          <p:cNvSpPr txBox="1"/>
          <p:nvPr/>
        </p:nvSpPr>
        <p:spPr>
          <a:xfrm>
            <a:off x="673961" y="6394239"/>
            <a:ext cx="868680" cy="210312"/>
          </a:xfrm>
          <a:prstGeom prst="rect">
            <a:avLst/>
          </a:prstGeom>
          <a:noFill/>
        </p:spPr>
        <p:txBody>
          <a:bodyPr wrap="none" lIns="18288" tIns="9144" rIns="18288" bIns="9144"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FFFFFF"/>
                </a:solidFill>
                <a:effectLst/>
                <a:uLnTx/>
                <a:uFillTx/>
                <a:latin typeface="Arial"/>
                <a:ea typeface="+mn-ea"/>
                <a:cs typeface="+mn-cs"/>
              </a:rPr>
              <a:t>TAKE AWAY  |</a:t>
            </a:r>
          </a:p>
        </p:txBody>
      </p:sp>
      <p:sp>
        <p:nvSpPr>
          <p:cNvPr id="95" name="TextBox 94"/>
          <p:cNvSpPr txBox="1"/>
          <p:nvPr/>
        </p:nvSpPr>
        <p:spPr>
          <a:xfrm>
            <a:off x="1527048" y="6609583"/>
            <a:ext cx="8678722" cy="158505"/>
          </a:xfrm>
          <a:prstGeom prst="rect">
            <a:avLst/>
          </a:prstGeom>
          <a:noFill/>
        </p:spPr>
        <p:txBody>
          <a:bodyPr wrap="none" lIns="18288" tIns="9144" rIns="18288" bIns="9144"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10" b="1" i="0" u="none" strike="noStrike" kern="1200" cap="none" spc="0" normalizeH="0" baseline="0" noProof="0">
                <a:ln>
                  <a:noFill/>
                </a:ln>
                <a:solidFill>
                  <a:srgbClr val="FFFFFF"/>
                </a:solidFill>
                <a:effectLst/>
                <a:uLnTx/>
                <a:uFillTx/>
                <a:latin typeface="Arial"/>
                <a:ea typeface="+mn-ea"/>
                <a:cs typeface="+mn-cs"/>
              </a:rPr>
              <a:t>Q8H8B8 exceeded target by 40%, combining early intent capture, strong HR and E-mail performance, and broader audience strategies with new AI TAG tests.</a:t>
            </a:r>
          </a:p>
        </p:txBody>
      </p:sp>
      <p:sp>
        <p:nvSpPr>
          <p:cNvPr id="98" name="Título 1">
            <a:extLst>
              <a:ext uri="{FF2B5EF4-FFF2-40B4-BE49-F238E27FC236}">
                <a16:creationId xmlns:a16="http://schemas.microsoft.com/office/drawing/2014/main" id="{BA165323-7D36-4A23-BE3B-062E252E57E2}"/>
              </a:ext>
            </a:extLst>
          </p:cNvPr>
          <p:cNvSpPr txBox="1"/>
          <p:nvPr/>
        </p:nvSpPr>
        <p:spPr>
          <a:xfrm>
            <a:off x="207355" y="86336"/>
            <a:ext cx="8453563" cy="483772"/>
          </a:xfrm>
          <a:prstGeom prst="rect">
            <a:avLst/>
          </a:prstGeom>
          <a:noFill/>
          <a:ln cap="flat">
            <a:noFill/>
          </a:ln>
        </p:spPr>
        <p:txBody>
          <a:bodyPr vert="horz" wrap="square" lIns="75730" tIns="37865" rIns="75730" bIns="37865" anchor="ctr" anchorCtr="0" compatLnSpc="1">
            <a:noAutofit/>
          </a:bodyPr>
          <a:lstStyle/>
          <a:p>
            <a:pPr marL="0" marR="0" lvl="0" indent="0" algn="l" defTabSz="914400" rtl="0" eaLnBrk="1" fontAlgn="auto" latinLnBrk="0" hangingPunct="1">
              <a:lnSpc>
                <a:spcPct val="90000"/>
              </a:lnSpc>
              <a:spcBef>
                <a:spcPts val="0"/>
              </a:spcBef>
              <a:spcAft>
                <a:spcPts val="0"/>
              </a:spcAft>
              <a:buClrTx/>
              <a:buSzTx/>
              <a:buFontTx/>
              <a:buNone/>
              <a:tabLst/>
              <a:defRPr sz="1800" b="0" i="0" u="none" strike="noStrike" kern="0" cap="none" spc="0" baseline="0">
                <a:solidFill>
                  <a:srgbClr val="000000"/>
                </a:solidFill>
                <a:uFillTx/>
              </a:defRPr>
            </a:pPr>
            <a:r>
              <a:rPr kumimoji="0" lang="en-GB" sz="2000" b="1" i="0" u="none" strike="noStrike" kern="0" cap="none" spc="0" normalizeH="0" baseline="0" noProof="0">
                <a:ln>
                  <a:noFill/>
                </a:ln>
                <a:solidFill>
                  <a:srgbClr val="000000"/>
                </a:solidFill>
                <a:effectLst/>
                <a:uLnTx/>
                <a:uFillTx/>
                <a:latin typeface="Roboto"/>
                <a:ea typeface="Roboto"/>
                <a:cs typeface="+mn-cs"/>
              </a:rPr>
              <a:t>GTM | </a:t>
            </a:r>
            <a:r>
              <a:rPr kumimoji="0" lang="pt-BR" sz="2000" b="1" i="0" u="none" strike="noStrike" kern="0" cap="none" spc="0" normalizeH="0" baseline="0" noProof="0">
                <a:ln>
                  <a:noFill/>
                </a:ln>
                <a:solidFill>
                  <a:srgbClr val="1F3F9B"/>
                </a:solidFill>
                <a:effectLst/>
                <a:uLnTx/>
                <a:uFillTx/>
                <a:latin typeface="Arial"/>
                <a:ea typeface="+mn-ea"/>
                <a:cs typeface="+mn-cs"/>
              </a:rPr>
              <a:t>Q8H8B8 – </a:t>
            </a:r>
            <a:r>
              <a:rPr kumimoji="0" lang="pt-BR" sz="2000" b="1" i="0" u="none" strike="noStrike" kern="0" cap="none" spc="0" normalizeH="0" baseline="0" noProof="0" err="1">
                <a:ln>
                  <a:noFill/>
                </a:ln>
                <a:solidFill>
                  <a:srgbClr val="1F3F9B"/>
                </a:solidFill>
                <a:effectLst/>
                <a:uLnTx/>
                <a:uFillTx/>
                <a:latin typeface="Arial"/>
                <a:ea typeface="+mn-ea"/>
                <a:cs typeface="+mn-cs"/>
              </a:rPr>
              <a:t>Pre-Order</a:t>
            </a:r>
            <a:endParaRPr kumimoji="0" lang="en-GB" sz="2000" b="1" i="0" u="none" strike="noStrike" kern="1200" cap="none" spc="0" normalizeH="0" baseline="0" noProof="0">
              <a:ln>
                <a:noFill/>
              </a:ln>
              <a:solidFill>
                <a:srgbClr val="1428A0"/>
              </a:solidFill>
              <a:effectLst/>
              <a:uLnTx/>
              <a:uFillTx/>
              <a:latin typeface="Roboto"/>
              <a:ea typeface="Roboto"/>
              <a:cs typeface="Samsung Sharp Sans Bold" pitchFamily="2"/>
            </a:endParaRPr>
          </a:p>
        </p:txBody>
      </p:sp>
      <p:sp>
        <p:nvSpPr>
          <p:cNvPr id="129" name="Text 1">
            <a:extLst>
              <a:ext uri="{FF2B5EF4-FFF2-40B4-BE49-F238E27FC236}">
                <a16:creationId xmlns:a16="http://schemas.microsoft.com/office/drawing/2014/main" id="{0FE6E081-E31B-445D-BC63-12B60D505690}"/>
              </a:ext>
            </a:extLst>
          </p:cNvPr>
          <p:cNvSpPr/>
          <p:nvPr/>
        </p:nvSpPr>
        <p:spPr>
          <a:xfrm>
            <a:off x="530352" y="621792"/>
            <a:ext cx="1371600" cy="228600"/>
          </a:xfrm>
          <a:prstGeom prst="rect">
            <a:avLst/>
          </a:prstGeom>
          <a:solidFill>
            <a:schemeClr val="bg1"/>
          </a:solid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92D67"/>
                </a:solidFill>
                <a:effectLst/>
                <a:uLnTx/>
                <a:uFillTx/>
                <a:latin typeface="Arial" pitchFamily="34" charset="0"/>
                <a:ea typeface="Roboto" panose="02000000000000000000" pitchFamily="2" charset="0"/>
                <a:cs typeface="Arial" pitchFamily="34" charset="-120"/>
              </a:rPr>
              <a:t>   BIG NUMBERS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184" name="TextBox 6">
            <a:extLst>
              <a:ext uri="{FF2B5EF4-FFF2-40B4-BE49-F238E27FC236}">
                <a16:creationId xmlns:a16="http://schemas.microsoft.com/office/drawing/2014/main" id="{C100D207-2751-49B1-B14D-EB69C678CD35}"/>
              </a:ext>
            </a:extLst>
          </p:cNvPr>
          <p:cNvSpPr txBox="1"/>
          <p:nvPr/>
        </p:nvSpPr>
        <p:spPr>
          <a:xfrm>
            <a:off x="805248" y="937520"/>
            <a:ext cx="998735" cy="156966"/>
          </a:xfrm>
          <a:prstGeom prst="rect">
            <a:avLst/>
          </a:prstGeom>
          <a:noFill/>
        </p:spPr>
        <p:txBody>
          <a:bodyPr wrap="none" lIns="18288" tIns="9144" rIns="18288" bIns="9144" anchor="ctr">
            <a:spAutoFit/>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pt-BR" sz="900" b="0" i="0">
                <a:latin typeface="Arial"/>
              </a:rPr>
              <a:t>TOTAL REVENUE</a:t>
            </a:r>
          </a:p>
        </p:txBody>
      </p:sp>
      <p:sp>
        <p:nvSpPr>
          <p:cNvPr id="185" name="TextBox 7">
            <a:extLst>
              <a:ext uri="{FF2B5EF4-FFF2-40B4-BE49-F238E27FC236}">
                <a16:creationId xmlns:a16="http://schemas.microsoft.com/office/drawing/2014/main" id="{B48D2CED-12A6-44D4-AA5A-64D9AED59050}"/>
              </a:ext>
            </a:extLst>
          </p:cNvPr>
          <p:cNvSpPr txBox="1"/>
          <p:nvPr/>
        </p:nvSpPr>
        <p:spPr>
          <a:xfrm>
            <a:off x="756357" y="1144040"/>
            <a:ext cx="1096519" cy="310854"/>
          </a:xfrm>
          <a:prstGeom prst="rect">
            <a:avLst/>
          </a:prstGeom>
          <a:noFill/>
        </p:spPr>
        <p:txBody>
          <a:bodyPr wrap="none" lIns="18288" tIns="9144" rIns="18288"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pt-BR" sz="1900" b="1" i="0" u="none" strike="noStrike" kern="1200" cap="none" spc="0" normalizeH="0" baseline="0" noProof="0">
                <a:ln>
                  <a:noFill/>
                </a:ln>
                <a:solidFill>
                  <a:srgbClr val="0F4A9B"/>
                </a:solidFill>
                <a:effectLst/>
                <a:uLnTx/>
                <a:uFillTx/>
                <a:latin typeface="Arial"/>
                <a:ea typeface="+mn-ea"/>
                <a:cs typeface="+mn-cs"/>
              </a:rPr>
              <a:t>R$ 2.17M</a:t>
            </a:r>
            <a:endParaRPr kumimoji="0" sz="1900" b="1" i="0" u="none" strike="noStrike" kern="1200" cap="none" spc="0" normalizeH="0" baseline="0" noProof="0">
              <a:ln>
                <a:noFill/>
              </a:ln>
              <a:solidFill>
                <a:srgbClr val="0F4A9B"/>
              </a:solidFill>
              <a:effectLst/>
              <a:uLnTx/>
              <a:uFillTx/>
              <a:latin typeface="Arial"/>
              <a:ea typeface="+mn-ea"/>
              <a:cs typeface="+mn-cs"/>
            </a:endParaRPr>
          </a:p>
        </p:txBody>
      </p:sp>
      <p:sp>
        <p:nvSpPr>
          <p:cNvPr id="186" name="TextBox 8">
            <a:extLst>
              <a:ext uri="{FF2B5EF4-FFF2-40B4-BE49-F238E27FC236}">
                <a16:creationId xmlns:a16="http://schemas.microsoft.com/office/drawing/2014/main" id="{9DADD9E6-40F8-4735-A91C-A11CDCBE11A5}"/>
              </a:ext>
            </a:extLst>
          </p:cNvPr>
          <p:cNvSpPr txBox="1"/>
          <p:nvPr/>
        </p:nvSpPr>
        <p:spPr>
          <a:xfrm>
            <a:off x="1070546" y="1499151"/>
            <a:ext cx="468141" cy="149272"/>
          </a:xfrm>
          <a:prstGeom prst="rect">
            <a:avLst/>
          </a:prstGeom>
          <a:noFill/>
        </p:spPr>
        <p:txBody>
          <a:bodyPr wrap="none" lIns="18288" tIns="9144" rIns="18288"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pt-BR" sz="850" b="1" i="0" u="none" strike="noStrike" kern="1200" cap="none" spc="0" normalizeH="0" baseline="0" noProof="0">
                <a:ln>
                  <a:noFill/>
                </a:ln>
                <a:solidFill>
                  <a:srgbClr val="008B4F"/>
                </a:solidFill>
                <a:effectLst/>
                <a:uLnTx/>
                <a:uFillTx/>
                <a:latin typeface="Arial"/>
                <a:ea typeface="+mn-ea"/>
                <a:cs typeface="+mn-cs"/>
              </a:rPr>
              <a:t>3.3x A/R</a:t>
            </a:r>
            <a:endParaRPr kumimoji="0" sz="850" b="1" i="0" u="none" strike="noStrike" kern="1200" cap="none" spc="0" normalizeH="0" baseline="0" noProof="0">
              <a:ln>
                <a:noFill/>
              </a:ln>
              <a:solidFill>
                <a:srgbClr val="008B4F"/>
              </a:solidFill>
              <a:effectLst/>
              <a:uLnTx/>
              <a:uFillTx/>
              <a:latin typeface="Arial"/>
              <a:ea typeface="+mn-ea"/>
              <a:cs typeface="+mn-cs"/>
            </a:endParaRPr>
          </a:p>
        </p:txBody>
      </p:sp>
      <p:sp>
        <p:nvSpPr>
          <p:cNvPr id="187" name="Rectangle 9">
            <a:extLst>
              <a:ext uri="{FF2B5EF4-FFF2-40B4-BE49-F238E27FC236}">
                <a16:creationId xmlns:a16="http://schemas.microsoft.com/office/drawing/2014/main" id="{C29A5E02-4FE6-4942-988E-3025B48A29FB}"/>
              </a:ext>
            </a:extLst>
          </p:cNvPr>
          <p:cNvSpPr/>
          <p:nvPr/>
        </p:nvSpPr>
        <p:spPr>
          <a:xfrm>
            <a:off x="2098184" y="842267"/>
            <a:ext cx="5486" cy="868679"/>
          </a:xfrm>
          <a:prstGeom prst="rect">
            <a:avLst/>
          </a:prstGeom>
          <a:solidFill>
            <a:srgbClr val="CDD3DC"/>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88" name="TextBox 10">
            <a:extLst>
              <a:ext uri="{FF2B5EF4-FFF2-40B4-BE49-F238E27FC236}">
                <a16:creationId xmlns:a16="http://schemas.microsoft.com/office/drawing/2014/main" id="{2462EA83-0B3E-442E-A811-48F278AE4093}"/>
              </a:ext>
            </a:extLst>
          </p:cNvPr>
          <p:cNvSpPr txBox="1"/>
          <p:nvPr/>
        </p:nvSpPr>
        <p:spPr>
          <a:xfrm>
            <a:off x="2302618" y="937520"/>
            <a:ext cx="1178272" cy="156966"/>
          </a:xfrm>
          <a:prstGeom prst="rect">
            <a:avLst/>
          </a:prstGeom>
          <a:noFill/>
        </p:spPr>
        <p:txBody>
          <a:bodyPr wrap="none" lIns="18288" tIns="9144" rIns="18288" bIns="9144" anchor="ctr">
            <a:spAutoFit/>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pt-BR" sz="900" b="0" i="0">
                <a:latin typeface="Arial"/>
              </a:rPr>
              <a:t>Total </a:t>
            </a:r>
            <a:r>
              <a:rPr lang="pt-BR" sz="900" b="0" i="0" err="1">
                <a:latin typeface="Arial"/>
              </a:rPr>
              <a:t>Revenue</a:t>
            </a:r>
            <a:r>
              <a:rPr lang="pt-BR" sz="900" b="0" i="0">
                <a:latin typeface="Arial"/>
              </a:rPr>
              <a:t> vs. N-1</a:t>
            </a:r>
            <a:endParaRPr kumimoji="0" lang="pt-BR" sz="900" b="0" i="0" u="none" strike="noStrike" kern="1200" cap="none" spc="0" normalizeH="0" baseline="0" noProof="0">
              <a:ln>
                <a:noFill/>
              </a:ln>
              <a:solidFill>
                <a:srgbClr val="141414"/>
              </a:solidFill>
              <a:effectLst/>
              <a:uLnTx/>
              <a:uFillTx/>
              <a:latin typeface="Arial"/>
              <a:ea typeface="+mn-ea"/>
              <a:cs typeface="+mn-cs"/>
            </a:endParaRPr>
          </a:p>
        </p:txBody>
      </p:sp>
      <p:sp>
        <p:nvSpPr>
          <p:cNvPr id="189" name="TextBox 11">
            <a:extLst>
              <a:ext uri="{FF2B5EF4-FFF2-40B4-BE49-F238E27FC236}">
                <a16:creationId xmlns:a16="http://schemas.microsoft.com/office/drawing/2014/main" id="{E59D8B6F-98C9-4076-BC0F-FA0232A19C2B}"/>
              </a:ext>
            </a:extLst>
          </p:cNvPr>
          <p:cNvSpPr txBox="1"/>
          <p:nvPr/>
        </p:nvSpPr>
        <p:spPr>
          <a:xfrm>
            <a:off x="2635240" y="1144040"/>
            <a:ext cx="513026" cy="310854"/>
          </a:xfrm>
          <a:prstGeom prst="rect">
            <a:avLst/>
          </a:prstGeom>
          <a:noFill/>
        </p:spPr>
        <p:txBody>
          <a:bodyPr wrap="none" lIns="18288" tIns="9144" rIns="18288"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pt-BR" sz="1900" b="1" i="0" u="none" strike="noStrike" kern="1200" cap="none" spc="0" normalizeH="0" baseline="0" noProof="0">
                <a:ln>
                  <a:noFill/>
                </a:ln>
                <a:solidFill>
                  <a:srgbClr val="0F4A9B"/>
                </a:solidFill>
                <a:effectLst/>
                <a:uLnTx/>
                <a:uFillTx/>
                <a:latin typeface="Arial"/>
                <a:ea typeface="+mn-ea"/>
                <a:cs typeface="+mn-cs"/>
              </a:rPr>
              <a:t>1.7x</a:t>
            </a:r>
            <a:endParaRPr kumimoji="0" sz="1900" b="1" i="0" u="none" strike="noStrike" kern="1200" cap="none" spc="0" normalizeH="0" baseline="0" noProof="0">
              <a:ln>
                <a:noFill/>
              </a:ln>
              <a:solidFill>
                <a:srgbClr val="0F4A9B"/>
              </a:solidFill>
              <a:effectLst/>
              <a:uLnTx/>
              <a:uFillTx/>
              <a:latin typeface="Arial"/>
              <a:ea typeface="+mn-ea"/>
              <a:cs typeface="+mn-cs"/>
            </a:endParaRPr>
          </a:p>
        </p:txBody>
      </p:sp>
      <p:sp>
        <p:nvSpPr>
          <p:cNvPr id="190" name="TextBox 12">
            <a:extLst>
              <a:ext uri="{FF2B5EF4-FFF2-40B4-BE49-F238E27FC236}">
                <a16:creationId xmlns:a16="http://schemas.microsoft.com/office/drawing/2014/main" id="{BDB71FBF-1BD3-455F-B1CB-B043A01654AD}"/>
              </a:ext>
            </a:extLst>
          </p:cNvPr>
          <p:cNvSpPr txBox="1"/>
          <p:nvPr/>
        </p:nvSpPr>
        <p:spPr>
          <a:xfrm>
            <a:off x="2098184" y="1473203"/>
            <a:ext cx="1587137" cy="201168"/>
          </a:xfrm>
          <a:prstGeom prst="rect">
            <a:avLst/>
          </a:prstGeom>
          <a:noFill/>
        </p:spPr>
        <p:txBody>
          <a:bodyPr wrap="none" lIns="18288" tIns="9144" rIns="18288"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0F4A9B"/>
                </a:solidFill>
                <a:effectLst/>
                <a:uLnTx/>
                <a:uFillTx/>
                <a:latin typeface="Arial"/>
                <a:ea typeface="+mn-ea"/>
                <a:cs typeface="+mn-cs"/>
              </a:rPr>
              <a:t>vs. FF7</a:t>
            </a:r>
          </a:p>
        </p:txBody>
      </p:sp>
      <p:sp>
        <p:nvSpPr>
          <p:cNvPr id="191" name="Rectangle 13">
            <a:extLst>
              <a:ext uri="{FF2B5EF4-FFF2-40B4-BE49-F238E27FC236}">
                <a16:creationId xmlns:a16="http://schemas.microsoft.com/office/drawing/2014/main" id="{5BFF4F39-BBD5-4D38-90B7-818B35C38410}"/>
              </a:ext>
            </a:extLst>
          </p:cNvPr>
          <p:cNvSpPr/>
          <p:nvPr/>
        </p:nvSpPr>
        <p:spPr>
          <a:xfrm>
            <a:off x="3685321" y="842267"/>
            <a:ext cx="5486" cy="868679"/>
          </a:xfrm>
          <a:prstGeom prst="rect">
            <a:avLst/>
          </a:prstGeom>
          <a:solidFill>
            <a:srgbClr val="CDD3DC"/>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2" name="TextBox 14">
            <a:extLst>
              <a:ext uri="{FF2B5EF4-FFF2-40B4-BE49-F238E27FC236}">
                <a16:creationId xmlns:a16="http://schemas.microsoft.com/office/drawing/2014/main" id="{70704817-4C3B-4649-A6E9-2028386DD3F1}"/>
              </a:ext>
            </a:extLst>
          </p:cNvPr>
          <p:cNvSpPr txBox="1"/>
          <p:nvPr/>
        </p:nvSpPr>
        <p:spPr>
          <a:xfrm>
            <a:off x="4139823" y="937520"/>
            <a:ext cx="678134" cy="156966"/>
          </a:xfrm>
          <a:prstGeom prst="rect">
            <a:avLst/>
          </a:prstGeom>
          <a:noFill/>
        </p:spPr>
        <p:txBody>
          <a:bodyPr wrap="none" lIns="18288" tIns="9144" rIns="18288" bIns="9144" anchor="ctr">
            <a:spAutoFit/>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pt-BR" sz="900" b="0" i="0">
                <a:latin typeface="Arial"/>
              </a:rPr>
              <a:t>Overall CVR</a:t>
            </a:r>
            <a:endParaRPr kumimoji="0" lang="pt-BR" sz="900" b="0" i="0" u="none" strike="noStrike" kern="1200" cap="none" spc="0" normalizeH="0" baseline="0" noProof="0">
              <a:ln>
                <a:noFill/>
              </a:ln>
              <a:solidFill>
                <a:srgbClr val="141414"/>
              </a:solidFill>
              <a:effectLst/>
              <a:uLnTx/>
              <a:uFillTx/>
              <a:latin typeface="Arial"/>
              <a:ea typeface="+mn-ea"/>
              <a:cs typeface="+mn-cs"/>
            </a:endParaRPr>
          </a:p>
        </p:txBody>
      </p:sp>
      <p:sp>
        <p:nvSpPr>
          <p:cNvPr id="193" name="TextBox 15">
            <a:extLst>
              <a:ext uri="{FF2B5EF4-FFF2-40B4-BE49-F238E27FC236}">
                <a16:creationId xmlns:a16="http://schemas.microsoft.com/office/drawing/2014/main" id="{D883CBE4-4679-45CB-B4C9-9D7EB3D48B9F}"/>
              </a:ext>
            </a:extLst>
          </p:cNvPr>
          <p:cNvSpPr txBox="1"/>
          <p:nvPr/>
        </p:nvSpPr>
        <p:spPr>
          <a:xfrm>
            <a:off x="4114174" y="1144040"/>
            <a:ext cx="729430" cy="310854"/>
          </a:xfrm>
          <a:prstGeom prst="rect">
            <a:avLst/>
          </a:prstGeom>
          <a:noFill/>
        </p:spPr>
        <p:txBody>
          <a:bodyPr wrap="none" lIns="18288" tIns="9144" rIns="18288"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pt-BR" sz="1900" b="1" i="0" u="none" strike="noStrike" kern="1200" cap="none" spc="0" normalizeH="0" baseline="0" noProof="0">
                <a:ln>
                  <a:noFill/>
                </a:ln>
                <a:solidFill>
                  <a:srgbClr val="0F4A9B"/>
                </a:solidFill>
                <a:effectLst/>
                <a:uLnTx/>
                <a:uFillTx/>
                <a:latin typeface="Arial"/>
                <a:ea typeface="+mn-ea"/>
                <a:cs typeface="+mn-cs"/>
              </a:rPr>
              <a:t>0,02%</a:t>
            </a:r>
          </a:p>
        </p:txBody>
      </p:sp>
      <p:sp>
        <p:nvSpPr>
          <p:cNvPr id="194" name="TextBox 16">
            <a:extLst>
              <a:ext uri="{FF2B5EF4-FFF2-40B4-BE49-F238E27FC236}">
                <a16:creationId xmlns:a16="http://schemas.microsoft.com/office/drawing/2014/main" id="{88C087AD-8CD5-407F-B749-682C9D339D23}"/>
              </a:ext>
            </a:extLst>
          </p:cNvPr>
          <p:cNvSpPr txBox="1"/>
          <p:nvPr/>
        </p:nvSpPr>
        <p:spPr>
          <a:xfrm>
            <a:off x="4149441" y="1499151"/>
            <a:ext cx="658898" cy="149272"/>
          </a:xfrm>
          <a:prstGeom prst="rect">
            <a:avLst/>
          </a:prstGeom>
          <a:noFill/>
        </p:spPr>
        <p:txBody>
          <a:bodyPr wrap="none" lIns="18288" tIns="9144" rIns="18288"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pt-BR" sz="850" b="1" i="0" u="none" strike="noStrike" kern="1200" cap="none" spc="0" normalizeH="0" baseline="0" noProof="0">
                <a:ln>
                  <a:noFill/>
                </a:ln>
                <a:solidFill>
                  <a:srgbClr val="008B4F"/>
                </a:solidFill>
                <a:effectLst/>
                <a:uLnTx/>
                <a:uFillTx/>
                <a:latin typeface="Arial"/>
                <a:ea typeface="+mn-ea"/>
                <a:cs typeface="+mn-cs"/>
              </a:rPr>
              <a:t>2.0x vs. FF7</a:t>
            </a:r>
          </a:p>
        </p:txBody>
      </p:sp>
      <p:sp>
        <p:nvSpPr>
          <p:cNvPr id="195" name="Rectangle 17">
            <a:extLst>
              <a:ext uri="{FF2B5EF4-FFF2-40B4-BE49-F238E27FC236}">
                <a16:creationId xmlns:a16="http://schemas.microsoft.com/office/drawing/2014/main" id="{7FA8705B-ADF5-48BA-86C8-3EE1CC17979B}"/>
              </a:ext>
            </a:extLst>
          </p:cNvPr>
          <p:cNvSpPr/>
          <p:nvPr/>
        </p:nvSpPr>
        <p:spPr>
          <a:xfrm>
            <a:off x="5272458" y="842267"/>
            <a:ext cx="5486" cy="868679"/>
          </a:xfrm>
          <a:prstGeom prst="rect">
            <a:avLst/>
          </a:prstGeom>
          <a:solidFill>
            <a:srgbClr val="CDD3DC"/>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6" name="TextBox 18">
            <a:extLst>
              <a:ext uri="{FF2B5EF4-FFF2-40B4-BE49-F238E27FC236}">
                <a16:creationId xmlns:a16="http://schemas.microsoft.com/office/drawing/2014/main" id="{7F7A0889-4223-4EDC-B9E9-6F8153EA7367}"/>
              </a:ext>
            </a:extLst>
          </p:cNvPr>
          <p:cNvSpPr txBox="1"/>
          <p:nvPr/>
        </p:nvSpPr>
        <p:spPr>
          <a:xfrm>
            <a:off x="5916114" y="937520"/>
            <a:ext cx="299827" cy="156966"/>
          </a:xfrm>
          <a:prstGeom prst="rect">
            <a:avLst/>
          </a:prstGeom>
          <a:noFill/>
        </p:spPr>
        <p:txBody>
          <a:bodyPr wrap="none" lIns="18288" tIns="9144" rIns="18288"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pt-BR" sz="900" b="0" i="0" u="none" strike="noStrike" kern="1200" cap="none" spc="0" normalizeH="0" baseline="0" noProof="0" err="1">
                <a:ln>
                  <a:noFill/>
                </a:ln>
                <a:solidFill>
                  <a:srgbClr val="141414"/>
                </a:solidFill>
                <a:effectLst/>
                <a:uLnTx/>
                <a:uFillTx/>
                <a:latin typeface="Arial"/>
                <a:ea typeface="+mn-ea"/>
                <a:cs typeface="+mn-cs"/>
              </a:rPr>
              <a:t>Units</a:t>
            </a:r>
            <a:endParaRPr kumimoji="0" lang="pt-BR" sz="900" b="0" i="0" u="none" strike="noStrike" kern="1200" cap="none" spc="0" normalizeH="0" baseline="0" noProof="0">
              <a:ln>
                <a:noFill/>
              </a:ln>
              <a:solidFill>
                <a:srgbClr val="141414"/>
              </a:solidFill>
              <a:effectLst/>
              <a:uLnTx/>
              <a:uFillTx/>
              <a:latin typeface="Arial"/>
              <a:ea typeface="+mn-ea"/>
              <a:cs typeface="+mn-cs"/>
            </a:endParaRPr>
          </a:p>
        </p:txBody>
      </p:sp>
      <p:sp>
        <p:nvSpPr>
          <p:cNvPr id="197" name="TextBox 19">
            <a:extLst>
              <a:ext uri="{FF2B5EF4-FFF2-40B4-BE49-F238E27FC236}">
                <a16:creationId xmlns:a16="http://schemas.microsoft.com/office/drawing/2014/main" id="{BCA8A8F3-9402-4006-ACD7-9DF6E13926E5}"/>
              </a:ext>
            </a:extLst>
          </p:cNvPr>
          <p:cNvSpPr txBox="1"/>
          <p:nvPr/>
        </p:nvSpPr>
        <p:spPr>
          <a:xfrm>
            <a:off x="5843177" y="1144040"/>
            <a:ext cx="445699" cy="310854"/>
          </a:xfrm>
          <a:prstGeom prst="rect">
            <a:avLst/>
          </a:prstGeom>
          <a:noFill/>
        </p:spPr>
        <p:txBody>
          <a:bodyPr wrap="none" lIns="18288" tIns="9144" rIns="18288"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pt-BR" sz="1900" b="1" i="0" u="none" strike="noStrike" kern="1200" cap="none" spc="0" normalizeH="0" baseline="0" noProof="0">
                <a:ln>
                  <a:noFill/>
                </a:ln>
                <a:solidFill>
                  <a:srgbClr val="0F4A9B"/>
                </a:solidFill>
                <a:effectLst/>
                <a:uLnTx/>
                <a:uFillTx/>
                <a:latin typeface="Arial"/>
                <a:ea typeface="+mn-ea"/>
                <a:cs typeface="+mn-cs"/>
              </a:rPr>
              <a:t>220</a:t>
            </a:r>
          </a:p>
        </p:txBody>
      </p:sp>
      <p:sp>
        <p:nvSpPr>
          <p:cNvPr id="198" name="TextBox 20">
            <a:extLst>
              <a:ext uri="{FF2B5EF4-FFF2-40B4-BE49-F238E27FC236}">
                <a16:creationId xmlns:a16="http://schemas.microsoft.com/office/drawing/2014/main" id="{80E37AF9-0B96-4DB4-A888-05D6CCA2F81F}"/>
              </a:ext>
            </a:extLst>
          </p:cNvPr>
          <p:cNvSpPr txBox="1"/>
          <p:nvPr/>
        </p:nvSpPr>
        <p:spPr>
          <a:xfrm>
            <a:off x="5736579" y="1499151"/>
            <a:ext cx="658898" cy="149272"/>
          </a:xfrm>
          <a:prstGeom prst="rect">
            <a:avLst/>
          </a:prstGeom>
          <a:noFill/>
        </p:spPr>
        <p:txBody>
          <a:bodyPr wrap="none" lIns="18288" tIns="9144" rIns="18288"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pt-BR" sz="850" b="1" i="0" u="none" strike="noStrike" kern="1200" cap="none" spc="0" normalizeH="0" baseline="0" noProof="0">
                <a:ln>
                  <a:noFill/>
                </a:ln>
                <a:solidFill>
                  <a:srgbClr val="008B4F"/>
                </a:solidFill>
                <a:effectLst/>
                <a:uLnTx/>
                <a:uFillTx/>
                <a:latin typeface="Arial"/>
                <a:ea typeface="+mn-ea"/>
                <a:cs typeface="+mn-cs"/>
              </a:rPr>
              <a:t>1.5x vs. FF7</a:t>
            </a:r>
            <a:endParaRPr kumimoji="0" sz="850" b="1" i="0" u="none" strike="noStrike" kern="1200" cap="none" spc="0" normalizeH="0" baseline="0" noProof="0">
              <a:ln>
                <a:noFill/>
              </a:ln>
              <a:solidFill>
                <a:srgbClr val="008B4F"/>
              </a:solidFill>
              <a:effectLst/>
              <a:uLnTx/>
              <a:uFillTx/>
              <a:latin typeface="Arial"/>
              <a:ea typeface="+mn-ea"/>
              <a:cs typeface="+mn-cs"/>
            </a:endParaRPr>
          </a:p>
        </p:txBody>
      </p:sp>
      <p:sp>
        <p:nvSpPr>
          <p:cNvPr id="199" name="Rectangle 21">
            <a:extLst>
              <a:ext uri="{FF2B5EF4-FFF2-40B4-BE49-F238E27FC236}">
                <a16:creationId xmlns:a16="http://schemas.microsoft.com/office/drawing/2014/main" id="{7935E5D8-14ED-41E5-8EAA-0A4F4737FC86}"/>
              </a:ext>
            </a:extLst>
          </p:cNvPr>
          <p:cNvSpPr/>
          <p:nvPr/>
        </p:nvSpPr>
        <p:spPr>
          <a:xfrm>
            <a:off x="6859595" y="842267"/>
            <a:ext cx="5486" cy="868679"/>
          </a:xfrm>
          <a:prstGeom prst="rect">
            <a:avLst/>
          </a:prstGeom>
          <a:solidFill>
            <a:srgbClr val="CDD3DC"/>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4" name="TextBox 26">
            <a:extLst>
              <a:ext uri="{FF2B5EF4-FFF2-40B4-BE49-F238E27FC236}">
                <a16:creationId xmlns:a16="http://schemas.microsoft.com/office/drawing/2014/main" id="{448A2F09-C03C-476B-A417-F01982D7D635}"/>
              </a:ext>
            </a:extLst>
          </p:cNvPr>
          <p:cNvSpPr txBox="1"/>
          <p:nvPr/>
        </p:nvSpPr>
        <p:spPr>
          <a:xfrm>
            <a:off x="7536258" y="958229"/>
            <a:ext cx="1280863" cy="156966"/>
          </a:xfrm>
          <a:prstGeom prst="rect">
            <a:avLst/>
          </a:prstGeom>
          <a:noFill/>
        </p:spPr>
        <p:txBody>
          <a:bodyPr wrap="none" lIns="18288" tIns="9144" rIns="18288" bIns="9144" anchor="ctr">
            <a:spAutoFit/>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pt-BR" sz="900" b="0" i="0">
                <a:latin typeface="Arial"/>
              </a:rPr>
              <a:t>Total GTM MX </a:t>
            </a:r>
            <a:r>
              <a:rPr lang="pt-BR" sz="900" b="0" i="0" err="1">
                <a:latin typeface="Arial"/>
              </a:rPr>
              <a:t>Revenue</a:t>
            </a:r>
            <a:endParaRPr kumimoji="0" lang="pt-BR" sz="900" b="0" i="0" u="none" strike="noStrike" kern="1200" cap="none" spc="0" normalizeH="0" baseline="0" noProof="0">
              <a:ln>
                <a:noFill/>
              </a:ln>
              <a:solidFill>
                <a:srgbClr val="141414"/>
              </a:solidFill>
              <a:effectLst/>
              <a:uLnTx/>
              <a:uFillTx/>
              <a:latin typeface="Arial"/>
              <a:ea typeface="+mn-ea"/>
              <a:cs typeface="+mn-cs"/>
            </a:endParaRPr>
          </a:p>
        </p:txBody>
      </p:sp>
      <p:sp>
        <p:nvSpPr>
          <p:cNvPr id="205" name="TextBox 27">
            <a:extLst>
              <a:ext uri="{FF2B5EF4-FFF2-40B4-BE49-F238E27FC236}">
                <a16:creationId xmlns:a16="http://schemas.microsoft.com/office/drawing/2014/main" id="{72F3E2A7-6808-4A00-AD1F-040400E333FF}"/>
              </a:ext>
            </a:extLst>
          </p:cNvPr>
          <p:cNvSpPr txBox="1"/>
          <p:nvPr/>
        </p:nvSpPr>
        <p:spPr>
          <a:xfrm>
            <a:off x="7675717" y="1164749"/>
            <a:ext cx="1001941" cy="310854"/>
          </a:xfrm>
          <a:prstGeom prst="rect">
            <a:avLst/>
          </a:prstGeom>
          <a:noFill/>
        </p:spPr>
        <p:txBody>
          <a:bodyPr wrap="none" lIns="18288" tIns="9144" rIns="18288"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pt-BR" sz="1900" b="1" i="0" u="none" strike="noStrike" kern="1200" cap="none" spc="0" normalizeH="0" baseline="0" noProof="0">
                <a:ln>
                  <a:noFill/>
                </a:ln>
                <a:solidFill>
                  <a:srgbClr val="0F4A9B"/>
                </a:solidFill>
                <a:effectLst/>
                <a:uLnTx/>
                <a:uFillTx/>
                <a:latin typeface="Arial"/>
                <a:ea typeface="+mn-ea"/>
                <a:cs typeface="+mn-cs"/>
              </a:rPr>
              <a:t>R$ 967K</a:t>
            </a:r>
            <a:endParaRPr kumimoji="0" sz="1900" b="1" i="0" u="none" strike="noStrike" kern="1200" cap="none" spc="0" normalizeH="0" baseline="0" noProof="0">
              <a:ln>
                <a:noFill/>
              </a:ln>
              <a:solidFill>
                <a:srgbClr val="0F4A9B"/>
              </a:solidFill>
              <a:effectLst/>
              <a:uLnTx/>
              <a:uFillTx/>
              <a:latin typeface="Arial"/>
              <a:ea typeface="+mn-ea"/>
              <a:cs typeface="+mn-cs"/>
            </a:endParaRPr>
          </a:p>
        </p:txBody>
      </p:sp>
      <p:sp>
        <p:nvSpPr>
          <p:cNvPr id="206" name="TextBox 28">
            <a:extLst>
              <a:ext uri="{FF2B5EF4-FFF2-40B4-BE49-F238E27FC236}">
                <a16:creationId xmlns:a16="http://schemas.microsoft.com/office/drawing/2014/main" id="{6A851D2A-EE37-4535-8DCC-FCE629A7666E}"/>
              </a:ext>
            </a:extLst>
          </p:cNvPr>
          <p:cNvSpPr txBox="1"/>
          <p:nvPr/>
        </p:nvSpPr>
        <p:spPr>
          <a:xfrm>
            <a:off x="7942616" y="1519860"/>
            <a:ext cx="468141" cy="149272"/>
          </a:xfrm>
          <a:prstGeom prst="rect">
            <a:avLst/>
          </a:prstGeom>
          <a:noFill/>
        </p:spPr>
        <p:txBody>
          <a:bodyPr wrap="none" lIns="18288" tIns="9144" rIns="18288"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pt-BR" sz="850" b="1" i="0" u="none" strike="noStrike" kern="1200" cap="none" spc="0" normalizeH="0" baseline="0" noProof="0">
                <a:ln>
                  <a:noFill/>
                </a:ln>
                <a:solidFill>
                  <a:srgbClr val="00B050"/>
                </a:solidFill>
                <a:effectLst/>
                <a:uLnTx/>
                <a:uFillTx/>
                <a:latin typeface="Arial"/>
                <a:ea typeface="+mn-ea"/>
                <a:cs typeface="+mn-cs"/>
              </a:rPr>
              <a:t>1.23 A/R</a:t>
            </a:r>
            <a:endParaRPr kumimoji="0" sz="850" b="1" i="0" u="none" strike="noStrike" kern="1200" cap="none" spc="0" normalizeH="0" baseline="0" noProof="0">
              <a:ln>
                <a:noFill/>
              </a:ln>
              <a:solidFill>
                <a:srgbClr val="00B050"/>
              </a:solidFill>
              <a:effectLst/>
              <a:uLnTx/>
              <a:uFillTx/>
              <a:latin typeface="Arial"/>
              <a:ea typeface="+mn-ea"/>
              <a:cs typeface="+mn-cs"/>
            </a:endParaRPr>
          </a:p>
        </p:txBody>
      </p:sp>
      <p:sp>
        <p:nvSpPr>
          <p:cNvPr id="207" name="Rectangle 29">
            <a:extLst>
              <a:ext uri="{FF2B5EF4-FFF2-40B4-BE49-F238E27FC236}">
                <a16:creationId xmlns:a16="http://schemas.microsoft.com/office/drawing/2014/main" id="{53AD0C03-91CF-44F6-8E03-8E9225438284}"/>
              </a:ext>
            </a:extLst>
          </p:cNvPr>
          <p:cNvSpPr/>
          <p:nvPr/>
        </p:nvSpPr>
        <p:spPr>
          <a:xfrm>
            <a:off x="9351254" y="862976"/>
            <a:ext cx="5486" cy="868679"/>
          </a:xfrm>
          <a:prstGeom prst="rect">
            <a:avLst/>
          </a:prstGeom>
          <a:solidFill>
            <a:srgbClr val="CDD3DC"/>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8" name="TextBox 30">
            <a:extLst>
              <a:ext uri="{FF2B5EF4-FFF2-40B4-BE49-F238E27FC236}">
                <a16:creationId xmlns:a16="http://schemas.microsoft.com/office/drawing/2014/main" id="{347586C9-A9D8-4EDB-9381-7E6196B505F0}"/>
              </a:ext>
            </a:extLst>
          </p:cNvPr>
          <p:cNvSpPr txBox="1"/>
          <p:nvPr/>
        </p:nvSpPr>
        <p:spPr>
          <a:xfrm>
            <a:off x="10105372" y="958229"/>
            <a:ext cx="1062856" cy="156966"/>
          </a:xfrm>
          <a:prstGeom prst="rect">
            <a:avLst/>
          </a:prstGeom>
          <a:noFill/>
        </p:spPr>
        <p:txBody>
          <a:bodyPr wrap="none" lIns="18288" tIns="9144" rIns="18288" bIns="9144" anchor="ctr">
            <a:spAutoFit/>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pt-BR" sz="900" b="0" i="0">
                <a:latin typeface="Arial"/>
              </a:rPr>
              <a:t>Total GTM MX CVR</a:t>
            </a:r>
            <a:endParaRPr kumimoji="0" lang="pt-BR" sz="900" b="0" i="0" u="none" strike="noStrike" kern="1200" cap="none" spc="0" normalizeH="0" baseline="0" noProof="0">
              <a:ln>
                <a:noFill/>
              </a:ln>
              <a:solidFill>
                <a:srgbClr val="141414"/>
              </a:solidFill>
              <a:effectLst/>
              <a:uLnTx/>
              <a:uFillTx/>
              <a:latin typeface="Arial"/>
              <a:ea typeface="+mn-ea"/>
              <a:cs typeface="+mn-cs"/>
            </a:endParaRPr>
          </a:p>
        </p:txBody>
      </p:sp>
      <p:sp>
        <p:nvSpPr>
          <p:cNvPr id="209" name="TextBox 31">
            <a:extLst>
              <a:ext uri="{FF2B5EF4-FFF2-40B4-BE49-F238E27FC236}">
                <a16:creationId xmlns:a16="http://schemas.microsoft.com/office/drawing/2014/main" id="{8A40FAB4-E8A3-4017-9CF3-A1911EC5D289}"/>
              </a:ext>
            </a:extLst>
          </p:cNvPr>
          <p:cNvSpPr txBox="1"/>
          <p:nvPr/>
        </p:nvSpPr>
        <p:spPr>
          <a:xfrm>
            <a:off x="10272084" y="1164749"/>
            <a:ext cx="729430" cy="310854"/>
          </a:xfrm>
          <a:prstGeom prst="rect">
            <a:avLst/>
          </a:prstGeom>
          <a:noFill/>
        </p:spPr>
        <p:txBody>
          <a:bodyPr wrap="none" lIns="18288" tIns="9144" rIns="18288"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pt-BR" sz="1900" b="1" i="0" u="none" strike="noStrike" kern="1200" cap="none" spc="0" normalizeH="0" baseline="0" noProof="0">
                <a:ln>
                  <a:noFill/>
                </a:ln>
                <a:solidFill>
                  <a:srgbClr val="0F4A9B"/>
                </a:solidFill>
                <a:effectLst/>
                <a:uLnTx/>
                <a:uFillTx/>
                <a:latin typeface="Arial"/>
                <a:ea typeface="+mn-ea"/>
                <a:cs typeface="+mn-cs"/>
              </a:rPr>
              <a:t>0.06%</a:t>
            </a:r>
            <a:endParaRPr kumimoji="0" sz="1900" b="1" i="0" u="none" strike="noStrike" kern="1200" cap="none" spc="0" normalizeH="0" baseline="0" noProof="0">
              <a:ln>
                <a:noFill/>
              </a:ln>
              <a:solidFill>
                <a:srgbClr val="0F4A9B"/>
              </a:solidFill>
              <a:effectLst/>
              <a:uLnTx/>
              <a:uFillTx/>
              <a:latin typeface="Arial"/>
              <a:ea typeface="+mn-ea"/>
              <a:cs typeface="+mn-cs"/>
            </a:endParaRPr>
          </a:p>
        </p:txBody>
      </p:sp>
      <p:sp>
        <p:nvSpPr>
          <p:cNvPr id="210" name="TextBox 32">
            <a:extLst>
              <a:ext uri="{FF2B5EF4-FFF2-40B4-BE49-F238E27FC236}">
                <a16:creationId xmlns:a16="http://schemas.microsoft.com/office/drawing/2014/main" id="{E11F59A5-9908-40CF-A592-43969D3BE31A}"/>
              </a:ext>
            </a:extLst>
          </p:cNvPr>
          <p:cNvSpPr txBox="1"/>
          <p:nvPr/>
        </p:nvSpPr>
        <p:spPr>
          <a:xfrm>
            <a:off x="10307350" y="1519860"/>
            <a:ext cx="658898" cy="149272"/>
          </a:xfrm>
          <a:prstGeom prst="rect">
            <a:avLst/>
          </a:prstGeom>
          <a:noFill/>
        </p:spPr>
        <p:txBody>
          <a:bodyPr wrap="none" lIns="18288" tIns="9144" rIns="18288"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pt-BR" sz="850" b="1" i="0" u="none" strike="noStrike" kern="1200" cap="none" spc="0" normalizeH="0" baseline="0" noProof="0">
                <a:ln>
                  <a:noFill/>
                </a:ln>
                <a:solidFill>
                  <a:srgbClr val="00B050"/>
                </a:solidFill>
                <a:effectLst/>
                <a:uLnTx/>
                <a:uFillTx/>
                <a:latin typeface="Arial"/>
                <a:ea typeface="+mn-ea"/>
                <a:cs typeface="+mn-cs"/>
              </a:rPr>
              <a:t>3,0x vs. FF7</a:t>
            </a:r>
          </a:p>
        </p:txBody>
      </p:sp>
      <p:sp>
        <p:nvSpPr>
          <p:cNvPr id="119" name="TextBox 78">
            <a:extLst>
              <a:ext uri="{FF2B5EF4-FFF2-40B4-BE49-F238E27FC236}">
                <a16:creationId xmlns:a16="http://schemas.microsoft.com/office/drawing/2014/main" id="{A82BBD8E-791A-48AC-9A42-2231C46B2F5C}"/>
              </a:ext>
            </a:extLst>
          </p:cNvPr>
          <p:cNvSpPr txBox="1"/>
          <p:nvPr/>
        </p:nvSpPr>
        <p:spPr>
          <a:xfrm>
            <a:off x="5241829" y="2378270"/>
            <a:ext cx="6439124" cy="350865"/>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40" b="0" i="0" u="none" strike="noStrike" kern="1200" cap="none" spc="0" normalizeH="0" baseline="0" noProof="0">
                <a:ln>
                  <a:noFill/>
                </a:ln>
                <a:solidFill>
                  <a:prstClr val="black"/>
                </a:solidFill>
                <a:effectLst/>
                <a:uLnTx/>
                <a:uFillTx/>
                <a:latin typeface="Arial"/>
                <a:ea typeface="+mn-ea"/>
                <a:cs typeface="+mn-cs"/>
              </a:rPr>
              <a:t>The strategy combined high-intent audiences with new segmentation cuts, helping distinguish what is ready to scale from what still requires Test &amp; Learn.</a:t>
            </a:r>
          </a:p>
        </p:txBody>
      </p:sp>
      <p:sp>
        <p:nvSpPr>
          <p:cNvPr id="120" name="Rounded Rectangle 79">
            <a:extLst>
              <a:ext uri="{FF2B5EF4-FFF2-40B4-BE49-F238E27FC236}">
                <a16:creationId xmlns:a16="http://schemas.microsoft.com/office/drawing/2014/main" id="{C7F11639-5634-41B4-B930-0886D04A1B78}"/>
              </a:ext>
            </a:extLst>
          </p:cNvPr>
          <p:cNvSpPr/>
          <p:nvPr/>
        </p:nvSpPr>
        <p:spPr>
          <a:xfrm>
            <a:off x="5212841" y="2782302"/>
            <a:ext cx="1219993" cy="1216152"/>
          </a:xfrm>
          <a:prstGeom prst="roundRect">
            <a:avLst/>
          </a:prstGeom>
          <a:solidFill>
            <a:srgbClr val="093165"/>
          </a:solidFill>
          <a:ln w="8890">
            <a:solidFill>
              <a:srgbClr val="09316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1" name="TextBox 80">
            <a:extLst>
              <a:ext uri="{FF2B5EF4-FFF2-40B4-BE49-F238E27FC236}">
                <a16:creationId xmlns:a16="http://schemas.microsoft.com/office/drawing/2014/main" id="{F011C09C-0F0F-41FD-BDCA-3D2FCD41EB62}"/>
              </a:ext>
            </a:extLst>
          </p:cNvPr>
          <p:cNvSpPr txBox="1"/>
          <p:nvPr/>
        </p:nvSpPr>
        <p:spPr>
          <a:xfrm>
            <a:off x="5271581" y="2830073"/>
            <a:ext cx="1088102" cy="206210"/>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40" b="1" i="0" u="none" strike="noStrike" kern="1200" cap="none" spc="0" normalizeH="0" baseline="0" noProof="0">
                <a:ln>
                  <a:noFill/>
                </a:ln>
                <a:solidFill>
                  <a:srgbClr val="FFFFFF"/>
                </a:solidFill>
                <a:effectLst/>
                <a:uLnTx/>
                <a:uFillTx/>
                <a:latin typeface="Arial"/>
                <a:ea typeface="+mn-ea"/>
                <a:cs typeface="+mn-cs"/>
              </a:rPr>
              <a:t>HANDRAISERS</a:t>
            </a:r>
          </a:p>
        </p:txBody>
      </p:sp>
      <p:sp>
        <p:nvSpPr>
          <p:cNvPr id="122" name="TextBox 81">
            <a:extLst>
              <a:ext uri="{FF2B5EF4-FFF2-40B4-BE49-F238E27FC236}">
                <a16:creationId xmlns:a16="http://schemas.microsoft.com/office/drawing/2014/main" id="{A21A43A8-94CA-4151-A9E9-C1DDF0CD89AD}"/>
              </a:ext>
            </a:extLst>
          </p:cNvPr>
          <p:cNvSpPr txBox="1"/>
          <p:nvPr/>
        </p:nvSpPr>
        <p:spPr>
          <a:xfrm>
            <a:off x="5271581" y="3074002"/>
            <a:ext cx="1088102" cy="187744"/>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620" b="1" i="0" u="none" strike="noStrike" kern="1200" cap="none" spc="0" normalizeH="0" baseline="0" noProof="0">
                <a:ln>
                  <a:noFill/>
                </a:ln>
                <a:solidFill>
                  <a:srgbClr val="FFFFFF"/>
                </a:solidFill>
                <a:effectLst/>
                <a:uLnTx/>
                <a:uFillTx/>
                <a:latin typeface="Arial"/>
                <a:ea typeface="+mn-ea"/>
                <a:cs typeface="+mn-cs"/>
              </a:rPr>
              <a:t>CONVERSION CORE</a:t>
            </a:r>
          </a:p>
        </p:txBody>
      </p:sp>
      <p:sp>
        <p:nvSpPr>
          <p:cNvPr id="123" name="TextBox 82">
            <a:extLst>
              <a:ext uri="{FF2B5EF4-FFF2-40B4-BE49-F238E27FC236}">
                <a16:creationId xmlns:a16="http://schemas.microsoft.com/office/drawing/2014/main" id="{0171509C-7185-4C1C-A80A-9C1F3877DA02}"/>
              </a:ext>
            </a:extLst>
          </p:cNvPr>
          <p:cNvSpPr txBox="1"/>
          <p:nvPr/>
        </p:nvSpPr>
        <p:spPr>
          <a:xfrm>
            <a:off x="5271581" y="3266934"/>
            <a:ext cx="1088102" cy="607859"/>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70" b="0" i="0" u="none" strike="noStrike" kern="1200" cap="none" spc="0" normalizeH="0" baseline="0" noProof="0">
                <a:ln>
                  <a:noFill/>
                </a:ln>
                <a:solidFill>
                  <a:srgbClr val="FFFFFF"/>
                </a:solidFill>
                <a:effectLst/>
                <a:uLnTx/>
                <a:uFillTx/>
                <a:latin typeface="Arial"/>
                <a:ea typeface="+mn-ea"/>
                <a:cs typeface="+mn-cs"/>
              </a:rPr>
              <a:t>3% of E-mail deliveries → R$451K. In Push, 4% of deliveries → 79% of revenue.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670" b="0" i="0" u="none" strike="noStrike" kern="1200" cap="none" spc="0" normalizeH="0" baseline="0" noProof="0">
              <a:ln>
                <a:noFill/>
              </a:ln>
              <a:solidFill>
                <a:srgbClr val="FFFFFF"/>
              </a:solidFill>
              <a:effectLst/>
              <a:uLnTx/>
              <a:uFillTx/>
              <a:latin typeface="Arial"/>
              <a:ea typeface="+mn-ea"/>
              <a:cs typeface="+mn-cs"/>
            </a:endParaRPr>
          </a:p>
        </p:txBody>
      </p:sp>
      <p:sp>
        <p:nvSpPr>
          <p:cNvPr id="124" name="Rounded Rectangle 83">
            <a:extLst>
              <a:ext uri="{FF2B5EF4-FFF2-40B4-BE49-F238E27FC236}">
                <a16:creationId xmlns:a16="http://schemas.microsoft.com/office/drawing/2014/main" id="{E6E77123-ABC2-4A41-AC9F-7721CC50A197}"/>
              </a:ext>
            </a:extLst>
          </p:cNvPr>
          <p:cNvSpPr/>
          <p:nvPr/>
        </p:nvSpPr>
        <p:spPr>
          <a:xfrm>
            <a:off x="6496049" y="2782302"/>
            <a:ext cx="1219993" cy="1216152"/>
          </a:xfrm>
          <a:prstGeom prst="roundRect">
            <a:avLst/>
          </a:prstGeom>
          <a:solidFill>
            <a:srgbClr val="3570C4"/>
          </a:solidFill>
          <a:ln w="8890">
            <a:solidFill>
              <a:srgbClr val="3570C4"/>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5" name="TextBox 84">
            <a:extLst>
              <a:ext uri="{FF2B5EF4-FFF2-40B4-BE49-F238E27FC236}">
                <a16:creationId xmlns:a16="http://schemas.microsoft.com/office/drawing/2014/main" id="{5B5AA4E5-7096-44C4-93F3-210B258641A3}"/>
              </a:ext>
            </a:extLst>
          </p:cNvPr>
          <p:cNvSpPr txBox="1"/>
          <p:nvPr/>
        </p:nvSpPr>
        <p:spPr>
          <a:xfrm>
            <a:off x="6554789" y="2830073"/>
            <a:ext cx="1088102" cy="206210"/>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40" b="1" i="0" u="none" strike="noStrike" kern="1200" cap="none" spc="0" normalizeH="0" baseline="0" noProof="0">
                <a:ln>
                  <a:noFill/>
                </a:ln>
                <a:solidFill>
                  <a:srgbClr val="FFFFFF"/>
                </a:solidFill>
                <a:effectLst/>
                <a:uLnTx/>
                <a:uFillTx/>
                <a:latin typeface="Arial"/>
                <a:ea typeface="+mn-ea"/>
                <a:cs typeface="+mn-cs"/>
              </a:rPr>
              <a:t>CLOSED OFFER</a:t>
            </a:r>
          </a:p>
        </p:txBody>
      </p:sp>
      <p:sp>
        <p:nvSpPr>
          <p:cNvPr id="126" name="TextBox 85">
            <a:extLst>
              <a:ext uri="{FF2B5EF4-FFF2-40B4-BE49-F238E27FC236}">
                <a16:creationId xmlns:a16="http://schemas.microsoft.com/office/drawing/2014/main" id="{2CE2BA63-DE10-4CD9-95FB-FD5476049577}"/>
              </a:ext>
            </a:extLst>
          </p:cNvPr>
          <p:cNvSpPr txBox="1"/>
          <p:nvPr/>
        </p:nvSpPr>
        <p:spPr>
          <a:xfrm>
            <a:off x="6554789" y="3026297"/>
            <a:ext cx="1088102" cy="283154"/>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620" b="1" i="0" u="none" strike="noStrike" kern="1200" cap="none" spc="0" normalizeH="0" baseline="0" noProof="0">
                <a:ln>
                  <a:noFill/>
                </a:ln>
                <a:solidFill>
                  <a:srgbClr val="FFFFFF"/>
                </a:solidFill>
                <a:effectLst/>
                <a:uLnTx/>
                <a:uFillTx/>
                <a:latin typeface="Arial"/>
                <a:ea typeface="+mn-ea"/>
                <a:cs typeface="+mn-cs"/>
              </a:rPr>
              <a:t>PERSONALIZED OFFER</a:t>
            </a:r>
          </a:p>
        </p:txBody>
      </p:sp>
      <p:sp>
        <p:nvSpPr>
          <p:cNvPr id="127" name="TextBox 86">
            <a:extLst>
              <a:ext uri="{FF2B5EF4-FFF2-40B4-BE49-F238E27FC236}">
                <a16:creationId xmlns:a16="http://schemas.microsoft.com/office/drawing/2014/main" id="{15582DF6-F39A-4791-B63C-5270EA26339F}"/>
              </a:ext>
            </a:extLst>
          </p:cNvPr>
          <p:cNvSpPr txBox="1"/>
          <p:nvPr/>
        </p:nvSpPr>
        <p:spPr>
          <a:xfrm>
            <a:off x="6554789" y="3266934"/>
            <a:ext cx="1088102" cy="504754"/>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70" b="0" i="0" u="none" strike="noStrike" kern="1200" cap="none" spc="0" normalizeH="0" baseline="0" noProof="0">
                <a:ln>
                  <a:noFill/>
                </a:ln>
                <a:solidFill>
                  <a:srgbClr val="FFFFFF"/>
                </a:solidFill>
                <a:effectLst/>
                <a:uLnTx/>
                <a:uFillTx/>
                <a:latin typeface="Arial"/>
                <a:ea typeface="+mn-ea"/>
                <a:cs typeface="+mn-cs"/>
              </a:rPr>
              <a:t>R$51.3K and 8 orders. Strong conversion efficiency at lower scale.</a:t>
            </a:r>
          </a:p>
        </p:txBody>
      </p:sp>
      <p:sp>
        <p:nvSpPr>
          <p:cNvPr id="130" name="Rounded Rectangle 87">
            <a:extLst>
              <a:ext uri="{FF2B5EF4-FFF2-40B4-BE49-F238E27FC236}">
                <a16:creationId xmlns:a16="http://schemas.microsoft.com/office/drawing/2014/main" id="{F45034F0-B6EE-4DDA-A3DD-5501D07FC9C3}"/>
              </a:ext>
            </a:extLst>
          </p:cNvPr>
          <p:cNvSpPr/>
          <p:nvPr/>
        </p:nvSpPr>
        <p:spPr>
          <a:xfrm>
            <a:off x="7788782" y="2782302"/>
            <a:ext cx="1219993" cy="1216152"/>
          </a:xfrm>
          <a:prstGeom prst="roundRect">
            <a:avLst/>
          </a:prstGeom>
          <a:solidFill>
            <a:srgbClr val="DAE6F7"/>
          </a:solidFill>
          <a:ln w="8890">
            <a:solidFill>
              <a:srgbClr val="DAE6F7"/>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1" name="TextBox 88">
            <a:extLst>
              <a:ext uri="{FF2B5EF4-FFF2-40B4-BE49-F238E27FC236}">
                <a16:creationId xmlns:a16="http://schemas.microsoft.com/office/drawing/2014/main" id="{58CE9047-BBDB-40F7-BE9C-C51DD75244AE}"/>
              </a:ext>
            </a:extLst>
          </p:cNvPr>
          <p:cNvSpPr txBox="1"/>
          <p:nvPr/>
        </p:nvSpPr>
        <p:spPr>
          <a:xfrm>
            <a:off x="7847522" y="2830073"/>
            <a:ext cx="1088102" cy="206210"/>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40" b="1" i="0" u="none" strike="noStrike" kern="1200" cap="none" spc="0" normalizeH="0" baseline="0" noProof="0">
                <a:ln>
                  <a:noFill/>
                </a:ln>
                <a:solidFill>
                  <a:srgbClr val="093165"/>
                </a:solidFill>
                <a:effectLst/>
                <a:uLnTx/>
                <a:uFillTx/>
                <a:latin typeface="Arial"/>
                <a:ea typeface="+mn-ea"/>
                <a:cs typeface="+mn-cs"/>
              </a:rPr>
              <a:t>PERSONAS</a:t>
            </a:r>
          </a:p>
        </p:txBody>
      </p:sp>
      <p:sp>
        <p:nvSpPr>
          <p:cNvPr id="132" name="TextBox 89">
            <a:extLst>
              <a:ext uri="{FF2B5EF4-FFF2-40B4-BE49-F238E27FC236}">
                <a16:creationId xmlns:a16="http://schemas.microsoft.com/office/drawing/2014/main" id="{B468CFEE-37B0-4629-A0B7-BD8253754391}"/>
              </a:ext>
            </a:extLst>
          </p:cNvPr>
          <p:cNvSpPr txBox="1"/>
          <p:nvPr/>
        </p:nvSpPr>
        <p:spPr>
          <a:xfrm>
            <a:off x="7847522" y="3026297"/>
            <a:ext cx="1088102" cy="283154"/>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620" b="1" i="0" u="none" strike="noStrike" kern="1200" cap="none" spc="0" normalizeH="0" baseline="0" noProof="0">
                <a:ln>
                  <a:noFill/>
                </a:ln>
                <a:solidFill>
                  <a:srgbClr val="093165"/>
                </a:solidFill>
                <a:effectLst/>
                <a:uLnTx/>
                <a:uFillTx/>
                <a:latin typeface="Arial"/>
                <a:ea typeface="+mn-ea"/>
                <a:cs typeface="+mn-cs"/>
              </a:rPr>
              <a:t>POCKETS OF POTENTIAL</a:t>
            </a:r>
          </a:p>
        </p:txBody>
      </p:sp>
      <p:sp>
        <p:nvSpPr>
          <p:cNvPr id="133" name="TextBox 90">
            <a:extLst>
              <a:ext uri="{FF2B5EF4-FFF2-40B4-BE49-F238E27FC236}">
                <a16:creationId xmlns:a16="http://schemas.microsoft.com/office/drawing/2014/main" id="{56105A9A-315A-49D3-AA98-429CC0EB616A}"/>
              </a:ext>
            </a:extLst>
          </p:cNvPr>
          <p:cNvSpPr txBox="1"/>
          <p:nvPr/>
        </p:nvSpPr>
        <p:spPr>
          <a:xfrm>
            <a:off x="7847522" y="3266934"/>
            <a:ext cx="1088102" cy="504754"/>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70" b="0" i="0" u="none" strike="noStrike" kern="1200" cap="none" spc="0" normalizeH="0" baseline="0" noProof="0">
                <a:ln>
                  <a:noFill/>
                </a:ln>
                <a:solidFill>
                  <a:srgbClr val="093165"/>
                </a:solidFill>
                <a:effectLst/>
                <a:uLnTx/>
                <a:uFillTx/>
                <a:latin typeface="Arial"/>
                <a:ea typeface="+mn-ea"/>
                <a:cs typeface="+mn-cs"/>
              </a:rPr>
              <a:t>POWER HOT led engagement; JOYHOT generated R$19.6K in revenue.</a:t>
            </a:r>
          </a:p>
        </p:txBody>
      </p:sp>
      <p:sp>
        <p:nvSpPr>
          <p:cNvPr id="134" name="Rounded Rectangle 91">
            <a:extLst>
              <a:ext uri="{FF2B5EF4-FFF2-40B4-BE49-F238E27FC236}">
                <a16:creationId xmlns:a16="http://schemas.microsoft.com/office/drawing/2014/main" id="{8BABCF9B-C3FE-4493-A7A2-E30974EA5E13}"/>
              </a:ext>
            </a:extLst>
          </p:cNvPr>
          <p:cNvSpPr/>
          <p:nvPr/>
        </p:nvSpPr>
        <p:spPr>
          <a:xfrm>
            <a:off x="9110090" y="2782302"/>
            <a:ext cx="1219993" cy="1216152"/>
          </a:xfrm>
          <a:prstGeom prst="roundRect">
            <a:avLst/>
          </a:prstGeom>
          <a:solidFill>
            <a:srgbClr val="E7EFF8"/>
          </a:solidFill>
          <a:ln w="8890">
            <a:solidFill>
              <a:srgbClr val="E7EFF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5" name="TextBox 92">
            <a:extLst>
              <a:ext uri="{FF2B5EF4-FFF2-40B4-BE49-F238E27FC236}">
                <a16:creationId xmlns:a16="http://schemas.microsoft.com/office/drawing/2014/main" id="{087982F2-B6B4-478A-99A4-117B48C89C87}"/>
              </a:ext>
            </a:extLst>
          </p:cNvPr>
          <p:cNvSpPr txBox="1"/>
          <p:nvPr/>
        </p:nvSpPr>
        <p:spPr>
          <a:xfrm>
            <a:off x="9168830" y="2773134"/>
            <a:ext cx="1088102" cy="320088"/>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40" b="1" i="0" u="none" strike="noStrike" kern="1200" cap="none" spc="0" normalizeH="0" baseline="0" noProof="0">
                <a:ln>
                  <a:noFill/>
                </a:ln>
                <a:solidFill>
                  <a:srgbClr val="093165"/>
                </a:solidFill>
                <a:effectLst/>
                <a:uLnTx/>
                <a:uFillTx/>
                <a:latin typeface="Arial"/>
                <a:ea typeface="+mn-ea"/>
                <a:cs typeface="+mn-cs"/>
              </a:rPr>
              <a:t>COMPETITORS / </a:t>
            </a:r>
            <a:r>
              <a:rPr kumimoji="0" sz="740" b="1" i="0" u="none" strike="noStrike" kern="1200" cap="none" spc="0" normalizeH="0" baseline="0" noProof="0" err="1">
                <a:ln>
                  <a:noFill/>
                </a:ln>
                <a:solidFill>
                  <a:srgbClr val="093165"/>
                </a:solidFill>
                <a:effectLst/>
                <a:uLnTx/>
                <a:uFillTx/>
                <a:latin typeface="Arial"/>
                <a:ea typeface="+mn-ea"/>
                <a:cs typeface="+mn-cs"/>
              </a:rPr>
              <a:t>Co.A</a:t>
            </a:r>
            <a:endParaRPr kumimoji="0" sz="740" b="1" i="0" u="none" strike="noStrike" kern="1200" cap="none" spc="0" normalizeH="0" baseline="0" noProof="0">
              <a:ln>
                <a:noFill/>
              </a:ln>
              <a:solidFill>
                <a:srgbClr val="093165"/>
              </a:solidFill>
              <a:effectLst/>
              <a:uLnTx/>
              <a:uFillTx/>
              <a:latin typeface="Arial"/>
              <a:ea typeface="+mn-ea"/>
              <a:cs typeface="+mn-cs"/>
            </a:endParaRPr>
          </a:p>
        </p:txBody>
      </p:sp>
      <p:sp>
        <p:nvSpPr>
          <p:cNvPr id="136" name="TextBox 93">
            <a:extLst>
              <a:ext uri="{FF2B5EF4-FFF2-40B4-BE49-F238E27FC236}">
                <a16:creationId xmlns:a16="http://schemas.microsoft.com/office/drawing/2014/main" id="{C673F5D6-3E82-43E7-8108-5BB1A0EFE66B}"/>
              </a:ext>
            </a:extLst>
          </p:cNvPr>
          <p:cNvSpPr txBox="1"/>
          <p:nvPr/>
        </p:nvSpPr>
        <p:spPr>
          <a:xfrm>
            <a:off x="9168830" y="3026297"/>
            <a:ext cx="1088102" cy="283154"/>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620" b="1" i="0" u="none" strike="noStrike" kern="1200" cap="none" spc="0" normalizeH="0" baseline="0" noProof="0">
                <a:ln>
                  <a:noFill/>
                </a:ln>
                <a:solidFill>
                  <a:srgbClr val="093165"/>
                </a:solidFill>
                <a:effectLst/>
                <a:uLnTx/>
                <a:uFillTx/>
                <a:latin typeface="Arial"/>
                <a:ea typeface="+mn-ea"/>
                <a:cs typeface="+mn-cs"/>
              </a:rPr>
              <a:t>ENGAGES, DOES NOT CONVERT</a:t>
            </a:r>
          </a:p>
        </p:txBody>
      </p:sp>
      <p:sp>
        <p:nvSpPr>
          <p:cNvPr id="137" name="TextBox 94">
            <a:extLst>
              <a:ext uri="{FF2B5EF4-FFF2-40B4-BE49-F238E27FC236}">
                <a16:creationId xmlns:a16="http://schemas.microsoft.com/office/drawing/2014/main" id="{FF45455A-60AF-409F-BE27-E674E8ED101A}"/>
              </a:ext>
            </a:extLst>
          </p:cNvPr>
          <p:cNvSpPr txBox="1"/>
          <p:nvPr/>
        </p:nvSpPr>
        <p:spPr>
          <a:xfrm>
            <a:off x="9168830" y="3266934"/>
            <a:ext cx="1088102" cy="603504"/>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70" b="0" i="0" u="none" strike="noStrike" kern="1200" cap="none" spc="0" normalizeH="0" baseline="0" noProof="0">
                <a:ln>
                  <a:noFill/>
                </a:ln>
                <a:solidFill>
                  <a:srgbClr val="093165"/>
                </a:solidFill>
                <a:effectLst/>
                <a:uLnTx/>
                <a:uFillTx/>
                <a:latin typeface="Arial"/>
                <a:ea typeface="+mn-ea"/>
                <a:cs typeface="+mn-cs"/>
              </a:rPr>
              <a:t>Strong initial interest but weak response to offers; opportunity to revisit proposition and timing.</a:t>
            </a:r>
          </a:p>
        </p:txBody>
      </p:sp>
      <p:sp>
        <p:nvSpPr>
          <p:cNvPr id="138" name="Rounded Rectangle 95">
            <a:extLst>
              <a:ext uri="{FF2B5EF4-FFF2-40B4-BE49-F238E27FC236}">
                <a16:creationId xmlns:a16="http://schemas.microsoft.com/office/drawing/2014/main" id="{CDB0F9A0-C0F4-4847-BDBE-B0ACDC0285EE}"/>
              </a:ext>
            </a:extLst>
          </p:cNvPr>
          <p:cNvSpPr/>
          <p:nvPr/>
        </p:nvSpPr>
        <p:spPr>
          <a:xfrm>
            <a:off x="10440923" y="2782302"/>
            <a:ext cx="1219993" cy="1216152"/>
          </a:xfrm>
          <a:prstGeom prst="roundRect">
            <a:avLst/>
          </a:prstGeom>
          <a:solidFill>
            <a:srgbClr val="E5F3ED"/>
          </a:solidFill>
          <a:ln w="8890">
            <a:solidFill>
              <a:srgbClr val="E5F3E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9" name="TextBox 96">
            <a:extLst>
              <a:ext uri="{FF2B5EF4-FFF2-40B4-BE49-F238E27FC236}">
                <a16:creationId xmlns:a16="http://schemas.microsoft.com/office/drawing/2014/main" id="{38DFB828-808E-4ED0-83C8-17E602E72D89}"/>
              </a:ext>
            </a:extLst>
          </p:cNvPr>
          <p:cNvSpPr txBox="1"/>
          <p:nvPr/>
        </p:nvSpPr>
        <p:spPr>
          <a:xfrm>
            <a:off x="10499663" y="2830073"/>
            <a:ext cx="1088102" cy="206210"/>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40" b="1" i="0" u="none" strike="noStrike" kern="1200" cap="none" spc="0" normalizeH="0" baseline="0" noProof="0">
                <a:ln>
                  <a:noFill/>
                </a:ln>
                <a:solidFill>
                  <a:srgbClr val="093165"/>
                </a:solidFill>
                <a:effectLst/>
                <a:uLnTx/>
                <a:uFillTx/>
                <a:latin typeface="Arial"/>
                <a:ea typeface="+mn-ea"/>
                <a:cs typeface="+mn-cs"/>
              </a:rPr>
              <a:t>AI TAG • NOVO</a:t>
            </a:r>
          </a:p>
        </p:txBody>
      </p:sp>
      <p:sp>
        <p:nvSpPr>
          <p:cNvPr id="140" name="TextBox 97">
            <a:extLst>
              <a:ext uri="{FF2B5EF4-FFF2-40B4-BE49-F238E27FC236}">
                <a16:creationId xmlns:a16="http://schemas.microsoft.com/office/drawing/2014/main" id="{3B0C8613-C476-4DA9-873D-C1A397E5B808}"/>
              </a:ext>
            </a:extLst>
          </p:cNvPr>
          <p:cNvSpPr txBox="1"/>
          <p:nvPr/>
        </p:nvSpPr>
        <p:spPr>
          <a:xfrm>
            <a:off x="10499663" y="3074002"/>
            <a:ext cx="1088102" cy="187744"/>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620" b="1" i="0" u="none" strike="noStrike" kern="1200" cap="none" spc="0" normalizeH="0" baseline="0" noProof="0">
                <a:ln>
                  <a:noFill/>
                </a:ln>
                <a:solidFill>
                  <a:srgbClr val="093165"/>
                </a:solidFill>
                <a:effectLst/>
                <a:uLnTx/>
                <a:uFillTx/>
                <a:latin typeface="Arial"/>
                <a:ea typeface="+mn-ea"/>
                <a:cs typeface="+mn-cs"/>
              </a:rPr>
              <a:t>1ST USE</a:t>
            </a:r>
          </a:p>
        </p:txBody>
      </p:sp>
      <p:sp>
        <p:nvSpPr>
          <p:cNvPr id="141" name="TextBox 98">
            <a:extLst>
              <a:ext uri="{FF2B5EF4-FFF2-40B4-BE49-F238E27FC236}">
                <a16:creationId xmlns:a16="http://schemas.microsoft.com/office/drawing/2014/main" id="{D52692B2-9892-4C90-B17D-BDA3261FD532}"/>
              </a:ext>
            </a:extLst>
          </p:cNvPr>
          <p:cNvSpPr txBox="1"/>
          <p:nvPr/>
        </p:nvSpPr>
        <p:spPr>
          <a:xfrm>
            <a:off x="10499663" y="3266934"/>
            <a:ext cx="1088102" cy="710964"/>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70" b="0" i="0" u="none" strike="noStrike" kern="1200" cap="none" spc="0" normalizeH="0" baseline="0" noProof="0">
                <a:ln>
                  <a:noFill/>
                </a:ln>
                <a:solidFill>
                  <a:srgbClr val="093165"/>
                </a:solidFill>
                <a:effectLst/>
                <a:uLnTx/>
                <a:uFillTx/>
                <a:latin typeface="Arial"/>
                <a:ea typeface="+mn-ea"/>
                <a:cs typeface="+mn-cs"/>
              </a:rPr>
              <a:t>First CRM exploration. HEALTHUSER in Push showed a positive signal; volume is still too small for a firm diagnosis.</a:t>
            </a:r>
          </a:p>
        </p:txBody>
      </p:sp>
      <p:sp>
        <p:nvSpPr>
          <p:cNvPr id="142" name="Text 50">
            <a:extLst>
              <a:ext uri="{FF2B5EF4-FFF2-40B4-BE49-F238E27FC236}">
                <a16:creationId xmlns:a16="http://schemas.microsoft.com/office/drawing/2014/main" id="{C0FAE7C4-6DAD-4F55-976C-1B6F01DFE644}"/>
              </a:ext>
            </a:extLst>
          </p:cNvPr>
          <p:cNvSpPr/>
          <p:nvPr/>
        </p:nvSpPr>
        <p:spPr>
          <a:xfrm>
            <a:off x="5336328" y="2175141"/>
            <a:ext cx="4937760" cy="256032"/>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222222"/>
                </a:solidFill>
                <a:effectLst/>
                <a:uLnTx/>
                <a:uFillTx/>
                <a:latin typeface="Arial" pitchFamily="34" charset="0"/>
                <a:ea typeface="Roboto" panose="02000000000000000000" pitchFamily="2" charset="0"/>
                <a:cs typeface="Arial" pitchFamily="34" charset="-120"/>
              </a:rPr>
              <a:t>1. KEY AUDIENCE GROUPS</a:t>
            </a:r>
          </a:p>
        </p:txBody>
      </p:sp>
      <p:sp>
        <p:nvSpPr>
          <p:cNvPr id="152" name="CaixaDeTexto 151">
            <a:extLst>
              <a:ext uri="{FF2B5EF4-FFF2-40B4-BE49-F238E27FC236}">
                <a16:creationId xmlns:a16="http://schemas.microsoft.com/office/drawing/2014/main" id="{8F23C170-2725-4566-9C26-BDD6CEFA5714}"/>
              </a:ext>
            </a:extLst>
          </p:cNvPr>
          <p:cNvSpPr txBox="1"/>
          <p:nvPr/>
        </p:nvSpPr>
        <p:spPr>
          <a:xfrm>
            <a:off x="5336328" y="4158442"/>
            <a:ext cx="6096000" cy="276999"/>
          </a:xfrm>
          <a:prstGeom prst="rect">
            <a:avLst/>
          </a:prstGeom>
          <a:noFill/>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i="0">
                <a:latin typeface="Arial"/>
              </a:rPr>
              <a:t>2. Test &amp; Learn WhatsApp - Carousel</a:t>
            </a:r>
          </a:p>
        </p:txBody>
      </p:sp>
      <p:sp>
        <p:nvSpPr>
          <p:cNvPr id="181" name="TextBox 114">
            <a:extLst>
              <a:ext uri="{FF2B5EF4-FFF2-40B4-BE49-F238E27FC236}">
                <a16:creationId xmlns:a16="http://schemas.microsoft.com/office/drawing/2014/main" id="{C5C86E5D-ED01-4195-A00F-BCF537424618}"/>
              </a:ext>
            </a:extLst>
          </p:cNvPr>
          <p:cNvSpPr txBox="1"/>
          <p:nvPr/>
        </p:nvSpPr>
        <p:spPr>
          <a:xfrm>
            <a:off x="565911" y="2958082"/>
            <a:ext cx="4069080" cy="270843"/>
          </a:xfrm>
          <a:prstGeom prst="rect">
            <a:avLst/>
          </a:prstGeom>
          <a:noFill/>
        </p:spPr>
        <p:txBody>
          <a:bodyPr wrap="square" lIns="18288" tIns="0" rIns="18288"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80" b="0" i="0" u="none" strike="noStrike" kern="1200" cap="none" spc="0" normalizeH="0" baseline="0" noProof="0">
                <a:ln>
                  <a:noFill/>
                </a:ln>
                <a:solidFill>
                  <a:srgbClr val="69778C"/>
                </a:solidFill>
                <a:effectLst/>
                <a:uLnTx/>
                <a:uFillTx/>
                <a:latin typeface="Arial"/>
                <a:ea typeface="+mn-ea"/>
                <a:cs typeface="+mn-cs"/>
              </a:rPr>
              <a:t>The result combined a balanced pillar mix with strong portfolio contribution, with Z Fold8 leading product revenue since the start of the campaign.</a:t>
            </a:r>
          </a:p>
        </p:txBody>
      </p:sp>
      <p:sp>
        <p:nvSpPr>
          <p:cNvPr id="182" name="TextBox 115">
            <a:extLst>
              <a:ext uri="{FF2B5EF4-FFF2-40B4-BE49-F238E27FC236}">
                <a16:creationId xmlns:a16="http://schemas.microsoft.com/office/drawing/2014/main" id="{61FD2AF6-965C-44FE-9049-CF3C37D5C070}"/>
              </a:ext>
            </a:extLst>
          </p:cNvPr>
          <p:cNvSpPr txBox="1"/>
          <p:nvPr/>
        </p:nvSpPr>
        <p:spPr>
          <a:xfrm>
            <a:off x="496950" y="3295648"/>
            <a:ext cx="2148840" cy="153888"/>
          </a:xfrm>
          <a:prstGeom prst="rect">
            <a:avLst/>
          </a:prstGeom>
          <a:noFill/>
        </p:spPr>
        <p:txBody>
          <a:bodyPr wrap="square" lIns="18288" tIns="0" rIns="18288" bIns="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000" b="1" i="0">
                <a:latin typeface="Arial"/>
              </a:rPr>
              <a:t>1. PORTION BY PILLAR</a:t>
            </a:r>
          </a:p>
        </p:txBody>
      </p:sp>
      <p:sp>
        <p:nvSpPr>
          <p:cNvPr id="183" name="TextBox 116">
            <a:extLst>
              <a:ext uri="{FF2B5EF4-FFF2-40B4-BE49-F238E27FC236}">
                <a16:creationId xmlns:a16="http://schemas.microsoft.com/office/drawing/2014/main" id="{ADCE7D09-76B5-4F80-A0E2-E541AD4B274A}"/>
              </a:ext>
            </a:extLst>
          </p:cNvPr>
          <p:cNvSpPr txBox="1"/>
          <p:nvPr/>
        </p:nvSpPr>
        <p:spPr>
          <a:xfrm>
            <a:off x="496950" y="3479290"/>
            <a:ext cx="2148840" cy="112338"/>
          </a:xfrm>
          <a:prstGeom prst="rect">
            <a:avLst/>
          </a:prstGeom>
          <a:noFill/>
        </p:spPr>
        <p:txBody>
          <a:bodyPr wrap="square" lIns="18288" tIns="0" rIns="18288"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730" b="0" i="0" u="none" strike="noStrike" kern="1200" cap="none" spc="0" normalizeH="0" baseline="0" noProof="0">
                <a:ln>
                  <a:noFill/>
                </a:ln>
                <a:solidFill>
                  <a:srgbClr val="69778C"/>
                </a:solidFill>
                <a:effectLst/>
                <a:uLnTx/>
                <a:uFillTx/>
                <a:latin typeface="Arial"/>
                <a:ea typeface="+mn-ea"/>
                <a:cs typeface="+mn-cs"/>
              </a:rPr>
              <a:t>CRM </a:t>
            </a:r>
            <a:r>
              <a:rPr kumimoji="0" lang="pt-BR" sz="730" b="0" i="0" u="none" strike="noStrike" kern="1200" cap="none" spc="0" normalizeH="0" baseline="0" noProof="0" err="1">
                <a:ln>
                  <a:noFill/>
                </a:ln>
                <a:solidFill>
                  <a:srgbClr val="69778C"/>
                </a:solidFill>
                <a:effectLst/>
                <a:uLnTx/>
                <a:uFillTx/>
                <a:latin typeface="Arial"/>
                <a:ea typeface="+mn-ea"/>
                <a:cs typeface="+mn-cs"/>
              </a:rPr>
              <a:t>revenue</a:t>
            </a:r>
            <a:r>
              <a:rPr kumimoji="0" lang="pt-BR" sz="730" b="0" i="0" u="none" strike="noStrike" kern="1200" cap="none" spc="0" normalizeH="0" baseline="0" noProof="0">
                <a:ln>
                  <a:noFill/>
                </a:ln>
                <a:solidFill>
                  <a:srgbClr val="69778C"/>
                </a:solidFill>
                <a:effectLst/>
                <a:uLnTx/>
                <a:uFillTx/>
                <a:latin typeface="Arial"/>
                <a:ea typeface="+mn-ea"/>
                <a:cs typeface="+mn-cs"/>
              </a:rPr>
              <a:t> mix</a:t>
            </a:r>
          </a:p>
        </p:txBody>
      </p:sp>
      <p:sp>
        <p:nvSpPr>
          <p:cNvPr id="213" name="TextBox 117">
            <a:extLst>
              <a:ext uri="{FF2B5EF4-FFF2-40B4-BE49-F238E27FC236}">
                <a16:creationId xmlns:a16="http://schemas.microsoft.com/office/drawing/2014/main" id="{8C0CDE67-52F8-48B9-9741-E9F972FC93FD}"/>
              </a:ext>
            </a:extLst>
          </p:cNvPr>
          <p:cNvSpPr txBox="1"/>
          <p:nvPr/>
        </p:nvSpPr>
        <p:spPr>
          <a:xfrm>
            <a:off x="496950" y="3642962"/>
            <a:ext cx="640080" cy="137160"/>
          </a:xfrm>
          <a:prstGeom prst="rect">
            <a:avLst/>
          </a:prstGeom>
          <a:noFill/>
        </p:spPr>
        <p:txBody>
          <a:bodyPr wrap="square" lIns="18288" tIns="0" rIns="18288"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70" b="1" i="0" u="none" strike="noStrike" kern="1200" cap="none" spc="0" normalizeH="0" baseline="0" noProof="0">
                <a:ln>
                  <a:noFill/>
                </a:ln>
                <a:solidFill>
                  <a:srgbClr val="123A6F"/>
                </a:solidFill>
                <a:effectLst/>
                <a:uLnTx/>
                <a:uFillTx/>
                <a:latin typeface="Arial"/>
                <a:ea typeface="+mn-ea"/>
                <a:cs typeface="+mn-cs"/>
              </a:rPr>
              <a:t>GTM</a:t>
            </a:r>
          </a:p>
        </p:txBody>
      </p:sp>
      <p:sp>
        <p:nvSpPr>
          <p:cNvPr id="214" name="Rectangle 118">
            <a:extLst>
              <a:ext uri="{FF2B5EF4-FFF2-40B4-BE49-F238E27FC236}">
                <a16:creationId xmlns:a16="http://schemas.microsoft.com/office/drawing/2014/main" id="{DDF2C7A4-7F12-466B-8081-ABA1F965FE9A}"/>
              </a:ext>
            </a:extLst>
          </p:cNvPr>
          <p:cNvSpPr/>
          <p:nvPr/>
        </p:nvSpPr>
        <p:spPr>
          <a:xfrm>
            <a:off x="1210182" y="3652106"/>
            <a:ext cx="1051560" cy="118872"/>
          </a:xfrm>
          <a:prstGeom prst="rect">
            <a:avLst/>
          </a:prstGeom>
          <a:solidFill>
            <a:srgbClr val="E6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5" name="Rectangle 119">
            <a:extLst>
              <a:ext uri="{FF2B5EF4-FFF2-40B4-BE49-F238E27FC236}">
                <a16:creationId xmlns:a16="http://schemas.microsoft.com/office/drawing/2014/main" id="{2ABDBB2A-9996-4D54-90F8-900DE7234FE4}"/>
              </a:ext>
            </a:extLst>
          </p:cNvPr>
          <p:cNvSpPr/>
          <p:nvPr/>
        </p:nvSpPr>
        <p:spPr>
          <a:xfrm>
            <a:off x="1210182" y="3652106"/>
            <a:ext cx="1004823" cy="118872"/>
          </a:xfrm>
          <a:prstGeom prst="rect">
            <a:avLst/>
          </a:prstGeom>
          <a:solidFill>
            <a:srgbClr val="1D5B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6" name="TextBox 120">
            <a:extLst>
              <a:ext uri="{FF2B5EF4-FFF2-40B4-BE49-F238E27FC236}">
                <a16:creationId xmlns:a16="http://schemas.microsoft.com/office/drawing/2014/main" id="{FA69EA5B-461F-4E3B-B87D-63D5ED0FEC29}"/>
              </a:ext>
            </a:extLst>
          </p:cNvPr>
          <p:cNvSpPr txBox="1"/>
          <p:nvPr/>
        </p:nvSpPr>
        <p:spPr>
          <a:xfrm>
            <a:off x="2307462" y="3633818"/>
            <a:ext cx="347472" cy="155448"/>
          </a:xfrm>
          <a:prstGeom prst="rect">
            <a:avLst/>
          </a:prstGeom>
          <a:noFill/>
        </p:spPr>
        <p:txBody>
          <a:bodyPr wrap="square" lIns="18288" tIns="0" rIns="18288"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sz="840" b="1" i="0" u="none" strike="noStrike" kern="1200" cap="none" spc="0" normalizeH="0" baseline="0" noProof="0">
                <a:ln>
                  <a:noFill/>
                </a:ln>
                <a:solidFill>
                  <a:srgbClr val="123A6F"/>
                </a:solidFill>
                <a:effectLst/>
                <a:uLnTx/>
                <a:uFillTx/>
                <a:latin typeface="Arial"/>
                <a:ea typeface="+mn-ea"/>
                <a:cs typeface="+mn-cs"/>
              </a:rPr>
              <a:t>43%</a:t>
            </a:r>
          </a:p>
        </p:txBody>
      </p:sp>
      <p:sp>
        <p:nvSpPr>
          <p:cNvPr id="217" name="TextBox 121">
            <a:extLst>
              <a:ext uri="{FF2B5EF4-FFF2-40B4-BE49-F238E27FC236}">
                <a16:creationId xmlns:a16="http://schemas.microsoft.com/office/drawing/2014/main" id="{1A00748D-2495-4781-802D-3B386C01AA94}"/>
              </a:ext>
            </a:extLst>
          </p:cNvPr>
          <p:cNvSpPr txBox="1"/>
          <p:nvPr/>
        </p:nvSpPr>
        <p:spPr>
          <a:xfrm>
            <a:off x="496950" y="3842934"/>
            <a:ext cx="640080" cy="137160"/>
          </a:xfrm>
          <a:prstGeom prst="rect">
            <a:avLst/>
          </a:prstGeom>
          <a:noFill/>
        </p:spPr>
        <p:txBody>
          <a:bodyPr wrap="square" lIns="18288" tIns="0" rIns="18288"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70" b="1" i="0" u="none" strike="noStrike" kern="1200" cap="none" spc="0" normalizeH="0" baseline="0" noProof="0">
                <a:ln>
                  <a:noFill/>
                </a:ln>
                <a:solidFill>
                  <a:srgbClr val="123A6F"/>
                </a:solidFill>
                <a:effectLst/>
                <a:uLnTx/>
                <a:uFillTx/>
                <a:latin typeface="Arial"/>
                <a:ea typeface="+mn-ea"/>
                <a:cs typeface="+mn-cs"/>
              </a:rPr>
              <a:t>TRIGGERS</a:t>
            </a:r>
          </a:p>
        </p:txBody>
      </p:sp>
      <p:sp>
        <p:nvSpPr>
          <p:cNvPr id="218" name="Rectangle 122">
            <a:extLst>
              <a:ext uri="{FF2B5EF4-FFF2-40B4-BE49-F238E27FC236}">
                <a16:creationId xmlns:a16="http://schemas.microsoft.com/office/drawing/2014/main" id="{7F748AB0-B554-40B0-B168-00F7E44F979C}"/>
              </a:ext>
            </a:extLst>
          </p:cNvPr>
          <p:cNvSpPr/>
          <p:nvPr/>
        </p:nvSpPr>
        <p:spPr>
          <a:xfrm>
            <a:off x="1210182" y="3852078"/>
            <a:ext cx="1051560" cy="118872"/>
          </a:xfrm>
          <a:prstGeom prst="rect">
            <a:avLst/>
          </a:prstGeom>
          <a:solidFill>
            <a:srgbClr val="E6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9" name="Rectangle 123">
            <a:extLst>
              <a:ext uri="{FF2B5EF4-FFF2-40B4-BE49-F238E27FC236}">
                <a16:creationId xmlns:a16="http://schemas.microsoft.com/office/drawing/2014/main" id="{31B4A605-3BE5-444D-BCAD-B3BCDA20C21C}"/>
              </a:ext>
            </a:extLst>
          </p:cNvPr>
          <p:cNvSpPr/>
          <p:nvPr/>
        </p:nvSpPr>
        <p:spPr>
          <a:xfrm>
            <a:off x="1210182" y="3852078"/>
            <a:ext cx="958087" cy="118872"/>
          </a:xfrm>
          <a:prstGeom prst="rect">
            <a:avLst/>
          </a:prstGeom>
          <a:solidFill>
            <a:srgbClr val="123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0" name="TextBox 124">
            <a:extLst>
              <a:ext uri="{FF2B5EF4-FFF2-40B4-BE49-F238E27FC236}">
                <a16:creationId xmlns:a16="http://schemas.microsoft.com/office/drawing/2014/main" id="{3E4CFF44-B820-4932-9AAE-C4EB58C492F1}"/>
              </a:ext>
            </a:extLst>
          </p:cNvPr>
          <p:cNvSpPr txBox="1"/>
          <p:nvPr/>
        </p:nvSpPr>
        <p:spPr>
          <a:xfrm>
            <a:off x="2307462" y="3833790"/>
            <a:ext cx="347472" cy="155448"/>
          </a:xfrm>
          <a:prstGeom prst="rect">
            <a:avLst/>
          </a:prstGeom>
          <a:noFill/>
        </p:spPr>
        <p:txBody>
          <a:bodyPr wrap="square" lIns="18288" tIns="0" rIns="18288"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sz="840" b="1" i="0" u="none" strike="noStrike" kern="1200" cap="none" spc="0" normalizeH="0" baseline="0" noProof="0">
                <a:ln>
                  <a:noFill/>
                </a:ln>
                <a:solidFill>
                  <a:srgbClr val="123A6F"/>
                </a:solidFill>
                <a:effectLst/>
                <a:uLnTx/>
                <a:uFillTx/>
                <a:latin typeface="Arial"/>
                <a:ea typeface="+mn-ea"/>
                <a:cs typeface="+mn-cs"/>
              </a:rPr>
              <a:t>41%</a:t>
            </a:r>
          </a:p>
        </p:txBody>
      </p:sp>
      <p:sp>
        <p:nvSpPr>
          <p:cNvPr id="221" name="TextBox 125">
            <a:extLst>
              <a:ext uri="{FF2B5EF4-FFF2-40B4-BE49-F238E27FC236}">
                <a16:creationId xmlns:a16="http://schemas.microsoft.com/office/drawing/2014/main" id="{A7DAF314-AE57-4AD1-8EB0-33EB04C582FC}"/>
              </a:ext>
            </a:extLst>
          </p:cNvPr>
          <p:cNvSpPr txBox="1"/>
          <p:nvPr/>
        </p:nvSpPr>
        <p:spPr>
          <a:xfrm>
            <a:off x="496950" y="4052142"/>
            <a:ext cx="640080" cy="137160"/>
          </a:xfrm>
          <a:prstGeom prst="rect">
            <a:avLst/>
          </a:prstGeom>
          <a:noFill/>
        </p:spPr>
        <p:txBody>
          <a:bodyPr wrap="square" lIns="18288" tIns="0" rIns="18288"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70" b="1" i="0" u="none" strike="noStrike" kern="1200" cap="none" spc="0" normalizeH="0" baseline="0" noProof="0">
                <a:ln>
                  <a:noFill/>
                </a:ln>
                <a:solidFill>
                  <a:srgbClr val="123A6F"/>
                </a:solidFill>
                <a:effectLst/>
                <a:uLnTx/>
                <a:uFillTx/>
                <a:latin typeface="Arial"/>
                <a:ea typeface="+mn-ea"/>
                <a:cs typeface="+mn-cs"/>
              </a:rPr>
              <a:t>GROWTH</a:t>
            </a:r>
          </a:p>
        </p:txBody>
      </p:sp>
      <p:sp>
        <p:nvSpPr>
          <p:cNvPr id="222" name="Rectangle 126">
            <a:extLst>
              <a:ext uri="{FF2B5EF4-FFF2-40B4-BE49-F238E27FC236}">
                <a16:creationId xmlns:a16="http://schemas.microsoft.com/office/drawing/2014/main" id="{C76E0E6F-1FA2-4D28-96E0-739AF63A5937}"/>
              </a:ext>
            </a:extLst>
          </p:cNvPr>
          <p:cNvSpPr/>
          <p:nvPr/>
        </p:nvSpPr>
        <p:spPr>
          <a:xfrm>
            <a:off x="1210182" y="4061286"/>
            <a:ext cx="1051560" cy="118872"/>
          </a:xfrm>
          <a:prstGeom prst="rect">
            <a:avLst/>
          </a:prstGeom>
          <a:solidFill>
            <a:srgbClr val="E6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3" name="Rectangle 127">
            <a:extLst>
              <a:ext uri="{FF2B5EF4-FFF2-40B4-BE49-F238E27FC236}">
                <a16:creationId xmlns:a16="http://schemas.microsoft.com/office/drawing/2014/main" id="{39E540D9-8046-455B-BCB5-3801C981160C}"/>
              </a:ext>
            </a:extLst>
          </p:cNvPr>
          <p:cNvSpPr/>
          <p:nvPr/>
        </p:nvSpPr>
        <p:spPr>
          <a:xfrm>
            <a:off x="1210182" y="4061286"/>
            <a:ext cx="350520" cy="118872"/>
          </a:xfrm>
          <a:prstGeom prst="rect">
            <a:avLst/>
          </a:prstGeom>
          <a:solidFill>
            <a:srgbClr val="4B7E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4" name="TextBox 128">
            <a:extLst>
              <a:ext uri="{FF2B5EF4-FFF2-40B4-BE49-F238E27FC236}">
                <a16:creationId xmlns:a16="http://schemas.microsoft.com/office/drawing/2014/main" id="{3BC6EA44-5EAE-43B1-9649-CCF7C1CBB116}"/>
              </a:ext>
            </a:extLst>
          </p:cNvPr>
          <p:cNvSpPr txBox="1"/>
          <p:nvPr/>
        </p:nvSpPr>
        <p:spPr>
          <a:xfrm>
            <a:off x="2307462" y="4042998"/>
            <a:ext cx="347472" cy="155448"/>
          </a:xfrm>
          <a:prstGeom prst="rect">
            <a:avLst/>
          </a:prstGeom>
          <a:noFill/>
        </p:spPr>
        <p:txBody>
          <a:bodyPr wrap="square" lIns="18288" tIns="0" rIns="18288"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sz="840" b="1" i="0" u="none" strike="noStrike" kern="1200" cap="none" spc="0" normalizeH="0" baseline="0" noProof="0">
                <a:ln>
                  <a:noFill/>
                </a:ln>
                <a:solidFill>
                  <a:srgbClr val="123A6F"/>
                </a:solidFill>
                <a:effectLst/>
                <a:uLnTx/>
                <a:uFillTx/>
                <a:latin typeface="Arial"/>
                <a:ea typeface="+mn-ea"/>
                <a:cs typeface="+mn-cs"/>
              </a:rPr>
              <a:t>15%</a:t>
            </a:r>
          </a:p>
        </p:txBody>
      </p:sp>
      <p:sp>
        <p:nvSpPr>
          <p:cNvPr id="225" name="Rectangle 129">
            <a:extLst>
              <a:ext uri="{FF2B5EF4-FFF2-40B4-BE49-F238E27FC236}">
                <a16:creationId xmlns:a16="http://schemas.microsoft.com/office/drawing/2014/main" id="{2E875859-600C-499F-8615-59FD3577F75B}"/>
              </a:ext>
            </a:extLst>
          </p:cNvPr>
          <p:cNvSpPr/>
          <p:nvPr/>
        </p:nvSpPr>
        <p:spPr>
          <a:xfrm>
            <a:off x="2711990" y="3460890"/>
            <a:ext cx="0" cy="806788"/>
          </a:xfrm>
          <a:prstGeom prst="rect">
            <a:avLst/>
          </a:prstGeom>
          <a:solidFill>
            <a:srgbClr val="D2DCE9"/>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6" name="TextBox 130">
            <a:extLst>
              <a:ext uri="{FF2B5EF4-FFF2-40B4-BE49-F238E27FC236}">
                <a16:creationId xmlns:a16="http://schemas.microsoft.com/office/drawing/2014/main" id="{F9B283E5-BE4A-4832-AC0E-C3F30AB03D0E}"/>
              </a:ext>
            </a:extLst>
          </p:cNvPr>
          <p:cNvSpPr txBox="1"/>
          <p:nvPr/>
        </p:nvSpPr>
        <p:spPr>
          <a:xfrm>
            <a:off x="2846958" y="3295648"/>
            <a:ext cx="1691640" cy="153888"/>
          </a:xfrm>
          <a:prstGeom prst="rect">
            <a:avLst/>
          </a:prstGeom>
          <a:noFill/>
        </p:spPr>
        <p:txBody>
          <a:bodyPr wrap="square" lIns="18288" tIns="0" rIns="18288" bIns="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000" b="1" i="0">
                <a:latin typeface="Arial"/>
              </a:rPr>
              <a:t>2. PRODUCTS SOLD</a:t>
            </a:r>
          </a:p>
        </p:txBody>
      </p:sp>
      <p:sp>
        <p:nvSpPr>
          <p:cNvPr id="227" name="Rounded Rectangle 131">
            <a:extLst>
              <a:ext uri="{FF2B5EF4-FFF2-40B4-BE49-F238E27FC236}">
                <a16:creationId xmlns:a16="http://schemas.microsoft.com/office/drawing/2014/main" id="{CFBD1E05-B76E-4AA5-A842-44F7630C35CD}"/>
              </a:ext>
            </a:extLst>
          </p:cNvPr>
          <p:cNvSpPr/>
          <p:nvPr/>
        </p:nvSpPr>
        <p:spPr>
          <a:xfrm>
            <a:off x="2846958" y="3453495"/>
            <a:ext cx="1691640" cy="364251"/>
          </a:xfrm>
          <a:prstGeom prst="roundRect">
            <a:avLst/>
          </a:prstGeom>
          <a:solidFill>
            <a:srgbClr val="EBF2FA"/>
          </a:solidFill>
          <a:ln w="10160">
            <a:solidFill>
              <a:srgbClr val="D2DCE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8" name="TextBox 132">
            <a:extLst>
              <a:ext uri="{FF2B5EF4-FFF2-40B4-BE49-F238E27FC236}">
                <a16:creationId xmlns:a16="http://schemas.microsoft.com/office/drawing/2014/main" id="{F447D359-7D8D-4372-9A24-01A0F442AD99}"/>
              </a:ext>
            </a:extLst>
          </p:cNvPr>
          <p:cNvSpPr txBox="1"/>
          <p:nvPr/>
        </p:nvSpPr>
        <p:spPr>
          <a:xfrm>
            <a:off x="2938398" y="3471600"/>
            <a:ext cx="1051560" cy="146304"/>
          </a:xfrm>
          <a:prstGeom prst="rect">
            <a:avLst/>
          </a:prstGeom>
          <a:noFill/>
        </p:spPr>
        <p:txBody>
          <a:bodyPr wrap="square" lIns="18288" tIns="0" rIns="18288"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10" b="1" i="0" u="none" strike="noStrike" kern="1200" cap="none" spc="0" normalizeH="0" baseline="0" noProof="0">
                <a:ln>
                  <a:noFill/>
                </a:ln>
                <a:solidFill>
                  <a:srgbClr val="123A6F"/>
                </a:solidFill>
                <a:effectLst/>
                <a:uLnTx/>
                <a:uFillTx/>
                <a:latin typeface="Arial"/>
                <a:ea typeface="+mn-ea"/>
                <a:cs typeface="+mn-cs"/>
              </a:rPr>
              <a:t>Z FOLD8</a:t>
            </a:r>
          </a:p>
        </p:txBody>
      </p:sp>
      <p:sp>
        <p:nvSpPr>
          <p:cNvPr id="229" name="TextBox 133">
            <a:extLst>
              <a:ext uri="{FF2B5EF4-FFF2-40B4-BE49-F238E27FC236}">
                <a16:creationId xmlns:a16="http://schemas.microsoft.com/office/drawing/2014/main" id="{06CAA940-4328-4712-903A-4DD1D90CBAC5}"/>
              </a:ext>
            </a:extLst>
          </p:cNvPr>
          <p:cNvSpPr txBox="1"/>
          <p:nvPr/>
        </p:nvSpPr>
        <p:spPr>
          <a:xfrm>
            <a:off x="2938398" y="3636192"/>
            <a:ext cx="1097280" cy="141449"/>
          </a:xfrm>
          <a:prstGeom prst="rect">
            <a:avLst/>
          </a:prstGeom>
          <a:noFill/>
        </p:spPr>
        <p:txBody>
          <a:bodyPr wrap="square" lIns="18288" tIns="0" rIns="18288"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19" b="1" i="0" u="none" strike="noStrike" kern="1200" cap="none" spc="0" normalizeH="0" baseline="0" noProof="0">
                <a:ln>
                  <a:noFill/>
                </a:ln>
                <a:solidFill>
                  <a:srgbClr val="1D5BB8"/>
                </a:solidFill>
                <a:effectLst/>
                <a:uLnTx/>
                <a:uFillTx/>
                <a:latin typeface="Arial"/>
                <a:ea typeface="+mn-ea"/>
                <a:cs typeface="+mn-cs"/>
              </a:rPr>
              <a:t>~40% </a:t>
            </a:r>
            <a:r>
              <a:rPr kumimoji="0" lang="pt-BR" sz="919" b="1" i="0" u="none" strike="noStrike" kern="1200" cap="none" spc="0" normalizeH="0" baseline="0" noProof="0" err="1">
                <a:ln>
                  <a:noFill/>
                </a:ln>
                <a:solidFill>
                  <a:srgbClr val="1D5BB8"/>
                </a:solidFill>
                <a:effectLst/>
                <a:uLnTx/>
                <a:uFillTx/>
                <a:latin typeface="Arial"/>
                <a:ea typeface="+mn-ea"/>
                <a:cs typeface="+mn-cs"/>
              </a:rPr>
              <a:t>of</a:t>
            </a:r>
            <a:r>
              <a:rPr kumimoji="0" lang="pt-BR" sz="919" b="1" i="0" u="none" strike="noStrike" kern="1200" cap="none" spc="0" normalizeH="0" baseline="0" noProof="0">
                <a:ln>
                  <a:noFill/>
                </a:ln>
                <a:solidFill>
                  <a:srgbClr val="1D5BB8"/>
                </a:solidFill>
                <a:effectLst/>
                <a:uLnTx/>
                <a:uFillTx/>
                <a:latin typeface="Arial"/>
                <a:ea typeface="+mn-ea"/>
                <a:cs typeface="+mn-cs"/>
              </a:rPr>
              <a:t> </a:t>
            </a:r>
            <a:r>
              <a:rPr kumimoji="0" lang="pt-BR" sz="919" b="1" i="0" u="none" strike="noStrike" kern="1200" cap="none" spc="0" normalizeH="0" baseline="0" noProof="0" err="1">
                <a:ln>
                  <a:noFill/>
                </a:ln>
                <a:solidFill>
                  <a:srgbClr val="1D5BB8"/>
                </a:solidFill>
                <a:effectLst/>
                <a:uLnTx/>
                <a:uFillTx/>
                <a:latin typeface="Arial"/>
                <a:ea typeface="+mn-ea"/>
                <a:cs typeface="+mn-cs"/>
              </a:rPr>
              <a:t>revenue</a:t>
            </a:r>
            <a:endParaRPr kumimoji="0" sz="919" b="1" i="0" u="none" strike="noStrike" kern="1200" cap="none" spc="0" normalizeH="0" baseline="0" noProof="0">
              <a:ln>
                <a:noFill/>
              </a:ln>
              <a:solidFill>
                <a:srgbClr val="1D5BB8"/>
              </a:solidFill>
              <a:effectLst/>
              <a:uLnTx/>
              <a:uFillTx/>
              <a:latin typeface="Arial"/>
              <a:ea typeface="+mn-ea"/>
              <a:cs typeface="+mn-cs"/>
            </a:endParaRPr>
          </a:p>
        </p:txBody>
      </p:sp>
      <p:sp>
        <p:nvSpPr>
          <p:cNvPr id="230" name="TextBox 134">
            <a:extLst>
              <a:ext uri="{FF2B5EF4-FFF2-40B4-BE49-F238E27FC236}">
                <a16:creationId xmlns:a16="http://schemas.microsoft.com/office/drawing/2014/main" id="{99EF9CAF-F041-43F1-A9E9-92C5BA01D4B9}"/>
              </a:ext>
            </a:extLst>
          </p:cNvPr>
          <p:cNvSpPr txBox="1"/>
          <p:nvPr/>
        </p:nvSpPr>
        <p:spPr>
          <a:xfrm>
            <a:off x="4017389" y="3517320"/>
            <a:ext cx="411480" cy="206210"/>
          </a:xfrm>
          <a:prstGeom prst="rect">
            <a:avLst/>
          </a:prstGeom>
          <a:noFill/>
        </p:spPr>
        <p:txBody>
          <a:bodyPr wrap="square" lIns="18288" tIns="0" rIns="18288"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70" b="1" i="0" u="none" strike="noStrike" kern="1200" cap="none" spc="0" normalizeH="0" baseline="0" noProof="0">
                <a:ln>
                  <a:noFill/>
                </a:ln>
                <a:solidFill>
                  <a:srgbClr val="008E4F"/>
                </a:solidFill>
                <a:effectLst/>
                <a:uLnTx/>
                <a:uFillTx/>
                <a:latin typeface="Arial"/>
                <a:ea typeface="+mn-ea"/>
                <a:cs typeface="+mn-cs"/>
              </a:rPr>
              <a:t>#1
</a:t>
            </a:r>
            <a:r>
              <a:rPr kumimoji="0" lang="pt-BR" sz="670" b="1" i="0" u="none" strike="noStrike" kern="1200" cap="none" spc="0" normalizeH="0" baseline="0" noProof="0" err="1">
                <a:ln>
                  <a:noFill/>
                </a:ln>
                <a:solidFill>
                  <a:srgbClr val="008E4F"/>
                </a:solidFill>
                <a:effectLst/>
                <a:uLnTx/>
                <a:uFillTx/>
                <a:latin typeface="Arial"/>
                <a:ea typeface="+mn-ea"/>
                <a:cs typeface="+mn-cs"/>
              </a:rPr>
              <a:t>revenue</a:t>
            </a:r>
            <a:endParaRPr kumimoji="0" sz="670" b="1" i="0" u="none" strike="noStrike" kern="1200" cap="none" spc="0" normalizeH="0" baseline="0" noProof="0">
              <a:ln>
                <a:noFill/>
              </a:ln>
              <a:solidFill>
                <a:srgbClr val="008E4F"/>
              </a:solidFill>
              <a:effectLst/>
              <a:uLnTx/>
              <a:uFillTx/>
              <a:latin typeface="Arial"/>
              <a:ea typeface="+mn-ea"/>
              <a:cs typeface="+mn-cs"/>
            </a:endParaRPr>
          </a:p>
        </p:txBody>
      </p:sp>
      <p:sp>
        <p:nvSpPr>
          <p:cNvPr id="231" name="Rounded Rectangle 135">
            <a:extLst>
              <a:ext uri="{FF2B5EF4-FFF2-40B4-BE49-F238E27FC236}">
                <a16:creationId xmlns:a16="http://schemas.microsoft.com/office/drawing/2014/main" id="{38A9B62D-494A-406A-825C-5C343CB22052}"/>
              </a:ext>
            </a:extLst>
          </p:cNvPr>
          <p:cNvSpPr/>
          <p:nvPr/>
        </p:nvSpPr>
        <p:spPr>
          <a:xfrm>
            <a:off x="2846958" y="3871678"/>
            <a:ext cx="1691640" cy="364250"/>
          </a:xfrm>
          <a:prstGeom prst="roundRect">
            <a:avLst/>
          </a:prstGeom>
          <a:solidFill>
            <a:srgbClr val="F6F9FD"/>
          </a:solidFill>
          <a:ln w="10160">
            <a:solidFill>
              <a:srgbClr val="D2DCE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32" name="TextBox 136">
            <a:extLst>
              <a:ext uri="{FF2B5EF4-FFF2-40B4-BE49-F238E27FC236}">
                <a16:creationId xmlns:a16="http://schemas.microsoft.com/office/drawing/2014/main" id="{8A5EE664-3BB6-43B2-B67C-103A3AD4FC64}"/>
              </a:ext>
            </a:extLst>
          </p:cNvPr>
          <p:cNvSpPr txBox="1"/>
          <p:nvPr/>
        </p:nvSpPr>
        <p:spPr>
          <a:xfrm>
            <a:off x="2938398" y="3933747"/>
            <a:ext cx="1051560" cy="146304"/>
          </a:xfrm>
          <a:prstGeom prst="rect">
            <a:avLst/>
          </a:prstGeom>
          <a:noFill/>
        </p:spPr>
        <p:txBody>
          <a:bodyPr wrap="square" lIns="18288" tIns="0" rIns="18288"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10" b="1" i="0" u="none" strike="noStrike" kern="1200" cap="none" spc="0" normalizeH="0" baseline="0" noProof="0">
                <a:ln>
                  <a:noFill/>
                </a:ln>
                <a:solidFill>
                  <a:srgbClr val="123A6F"/>
                </a:solidFill>
                <a:effectLst/>
                <a:uLnTx/>
                <a:uFillTx/>
                <a:latin typeface="Arial"/>
                <a:ea typeface="+mn-ea"/>
                <a:cs typeface="+mn-cs"/>
              </a:rPr>
              <a:t>WATCH ULTRA2</a:t>
            </a:r>
          </a:p>
        </p:txBody>
      </p:sp>
      <p:sp>
        <p:nvSpPr>
          <p:cNvPr id="233" name="TextBox 137">
            <a:extLst>
              <a:ext uri="{FF2B5EF4-FFF2-40B4-BE49-F238E27FC236}">
                <a16:creationId xmlns:a16="http://schemas.microsoft.com/office/drawing/2014/main" id="{D23320F8-3BC0-472F-9C5D-3C1B76F7CD06}"/>
              </a:ext>
            </a:extLst>
          </p:cNvPr>
          <p:cNvSpPr txBox="1"/>
          <p:nvPr/>
        </p:nvSpPr>
        <p:spPr>
          <a:xfrm>
            <a:off x="2938398" y="4060239"/>
            <a:ext cx="1097280" cy="164592"/>
          </a:xfrm>
          <a:prstGeom prst="rect">
            <a:avLst/>
          </a:prstGeom>
          <a:noFill/>
        </p:spPr>
        <p:txBody>
          <a:bodyPr wrap="square" lIns="18288" tIns="0" rIns="18288"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19" b="1" i="0" u="none" strike="noStrike" kern="1200" cap="none" spc="0" normalizeH="0" baseline="0" noProof="0">
                <a:ln>
                  <a:noFill/>
                </a:ln>
                <a:solidFill>
                  <a:srgbClr val="1D5BB8"/>
                </a:solidFill>
                <a:effectLst/>
                <a:uLnTx/>
                <a:uFillTx/>
                <a:latin typeface="Arial"/>
                <a:ea typeface="+mn-ea"/>
                <a:cs typeface="+mn-cs"/>
              </a:rPr>
              <a:t>~4,0x vs. N-1</a:t>
            </a:r>
          </a:p>
        </p:txBody>
      </p:sp>
      <p:sp>
        <p:nvSpPr>
          <p:cNvPr id="234" name="TextBox 138">
            <a:extLst>
              <a:ext uri="{FF2B5EF4-FFF2-40B4-BE49-F238E27FC236}">
                <a16:creationId xmlns:a16="http://schemas.microsoft.com/office/drawing/2014/main" id="{8044C85B-FE75-4B68-8A8E-C81BF2BDE728}"/>
              </a:ext>
            </a:extLst>
          </p:cNvPr>
          <p:cNvSpPr txBox="1"/>
          <p:nvPr/>
        </p:nvSpPr>
        <p:spPr>
          <a:xfrm>
            <a:off x="4017389" y="3961179"/>
            <a:ext cx="411480" cy="196977"/>
          </a:xfrm>
          <a:prstGeom prst="rect">
            <a:avLst/>
          </a:prstGeom>
          <a:noFill/>
        </p:spPr>
        <p:txBody>
          <a:bodyPr wrap="square" lIns="18288" tIns="0" rIns="18288"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640" b="1" i="0" u="none" strike="noStrike" kern="1200" cap="none" spc="0" normalizeH="0" baseline="0" noProof="0" err="1">
                <a:ln>
                  <a:noFill/>
                </a:ln>
                <a:solidFill>
                  <a:srgbClr val="008E4F"/>
                </a:solidFill>
                <a:effectLst/>
                <a:uLnTx/>
                <a:uFillTx/>
                <a:latin typeface="Arial"/>
                <a:ea typeface="+mn-ea"/>
                <a:cs typeface="+mn-cs"/>
              </a:rPr>
              <a:t>highest</a:t>
            </a:r>
            <a:endParaRPr kumimoji="0" lang="pt-BR" sz="640" b="1" i="0" u="none" strike="noStrike" kern="1200" cap="none" spc="0" normalizeH="0" baseline="0" noProof="0">
              <a:ln>
                <a:noFill/>
              </a:ln>
              <a:solidFill>
                <a:srgbClr val="008E4F"/>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640" b="1" i="0" u="none" strike="noStrike" kern="1200" cap="none" spc="0" normalizeH="0" baseline="0" noProof="0" err="1">
                <a:ln>
                  <a:noFill/>
                </a:ln>
                <a:solidFill>
                  <a:srgbClr val="008E4F"/>
                </a:solidFill>
                <a:effectLst/>
                <a:uLnTx/>
                <a:uFillTx/>
                <a:latin typeface="Arial"/>
                <a:ea typeface="+mn-ea"/>
                <a:cs typeface="+mn-cs"/>
              </a:rPr>
              <a:t>growth</a:t>
            </a:r>
            <a:endParaRPr kumimoji="0" lang="pt-BR" sz="640" b="1" i="0" u="none" strike="noStrike" kern="1200" cap="none" spc="0" normalizeH="0" baseline="0" noProof="0">
              <a:ln>
                <a:noFill/>
              </a:ln>
              <a:solidFill>
                <a:srgbClr val="008E4F"/>
              </a:solidFill>
              <a:effectLst/>
              <a:uLnTx/>
              <a:uFillTx/>
              <a:latin typeface="Arial"/>
              <a:ea typeface="+mn-ea"/>
              <a:cs typeface="+mn-cs"/>
            </a:endParaRPr>
          </a:p>
        </p:txBody>
      </p:sp>
      <p:sp>
        <p:nvSpPr>
          <p:cNvPr id="235" name="TextBox 139">
            <a:extLst>
              <a:ext uri="{FF2B5EF4-FFF2-40B4-BE49-F238E27FC236}">
                <a16:creationId xmlns:a16="http://schemas.microsoft.com/office/drawing/2014/main" id="{91456428-9DA3-4C9C-90C7-9B1A25B5BCE1}"/>
              </a:ext>
            </a:extLst>
          </p:cNvPr>
          <p:cNvSpPr txBox="1"/>
          <p:nvPr/>
        </p:nvSpPr>
        <p:spPr>
          <a:xfrm>
            <a:off x="464243" y="4355707"/>
            <a:ext cx="4069080" cy="227755"/>
          </a:xfrm>
          <a:prstGeom prst="rect">
            <a:avLst/>
          </a:prstGeom>
          <a:noFill/>
        </p:spPr>
        <p:txBody>
          <a:bodyPr wrap="square" lIns="18288" tIns="0" rIns="18288"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40" b="1" i="0" u="none" strike="noStrike" kern="1200" cap="none" spc="0" normalizeH="0" baseline="0" noProof="0">
                <a:ln>
                  <a:noFill/>
                </a:ln>
                <a:solidFill>
                  <a:srgbClr val="123A6F"/>
                </a:solidFill>
                <a:effectLst/>
                <a:uLnTx/>
                <a:uFillTx/>
                <a:latin typeface="Arial"/>
                <a:ea typeface="+mn-ea"/>
                <a:cs typeface="+mn-cs"/>
              </a:rPr>
              <a:t>GTM and Triggers account for 84% of the mix; by product, Z Fold8 leads revenue while Watch Ultra2 stands out in growth.</a:t>
            </a:r>
          </a:p>
        </p:txBody>
      </p:sp>
      <p:sp>
        <p:nvSpPr>
          <p:cNvPr id="259" name="Rounded Rectangle 101">
            <a:extLst>
              <a:ext uri="{FF2B5EF4-FFF2-40B4-BE49-F238E27FC236}">
                <a16:creationId xmlns:a16="http://schemas.microsoft.com/office/drawing/2014/main" id="{B7598CDA-3A9D-4A26-935A-CA57744EEEE1}"/>
              </a:ext>
            </a:extLst>
          </p:cNvPr>
          <p:cNvSpPr/>
          <p:nvPr/>
        </p:nvSpPr>
        <p:spPr>
          <a:xfrm>
            <a:off x="5359177" y="4601516"/>
            <a:ext cx="3547872" cy="438912"/>
          </a:xfrm>
          <a:prstGeom prst="roundRect">
            <a:avLst/>
          </a:prstGeom>
          <a:solidFill>
            <a:srgbClr val="EFF4FA"/>
          </a:solidFill>
          <a:ln w="8890">
            <a:solidFill>
              <a:srgbClr val="CDD8E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60" name="TextBox 102">
            <a:extLst>
              <a:ext uri="{FF2B5EF4-FFF2-40B4-BE49-F238E27FC236}">
                <a16:creationId xmlns:a16="http://schemas.microsoft.com/office/drawing/2014/main" id="{98F1D30A-0C5E-4D07-AC33-2F96300268E3}"/>
              </a:ext>
            </a:extLst>
          </p:cNvPr>
          <p:cNvSpPr txBox="1"/>
          <p:nvPr/>
        </p:nvSpPr>
        <p:spPr>
          <a:xfrm>
            <a:off x="5496337" y="4751988"/>
            <a:ext cx="914400" cy="146304"/>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prstClr val="black"/>
                </a:solidFill>
                <a:effectLst/>
                <a:uLnTx/>
                <a:uFillTx/>
                <a:latin typeface="Calibri"/>
                <a:ea typeface="+mn-ea"/>
                <a:cs typeface="+mn-cs"/>
              </a:rPr>
              <a:t>2,2x PEDIDOS</a:t>
            </a:r>
          </a:p>
        </p:txBody>
      </p:sp>
      <p:sp>
        <p:nvSpPr>
          <p:cNvPr id="261" name="TextBox 103">
            <a:extLst>
              <a:ext uri="{FF2B5EF4-FFF2-40B4-BE49-F238E27FC236}">
                <a16:creationId xmlns:a16="http://schemas.microsoft.com/office/drawing/2014/main" id="{D84EB0E2-5F9E-466C-A208-0A6E2EC634C3}"/>
              </a:ext>
            </a:extLst>
          </p:cNvPr>
          <p:cNvSpPr txBox="1"/>
          <p:nvPr/>
        </p:nvSpPr>
        <p:spPr>
          <a:xfrm>
            <a:off x="6182137" y="4664006"/>
            <a:ext cx="2425574" cy="313932"/>
          </a:xfrm>
          <a:prstGeom prst="rect">
            <a:avLst/>
          </a:prstGeom>
          <a:noFill/>
        </p:spPr>
        <p:txBody>
          <a:bodyPr wrap="square" anchor="ctr">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720" b="0" i="0">
                <a:latin typeface="Calibri"/>
              </a:rPr>
              <a:t>Carousel generated 11 orders vs. 5 for the single image, with similar engagement across formats.</a:t>
            </a:r>
          </a:p>
        </p:txBody>
      </p:sp>
      <p:sp>
        <p:nvSpPr>
          <p:cNvPr id="262" name="Rounded Rectangle 104">
            <a:extLst>
              <a:ext uri="{FF2B5EF4-FFF2-40B4-BE49-F238E27FC236}">
                <a16:creationId xmlns:a16="http://schemas.microsoft.com/office/drawing/2014/main" id="{14887B40-85B9-4A60-B03A-06CCDA6E361F}"/>
              </a:ext>
            </a:extLst>
          </p:cNvPr>
          <p:cNvSpPr/>
          <p:nvPr/>
        </p:nvSpPr>
        <p:spPr>
          <a:xfrm>
            <a:off x="5359177" y="5104436"/>
            <a:ext cx="3547872" cy="438912"/>
          </a:xfrm>
          <a:prstGeom prst="roundRect">
            <a:avLst/>
          </a:prstGeom>
          <a:solidFill>
            <a:srgbClr val="EFF4FA"/>
          </a:solidFill>
          <a:ln w="8890">
            <a:solidFill>
              <a:srgbClr val="CDD8E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63" name="TextBox 105">
            <a:extLst>
              <a:ext uri="{FF2B5EF4-FFF2-40B4-BE49-F238E27FC236}">
                <a16:creationId xmlns:a16="http://schemas.microsoft.com/office/drawing/2014/main" id="{40566DBF-7CE2-4CC5-8812-5C7DAC36536E}"/>
              </a:ext>
            </a:extLst>
          </p:cNvPr>
          <p:cNvSpPr txBox="1"/>
          <p:nvPr/>
        </p:nvSpPr>
        <p:spPr>
          <a:xfrm>
            <a:off x="5498692" y="5271636"/>
            <a:ext cx="658368" cy="146304"/>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prstClr val="black"/>
                </a:solidFill>
                <a:effectLst/>
                <a:uLnTx/>
                <a:uFillTx/>
                <a:latin typeface="Calibri"/>
                <a:ea typeface="+mn-ea"/>
                <a:cs typeface="+mn-cs"/>
              </a:rPr>
              <a:t>1,7x RECEITA</a:t>
            </a:r>
          </a:p>
        </p:txBody>
      </p:sp>
      <p:sp>
        <p:nvSpPr>
          <p:cNvPr id="264" name="TextBox 106">
            <a:extLst>
              <a:ext uri="{FF2B5EF4-FFF2-40B4-BE49-F238E27FC236}">
                <a16:creationId xmlns:a16="http://schemas.microsoft.com/office/drawing/2014/main" id="{D17891E5-7276-464B-B58B-0E5105F43D11}"/>
              </a:ext>
            </a:extLst>
          </p:cNvPr>
          <p:cNvSpPr txBox="1"/>
          <p:nvPr/>
        </p:nvSpPr>
        <p:spPr>
          <a:xfrm>
            <a:off x="6182137" y="5166926"/>
            <a:ext cx="2660610" cy="313932"/>
          </a:xfrm>
          <a:prstGeom prst="rect">
            <a:avLst/>
          </a:prstGeom>
          <a:noFill/>
        </p:spPr>
        <p:txBody>
          <a:bodyPr wrap="square" anchor="ctr">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720" b="0" i="0">
                <a:latin typeface="Calibri"/>
              </a:rPr>
              <a:t>R$57.3K vs. R$34.6K. The gain came mainly after the click, with stronger conversion efficiency.</a:t>
            </a:r>
          </a:p>
        </p:txBody>
      </p:sp>
      <p:sp>
        <p:nvSpPr>
          <p:cNvPr id="265" name="Rounded Rectangle 107">
            <a:extLst>
              <a:ext uri="{FF2B5EF4-FFF2-40B4-BE49-F238E27FC236}">
                <a16:creationId xmlns:a16="http://schemas.microsoft.com/office/drawing/2014/main" id="{584862FA-3A61-4C47-BEAE-AA7B4382B1A2}"/>
              </a:ext>
            </a:extLst>
          </p:cNvPr>
          <p:cNvSpPr/>
          <p:nvPr/>
        </p:nvSpPr>
        <p:spPr>
          <a:xfrm>
            <a:off x="5359177" y="5607356"/>
            <a:ext cx="3547872" cy="438912"/>
          </a:xfrm>
          <a:prstGeom prst="roundRect">
            <a:avLst/>
          </a:prstGeom>
          <a:solidFill>
            <a:srgbClr val="FFF6EA"/>
          </a:solidFill>
          <a:ln w="8890">
            <a:solidFill>
              <a:srgbClr val="EBA55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66" name="TextBox 108">
            <a:extLst>
              <a:ext uri="{FF2B5EF4-FFF2-40B4-BE49-F238E27FC236}">
                <a16:creationId xmlns:a16="http://schemas.microsoft.com/office/drawing/2014/main" id="{8494F720-AE23-4D6E-AD85-8A7F25DC7172}"/>
              </a:ext>
            </a:extLst>
          </p:cNvPr>
          <p:cNvSpPr txBox="1"/>
          <p:nvPr/>
        </p:nvSpPr>
        <p:spPr>
          <a:xfrm>
            <a:off x="5477709" y="5746316"/>
            <a:ext cx="749808" cy="146304"/>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prstClr val="black"/>
                </a:solidFill>
                <a:effectLst/>
                <a:uLnTx/>
                <a:uFillTx/>
                <a:latin typeface="Calibri"/>
                <a:ea typeface="+mn-ea"/>
                <a:cs typeface="+mn-cs"/>
              </a:rPr>
              <a:t>KEY LEARNING</a:t>
            </a:r>
          </a:p>
        </p:txBody>
      </p:sp>
      <p:sp>
        <p:nvSpPr>
          <p:cNvPr id="267" name="TextBox 109">
            <a:extLst>
              <a:ext uri="{FF2B5EF4-FFF2-40B4-BE49-F238E27FC236}">
                <a16:creationId xmlns:a16="http://schemas.microsoft.com/office/drawing/2014/main" id="{EF8A8873-6C72-4F3F-892D-0017696DA777}"/>
              </a:ext>
            </a:extLst>
          </p:cNvPr>
          <p:cNvSpPr txBox="1"/>
          <p:nvPr/>
        </p:nvSpPr>
        <p:spPr>
          <a:xfrm>
            <a:off x="6182137" y="5647030"/>
            <a:ext cx="2557194" cy="304699"/>
          </a:xfrm>
          <a:prstGeom prst="rect">
            <a:avLst/>
          </a:prstGeom>
          <a:noFill/>
        </p:spPr>
        <p:txBody>
          <a:bodyPr wrap="square" anchor="ctr">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90" b="0" i="0">
                <a:latin typeface="Calibri"/>
              </a:rPr>
              <a:t>Order/Visit was 2.2x higher (0.45% vs. 0.21%), indicating that broader product exploration helped turn interest into purchase.</a:t>
            </a:r>
          </a:p>
        </p:txBody>
      </p:sp>
      <p:grpSp>
        <p:nvGrpSpPr>
          <p:cNvPr id="269" name="Agrupar 268">
            <a:extLst>
              <a:ext uri="{FF2B5EF4-FFF2-40B4-BE49-F238E27FC236}">
                <a16:creationId xmlns:a16="http://schemas.microsoft.com/office/drawing/2014/main" id="{A6D38CFE-4385-43E7-8453-55445AFFF3FE}"/>
              </a:ext>
            </a:extLst>
          </p:cNvPr>
          <p:cNvGrpSpPr/>
          <p:nvPr/>
        </p:nvGrpSpPr>
        <p:grpSpPr>
          <a:xfrm>
            <a:off x="9390105" y="4296941"/>
            <a:ext cx="1837657" cy="1860701"/>
            <a:chOff x="8180391" y="2346051"/>
            <a:chExt cx="3737999" cy="3784874"/>
          </a:xfrm>
        </p:grpSpPr>
        <p:grpSp>
          <p:nvGrpSpPr>
            <p:cNvPr id="270" name="Agrupar 269">
              <a:extLst>
                <a:ext uri="{FF2B5EF4-FFF2-40B4-BE49-F238E27FC236}">
                  <a16:creationId xmlns:a16="http://schemas.microsoft.com/office/drawing/2014/main" id="{1C7D9692-5383-4457-9DFE-88EC3BE0499D}"/>
                </a:ext>
              </a:extLst>
            </p:cNvPr>
            <p:cNvGrpSpPr/>
            <p:nvPr/>
          </p:nvGrpSpPr>
          <p:grpSpPr>
            <a:xfrm>
              <a:off x="8180391" y="2346051"/>
              <a:ext cx="3737999" cy="3784874"/>
              <a:chOff x="8180391" y="2346051"/>
              <a:chExt cx="3737999" cy="3784874"/>
            </a:xfrm>
          </p:grpSpPr>
          <p:pic>
            <p:nvPicPr>
              <p:cNvPr id="272" name="Imagem 271">
                <a:extLst>
                  <a:ext uri="{FF2B5EF4-FFF2-40B4-BE49-F238E27FC236}">
                    <a16:creationId xmlns:a16="http://schemas.microsoft.com/office/drawing/2014/main" id="{DB453D98-41CD-46B3-B137-E0C39BA1C980}"/>
                  </a:ext>
                </a:extLst>
              </p:cNvPr>
              <p:cNvPicPr>
                <a:picLocks noChangeAspect="1"/>
              </p:cNvPicPr>
              <p:nvPr/>
            </p:nvPicPr>
            <p:blipFill rotWithShape="1">
              <a:blip r:embed="rId2"/>
              <a:srcRect r="55056" b="31739"/>
              <a:stretch/>
            </p:blipFill>
            <p:spPr>
              <a:xfrm>
                <a:off x="8180391" y="2346051"/>
                <a:ext cx="3737999" cy="3784874"/>
              </a:xfrm>
              <a:prstGeom prst="rect">
                <a:avLst/>
              </a:prstGeom>
            </p:spPr>
          </p:pic>
          <p:grpSp>
            <p:nvGrpSpPr>
              <p:cNvPr id="273" name="Agrupar 272">
                <a:extLst>
                  <a:ext uri="{FF2B5EF4-FFF2-40B4-BE49-F238E27FC236}">
                    <a16:creationId xmlns:a16="http://schemas.microsoft.com/office/drawing/2014/main" id="{8F669505-31D8-4C1D-9BF4-0794C5CEF1D3}"/>
                  </a:ext>
                </a:extLst>
              </p:cNvPr>
              <p:cNvGrpSpPr/>
              <p:nvPr/>
            </p:nvGrpSpPr>
            <p:grpSpPr>
              <a:xfrm>
                <a:off x="8553450" y="2764155"/>
                <a:ext cx="810503" cy="215265"/>
                <a:chOff x="8553450" y="2764155"/>
                <a:chExt cx="810503" cy="215265"/>
              </a:xfrm>
            </p:grpSpPr>
            <p:sp>
              <p:nvSpPr>
                <p:cNvPr id="277" name="Retângulo 276">
                  <a:extLst>
                    <a:ext uri="{FF2B5EF4-FFF2-40B4-BE49-F238E27FC236}">
                      <a16:creationId xmlns:a16="http://schemas.microsoft.com/office/drawing/2014/main" id="{3F223882-FF8A-406D-AF52-40104AB05D79}"/>
                    </a:ext>
                  </a:extLst>
                </p:cNvPr>
                <p:cNvSpPr/>
                <p:nvPr/>
              </p:nvSpPr>
              <p:spPr>
                <a:xfrm>
                  <a:off x="8553450" y="2764155"/>
                  <a:ext cx="784860" cy="215265"/>
                </a:xfrm>
                <a:prstGeom prst="rect">
                  <a:avLst/>
                </a:prstGeom>
                <a:solidFill>
                  <a:srgbClr val="F7F5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a:ea typeface="+mn-ea"/>
                    <a:cs typeface="+mn-cs"/>
                  </a:endParaRPr>
                </a:p>
              </p:txBody>
            </p:sp>
            <p:pic>
              <p:nvPicPr>
                <p:cNvPr id="278" name="Imagem 277">
                  <a:extLst>
                    <a:ext uri="{FF2B5EF4-FFF2-40B4-BE49-F238E27FC236}">
                      <a16:creationId xmlns:a16="http://schemas.microsoft.com/office/drawing/2014/main" id="{7B2C11E6-7EBD-4C4E-974C-0CC0B79EC62E}"/>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8566785" y="2764155"/>
                  <a:ext cx="797168" cy="183680"/>
                </a:xfrm>
                <a:prstGeom prst="rect">
                  <a:avLst/>
                </a:prstGeom>
              </p:spPr>
            </p:pic>
          </p:grpSp>
          <p:grpSp>
            <p:nvGrpSpPr>
              <p:cNvPr id="274" name="Agrupar 273">
                <a:extLst>
                  <a:ext uri="{FF2B5EF4-FFF2-40B4-BE49-F238E27FC236}">
                    <a16:creationId xmlns:a16="http://schemas.microsoft.com/office/drawing/2014/main" id="{322D2D4B-5E98-45A5-9868-ED8891A8D3BE}"/>
                  </a:ext>
                </a:extLst>
              </p:cNvPr>
              <p:cNvGrpSpPr/>
              <p:nvPr/>
            </p:nvGrpSpPr>
            <p:grpSpPr>
              <a:xfrm>
                <a:off x="10344150" y="2764155"/>
                <a:ext cx="810503" cy="215265"/>
                <a:chOff x="8553450" y="2764155"/>
                <a:chExt cx="810503" cy="215265"/>
              </a:xfrm>
            </p:grpSpPr>
            <p:sp>
              <p:nvSpPr>
                <p:cNvPr id="275" name="Retângulo 274">
                  <a:extLst>
                    <a:ext uri="{FF2B5EF4-FFF2-40B4-BE49-F238E27FC236}">
                      <a16:creationId xmlns:a16="http://schemas.microsoft.com/office/drawing/2014/main" id="{969ACCC5-D261-4122-B1B8-F62200573FCD}"/>
                    </a:ext>
                  </a:extLst>
                </p:cNvPr>
                <p:cNvSpPr/>
                <p:nvPr/>
              </p:nvSpPr>
              <p:spPr>
                <a:xfrm>
                  <a:off x="8553450" y="2764155"/>
                  <a:ext cx="784860" cy="215265"/>
                </a:xfrm>
                <a:prstGeom prst="rect">
                  <a:avLst/>
                </a:prstGeom>
                <a:solidFill>
                  <a:srgbClr val="F7F5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a:ea typeface="+mn-ea"/>
                    <a:cs typeface="+mn-cs"/>
                  </a:endParaRPr>
                </a:p>
              </p:txBody>
            </p:sp>
            <p:pic>
              <p:nvPicPr>
                <p:cNvPr id="276" name="Imagem 275">
                  <a:extLst>
                    <a:ext uri="{FF2B5EF4-FFF2-40B4-BE49-F238E27FC236}">
                      <a16:creationId xmlns:a16="http://schemas.microsoft.com/office/drawing/2014/main" id="{486896A8-BCDF-49E6-904C-359066715C24}"/>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8566785" y="2764155"/>
                  <a:ext cx="797168" cy="183680"/>
                </a:xfrm>
                <a:prstGeom prst="rect">
                  <a:avLst/>
                </a:prstGeom>
              </p:spPr>
            </p:pic>
          </p:grpSp>
        </p:grpSp>
        <p:pic>
          <p:nvPicPr>
            <p:cNvPr id="271" name="Imagem 270">
              <a:extLst>
                <a:ext uri="{FF2B5EF4-FFF2-40B4-BE49-F238E27FC236}">
                  <a16:creationId xmlns:a16="http://schemas.microsoft.com/office/drawing/2014/main" id="{6AF50136-D5A3-4D3E-BE9B-16D0926990A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78618" y="4327524"/>
              <a:ext cx="1611202" cy="1269366"/>
            </a:xfrm>
            <a:prstGeom prst="rect">
              <a:avLst/>
            </a:prstGeom>
          </p:spPr>
        </p:pic>
      </p:grpSp>
      <p:pic>
        <p:nvPicPr>
          <p:cNvPr id="6" name="Imagem 5">
            <a:extLst>
              <a:ext uri="{FF2B5EF4-FFF2-40B4-BE49-F238E27FC236}">
                <a16:creationId xmlns:a16="http://schemas.microsoft.com/office/drawing/2014/main" id="{1D103E12-0167-4775-A971-C6B116B5237B}"/>
              </a:ext>
            </a:extLst>
          </p:cNvPr>
          <p:cNvPicPr>
            <a:picLocks noChangeAspect="1"/>
          </p:cNvPicPr>
          <p:nvPr/>
        </p:nvPicPr>
        <p:blipFill>
          <a:blip r:embed="rId5"/>
          <a:stretch>
            <a:fillRect/>
          </a:stretch>
        </p:blipFill>
        <p:spPr>
          <a:xfrm>
            <a:off x="434119" y="2126754"/>
            <a:ext cx="4409485" cy="828613"/>
          </a:xfrm>
          <a:prstGeom prst="rect">
            <a:avLst/>
          </a:prstGeom>
        </p:spPr>
      </p:pic>
      <p:sp>
        <p:nvSpPr>
          <p:cNvPr id="291" name="Rounded Rectangle 55">
            <a:extLst>
              <a:ext uri="{FF2B5EF4-FFF2-40B4-BE49-F238E27FC236}">
                <a16:creationId xmlns:a16="http://schemas.microsoft.com/office/drawing/2014/main" id="{A4BFA149-C7EC-4EC5-AAF9-4B414E2D4274}"/>
              </a:ext>
            </a:extLst>
          </p:cNvPr>
          <p:cNvSpPr/>
          <p:nvPr/>
        </p:nvSpPr>
        <p:spPr>
          <a:xfrm>
            <a:off x="434119" y="4916790"/>
            <a:ext cx="4442002" cy="320040"/>
          </a:xfrm>
          <a:prstGeom prst="roundRect">
            <a:avLst/>
          </a:prstGeom>
          <a:solidFill>
            <a:srgbClr val="F7F9FC"/>
          </a:solidFill>
          <a:ln w="8890">
            <a:solidFill>
              <a:srgbClr val="CDD8E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92" name="TextBox 56">
            <a:extLst>
              <a:ext uri="{FF2B5EF4-FFF2-40B4-BE49-F238E27FC236}">
                <a16:creationId xmlns:a16="http://schemas.microsoft.com/office/drawing/2014/main" id="{CA78E2D0-E317-4F7B-90AE-05C06C44B558}"/>
              </a:ext>
            </a:extLst>
          </p:cNvPr>
          <p:cNvSpPr txBox="1"/>
          <p:nvPr/>
        </p:nvSpPr>
        <p:spPr>
          <a:xfrm>
            <a:off x="467647" y="4935078"/>
            <a:ext cx="786384" cy="274320"/>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19" b="1" i="0" u="none" strike="noStrike" kern="1200" cap="none" spc="0" normalizeH="0" baseline="0" noProof="0">
                <a:ln>
                  <a:noFill/>
                </a:ln>
                <a:solidFill>
                  <a:srgbClr val="093165"/>
                </a:solidFill>
                <a:effectLst/>
                <a:uLnTx/>
                <a:uFillTx/>
                <a:latin typeface="Arial"/>
                <a:ea typeface="+mn-ea"/>
                <a:cs typeface="+mn-cs"/>
              </a:rPr>
              <a:t>E-MAIL</a:t>
            </a:r>
          </a:p>
        </p:txBody>
      </p:sp>
      <p:sp>
        <p:nvSpPr>
          <p:cNvPr id="293" name="TextBox 57">
            <a:extLst>
              <a:ext uri="{FF2B5EF4-FFF2-40B4-BE49-F238E27FC236}">
                <a16:creationId xmlns:a16="http://schemas.microsoft.com/office/drawing/2014/main" id="{1E04D546-A9F0-4FD1-B81F-8B8ADBEDFD31}"/>
              </a:ext>
            </a:extLst>
          </p:cNvPr>
          <p:cNvSpPr txBox="1"/>
          <p:nvPr/>
        </p:nvSpPr>
        <p:spPr>
          <a:xfrm>
            <a:off x="1273081" y="4973749"/>
            <a:ext cx="987552" cy="196977"/>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680" b="1" i="0" u="none" strike="noStrike" kern="1200" cap="none" spc="0" normalizeH="0" baseline="0" noProof="0">
                <a:ln>
                  <a:noFill/>
                </a:ln>
                <a:solidFill>
                  <a:srgbClr val="1B58AA"/>
                </a:solidFill>
                <a:effectLst/>
                <a:uLnTx/>
                <a:uFillTx/>
                <a:latin typeface="Arial"/>
                <a:ea typeface="+mn-ea"/>
                <a:cs typeface="+mn-cs"/>
              </a:rPr>
              <a:t>REVENUE DRIVER</a:t>
            </a:r>
          </a:p>
        </p:txBody>
      </p:sp>
      <p:sp>
        <p:nvSpPr>
          <p:cNvPr id="294" name="TextBox 58">
            <a:extLst>
              <a:ext uri="{FF2B5EF4-FFF2-40B4-BE49-F238E27FC236}">
                <a16:creationId xmlns:a16="http://schemas.microsoft.com/office/drawing/2014/main" id="{27F61270-70E2-4AF6-93F3-0C240A7CF4EA}"/>
              </a:ext>
            </a:extLst>
          </p:cNvPr>
          <p:cNvSpPr txBox="1"/>
          <p:nvPr/>
        </p:nvSpPr>
        <p:spPr>
          <a:xfrm>
            <a:off x="2087166" y="4931159"/>
            <a:ext cx="2120905" cy="307777"/>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Calibri"/>
                <a:ea typeface="+mn-ea"/>
                <a:cs typeface="+mn-cs"/>
              </a:rPr>
              <a:t>Top-performing channel, driven by HR Visitors and the cross-Growth strategy.</a:t>
            </a:r>
          </a:p>
        </p:txBody>
      </p:sp>
      <p:sp>
        <p:nvSpPr>
          <p:cNvPr id="295" name="TextBox 59">
            <a:extLst>
              <a:ext uri="{FF2B5EF4-FFF2-40B4-BE49-F238E27FC236}">
                <a16:creationId xmlns:a16="http://schemas.microsoft.com/office/drawing/2014/main" id="{4237B964-0A81-40E8-A607-6C80802639EC}"/>
              </a:ext>
            </a:extLst>
          </p:cNvPr>
          <p:cNvSpPr txBox="1"/>
          <p:nvPr/>
        </p:nvSpPr>
        <p:spPr>
          <a:xfrm>
            <a:off x="4090576" y="4918350"/>
            <a:ext cx="753028" cy="307777"/>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008C4B"/>
                </a:solidFill>
                <a:effectLst/>
                <a:uLnTx/>
                <a:uFillTx/>
                <a:latin typeface="Arial"/>
                <a:ea typeface="+mn-ea"/>
                <a:cs typeface="+mn-cs"/>
              </a:rPr>
              <a:t>2,9x vs. N-1  1,4x A/R</a:t>
            </a:r>
          </a:p>
        </p:txBody>
      </p:sp>
      <p:sp>
        <p:nvSpPr>
          <p:cNvPr id="296" name="Rounded Rectangle 60">
            <a:extLst>
              <a:ext uri="{FF2B5EF4-FFF2-40B4-BE49-F238E27FC236}">
                <a16:creationId xmlns:a16="http://schemas.microsoft.com/office/drawing/2014/main" id="{887B5134-67D4-4676-91A6-83BE09D27B8D}"/>
              </a:ext>
            </a:extLst>
          </p:cNvPr>
          <p:cNvSpPr/>
          <p:nvPr/>
        </p:nvSpPr>
        <p:spPr>
          <a:xfrm>
            <a:off x="434119" y="5273406"/>
            <a:ext cx="4442002" cy="320040"/>
          </a:xfrm>
          <a:prstGeom prst="roundRect">
            <a:avLst/>
          </a:prstGeom>
          <a:solidFill>
            <a:srgbClr val="F7F9FC"/>
          </a:solidFill>
          <a:ln w="8890">
            <a:solidFill>
              <a:srgbClr val="CDD8E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97" name="TextBox 61">
            <a:extLst>
              <a:ext uri="{FF2B5EF4-FFF2-40B4-BE49-F238E27FC236}">
                <a16:creationId xmlns:a16="http://schemas.microsoft.com/office/drawing/2014/main" id="{4682B965-A623-4375-BDCB-806B2C7C9AC7}"/>
              </a:ext>
            </a:extLst>
          </p:cNvPr>
          <p:cNvSpPr txBox="1"/>
          <p:nvPr/>
        </p:nvSpPr>
        <p:spPr>
          <a:xfrm>
            <a:off x="467647" y="5291694"/>
            <a:ext cx="786384" cy="274320"/>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19" b="1" i="0" u="none" strike="noStrike" kern="1200" cap="none" spc="0" normalizeH="0" baseline="0" noProof="0">
                <a:ln>
                  <a:noFill/>
                </a:ln>
                <a:solidFill>
                  <a:srgbClr val="093165"/>
                </a:solidFill>
                <a:effectLst/>
                <a:uLnTx/>
                <a:uFillTx/>
                <a:latin typeface="Arial"/>
                <a:ea typeface="+mn-ea"/>
                <a:cs typeface="+mn-cs"/>
              </a:rPr>
              <a:t>PUSH DEVICE</a:t>
            </a:r>
          </a:p>
        </p:txBody>
      </p:sp>
      <p:sp>
        <p:nvSpPr>
          <p:cNvPr id="298" name="TextBox 62">
            <a:extLst>
              <a:ext uri="{FF2B5EF4-FFF2-40B4-BE49-F238E27FC236}">
                <a16:creationId xmlns:a16="http://schemas.microsoft.com/office/drawing/2014/main" id="{254355BD-D95C-433D-B574-081300D05F38}"/>
              </a:ext>
            </a:extLst>
          </p:cNvPr>
          <p:cNvSpPr txBox="1"/>
          <p:nvPr/>
        </p:nvSpPr>
        <p:spPr>
          <a:xfrm>
            <a:off x="1273081" y="5330365"/>
            <a:ext cx="987552" cy="196977"/>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680" b="1" i="0" u="none" strike="noStrike" kern="1200" cap="none" spc="0" normalizeH="0" baseline="0" noProof="0">
                <a:ln>
                  <a:noFill/>
                </a:ln>
                <a:solidFill>
                  <a:srgbClr val="1B58AA"/>
                </a:solidFill>
                <a:effectLst/>
                <a:uLnTx/>
                <a:uFillTx/>
                <a:latin typeface="Arial"/>
                <a:ea typeface="+mn-ea"/>
                <a:cs typeface="+mn-cs"/>
              </a:rPr>
              <a:t>EFFICIENCY</a:t>
            </a:r>
          </a:p>
        </p:txBody>
      </p:sp>
      <p:sp>
        <p:nvSpPr>
          <p:cNvPr id="300" name="TextBox 64">
            <a:extLst>
              <a:ext uri="{FF2B5EF4-FFF2-40B4-BE49-F238E27FC236}">
                <a16:creationId xmlns:a16="http://schemas.microsoft.com/office/drawing/2014/main" id="{9E7D4C50-718B-443E-8ADB-6CB5A8A56ED5}"/>
              </a:ext>
            </a:extLst>
          </p:cNvPr>
          <p:cNvSpPr txBox="1"/>
          <p:nvPr/>
        </p:nvSpPr>
        <p:spPr>
          <a:xfrm>
            <a:off x="4090576" y="5274966"/>
            <a:ext cx="753028" cy="307777"/>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700" b="1" i="0" u="none" strike="noStrike" kern="1200" cap="none" spc="0" normalizeH="0" baseline="0" noProof="0">
                <a:ln>
                  <a:noFill/>
                </a:ln>
                <a:solidFill>
                  <a:srgbClr val="008C4B"/>
                </a:solidFill>
                <a:effectLst/>
                <a:uLnTx/>
                <a:uFillTx/>
                <a:latin typeface="Arial"/>
                <a:ea typeface="+mn-ea"/>
                <a:cs typeface="+mn-cs"/>
              </a:rPr>
              <a:t>EFFICIENCY ↑ vs. N-1 </a:t>
            </a:r>
          </a:p>
        </p:txBody>
      </p:sp>
      <p:sp>
        <p:nvSpPr>
          <p:cNvPr id="301" name="Rounded Rectangle 65">
            <a:extLst>
              <a:ext uri="{FF2B5EF4-FFF2-40B4-BE49-F238E27FC236}">
                <a16:creationId xmlns:a16="http://schemas.microsoft.com/office/drawing/2014/main" id="{9DFCB369-9C12-44C4-94AD-2D1AD16740CD}"/>
              </a:ext>
            </a:extLst>
          </p:cNvPr>
          <p:cNvSpPr/>
          <p:nvPr/>
        </p:nvSpPr>
        <p:spPr>
          <a:xfrm>
            <a:off x="434119" y="5630022"/>
            <a:ext cx="4442002" cy="320040"/>
          </a:xfrm>
          <a:prstGeom prst="roundRect">
            <a:avLst/>
          </a:prstGeom>
          <a:solidFill>
            <a:srgbClr val="F7F9FC"/>
          </a:solidFill>
          <a:ln w="8890">
            <a:solidFill>
              <a:srgbClr val="CDD8E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2" name="TextBox 66">
            <a:extLst>
              <a:ext uri="{FF2B5EF4-FFF2-40B4-BE49-F238E27FC236}">
                <a16:creationId xmlns:a16="http://schemas.microsoft.com/office/drawing/2014/main" id="{4FE491E2-7AC5-4108-A9C9-FDC37A4C439E}"/>
              </a:ext>
            </a:extLst>
          </p:cNvPr>
          <p:cNvSpPr txBox="1"/>
          <p:nvPr/>
        </p:nvSpPr>
        <p:spPr>
          <a:xfrm>
            <a:off x="467647" y="5648310"/>
            <a:ext cx="786384" cy="274320"/>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19" b="1" i="0" u="none" strike="noStrike" kern="1200" cap="none" spc="0" normalizeH="0" baseline="0" noProof="0">
                <a:ln>
                  <a:noFill/>
                </a:ln>
                <a:solidFill>
                  <a:srgbClr val="093165"/>
                </a:solidFill>
                <a:effectLst/>
                <a:uLnTx/>
                <a:uFillTx/>
                <a:latin typeface="Arial"/>
                <a:ea typeface="+mn-ea"/>
                <a:cs typeface="+mn-cs"/>
              </a:rPr>
              <a:t>APP PUSH</a:t>
            </a:r>
          </a:p>
        </p:txBody>
      </p:sp>
      <p:sp>
        <p:nvSpPr>
          <p:cNvPr id="303" name="TextBox 67">
            <a:extLst>
              <a:ext uri="{FF2B5EF4-FFF2-40B4-BE49-F238E27FC236}">
                <a16:creationId xmlns:a16="http://schemas.microsoft.com/office/drawing/2014/main" id="{42099B01-1B42-478E-91A2-70B406EC4D85}"/>
              </a:ext>
            </a:extLst>
          </p:cNvPr>
          <p:cNvSpPr txBox="1"/>
          <p:nvPr/>
        </p:nvSpPr>
        <p:spPr>
          <a:xfrm>
            <a:off x="1273081" y="5686981"/>
            <a:ext cx="987552" cy="196977"/>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680" b="1" i="0" u="none" strike="noStrike" kern="1200" cap="none" spc="0" normalizeH="0" baseline="0" noProof="0">
                <a:ln>
                  <a:noFill/>
                </a:ln>
                <a:solidFill>
                  <a:srgbClr val="D22D2D"/>
                </a:solidFill>
                <a:effectLst/>
                <a:uLnTx/>
                <a:uFillTx/>
                <a:latin typeface="Arial"/>
                <a:ea typeface="+mn-ea"/>
                <a:cs typeface="+mn-cs"/>
              </a:rPr>
              <a:t>MAIN GAP</a:t>
            </a:r>
          </a:p>
        </p:txBody>
      </p:sp>
      <p:sp>
        <p:nvSpPr>
          <p:cNvPr id="305" name="TextBox 69">
            <a:extLst>
              <a:ext uri="{FF2B5EF4-FFF2-40B4-BE49-F238E27FC236}">
                <a16:creationId xmlns:a16="http://schemas.microsoft.com/office/drawing/2014/main" id="{E46931B9-015B-406F-AC3B-20D6FE936D4B}"/>
              </a:ext>
            </a:extLst>
          </p:cNvPr>
          <p:cNvSpPr txBox="1"/>
          <p:nvPr/>
        </p:nvSpPr>
        <p:spPr>
          <a:xfrm>
            <a:off x="4057220" y="5631582"/>
            <a:ext cx="786384" cy="307777"/>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700" b="1" i="0" u="none" strike="noStrike" kern="1200" cap="none" spc="0" normalizeH="0" baseline="0" noProof="0">
                <a:ln>
                  <a:noFill/>
                </a:ln>
                <a:solidFill>
                  <a:srgbClr val="D22D2D"/>
                </a:solidFill>
                <a:effectLst/>
                <a:uLnTx/>
                <a:uFillTx/>
                <a:latin typeface="Arial"/>
                <a:ea typeface="+mn-ea"/>
                <a:cs typeface="+mn-cs"/>
              </a:rPr>
              <a:t>BELOW N-1 / TARGET</a:t>
            </a:r>
          </a:p>
        </p:txBody>
      </p:sp>
      <p:sp>
        <p:nvSpPr>
          <p:cNvPr id="306" name="Rounded Rectangle 70">
            <a:extLst>
              <a:ext uri="{FF2B5EF4-FFF2-40B4-BE49-F238E27FC236}">
                <a16:creationId xmlns:a16="http://schemas.microsoft.com/office/drawing/2014/main" id="{868943E7-1F6A-4FEB-91D4-9826AE0D8AB8}"/>
              </a:ext>
            </a:extLst>
          </p:cNvPr>
          <p:cNvSpPr/>
          <p:nvPr/>
        </p:nvSpPr>
        <p:spPr>
          <a:xfrm>
            <a:off x="434119" y="5986638"/>
            <a:ext cx="4442002" cy="320040"/>
          </a:xfrm>
          <a:prstGeom prst="roundRect">
            <a:avLst/>
          </a:prstGeom>
          <a:solidFill>
            <a:srgbClr val="F7F9FC"/>
          </a:solidFill>
          <a:ln w="8890">
            <a:solidFill>
              <a:srgbClr val="CDD8E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7" name="TextBox 71">
            <a:extLst>
              <a:ext uri="{FF2B5EF4-FFF2-40B4-BE49-F238E27FC236}">
                <a16:creationId xmlns:a16="http://schemas.microsoft.com/office/drawing/2014/main" id="{1324B9F1-DD8B-4EDE-8DF3-2027476CFFCC}"/>
              </a:ext>
            </a:extLst>
          </p:cNvPr>
          <p:cNvSpPr txBox="1"/>
          <p:nvPr/>
        </p:nvSpPr>
        <p:spPr>
          <a:xfrm>
            <a:off x="467647" y="6004926"/>
            <a:ext cx="786384" cy="274320"/>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19" b="1" i="0" u="none" strike="noStrike" kern="1200" cap="none" spc="0" normalizeH="0" baseline="0" noProof="0">
                <a:ln>
                  <a:noFill/>
                </a:ln>
                <a:solidFill>
                  <a:srgbClr val="093165"/>
                </a:solidFill>
                <a:effectLst/>
                <a:uLnTx/>
                <a:uFillTx/>
                <a:latin typeface="Arial"/>
                <a:ea typeface="+mn-ea"/>
                <a:cs typeface="+mn-cs"/>
              </a:rPr>
              <a:t>WHATSAPP</a:t>
            </a:r>
          </a:p>
        </p:txBody>
      </p:sp>
      <p:sp>
        <p:nvSpPr>
          <p:cNvPr id="308" name="TextBox 72">
            <a:extLst>
              <a:ext uri="{FF2B5EF4-FFF2-40B4-BE49-F238E27FC236}">
                <a16:creationId xmlns:a16="http://schemas.microsoft.com/office/drawing/2014/main" id="{5DED944C-6CFF-47BF-89B4-D3E7A713719C}"/>
              </a:ext>
            </a:extLst>
          </p:cNvPr>
          <p:cNvSpPr txBox="1"/>
          <p:nvPr/>
        </p:nvSpPr>
        <p:spPr>
          <a:xfrm>
            <a:off x="1273081" y="5991276"/>
            <a:ext cx="987552" cy="301621"/>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680" b="1" i="0" u="none" strike="noStrike" kern="1200" cap="none" spc="0" normalizeH="0" baseline="0" noProof="0">
                <a:ln>
                  <a:noFill/>
                </a:ln>
                <a:solidFill>
                  <a:srgbClr val="1B58AA"/>
                </a:solidFill>
                <a:effectLst/>
                <a:uLnTx/>
                <a:uFillTx/>
                <a:latin typeface="Arial"/>
                <a:ea typeface="+mn-ea"/>
                <a:cs typeface="+mn-cs"/>
              </a:rPr>
              <a:t>BOTTOM OF FUNNEL</a:t>
            </a:r>
          </a:p>
        </p:txBody>
      </p:sp>
      <p:sp>
        <p:nvSpPr>
          <p:cNvPr id="310" name="TextBox 74">
            <a:extLst>
              <a:ext uri="{FF2B5EF4-FFF2-40B4-BE49-F238E27FC236}">
                <a16:creationId xmlns:a16="http://schemas.microsoft.com/office/drawing/2014/main" id="{96CB6EEE-295F-4D38-B291-3EF7212CBF0F}"/>
              </a:ext>
            </a:extLst>
          </p:cNvPr>
          <p:cNvSpPr txBox="1"/>
          <p:nvPr/>
        </p:nvSpPr>
        <p:spPr>
          <a:xfrm>
            <a:off x="4090576" y="5988198"/>
            <a:ext cx="753028" cy="307777"/>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008C4B"/>
                </a:solidFill>
                <a:effectLst/>
                <a:uLnTx/>
                <a:uFillTx/>
                <a:latin typeface="Arial"/>
                <a:ea typeface="+mn-ea"/>
                <a:cs typeface="+mn-cs"/>
              </a:rPr>
              <a:t>R$263K | ROI 89%</a:t>
            </a:r>
          </a:p>
        </p:txBody>
      </p:sp>
      <p:sp>
        <p:nvSpPr>
          <p:cNvPr id="311" name="TextBox 75">
            <a:extLst>
              <a:ext uri="{FF2B5EF4-FFF2-40B4-BE49-F238E27FC236}">
                <a16:creationId xmlns:a16="http://schemas.microsoft.com/office/drawing/2014/main" id="{C3969D3F-26D2-459A-AEAD-6DA9360CAB9F}"/>
              </a:ext>
            </a:extLst>
          </p:cNvPr>
          <p:cNvSpPr txBox="1"/>
          <p:nvPr/>
        </p:nvSpPr>
        <p:spPr>
          <a:xfrm>
            <a:off x="5719351" y="6233526"/>
            <a:ext cx="914400" cy="91440"/>
          </a:xfrm>
          <a:prstGeom prst="rect">
            <a:avLst/>
          </a:prstGeom>
          <a:noFill/>
        </p:spPr>
        <p:txBody>
          <a:bodyPr wrap="square"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2" name="TextBox 115">
            <a:extLst>
              <a:ext uri="{FF2B5EF4-FFF2-40B4-BE49-F238E27FC236}">
                <a16:creationId xmlns:a16="http://schemas.microsoft.com/office/drawing/2014/main" id="{F55F307C-B7C1-4BAD-885A-FA38546FB692}"/>
              </a:ext>
            </a:extLst>
          </p:cNvPr>
          <p:cNvSpPr txBox="1"/>
          <p:nvPr/>
        </p:nvSpPr>
        <p:spPr>
          <a:xfrm>
            <a:off x="470159" y="4686650"/>
            <a:ext cx="2148840" cy="153888"/>
          </a:xfrm>
          <a:prstGeom prst="rect">
            <a:avLst/>
          </a:prstGeom>
          <a:noFill/>
        </p:spPr>
        <p:txBody>
          <a:bodyPr wrap="square" lIns="18288" tIns="0" rIns="18288"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000" b="1" i="0" u="none" strike="noStrike" kern="1200" cap="none" spc="0" normalizeH="0" baseline="0" noProof="0">
                <a:ln>
                  <a:noFill/>
                </a:ln>
                <a:solidFill>
                  <a:prstClr val="black"/>
                </a:solidFill>
                <a:effectLst/>
                <a:uLnTx/>
                <a:uFillTx/>
                <a:latin typeface="Arial"/>
                <a:ea typeface="+mn-ea"/>
                <a:cs typeface="+mn-cs"/>
              </a:rPr>
              <a:t>3. Canal</a:t>
            </a:r>
            <a:endParaRPr kumimoji="0" sz="1000" b="1" i="0" u="none" strike="noStrike" kern="1200" cap="none" spc="0" normalizeH="0" baseline="0" noProof="0">
              <a:ln>
                <a:noFill/>
              </a:ln>
              <a:solidFill>
                <a:prstClr val="black"/>
              </a:solidFill>
              <a:effectLst/>
              <a:uLnTx/>
              <a:uFillTx/>
              <a:latin typeface="Arial"/>
              <a:ea typeface="+mn-ea"/>
              <a:cs typeface="+mn-cs"/>
            </a:endParaRPr>
          </a:p>
        </p:txBody>
      </p:sp>
      <p:sp>
        <p:nvSpPr>
          <p:cNvPr id="313" name="TextBox 58">
            <a:extLst>
              <a:ext uri="{FF2B5EF4-FFF2-40B4-BE49-F238E27FC236}">
                <a16:creationId xmlns:a16="http://schemas.microsoft.com/office/drawing/2014/main" id="{DDE1CB74-8AAA-4CAC-9725-C2C5B233EF5B}"/>
              </a:ext>
            </a:extLst>
          </p:cNvPr>
          <p:cNvSpPr txBox="1"/>
          <p:nvPr/>
        </p:nvSpPr>
        <p:spPr>
          <a:xfrm>
            <a:off x="2098184" y="5282987"/>
            <a:ext cx="2120905" cy="307777"/>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Calibri"/>
                <a:ea typeface="+mn-ea"/>
                <a:cs typeface="+mn-cs"/>
              </a:rPr>
              <a:t>Strong conversion, with the best engagement and CVR indicators among Personas.</a:t>
            </a:r>
          </a:p>
        </p:txBody>
      </p:sp>
      <p:sp>
        <p:nvSpPr>
          <p:cNvPr id="314" name="TextBox 58">
            <a:extLst>
              <a:ext uri="{FF2B5EF4-FFF2-40B4-BE49-F238E27FC236}">
                <a16:creationId xmlns:a16="http://schemas.microsoft.com/office/drawing/2014/main" id="{EC931E91-1181-4711-9C67-B39AB9C1961F}"/>
              </a:ext>
            </a:extLst>
          </p:cNvPr>
          <p:cNvSpPr txBox="1"/>
          <p:nvPr/>
        </p:nvSpPr>
        <p:spPr>
          <a:xfrm>
            <a:off x="2076991" y="5582293"/>
            <a:ext cx="2120905" cy="415498"/>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Calibri"/>
                <a:ea typeface="+mn-ea"/>
                <a:cs typeface="+mn-cs"/>
              </a:rPr>
              <a:t>Main campaign gap, impacted by lower effort/deliveries and weak conversion among Competitors/</a:t>
            </a:r>
            <a:r>
              <a:rPr kumimoji="0" lang="en-US" sz="700" b="0" i="0" u="none" strike="noStrike" kern="1200" cap="none" spc="0" normalizeH="0" baseline="0" noProof="0" err="1">
                <a:ln>
                  <a:noFill/>
                </a:ln>
                <a:solidFill>
                  <a:prstClr val="black"/>
                </a:solidFill>
                <a:effectLst/>
                <a:uLnTx/>
                <a:uFillTx/>
                <a:latin typeface="Calibri"/>
                <a:ea typeface="+mn-ea"/>
                <a:cs typeface="+mn-cs"/>
              </a:rPr>
              <a:t>Co.A</a:t>
            </a:r>
            <a:r>
              <a:rPr kumimoji="0" lang="en-US" sz="700" b="0" i="0" u="none" strike="noStrike" kern="1200" cap="none" spc="0" normalizeH="0" baseline="0" noProof="0">
                <a:ln>
                  <a:noFill/>
                </a:ln>
                <a:solidFill>
                  <a:prstClr val="black"/>
                </a:solidFill>
                <a:effectLst/>
                <a:uLnTx/>
                <a:uFillTx/>
                <a:latin typeface="Calibri"/>
                <a:ea typeface="+mn-ea"/>
                <a:cs typeface="+mn-cs"/>
              </a:rPr>
              <a:t>.</a:t>
            </a:r>
            <a:endParaRPr kumimoji="0" lang="en-US" sz="600" b="1" i="0" u="none" strike="noStrike" kern="1200" cap="none" spc="0" normalizeH="0" baseline="0" noProof="0">
              <a:ln>
                <a:noFill/>
              </a:ln>
              <a:solidFill>
                <a:srgbClr val="232323"/>
              </a:solidFill>
              <a:effectLst/>
              <a:uLnTx/>
              <a:uFillTx/>
              <a:latin typeface="Arial"/>
              <a:ea typeface="+mn-ea"/>
              <a:cs typeface="+mn-cs"/>
            </a:endParaRPr>
          </a:p>
        </p:txBody>
      </p:sp>
      <p:sp>
        <p:nvSpPr>
          <p:cNvPr id="315" name="TextBox 58">
            <a:extLst>
              <a:ext uri="{FF2B5EF4-FFF2-40B4-BE49-F238E27FC236}">
                <a16:creationId xmlns:a16="http://schemas.microsoft.com/office/drawing/2014/main" id="{C5C7C138-AF87-4189-ADFD-9F41FCF9F39E}"/>
              </a:ext>
            </a:extLst>
          </p:cNvPr>
          <p:cNvSpPr txBox="1"/>
          <p:nvPr/>
        </p:nvSpPr>
        <p:spPr>
          <a:xfrm>
            <a:off x="2097242" y="6006866"/>
            <a:ext cx="2120905" cy="307777"/>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Calibri"/>
                <a:ea typeface="+mn-ea"/>
                <a:cs typeface="+mn-cs"/>
              </a:rPr>
              <a:t>Strong conversion efficiency, driven by Triggers and GTM, with HR and the Carousel format standing out.</a:t>
            </a:r>
            <a:endParaRPr kumimoji="0" lang="en-US" sz="600" b="1" i="0" u="none" strike="noStrike" kern="1200" cap="none" spc="0" normalizeH="0" baseline="0" noProof="0">
              <a:ln>
                <a:noFill/>
              </a:ln>
              <a:solidFill>
                <a:srgbClr val="232323"/>
              </a:solidFill>
              <a:effectLst/>
              <a:uLnTx/>
              <a:uFillTx/>
              <a:latin typeface="Arial"/>
              <a:ea typeface="+mn-ea"/>
              <a:cs typeface="+mn-cs"/>
            </a:endParaRPr>
          </a:p>
        </p:txBody>
      </p:sp>
    </p:spTree>
    <p:extLst>
      <p:ext uri="{BB962C8B-B14F-4D97-AF65-F5344CB8AC3E}">
        <p14:creationId xmlns:p14="http://schemas.microsoft.com/office/powerpoint/2010/main" val="39846475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Shape 0">
            <a:extLst>
              <a:ext uri="{FF2B5EF4-FFF2-40B4-BE49-F238E27FC236}">
                <a16:creationId xmlns:a16="http://schemas.microsoft.com/office/drawing/2014/main" id="{854F6EA7-D51B-4E9B-8E20-62815CECE04C}"/>
              </a:ext>
            </a:extLst>
          </p:cNvPr>
          <p:cNvSpPr/>
          <p:nvPr/>
        </p:nvSpPr>
        <p:spPr>
          <a:xfrm>
            <a:off x="384048" y="713232"/>
            <a:ext cx="11411712" cy="1078992"/>
          </a:xfrm>
          <a:prstGeom prst="rect">
            <a:avLst/>
          </a:prstGeom>
          <a:solidFill>
            <a:srgbClr val="FFFFFF"/>
          </a:solidFill>
          <a:ln w="12700">
            <a:solidFill>
              <a:srgbClr val="C9C9C9"/>
            </a:solidFill>
            <a:prstDash val="solid"/>
          </a:ln>
        </p:spPr>
      </p:sp>
      <p:sp>
        <p:nvSpPr>
          <p:cNvPr id="94" name="Text 1">
            <a:extLst>
              <a:ext uri="{FF2B5EF4-FFF2-40B4-BE49-F238E27FC236}">
                <a16:creationId xmlns:a16="http://schemas.microsoft.com/office/drawing/2014/main" id="{C9A999CB-D308-43DD-A0B3-114C7919673E}"/>
              </a:ext>
            </a:extLst>
          </p:cNvPr>
          <p:cNvSpPr/>
          <p:nvPr/>
        </p:nvSpPr>
        <p:spPr>
          <a:xfrm>
            <a:off x="530352" y="621792"/>
            <a:ext cx="1371600" cy="228600"/>
          </a:xfrm>
          <a:prstGeom prst="rect">
            <a:avLst/>
          </a:prstGeom>
          <a:solidFill>
            <a:schemeClr val="bg1"/>
          </a:solid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92D67"/>
                </a:solidFill>
                <a:effectLst/>
                <a:uLnTx/>
                <a:uFillTx/>
                <a:latin typeface="Arial" pitchFamily="34" charset="0"/>
                <a:ea typeface="Arial" pitchFamily="34" charset="-122"/>
                <a:cs typeface="Arial" pitchFamily="34" charset="-120"/>
              </a:rPr>
              <a:t>BIG NUMBERS</a:t>
            </a:r>
            <a:endParaRPr kumimoji="0" lang="en-US"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5" name="Text 2">
            <a:extLst>
              <a:ext uri="{FF2B5EF4-FFF2-40B4-BE49-F238E27FC236}">
                <a16:creationId xmlns:a16="http://schemas.microsoft.com/office/drawing/2014/main" id="{721B5445-1D3A-4219-BEA2-2A8A58BF4D0B}"/>
              </a:ext>
            </a:extLst>
          </p:cNvPr>
          <p:cNvSpPr/>
          <p:nvPr/>
        </p:nvSpPr>
        <p:spPr>
          <a:xfrm>
            <a:off x="502920" y="905992"/>
            <a:ext cx="1572768" cy="182880"/>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222"/>
                </a:solidFill>
                <a:effectLst/>
                <a:uLnTx/>
                <a:uFillTx/>
                <a:latin typeface="Arial" pitchFamily="34" charset="0"/>
                <a:ea typeface="Arial" pitchFamily="34" charset="-122"/>
                <a:cs typeface="Arial" pitchFamily="34" charset="-120"/>
              </a:rPr>
              <a:t>TOTAL HR</a:t>
            </a:r>
            <a:endParaRPr kumimoji="0" lang="en-US"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6" name="Text 3">
            <a:extLst>
              <a:ext uri="{FF2B5EF4-FFF2-40B4-BE49-F238E27FC236}">
                <a16:creationId xmlns:a16="http://schemas.microsoft.com/office/drawing/2014/main" id="{ACDFA212-4320-4360-9A85-52E486B0CA72}"/>
              </a:ext>
            </a:extLst>
          </p:cNvPr>
          <p:cNvSpPr/>
          <p:nvPr/>
        </p:nvSpPr>
        <p:spPr>
          <a:xfrm>
            <a:off x="502920" y="1116304"/>
            <a:ext cx="1572768" cy="292608"/>
          </a:xfrm>
          <a:prstGeom prst="rect">
            <a:avLst/>
          </a:prstGeom>
          <a:noFill/>
          <a:ln/>
        </p:spPr>
        <p:txBody>
          <a:bodyPr wrap="square" lIns="0" tIns="0" rIns="0" bIns="0" rtlCol="0" anchor="ctr">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0B4DA2"/>
                </a:solidFill>
                <a:effectLst/>
                <a:uLnTx/>
                <a:uFillTx/>
                <a:latin typeface="Arial" pitchFamily="34" charset="0"/>
                <a:ea typeface="Arial" pitchFamily="34" charset="-122"/>
                <a:cs typeface="Arial" pitchFamily="34" charset="-120"/>
              </a:rPr>
              <a:t>27.8K</a:t>
            </a:r>
            <a:endParaRPr kumimoji="0" lang="en-US" sz="2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7" name="Text 4">
            <a:extLst>
              <a:ext uri="{FF2B5EF4-FFF2-40B4-BE49-F238E27FC236}">
                <a16:creationId xmlns:a16="http://schemas.microsoft.com/office/drawing/2014/main" id="{E2F0825C-60CD-4F6D-9837-39EF68FD72FC}"/>
              </a:ext>
            </a:extLst>
          </p:cNvPr>
          <p:cNvSpPr/>
          <p:nvPr/>
        </p:nvSpPr>
        <p:spPr>
          <a:xfrm>
            <a:off x="502920" y="1417320"/>
            <a:ext cx="1572768" cy="182880"/>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16844A"/>
                </a:solidFill>
                <a:effectLst/>
                <a:uLnTx/>
                <a:uFillTx/>
                <a:latin typeface="Arial" pitchFamily="34" charset="0"/>
                <a:ea typeface="Arial" pitchFamily="34" charset="-122"/>
                <a:cs typeface="Arial" pitchFamily="34" charset="-120"/>
              </a:rPr>
              <a:t>1.49x A/R</a:t>
            </a:r>
            <a:endParaRPr kumimoji="0" lang="en-US" sz="9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8" name="Shape 5">
            <a:extLst>
              <a:ext uri="{FF2B5EF4-FFF2-40B4-BE49-F238E27FC236}">
                <a16:creationId xmlns:a16="http://schemas.microsoft.com/office/drawing/2014/main" id="{FA4DC4BB-C113-4261-8C2E-44541FDD2DFD}"/>
              </a:ext>
            </a:extLst>
          </p:cNvPr>
          <p:cNvSpPr/>
          <p:nvPr/>
        </p:nvSpPr>
        <p:spPr>
          <a:xfrm>
            <a:off x="2039112" y="822960"/>
            <a:ext cx="0" cy="777240"/>
          </a:xfrm>
          <a:prstGeom prst="line">
            <a:avLst/>
          </a:prstGeom>
          <a:noFill/>
          <a:ln w="12700">
            <a:solidFill>
              <a:srgbClr val="DDDDDD"/>
            </a:solidFill>
            <a:prstDash val="solid"/>
          </a:ln>
        </p:spPr>
      </p:sp>
      <p:sp>
        <p:nvSpPr>
          <p:cNvPr id="99" name="Text 6">
            <a:extLst>
              <a:ext uri="{FF2B5EF4-FFF2-40B4-BE49-F238E27FC236}">
                <a16:creationId xmlns:a16="http://schemas.microsoft.com/office/drawing/2014/main" id="{8F673387-E7C9-4FEC-BB63-DC610146F28D}"/>
              </a:ext>
            </a:extLst>
          </p:cNvPr>
          <p:cNvSpPr/>
          <p:nvPr/>
        </p:nvSpPr>
        <p:spPr>
          <a:xfrm>
            <a:off x="2112264" y="905992"/>
            <a:ext cx="1572768" cy="182880"/>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222"/>
                </a:solidFill>
                <a:effectLst/>
                <a:uLnTx/>
                <a:uFillTx/>
                <a:latin typeface="Arial" pitchFamily="34" charset="0"/>
                <a:ea typeface="Arial" pitchFamily="34" charset="-122"/>
                <a:cs typeface="Arial" pitchFamily="34" charset="-120"/>
              </a:rPr>
              <a:t>FULL FORM</a:t>
            </a:r>
            <a:endParaRPr kumimoji="0" lang="en-US"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0" name="Text 7">
            <a:extLst>
              <a:ext uri="{FF2B5EF4-FFF2-40B4-BE49-F238E27FC236}">
                <a16:creationId xmlns:a16="http://schemas.microsoft.com/office/drawing/2014/main" id="{423985E8-29F1-44F6-86E7-E30D61E4FDD9}"/>
              </a:ext>
            </a:extLst>
          </p:cNvPr>
          <p:cNvSpPr/>
          <p:nvPr/>
        </p:nvSpPr>
        <p:spPr>
          <a:xfrm>
            <a:off x="2112264" y="1116304"/>
            <a:ext cx="1572768" cy="292608"/>
          </a:xfrm>
          <a:prstGeom prst="rect">
            <a:avLst/>
          </a:prstGeom>
          <a:noFill/>
          <a:ln/>
        </p:spPr>
        <p:txBody>
          <a:bodyPr wrap="square" lIns="0" tIns="0" rIns="0" bIns="0" rtlCol="0" anchor="ctr">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0B4DA2"/>
                </a:solidFill>
                <a:effectLst/>
                <a:uLnTx/>
                <a:uFillTx/>
                <a:latin typeface="Arial" pitchFamily="34" charset="0"/>
                <a:ea typeface="Arial" pitchFamily="34" charset="-122"/>
                <a:cs typeface="Arial" pitchFamily="34" charset="-120"/>
              </a:rPr>
              <a:t>10.6K</a:t>
            </a:r>
            <a:endParaRPr kumimoji="0" lang="en-US" sz="2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1" name="Text 8">
            <a:extLst>
              <a:ext uri="{FF2B5EF4-FFF2-40B4-BE49-F238E27FC236}">
                <a16:creationId xmlns:a16="http://schemas.microsoft.com/office/drawing/2014/main" id="{0E45865B-0C65-4F9F-8DAD-F81475C914F1}"/>
              </a:ext>
            </a:extLst>
          </p:cNvPr>
          <p:cNvSpPr/>
          <p:nvPr/>
        </p:nvSpPr>
        <p:spPr>
          <a:xfrm>
            <a:off x="2112264" y="1417320"/>
            <a:ext cx="1572768" cy="182880"/>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16844A"/>
                </a:solidFill>
                <a:effectLst/>
                <a:uLnTx/>
                <a:uFillTx/>
                <a:latin typeface="Arial" pitchFamily="34" charset="0"/>
                <a:ea typeface="Arial" pitchFamily="34" charset="-122"/>
                <a:cs typeface="Arial" pitchFamily="34" charset="-120"/>
              </a:rPr>
              <a:t>2.59x A/R</a:t>
            </a:r>
            <a:endParaRPr kumimoji="0" lang="en-US" sz="9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2" name="Shape 9">
            <a:extLst>
              <a:ext uri="{FF2B5EF4-FFF2-40B4-BE49-F238E27FC236}">
                <a16:creationId xmlns:a16="http://schemas.microsoft.com/office/drawing/2014/main" id="{8E1FCF11-F2E9-4380-92AA-9C7CEF3E2245}"/>
              </a:ext>
            </a:extLst>
          </p:cNvPr>
          <p:cNvSpPr/>
          <p:nvPr/>
        </p:nvSpPr>
        <p:spPr>
          <a:xfrm>
            <a:off x="3648456" y="822960"/>
            <a:ext cx="0" cy="777240"/>
          </a:xfrm>
          <a:prstGeom prst="line">
            <a:avLst/>
          </a:prstGeom>
          <a:noFill/>
          <a:ln w="12700">
            <a:solidFill>
              <a:srgbClr val="DDDDDD"/>
            </a:solidFill>
            <a:prstDash val="solid"/>
          </a:ln>
        </p:spPr>
      </p:sp>
      <p:sp>
        <p:nvSpPr>
          <p:cNvPr id="104" name="Text 10">
            <a:extLst>
              <a:ext uri="{FF2B5EF4-FFF2-40B4-BE49-F238E27FC236}">
                <a16:creationId xmlns:a16="http://schemas.microsoft.com/office/drawing/2014/main" id="{424F0E22-223B-46C9-8C62-2D00B876DD31}"/>
              </a:ext>
            </a:extLst>
          </p:cNvPr>
          <p:cNvSpPr/>
          <p:nvPr/>
        </p:nvSpPr>
        <p:spPr>
          <a:xfrm>
            <a:off x="3721608" y="905992"/>
            <a:ext cx="1572768" cy="182880"/>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222"/>
                </a:solidFill>
                <a:effectLst/>
                <a:uLnTx/>
                <a:uFillTx/>
                <a:latin typeface="Arial" pitchFamily="34" charset="0"/>
                <a:ea typeface="Arial" pitchFamily="34" charset="-122"/>
                <a:cs typeface="Arial" pitchFamily="34" charset="-120"/>
              </a:rPr>
              <a:t>ONE CLICK</a:t>
            </a:r>
            <a:endParaRPr kumimoji="0" lang="en-US"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5" name="Text 11">
            <a:extLst>
              <a:ext uri="{FF2B5EF4-FFF2-40B4-BE49-F238E27FC236}">
                <a16:creationId xmlns:a16="http://schemas.microsoft.com/office/drawing/2014/main" id="{06D5A835-7A81-4DE2-A487-6A6B0692F8AD}"/>
              </a:ext>
            </a:extLst>
          </p:cNvPr>
          <p:cNvSpPr/>
          <p:nvPr/>
        </p:nvSpPr>
        <p:spPr>
          <a:xfrm>
            <a:off x="3721608" y="1116304"/>
            <a:ext cx="1572768" cy="292608"/>
          </a:xfrm>
          <a:prstGeom prst="rect">
            <a:avLst/>
          </a:prstGeom>
          <a:noFill/>
          <a:ln/>
        </p:spPr>
        <p:txBody>
          <a:bodyPr wrap="square" lIns="0" tIns="0" rIns="0" bIns="0" rtlCol="0" anchor="ctr">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0B4DA2"/>
                </a:solidFill>
                <a:effectLst/>
                <a:uLnTx/>
                <a:uFillTx/>
                <a:latin typeface="Arial" pitchFamily="34" charset="0"/>
                <a:ea typeface="Arial" pitchFamily="34" charset="-122"/>
                <a:cs typeface="Arial" pitchFamily="34" charset="-120"/>
              </a:rPr>
              <a:t>17.2K</a:t>
            </a:r>
            <a:endParaRPr kumimoji="0" lang="en-US" sz="2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6" name="Text 12">
            <a:extLst>
              <a:ext uri="{FF2B5EF4-FFF2-40B4-BE49-F238E27FC236}">
                <a16:creationId xmlns:a16="http://schemas.microsoft.com/office/drawing/2014/main" id="{A4F6AB3F-3603-4220-9B9F-C2FDC6A83EF7}"/>
              </a:ext>
            </a:extLst>
          </p:cNvPr>
          <p:cNvSpPr/>
          <p:nvPr/>
        </p:nvSpPr>
        <p:spPr>
          <a:xfrm>
            <a:off x="3721608" y="1417320"/>
            <a:ext cx="1572768" cy="182880"/>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16844A"/>
                </a:solidFill>
                <a:effectLst/>
                <a:uLnTx/>
                <a:uFillTx/>
                <a:latin typeface="Arial" pitchFamily="34" charset="0"/>
                <a:ea typeface="Arial" pitchFamily="34" charset="-122"/>
                <a:cs typeface="Arial" pitchFamily="34" charset="-120"/>
              </a:rPr>
              <a:t>1.18x A/R</a:t>
            </a:r>
            <a:endParaRPr kumimoji="0" lang="en-US" sz="9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8" name="Shape 13">
            <a:extLst>
              <a:ext uri="{FF2B5EF4-FFF2-40B4-BE49-F238E27FC236}">
                <a16:creationId xmlns:a16="http://schemas.microsoft.com/office/drawing/2014/main" id="{7B3FF527-05D5-454A-9C99-97E19CF32A84}"/>
              </a:ext>
            </a:extLst>
          </p:cNvPr>
          <p:cNvSpPr/>
          <p:nvPr/>
        </p:nvSpPr>
        <p:spPr>
          <a:xfrm>
            <a:off x="5257800" y="822960"/>
            <a:ext cx="0" cy="777240"/>
          </a:xfrm>
          <a:prstGeom prst="line">
            <a:avLst/>
          </a:prstGeom>
          <a:noFill/>
          <a:ln w="12700">
            <a:solidFill>
              <a:srgbClr val="DDDDDD"/>
            </a:solidFill>
            <a:prstDash val="solid"/>
          </a:ln>
        </p:spPr>
      </p:sp>
      <p:sp>
        <p:nvSpPr>
          <p:cNvPr id="147" name="Text 14">
            <a:extLst>
              <a:ext uri="{FF2B5EF4-FFF2-40B4-BE49-F238E27FC236}">
                <a16:creationId xmlns:a16="http://schemas.microsoft.com/office/drawing/2014/main" id="{EE1C7FA7-A30B-4F93-9710-6E078AB81768}"/>
              </a:ext>
            </a:extLst>
          </p:cNvPr>
          <p:cNvSpPr/>
          <p:nvPr/>
        </p:nvSpPr>
        <p:spPr>
          <a:xfrm>
            <a:off x="5330952" y="905992"/>
            <a:ext cx="1572768" cy="182880"/>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222"/>
                </a:solidFill>
                <a:effectLst/>
                <a:uLnTx/>
                <a:uFillTx/>
                <a:latin typeface="Arial" pitchFamily="34" charset="0"/>
                <a:ea typeface="Arial" pitchFamily="34" charset="-122"/>
                <a:cs typeface="Arial" pitchFamily="34" charset="-120"/>
              </a:rPr>
              <a:t>CRM HR</a:t>
            </a:r>
            <a:endParaRPr kumimoji="0" lang="en-US"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8" name="Text 15">
            <a:extLst>
              <a:ext uri="{FF2B5EF4-FFF2-40B4-BE49-F238E27FC236}">
                <a16:creationId xmlns:a16="http://schemas.microsoft.com/office/drawing/2014/main" id="{04020467-69D9-4EBF-8622-0DC9AAEB0014}"/>
              </a:ext>
            </a:extLst>
          </p:cNvPr>
          <p:cNvSpPr/>
          <p:nvPr/>
        </p:nvSpPr>
        <p:spPr>
          <a:xfrm>
            <a:off x="5330952" y="1116304"/>
            <a:ext cx="1572768" cy="292608"/>
          </a:xfrm>
          <a:prstGeom prst="rect">
            <a:avLst/>
          </a:prstGeom>
          <a:noFill/>
          <a:ln/>
        </p:spPr>
        <p:txBody>
          <a:bodyPr wrap="square" lIns="0" tIns="0" rIns="0" bIns="0" rtlCol="0" anchor="ctr">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0B4DA2"/>
                </a:solidFill>
                <a:effectLst/>
                <a:uLnTx/>
                <a:uFillTx/>
                <a:latin typeface="Arial" pitchFamily="34" charset="0"/>
                <a:ea typeface="Arial" pitchFamily="34" charset="-122"/>
                <a:cs typeface="Arial" pitchFamily="34" charset="-120"/>
              </a:rPr>
              <a:t>22.9K</a:t>
            </a:r>
            <a:endParaRPr kumimoji="0" lang="en-US" sz="2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9" name="Text 16">
            <a:extLst>
              <a:ext uri="{FF2B5EF4-FFF2-40B4-BE49-F238E27FC236}">
                <a16:creationId xmlns:a16="http://schemas.microsoft.com/office/drawing/2014/main" id="{72AD95D2-7E81-4461-AB89-D424DB904448}"/>
              </a:ext>
            </a:extLst>
          </p:cNvPr>
          <p:cNvSpPr/>
          <p:nvPr/>
        </p:nvSpPr>
        <p:spPr>
          <a:xfrm>
            <a:off x="5330952" y="1417320"/>
            <a:ext cx="1572768" cy="182880"/>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666666"/>
                </a:solidFill>
                <a:effectLst/>
                <a:uLnTx/>
                <a:uFillTx/>
                <a:latin typeface="Arial" pitchFamily="34" charset="0"/>
                <a:ea typeface="Arial" pitchFamily="34" charset="-122"/>
                <a:cs typeface="Arial" pitchFamily="34" charset="-120"/>
              </a:rPr>
              <a:t>82% do total</a:t>
            </a:r>
            <a:endParaRPr kumimoji="0" lang="en-US" sz="9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50" name="Shape 17">
            <a:extLst>
              <a:ext uri="{FF2B5EF4-FFF2-40B4-BE49-F238E27FC236}">
                <a16:creationId xmlns:a16="http://schemas.microsoft.com/office/drawing/2014/main" id="{15F384E5-273F-45ED-84C1-DE0A76741980}"/>
              </a:ext>
            </a:extLst>
          </p:cNvPr>
          <p:cNvSpPr/>
          <p:nvPr/>
        </p:nvSpPr>
        <p:spPr>
          <a:xfrm>
            <a:off x="6867144" y="822960"/>
            <a:ext cx="0" cy="777240"/>
          </a:xfrm>
          <a:prstGeom prst="line">
            <a:avLst/>
          </a:prstGeom>
          <a:noFill/>
          <a:ln w="12700">
            <a:solidFill>
              <a:srgbClr val="DDDDDD"/>
            </a:solidFill>
            <a:prstDash val="solid"/>
          </a:ln>
        </p:spPr>
      </p:sp>
      <p:sp>
        <p:nvSpPr>
          <p:cNvPr id="151" name="Text 18">
            <a:extLst>
              <a:ext uri="{FF2B5EF4-FFF2-40B4-BE49-F238E27FC236}">
                <a16:creationId xmlns:a16="http://schemas.microsoft.com/office/drawing/2014/main" id="{996C6EA8-A247-4FA5-BFC8-9AFB8B6A7C65}"/>
              </a:ext>
            </a:extLst>
          </p:cNvPr>
          <p:cNvSpPr/>
          <p:nvPr/>
        </p:nvSpPr>
        <p:spPr>
          <a:xfrm>
            <a:off x="6940296" y="905992"/>
            <a:ext cx="1572768" cy="182880"/>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222"/>
                </a:solidFill>
                <a:effectLst/>
                <a:uLnTx/>
                <a:uFillTx/>
                <a:latin typeface="Arial" pitchFamily="34" charset="0"/>
                <a:ea typeface="Arial" pitchFamily="34" charset="-122"/>
                <a:cs typeface="Arial" pitchFamily="34" charset="-120"/>
              </a:rPr>
              <a:t>ORGANIC FF</a:t>
            </a:r>
            <a:endParaRPr kumimoji="0" lang="en-US"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53" name="Text 19">
            <a:extLst>
              <a:ext uri="{FF2B5EF4-FFF2-40B4-BE49-F238E27FC236}">
                <a16:creationId xmlns:a16="http://schemas.microsoft.com/office/drawing/2014/main" id="{A36E3C93-B904-4516-946B-85FFF0E1AC0B}"/>
              </a:ext>
            </a:extLst>
          </p:cNvPr>
          <p:cNvSpPr/>
          <p:nvPr/>
        </p:nvSpPr>
        <p:spPr>
          <a:xfrm>
            <a:off x="6940296" y="1116304"/>
            <a:ext cx="1572768" cy="292608"/>
          </a:xfrm>
          <a:prstGeom prst="rect">
            <a:avLst/>
          </a:prstGeom>
          <a:noFill/>
          <a:ln/>
        </p:spPr>
        <p:txBody>
          <a:bodyPr wrap="square" lIns="0" tIns="0" rIns="0" bIns="0" rtlCol="0" anchor="ctr">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0B4DA2"/>
                </a:solidFill>
                <a:effectLst/>
                <a:uLnTx/>
                <a:uFillTx/>
                <a:latin typeface="Arial" pitchFamily="34" charset="0"/>
                <a:ea typeface="Arial" pitchFamily="34" charset="-122"/>
                <a:cs typeface="Arial" pitchFamily="34" charset="-120"/>
              </a:rPr>
              <a:t>4.7K</a:t>
            </a:r>
            <a:endParaRPr kumimoji="0" lang="en-US" sz="2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55" name="Text 20">
            <a:extLst>
              <a:ext uri="{FF2B5EF4-FFF2-40B4-BE49-F238E27FC236}">
                <a16:creationId xmlns:a16="http://schemas.microsoft.com/office/drawing/2014/main" id="{7CCF6263-EBDF-4341-A0A0-30D57CA8C916}"/>
              </a:ext>
            </a:extLst>
          </p:cNvPr>
          <p:cNvSpPr/>
          <p:nvPr/>
        </p:nvSpPr>
        <p:spPr>
          <a:xfrm>
            <a:off x="6940296" y="1417320"/>
            <a:ext cx="1572768" cy="182880"/>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666666"/>
                </a:solidFill>
                <a:effectLst/>
                <a:uLnTx/>
                <a:uFillTx/>
                <a:latin typeface="Arial" pitchFamily="34" charset="0"/>
                <a:ea typeface="Arial" pitchFamily="34" charset="-122"/>
                <a:cs typeface="Arial" pitchFamily="34" charset="-120"/>
              </a:rPr>
              <a:t>44% dos FFs</a:t>
            </a:r>
            <a:endParaRPr kumimoji="0" lang="en-US" sz="9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56" name="Shape 21">
            <a:extLst>
              <a:ext uri="{FF2B5EF4-FFF2-40B4-BE49-F238E27FC236}">
                <a16:creationId xmlns:a16="http://schemas.microsoft.com/office/drawing/2014/main" id="{D4575EAA-266C-41D0-8701-75773DDAB698}"/>
              </a:ext>
            </a:extLst>
          </p:cNvPr>
          <p:cNvSpPr/>
          <p:nvPr/>
        </p:nvSpPr>
        <p:spPr>
          <a:xfrm>
            <a:off x="8476488" y="822960"/>
            <a:ext cx="0" cy="777240"/>
          </a:xfrm>
          <a:prstGeom prst="line">
            <a:avLst/>
          </a:prstGeom>
          <a:noFill/>
          <a:ln w="12700">
            <a:solidFill>
              <a:srgbClr val="DDDDDD"/>
            </a:solidFill>
            <a:prstDash val="solid"/>
          </a:ln>
        </p:spPr>
      </p:sp>
      <p:sp>
        <p:nvSpPr>
          <p:cNvPr id="157" name="Text 22">
            <a:extLst>
              <a:ext uri="{FF2B5EF4-FFF2-40B4-BE49-F238E27FC236}">
                <a16:creationId xmlns:a16="http://schemas.microsoft.com/office/drawing/2014/main" id="{F2C0B1E4-86D3-4A23-95FC-17D849F15BC1}"/>
              </a:ext>
            </a:extLst>
          </p:cNvPr>
          <p:cNvSpPr/>
          <p:nvPr/>
        </p:nvSpPr>
        <p:spPr>
          <a:xfrm>
            <a:off x="8549640" y="905992"/>
            <a:ext cx="1572768" cy="182880"/>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222"/>
                </a:solidFill>
                <a:effectLst/>
                <a:uLnTx/>
                <a:uFillTx/>
                <a:latin typeface="Arial" pitchFamily="34" charset="0"/>
                <a:ea typeface="Arial" pitchFamily="34" charset="-122"/>
                <a:cs typeface="Arial" pitchFamily="34" charset="-120"/>
              </a:rPr>
              <a:t>E-MAIL FF</a:t>
            </a:r>
            <a:endParaRPr kumimoji="0" lang="en-US"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58" name="Text 23">
            <a:extLst>
              <a:ext uri="{FF2B5EF4-FFF2-40B4-BE49-F238E27FC236}">
                <a16:creationId xmlns:a16="http://schemas.microsoft.com/office/drawing/2014/main" id="{DF8C1EEE-CFF1-480D-8E3A-8C0F412A56A3}"/>
              </a:ext>
            </a:extLst>
          </p:cNvPr>
          <p:cNvSpPr/>
          <p:nvPr/>
        </p:nvSpPr>
        <p:spPr>
          <a:xfrm>
            <a:off x="8549640" y="1116304"/>
            <a:ext cx="1572768" cy="292608"/>
          </a:xfrm>
          <a:prstGeom prst="rect">
            <a:avLst/>
          </a:prstGeom>
          <a:noFill/>
          <a:ln/>
        </p:spPr>
        <p:txBody>
          <a:bodyPr wrap="square" lIns="0" tIns="0" rIns="0" bIns="0" rtlCol="0" anchor="ctr">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0B4DA2"/>
                </a:solidFill>
                <a:effectLst/>
                <a:uLnTx/>
                <a:uFillTx/>
                <a:latin typeface="Arial" pitchFamily="34" charset="0"/>
                <a:ea typeface="Arial" pitchFamily="34" charset="-122"/>
                <a:cs typeface="Arial" pitchFamily="34" charset="-120"/>
              </a:rPr>
              <a:t>5.0K</a:t>
            </a:r>
            <a:endParaRPr kumimoji="0" lang="en-US" sz="2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59" name="Text 24">
            <a:extLst>
              <a:ext uri="{FF2B5EF4-FFF2-40B4-BE49-F238E27FC236}">
                <a16:creationId xmlns:a16="http://schemas.microsoft.com/office/drawing/2014/main" id="{D1593AF3-443B-4660-9A95-AC66FB52E0A7}"/>
              </a:ext>
            </a:extLst>
          </p:cNvPr>
          <p:cNvSpPr/>
          <p:nvPr/>
        </p:nvSpPr>
        <p:spPr>
          <a:xfrm>
            <a:off x="8549640" y="1417320"/>
            <a:ext cx="1572768" cy="182880"/>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16844A"/>
                </a:solidFill>
                <a:effectLst/>
                <a:uLnTx/>
                <a:uFillTx/>
                <a:latin typeface="Arial" pitchFamily="34" charset="0"/>
                <a:ea typeface="Arial" pitchFamily="34" charset="-122"/>
                <a:cs typeface="Arial" pitchFamily="34" charset="-120"/>
              </a:rPr>
              <a:t>1.47x A/R</a:t>
            </a:r>
            <a:endParaRPr kumimoji="0" lang="en-US" sz="9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0" name="Shape 25">
            <a:extLst>
              <a:ext uri="{FF2B5EF4-FFF2-40B4-BE49-F238E27FC236}">
                <a16:creationId xmlns:a16="http://schemas.microsoft.com/office/drawing/2014/main" id="{7D560B69-9C22-45B9-AC21-B9A1C7F67F82}"/>
              </a:ext>
            </a:extLst>
          </p:cNvPr>
          <p:cNvSpPr/>
          <p:nvPr/>
        </p:nvSpPr>
        <p:spPr>
          <a:xfrm>
            <a:off x="10085832" y="822960"/>
            <a:ext cx="0" cy="777240"/>
          </a:xfrm>
          <a:prstGeom prst="line">
            <a:avLst/>
          </a:prstGeom>
          <a:noFill/>
          <a:ln w="12700">
            <a:solidFill>
              <a:srgbClr val="DDDDDD"/>
            </a:solidFill>
            <a:prstDash val="solid"/>
          </a:ln>
        </p:spPr>
      </p:sp>
      <p:sp>
        <p:nvSpPr>
          <p:cNvPr id="161" name="Text 26">
            <a:extLst>
              <a:ext uri="{FF2B5EF4-FFF2-40B4-BE49-F238E27FC236}">
                <a16:creationId xmlns:a16="http://schemas.microsoft.com/office/drawing/2014/main" id="{5EA45793-E0D3-4548-94AB-220B31DA726E}"/>
              </a:ext>
            </a:extLst>
          </p:cNvPr>
          <p:cNvSpPr/>
          <p:nvPr/>
        </p:nvSpPr>
        <p:spPr>
          <a:xfrm>
            <a:off x="10158984" y="905992"/>
            <a:ext cx="1572768" cy="182880"/>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222"/>
                </a:solidFill>
                <a:effectLst/>
                <a:uLnTx/>
                <a:uFillTx/>
                <a:latin typeface="Arial" pitchFamily="34" charset="0"/>
                <a:ea typeface="Arial" pitchFamily="34" charset="-122"/>
                <a:cs typeface="Arial" pitchFamily="34" charset="-120"/>
              </a:rPr>
              <a:t>FF / CLICK</a:t>
            </a:r>
            <a:endParaRPr kumimoji="0" lang="en-US"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2" name="Text 27">
            <a:extLst>
              <a:ext uri="{FF2B5EF4-FFF2-40B4-BE49-F238E27FC236}">
                <a16:creationId xmlns:a16="http://schemas.microsoft.com/office/drawing/2014/main" id="{ACF03D78-5A90-4D37-AF75-6D88EE1E5723}"/>
              </a:ext>
            </a:extLst>
          </p:cNvPr>
          <p:cNvSpPr/>
          <p:nvPr/>
        </p:nvSpPr>
        <p:spPr>
          <a:xfrm>
            <a:off x="10158984" y="1116304"/>
            <a:ext cx="1572768" cy="292608"/>
          </a:xfrm>
          <a:prstGeom prst="rect">
            <a:avLst/>
          </a:prstGeom>
          <a:noFill/>
          <a:ln/>
        </p:spPr>
        <p:txBody>
          <a:bodyPr wrap="square" lIns="0" tIns="0" rIns="0" bIns="0" rtlCol="0" anchor="ctr">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0B4DA2"/>
                </a:solidFill>
                <a:effectLst/>
                <a:uLnTx/>
                <a:uFillTx/>
                <a:latin typeface="Arial" pitchFamily="34" charset="0"/>
                <a:ea typeface="Arial" pitchFamily="34" charset="-122"/>
                <a:cs typeface="Arial" pitchFamily="34" charset="-120"/>
              </a:rPr>
              <a:t>18.1%</a:t>
            </a:r>
            <a:endParaRPr kumimoji="0" lang="en-US" sz="2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3" name="Text 28">
            <a:extLst>
              <a:ext uri="{FF2B5EF4-FFF2-40B4-BE49-F238E27FC236}">
                <a16:creationId xmlns:a16="http://schemas.microsoft.com/office/drawing/2014/main" id="{16103102-3FBF-46AE-90EB-4F29FD9CA7C6}"/>
              </a:ext>
            </a:extLst>
          </p:cNvPr>
          <p:cNvSpPr/>
          <p:nvPr/>
        </p:nvSpPr>
        <p:spPr>
          <a:xfrm>
            <a:off x="10158984" y="1417320"/>
            <a:ext cx="1572768" cy="182880"/>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16844A"/>
                </a:solidFill>
                <a:effectLst/>
                <a:uLnTx/>
                <a:uFillTx/>
                <a:latin typeface="Arial" pitchFamily="34" charset="0"/>
                <a:ea typeface="Arial" pitchFamily="34" charset="-122"/>
                <a:cs typeface="Arial" pitchFamily="34" charset="-120"/>
              </a:rPr>
              <a:t>2.22x A/R</a:t>
            </a:r>
            <a:endParaRPr kumimoji="0" lang="en-US" sz="9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4" name="Shape 29">
            <a:extLst>
              <a:ext uri="{FF2B5EF4-FFF2-40B4-BE49-F238E27FC236}">
                <a16:creationId xmlns:a16="http://schemas.microsoft.com/office/drawing/2014/main" id="{1C595176-2905-44F5-8E12-AE944EEF5EDC}"/>
              </a:ext>
            </a:extLst>
          </p:cNvPr>
          <p:cNvSpPr/>
          <p:nvPr/>
        </p:nvSpPr>
        <p:spPr>
          <a:xfrm>
            <a:off x="384048" y="1956816"/>
            <a:ext cx="5623560" cy="4407408"/>
          </a:xfrm>
          <a:prstGeom prst="rect">
            <a:avLst/>
          </a:prstGeom>
          <a:solidFill>
            <a:srgbClr val="FFFFFF"/>
          </a:solidFill>
          <a:ln w="12700">
            <a:solidFill>
              <a:srgbClr val="C9C9C9"/>
            </a:solidFill>
            <a:prstDash val="solid"/>
          </a:ln>
        </p:spPr>
      </p:sp>
      <p:sp>
        <p:nvSpPr>
          <p:cNvPr id="165" name="Text 30">
            <a:extLst>
              <a:ext uri="{FF2B5EF4-FFF2-40B4-BE49-F238E27FC236}">
                <a16:creationId xmlns:a16="http://schemas.microsoft.com/office/drawing/2014/main" id="{A9403C28-5DBA-4431-975B-0FFD5726B5DF}"/>
              </a:ext>
            </a:extLst>
          </p:cNvPr>
          <p:cNvSpPr/>
          <p:nvPr/>
        </p:nvSpPr>
        <p:spPr>
          <a:xfrm>
            <a:off x="566928" y="1865376"/>
            <a:ext cx="3291840" cy="256032"/>
          </a:xfrm>
          <a:prstGeom prst="rect">
            <a:avLst/>
          </a:prstGeom>
          <a:solidFill>
            <a:schemeClr val="bg1"/>
          </a:solid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92D67"/>
                </a:solidFill>
                <a:effectLst/>
                <a:uLnTx/>
                <a:uFillTx/>
                <a:latin typeface="Arial" pitchFamily="34" charset="0"/>
                <a:ea typeface="Arial" pitchFamily="34" charset="-122"/>
                <a:cs typeface="Arial" pitchFamily="34" charset="-120"/>
              </a:rPr>
              <a:t>HR TOTAL</a:t>
            </a:r>
            <a:endParaRPr kumimoji="0" lang="en-US" sz="14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6" name="Text 31">
            <a:extLst>
              <a:ext uri="{FF2B5EF4-FFF2-40B4-BE49-F238E27FC236}">
                <a16:creationId xmlns:a16="http://schemas.microsoft.com/office/drawing/2014/main" id="{FE430800-44C3-49B2-8EC0-E1416EBCDF2C}"/>
              </a:ext>
            </a:extLst>
          </p:cNvPr>
          <p:cNvSpPr/>
          <p:nvPr/>
        </p:nvSpPr>
        <p:spPr>
          <a:xfrm>
            <a:off x="589788" y="3812307"/>
            <a:ext cx="5074920" cy="548640"/>
          </a:xfrm>
          <a:prstGeom prst="rect">
            <a:avLst/>
          </a:prstGeom>
          <a:noFill/>
          <a:ln/>
        </p:spPr>
        <p:txBody>
          <a:bodyPr wrap="square" lIns="0" tIns="0" rIns="0" bIns="0" rtlCol="0" anchor="ct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a:latin typeface="Arial"/>
              </a:rPr>
              <a:t>VD One reached 27.8K HRs to date, exceeding target by 49%. Full Form was the main highlight, reaching 2.59x target.</a:t>
            </a:r>
            <a:endParaRPr kumimoji="0" lang="en-US"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7" name="Text 32">
            <a:extLst>
              <a:ext uri="{FF2B5EF4-FFF2-40B4-BE49-F238E27FC236}">
                <a16:creationId xmlns:a16="http://schemas.microsoft.com/office/drawing/2014/main" id="{D07A77D4-9EBF-45CC-BFD0-B404589C9BCD}"/>
              </a:ext>
            </a:extLst>
          </p:cNvPr>
          <p:cNvSpPr/>
          <p:nvPr/>
        </p:nvSpPr>
        <p:spPr>
          <a:xfrm>
            <a:off x="626364" y="4553431"/>
            <a:ext cx="731520" cy="219456"/>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111111"/>
                </a:solidFill>
                <a:effectLst/>
                <a:uLnTx/>
                <a:uFillTx/>
                <a:latin typeface="Arial" pitchFamily="34" charset="0"/>
                <a:ea typeface="Arial" pitchFamily="34" charset="-122"/>
                <a:cs typeface="Arial" pitchFamily="34" charset="-120"/>
              </a:rPr>
              <a:t>CRM</a:t>
            </a:r>
            <a:endParaRPr kumimoji="0" lang="en-US"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8" name="Shape 33">
            <a:extLst>
              <a:ext uri="{FF2B5EF4-FFF2-40B4-BE49-F238E27FC236}">
                <a16:creationId xmlns:a16="http://schemas.microsoft.com/office/drawing/2014/main" id="{158469E9-2A50-4A19-915F-AEA5BB4CED0E}"/>
              </a:ext>
            </a:extLst>
          </p:cNvPr>
          <p:cNvSpPr/>
          <p:nvPr/>
        </p:nvSpPr>
        <p:spPr>
          <a:xfrm>
            <a:off x="1385316" y="4571719"/>
            <a:ext cx="3886200" cy="201168"/>
          </a:xfrm>
          <a:prstGeom prst="rect">
            <a:avLst/>
          </a:prstGeom>
          <a:solidFill>
            <a:srgbClr val="EEF2F7"/>
          </a:solidFill>
          <a:ln w="12700">
            <a:solidFill>
              <a:srgbClr val="EEF2F7"/>
            </a:solidFill>
            <a:prstDash val="solid"/>
          </a:ln>
        </p:spPr>
      </p:sp>
      <p:sp>
        <p:nvSpPr>
          <p:cNvPr id="169" name="Shape 34">
            <a:extLst>
              <a:ext uri="{FF2B5EF4-FFF2-40B4-BE49-F238E27FC236}">
                <a16:creationId xmlns:a16="http://schemas.microsoft.com/office/drawing/2014/main" id="{28D38AF4-1B5F-4A2D-BE5D-27C3E2531A86}"/>
              </a:ext>
            </a:extLst>
          </p:cNvPr>
          <p:cNvSpPr/>
          <p:nvPr/>
        </p:nvSpPr>
        <p:spPr>
          <a:xfrm>
            <a:off x="1385316" y="4571719"/>
            <a:ext cx="3205660" cy="201168"/>
          </a:xfrm>
          <a:prstGeom prst="rect">
            <a:avLst/>
          </a:prstGeom>
          <a:solidFill>
            <a:srgbClr val="0B4DA2"/>
          </a:solidFill>
          <a:ln w="12700">
            <a:solidFill>
              <a:srgbClr val="0B4DA2"/>
            </a:solidFill>
            <a:prstDash val="solid"/>
          </a:ln>
        </p:spPr>
      </p:sp>
      <p:sp>
        <p:nvSpPr>
          <p:cNvPr id="170" name="Text 35">
            <a:extLst>
              <a:ext uri="{FF2B5EF4-FFF2-40B4-BE49-F238E27FC236}">
                <a16:creationId xmlns:a16="http://schemas.microsoft.com/office/drawing/2014/main" id="{479F7DE3-47C3-492A-B119-0314C8100B54}"/>
              </a:ext>
            </a:extLst>
          </p:cNvPr>
          <p:cNvSpPr/>
          <p:nvPr/>
        </p:nvSpPr>
        <p:spPr>
          <a:xfrm>
            <a:off x="5298948" y="4553431"/>
            <a:ext cx="530352" cy="219456"/>
          </a:xfrm>
          <a:prstGeom prst="rect">
            <a:avLst/>
          </a:prstGeom>
          <a:noFill/>
          <a:ln/>
        </p:spPr>
        <p:txBody>
          <a:bodyPr wrap="square" lIns="0" tIns="0" rIns="0" bIns="0" rtlCol="0" anchor="ctr">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666666"/>
                </a:solidFill>
                <a:effectLst/>
                <a:uLnTx/>
                <a:uFillTx/>
                <a:latin typeface="Arial" pitchFamily="34" charset="0"/>
                <a:ea typeface="Arial" pitchFamily="34" charset="-122"/>
                <a:cs typeface="Arial" pitchFamily="34" charset="-120"/>
              </a:rPr>
              <a:t>22.9K  |  82%</a:t>
            </a:r>
            <a:endParaRPr kumimoji="0" lang="en-US" sz="9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1" name="Text 36">
            <a:extLst>
              <a:ext uri="{FF2B5EF4-FFF2-40B4-BE49-F238E27FC236}">
                <a16:creationId xmlns:a16="http://schemas.microsoft.com/office/drawing/2014/main" id="{8DFB968B-E4E7-4F20-AB16-43191157594B}"/>
              </a:ext>
            </a:extLst>
          </p:cNvPr>
          <p:cNvSpPr/>
          <p:nvPr/>
        </p:nvSpPr>
        <p:spPr>
          <a:xfrm>
            <a:off x="626364" y="4826090"/>
            <a:ext cx="731520" cy="219456"/>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111111"/>
                </a:solidFill>
                <a:effectLst/>
                <a:uLnTx/>
                <a:uFillTx/>
                <a:latin typeface="Arial" pitchFamily="34" charset="0"/>
                <a:ea typeface="Arial" pitchFamily="34" charset="-122"/>
                <a:cs typeface="Arial" pitchFamily="34" charset="-120"/>
              </a:rPr>
              <a:t>Organic</a:t>
            </a:r>
            <a:endParaRPr kumimoji="0" lang="en-US"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2" name="Shape 37">
            <a:extLst>
              <a:ext uri="{FF2B5EF4-FFF2-40B4-BE49-F238E27FC236}">
                <a16:creationId xmlns:a16="http://schemas.microsoft.com/office/drawing/2014/main" id="{014A19AB-93CD-42DE-A558-036BBE02799C}"/>
              </a:ext>
            </a:extLst>
          </p:cNvPr>
          <p:cNvSpPr/>
          <p:nvPr/>
        </p:nvSpPr>
        <p:spPr>
          <a:xfrm>
            <a:off x="1385316" y="4844378"/>
            <a:ext cx="3886200" cy="201168"/>
          </a:xfrm>
          <a:prstGeom prst="rect">
            <a:avLst/>
          </a:prstGeom>
          <a:solidFill>
            <a:srgbClr val="EEF2F7"/>
          </a:solidFill>
          <a:ln w="12700">
            <a:solidFill>
              <a:srgbClr val="EEF2F7"/>
            </a:solidFill>
            <a:prstDash val="solid"/>
          </a:ln>
        </p:spPr>
      </p:sp>
      <p:sp>
        <p:nvSpPr>
          <p:cNvPr id="173" name="Shape 38">
            <a:extLst>
              <a:ext uri="{FF2B5EF4-FFF2-40B4-BE49-F238E27FC236}">
                <a16:creationId xmlns:a16="http://schemas.microsoft.com/office/drawing/2014/main" id="{F7A27238-D9E3-485B-8332-04A621352239}"/>
              </a:ext>
            </a:extLst>
          </p:cNvPr>
          <p:cNvSpPr/>
          <p:nvPr/>
        </p:nvSpPr>
        <p:spPr>
          <a:xfrm>
            <a:off x="1385316" y="4844378"/>
            <a:ext cx="655630" cy="201168"/>
          </a:xfrm>
          <a:prstGeom prst="rect">
            <a:avLst/>
          </a:prstGeom>
          <a:solidFill>
            <a:srgbClr val="5B86C4"/>
          </a:solidFill>
          <a:ln w="12700">
            <a:solidFill>
              <a:srgbClr val="5B86C4"/>
            </a:solidFill>
            <a:prstDash val="solid"/>
          </a:ln>
        </p:spPr>
      </p:sp>
      <p:sp>
        <p:nvSpPr>
          <p:cNvPr id="174" name="Text 39">
            <a:extLst>
              <a:ext uri="{FF2B5EF4-FFF2-40B4-BE49-F238E27FC236}">
                <a16:creationId xmlns:a16="http://schemas.microsoft.com/office/drawing/2014/main" id="{46CD09B4-731D-4E28-83E1-B7FC555CB8CA}"/>
              </a:ext>
            </a:extLst>
          </p:cNvPr>
          <p:cNvSpPr/>
          <p:nvPr/>
        </p:nvSpPr>
        <p:spPr>
          <a:xfrm>
            <a:off x="5298948" y="4826090"/>
            <a:ext cx="530352" cy="219456"/>
          </a:xfrm>
          <a:prstGeom prst="rect">
            <a:avLst/>
          </a:prstGeom>
          <a:noFill/>
          <a:ln/>
        </p:spPr>
        <p:txBody>
          <a:bodyPr wrap="square" lIns="0" tIns="0" rIns="0" bIns="0" rtlCol="0" anchor="ctr">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666666"/>
                </a:solidFill>
                <a:effectLst/>
                <a:uLnTx/>
                <a:uFillTx/>
                <a:latin typeface="Arial" pitchFamily="34" charset="0"/>
                <a:ea typeface="Arial" pitchFamily="34" charset="-122"/>
                <a:cs typeface="Arial" pitchFamily="34" charset="-120"/>
              </a:rPr>
              <a:t>4.7K  |  17%</a:t>
            </a:r>
            <a:endParaRPr kumimoji="0" lang="en-US" sz="9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5" name="Text 40">
            <a:extLst>
              <a:ext uri="{FF2B5EF4-FFF2-40B4-BE49-F238E27FC236}">
                <a16:creationId xmlns:a16="http://schemas.microsoft.com/office/drawing/2014/main" id="{EB32C577-07C1-4168-9D16-CB6D8386F623}"/>
              </a:ext>
            </a:extLst>
          </p:cNvPr>
          <p:cNvSpPr/>
          <p:nvPr/>
        </p:nvSpPr>
        <p:spPr>
          <a:xfrm>
            <a:off x="626364" y="5080277"/>
            <a:ext cx="731520" cy="219456"/>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111111"/>
                </a:solidFill>
                <a:effectLst/>
                <a:uLnTx/>
                <a:uFillTx/>
                <a:latin typeface="Arial" pitchFamily="34" charset="0"/>
                <a:ea typeface="Arial" pitchFamily="34" charset="-122"/>
                <a:cs typeface="Arial" pitchFamily="34" charset="-120"/>
              </a:rPr>
              <a:t>Mídia</a:t>
            </a:r>
            <a:endParaRPr kumimoji="0" lang="en-US"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6" name="Shape 41">
            <a:extLst>
              <a:ext uri="{FF2B5EF4-FFF2-40B4-BE49-F238E27FC236}">
                <a16:creationId xmlns:a16="http://schemas.microsoft.com/office/drawing/2014/main" id="{603C237E-3D17-43BA-A10B-B65B817AA1C9}"/>
              </a:ext>
            </a:extLst>
          </p:cNvPr>
          <p:cNvSpPr/>
          <p:nvPr/>
        </p:nvSpPr>
        <p:spPr>
          <a:xfrm>
            <a:off x="1385316" y="5098565"/>
            <a:ext cx="3886200" cy="201168"/>
          </a:xfrm>
          <a:prstGeom prst="rect">
            <a:avLst/>
          </a:prstGeom>
          <a:solidFill>
            <a:srgbClr val="EEF2F7"/>
          </a:solidFill>
          <a:ln w="12700">
            <a:solidFill>
              <a:srgbClr val="EEF2F7"/>
            </a:solidFill>
            <a:prstDash val="solid"/>
          </a:ln>
        </p:spPr>
      </p:sp>
      <p:sp>
        <p:nvSpPr>
          <p:cNvPr id="177" name="Shape 42">
            <a:extLst>
              <a:ext uri="{FF2B5EF4-FFF2-40B4-BE49-F238E27FC236}">
                <a16:creationId xmlns:a16="http://schemas.microsoft.com/office/drawing/2014/main" id="{1C721E88-90E2-4639-AAB8-20A7C713A895}"/>
              </a:ext>
            </a:extLst>
          </p:cNvPr>
          <p:cNvSpPr/>
          <p:nvPr/>
        </p:nvSpPr>
        <p:spPr>
          <a:xfrm>
            <a:off x="1385316" y="5098565"/>
            <a:ext cx="24490" cy="201168"/>
          </a:xfrm>
          <a:prstGeom prst="rect">
            <a:avLst/>
          </a:prstGeom>
          <a:solidFill>
            <a:srgbClr val="B8C8E0"/>
          </a:solidFill>
          <a:ln w="12700">
            <a:solidFill>
              <a:srgbClr val="B8C8E0"/>
            </a:solidFill>
            <a:prstDash val="solid"/>
          </a:ln>
        </p:spPr>
      </p:sp>
      <p:sp>
        <p:nvSpPr>
          <p:cNvPr id="178" name="Text 43">
            <a:extLst>
              <a:ext uri="{FF2B5EF4-FFF2-40B4-BE49-F238E27FC236}">
                <a16:creationId xmlns:a16="http://schemas.microsoft.com/office/drawing/2014/main" id="{29213BF6-D196-4AF8-A252-E6DC8925CB76}"/>
              </a:ext>
            </a:extLst>
          </p:cNvPr>
          <p:cNvSpPr/>
          <p:nvPr/>
        </p:nvSpPr>
        <p:spPr>
          <a:xfrm>
            <a:off x="5298948" y="5080277"/>
            <a:ext cx="530352" cy="219456"/>
          </a:xfrm>
          <a:prstGeom prst="rect">
            <a:avLst/>
          </a:prstGeom>
          <a:noFill/>
          <a:ln/>
        </p:spPr>
        <p:txBody>
          <a:bodyPr wrap="square" lIns="0" tIns="0" rIns="0" bIns="0" rtlCol="0" anchor="ctr">
            <a:normAutofit fontScale="92500"/>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666666"/>
                </a:solidFill>
                <a:effectLst/>
                <a:uLnTx/>
                <a:uFillTx/>
                <a:latin typeface="Arial" pitchFamily="34" charset="0"/>
                <a:ea typeface="Arial" pitchFamily="34" charset="-122"/>
                <a:cs typeface="Arial" pitchFamily="34" charset="-120"/>
              </a:rPr>
              <a:t>0.2K  |  1%</a:t>
            </a:r>
            <a:endParaRPr kumimoji="0" lang="en-US" sz="9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9" name="Text 44">
            <a:extLst>
              <a:ext uri="{FF2B5EF4-FFF2-40B4-BE49-F238E27FC236}">
                <a16:creationId xmlns:a16="http://schemas.microsoft.com/office/drawing/2014/main" id="{07C8910C-4D37-408A-93DD-BA2CDBA6D431}"/>
              </a:ext>
            </a:extLst>
          </p:cNvPr>
          <p:cNvSpPr/>
          <p:nvPr/>
        </p:nvSpPr>
        <p:spPr>
          <a:xfrm>
            <a:off x="621792" y="5470515"/>
            <a:ext cx="1828800" cy="22860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92D67"/>
                </a:solidFill>
                <a:effectLst/>
                <a:uLnTx/>
                <a:uFillTx/>
                <a:latin typeface="Arial" pitchFamily="34" charset="0"/>
                <a:ea typeface="Arial" pitchFamily="34" charset="-122"/>
                <a:cs typeface="Arial" pitchFamily="34" charset="-120"/>
              </a:rPr>
              <a:t>KEY DRIVERS</a:t>
            </a:r>
          </a:p>
        </p:txBody>
      </p:sp>
      <p:sp>
        <p:nvSpPr>
          <p:cNvPr id="180" name="Text 45">
            <a:extLst>
              <a:ext uri="{FF2B5EF4-FFF2-40B4-BE49-F238E27FC236}">
                <a16:creationId xmlns:a16="http://schemas.microsoft.com/office/drawing/2014/main" id="{952E3B00-EDCB-4970-8954-E3D166CCD1C8}"/>
              </a:ext>
            </a:extLst>
          </p:cNvPr>
          <p:cNvSpPr/>
          <p:nvPr/>
        </p:nvSpPr>
        <p:spPr>
          <a:xfrm>
            <a:off x="658368" y="5523163"/>
            <a:ext cx="5074920" cy="96012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222222"/>
                </a:solidFill>
                <a:effectLst/>
                <a:uLnTx/>
                <a:uFillTx/>
                <a:latin typeface="Arial" pitchFamily="34" charset="0"/>
                <a:ea typeface="Arial" pitchFamily="34" charset="-122"/>
                <a:cs typeface="Arial" pitchFamily="34" charset="-120"/>
              </a:rPr>
              <a:t>• CRM accounted for 82% of HRs, with 22.9K captures.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222222"/>
                </a:solidFill>
                <a:effectLst/>
                <a:uLnTx/>
                <a:uFillTx/>
                <a:latin typeface="Arial" pitchFamily="34" charset="0"/>
                <a:ea typeface="Arial" pitchFamily="34" charset="-122"/>
                <a:cs typeface="Arial" pitchFamily="34" charset="-120"/>
              </a:rPr>
              <a:t>• Organic represented ~44% of all Full Forms.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222222"/>
                </a:solidFill>
                <a:effectLst/>
                <a:uLnTx/>
                <a:uFillTx/>
                <a:latin typeface="Arial" pitchFamily="34" charset="0"/>
                <a:ea typeface="Arial" pitchFamily="34" charset="-122"/>
                <a:cs typeface="Arial" pitchFamily="34" charset="-120"/>
              </a:rPr>
              <a:t>• FF reached 10.6K vs. 4.1K expected — 2.59x target.</a:t>
            </a:r>
          </a:p>
        </p:txBody>
      </p:sp>
      <p:sp>
        <p:nvSpPr>
          <p:cNvPr id="183" name="Shape 48">
            <a:extLst>
              <a:ext uri="{FF2B5EF4-FFF2-40B4-BE49-F238E27FC236}">
                <a16:creationId xmlns:a16="http://schemas.microsoft.com/office/drawing/2014/main" id="{37044CF1-576A-43DA-8C89-6075F57D1EA1}"/>
              </a:ext>
            </a:extLst>
          </p:cNvPr>
          <p:cNvSpPr/>
          <p:nvPr/>
        </p:nvSpPr>
        <p:spPr>
          <a:xfrm>
            <a:off x="6236208" y="1956816"/>
            <a:ext cx="5559552" cy="4407408"/>
          </a:xfrm>
          <a:prstGeom prst="rect">
            <a:avLst/>
          </a:prstGeom>
          <a:solidFill>
            <a:srgbClr val="FFFFFF"/>
          </a:solidFill>
          <a:ln w="12700">
            <a:solidFill>
              <a:srgbClr val="C9C9C9"/>
            </a:solidFill>
            <a:prstDash val="solid"/>
          </a:ln>
        </p:spPr>
      </p:sp>
      <p:sp>
        <p:nvSpPr>
          <p:cNvPr id="184" name="Text 49">
            <a:extLst>
              <a:ext uri="{FF2B5EF4-FFF2-40B4-BE49-F238E27FC236}">
                <a16:creationId xmlns:a16="http://schemas.microsoft.com/office/drawing/2014/main" id="{7347A677-A3CE-416E-8613-50777B739960}"/>
              </a:ext>
            </a:extLst>
          </p:cNvPr>
          <p:cNvSpPr/>
          <p:nvPr/>
        </p:nvSpPr>
        <p:spPr>
          <a:xfrm>
            <a:off x="6419088" y="1865376"/>
            <a:ext cx="4114800" cy="256032"/>
          </a:xfrm>
          <a:prstGeom prst="rect">
            <a:avLst/>
          </a:prstGeom>
          <a:solidFill>
            <a:schemeClr val="bg1"/>
          </a:solid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92D67"/>
                </a:solidFill>
                <a:effectLst/>
                <a:uLnTx/>
                <a:uFillTx/>
                <a:latin typeface="Arial" pitchFamily="34" charset="0"/>
                <a:ea typeface="Arial" pitchFamily="34" charset="-122"/>
                <a:cs typeface="Arial" pitchFamily="34" charset="-120"/>
              </a:rPr>
              <a:t>HYPOTHESES / PERFORMANCE DRIVERS</a:t>
            </a:r>
          </a:p>
        </p:txBody>
      </p:sp>
      <p:sp>
        <p:nvSpPr>
          <p:cNvPr id="185" name="Text 50">
            <a:extLst>
              <a:ext uri="{FF2B5EF4-FFF2-40B4-BE49-F238E27FC236}">
                <a16:creationId xmlns:a16="http://schemas.microsoft.com/office/drawing/2014/main" id="{527F4D0C-D8C0-42BC-8058-4752651D7E29}"/>
              </a:ext>
            </a:extLst>
          </p:cNvPr>
          <p:cNvSpPr/>
          <p:nvPr/>
        </p:nvSpPr>
        <p:spPr>
          <a:xfrm>
            <a:off x="6473952" y="2113458"/>
            <a:ext cx="4937760" cy="256032"/>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a:ea typeface="+mn-ea"/>
                <a:cs typeface="+mn-cs"/>
              </a:rPr>
              <a:t>1. High Full Form conversion efficiency</a:t>
            </a:r>
            <a:endParaRPr kumimoji="0" lang="en-US"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6" name="Text 51">
            <a:extLst>
              <a:ext uri="{FF2B5EF4-FFF2-40B4-BE49-F238E27FC236}">
                <a16:creationId xmlns:a16="http://schemas.microsoft.com/office/drawing/2014/main" id="{3E87FE03-6C08-4E11-8C08-9C03E4ECC451}"/>
              </a:ext>
            </a:extLst>
          </p:cNvPr>
          <p:cNvSpPr/>
          <p:nvPr/>
        </p:nvSpPr>
        <p:spPr>
          <a:xfrm>
            <a:off x="6473952" y="2406066"/>
            <a:ext cx="4892040" cy="438912"/>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Arial"/>
                <a:ea typeface="+mn-ea"/>
                <a:cs typeface="+mn-cs"/>
              </a:rPr>
              <a:t>Even with fewer E-mail clicks, users who progressed in the journey converted to FF above expectations.</a:t>
            </a:r>
            <a:endParaRPr kumimoji="0" lang="en-US" sz="105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7" name="Shape 52">
            <a:extLst>
              <a:ext uri="{FF2B5EF4-FFF2-40B4-BE49-F238E27FC236}">
                <a16:creationId xmlns:a16="http://schemas.microsoft.com/office/drawing/2014/main" id="{0FD0A55E-63AA-47CF-9BEB-78772B406958}"/>
              </a:ext>
            </a:extLst>
          </p:cNvPr>
          <p:cNvSpPr/>
          <p:nvPr/>
        </p:nvSpPr>
        <p:spPr>
          <a:xfrm>
            <a:off x="6510528" y="2945562"/>
            <a:ext cx="1325880" cy="566928"/>
          </a:xfrm>
          <a:prstGeom prst="rect">
            <a:avLst/>
          </a:prstGeom>
          <a:solidFill>
            <a:srgbClr val="F8F9FB"/>
          </a:solidFill>
          <a:ln w="12700">
            <a:solidFill>
              <a:srgbClr val="D8D8D8"/>
            </a:solidFill>
            <a:prstDash val="solid"/>
          </a:ln>
        </p:spPr>
      </p:sp>
      <p:sp>
        <p:nvSpPr>
          <p:cNvPr id="188" name="Text 53">
            <a:extLst>
              <a:ext uri="{FF2B5EF4-FFF2-40B4-BE49-F238E27FC236}">
                <a16:creationId xmlns:a16="http://schemas.microsoft.com/office/drawing/2014/main" id="{0C51EC2C-71F0-42E3-B5C2-6CC4C36716D8}"/>
              </a:ext>
            </a:extLst>
          </p:cNvPr>
          <p:cNvSpPr/>
          <p:nvPr/>
        </p:nvSpPr>
        <p:spPr>
          <a:xfrm>
            <a:off x="6510528" y="3018714"/>
            <a:ext cx="1325880" cy="164592"/>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666666"/>
                </a:solidFill>
                <a:effectLst/>
                <a:uLnTx/>
                <a:uFillTx/>
                <a:latin typeface="Arial" pitchFamily="34" charset="0"/>
                <a:ea typeface="Arial" pitchFamily="34" charset="-122"/>
                <a:cs typeface="Arial" pitchFamily="34" charset="-120"/>
              </a:rPr>
              <a:t>CTR</a:t>
            </a:r>
            <a:endParaRPr kumimoji="0" lang="en-US" sz="9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9" name="Text 54">
            <a:extLst>
              <a:ext uri="{FF2B5EF4-FFF2-40B4-BE49-F238E27FC236}">
                <a16:creationId xmlns:a16="http://schemas.microsoft.com/office/drawing/2014/main" id="{BE82A143-1EB4-4477-9D1A-0EE6681AF155}"/>
              </a:ext>
            </a:extLst>
          </p:cNvPr>
          <p:cNvSpPr/>
          <p:nvPr/>
        </p:nvSpPr>
        <p:spPr>
          <a:xfrm>
            <a:off x="6510528" y="3210738"/>
            <a:ext cx="1325880" cy="201168"/>
          </a:xfrm>
          <a:prstGeom prst="rect">
            <a:avLst/>
          </a:prstGeom>
          <a:noFill/>
          <a:ln/>
        </p:spPr>
        <p:txBody>
          <a:bodyPr wrap="square" lIns="0" tIns="0" rIns="0" bIns="0" rtlCol="0" anchor="ctr">
            <a:normAutofit fontScale="92500"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C62828"/>
                </a:solidFill>
                <a:effectLst/>
                <a:uLnTx/>
                <a:uFillTx/>
                <a:latin typeface="Arial" pitchFamily="34" charset="0"/>
                <a:ea typeface="Arial" pitchFamily="34" charset="-122"/>
                <a:cs typeface="Arial" pitchFamily="34" charset="-120"/>
              </a:rPr>
              <a:t>0.66x</a:t>
            </a:r>
            <a:endParaRPr kumimoji="0" lang="en-US" sz="15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90" name="Text 55">
            <a:extLst>
              <a:ext uri="{FF2B5EF4-FFF2-40B4-BE49-F238E27FC236}">
                <a16:creationId xmlns:a16="http://schemas.microsoft.com/office/drawing/2014/main" id="{76A7665E-6FB5-44CB-B40D-1E94607F9302}"/>
              </a:ext>
            </a:extLst>
          </p:cNvPr>
          <p:cNvSpPr/>
          <p:nvPr/>
        </p:nvSpPr>
        <p:spPr>
          <a:xfrm>
            <a:off x="7863840" y="3101010"/>
            <a:ext cx="320040" cy="228600"/>
          </a:xfrm>
          <a:prstGeom prst="rect">
            <a:avLst/>
          </a:prstGeom>
          <a:noFill/>
          <a:ln/>
        </p:spPr>
        <p:txBody>
          <a:bodyPr wrap="square" lIns="0" tIns="0" rIns="0" bIns="0" rtlCol="0" anchor="ctr">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666666"/>
                </a:solidFill>
                <a:effectLst/>
                <a:uLnTx/>
                <a:uFillTx/>
                <a:latin typeface="Arial" pitchFamily="34" charset="0"/>
                <a:ea typeface="Arial" pitchFamily="34" charset="-122"/>
                <a:cs typeface="Arial" pitchFamily="34" charset="-120"/>
              </a:rPr>
              <a:t>→</a:t>
            </a:r>
            <a:endParaRPr kumimoji="0" lang="en-US" sz="16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91" name="Shape 56">
            <a:extLst>
              <a:ext uri="{FF2B5EF4-FFF2-40B4-BE49-F238E27FC236}">
                <a16:creationId xmlns:a16="http://schemas.microsoft.com/office/drawing/2014/main" id="{184E08BE-F6CA-4AE6-957C-A6BC8F0E14A0}"/>
              </a:ext>
            </a:extLst>
          </p:cNvPr>
          <p:cNvSpPr/>
          <p:nvPr/>
        </p:nvSpPr>
        <p:spPr>
          <a:xfrm>
            <a:off x="8174736" y="2945562"/>
            <a:ext cx="1325880" cy="566928"/>
          </a:xfrm>
          <a:prstGeom prst="rect">
            <a:avLst/>
          </a:prstGeom>
          <a:solidFill>
            <a:srgbClr val="F8F9FB"/>
          </a:solidFill>
          <a:ln w="12700">
            <a:solidFill>
              <a:srgbClr val="D8D8D8"/>
            </a:solidFill>
            <a:prstDash val="solid"/>
          </a:ln>
        </p:spPr>
      </p:sp>
      <p:sp>
        <p:nvSpPr>
          <p:cNvPr id="192" name="Text 57">
            <a:extLst>
              <a:ext uri="{FF2B5EF4-FFF2-40B4-BE49-F238E27FC236}">
                <a16:creationId xmlns:a16="http://schemas.microsoft.com/office/drawing/2014/main" id="{2F9BC76B-53F3-46EC-8F8B-6384E6AE698C}"/>
              </a:ext>
            </a:extLst>
          </p:cNvPr>
          <p:cNvSpPr/>
          <p:nvPr/>
        </p:nvSpPr>
        <p:spPr>
          <a:xfrm>
            <a:off x="8174736" y="3018714"/>
            <a:ext cx="1325880" cy="164592"/>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666666"/>
                </a:solidFill>
                <a:effectLst/>
                <a:uLnTx/>
                <a:uFillTx/>
                <a:latin typeface="Arial" pitchFamily="34" charset="0"/>
                <a:ea typeface="Arial" pitchFamily="34" charset="-122"/>
                <a:cs typeface="Arial" pitchFamily="34" charset="-120"/>
              </a:rPr>
              <a:t>FF</a:t>
            </a:r>
            <a:endParaRPr kumimoji="0" lang="en-US" sz="9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93" name="Text 58">
            <a:extLst>
              <a:ext uri="{FF2B5EF4-FFF2-40B4-BE49-F238E27FC236}">
                <a16:creationId xmlns:a16="http://schemas.microsoft.com/office/drawing/2014/main" id="{C9779A33-CBF8-46BB-86A9-2D6B49FE49D8}"/>
              </a:ext>
            </a:extLst>
          </p:cNvPr>
          <p:cNvSpPr/>
          <p:nvPr/>
        </p:nvSpPr>
        <p:spPr>
          <a:xfrm>
            <a:off x="8174736" y="3210738"/>
            <a:ext cx="1325880" cy="201168"/>
          </a:xfrm>
          <a:prstGeom prst="rect">
            <a:avLst/>
          </a:prstGeom>
          <a:noFill/>
          <a:ln/>
        </p:spPr>
        <p:txBody>
          <a:bodyPr wrap="square" lIns="0" tIns="0" rIns="0" bIns="0" rtlCol="0" anchor="ctr">
            <a:normAutofit fontScale="92500"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16844A"/>
                </a:solidFill>
                <a:effectLst/>
                <a:uLnTx/>
                <a:uFillTx/>
                <a:latin typeface="Arial" pitchFamily="34" charset="0"/>
                <a:ea typeface="Arial" pitchFamily="34" charset="-122"/>
                <a:cs typeface="Arial" pitchFamily="34" charset="-120"/>
              </a:rPr>
              <a:t>1.47x</a:t>
            </a:r>
            <a:endParaRPr kumimoji="0" lang="en-US" sz="15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94" name="Text 59">
            <a:extLst>
              <a:ext uri="{FF2B5EF4-FFF2-40B4-BE49-F238E27FC236}">
                <a16:creationId xmlns:a16="http://schemas.microsoft.com/office/drawing/2014/main" id="{4A092DE8-EBEA-46A7-B913-AA35823EAB36}"/>
              </a:ext>
            </a:extLst>
          </p:cNvPr>
          <p:cNvSpPr/>
          <p:nvPr/>
        </p:nvSpPr>
        <p:spPr>
          <a:xfrm>
            <a:off x="9528048" y="3101010"/>
            <a:ext cx="320040" cy="228600"/>
          </a:xfrm>
          <a:prstGeom prst="rect">
            <a:avLst/>
          </a:prstGeom>
          <a:noFill/>
          <a:ln/>
        </p:spPr>
        <p:txBody>
          <a:bodyPr wrap="square" lIns="0" tIns="0" rIns="0" bIns="0" rtlCol="0" anchor="ctr">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666666"/>
                </a:solidFill>
                <a:effectLst/>
                <a:uLnTx/>
                <a:uFillTx/>
                <a:latin typeface="Arial" pitchFamily="34" charset="0"/>
                <a:ea typeface="Arial" pitchFamily="34" charset="-122"/>
                <a:cs typeface="Arial" pitchFamily="34" charset="-120"/>
              </a:rPr>
              <a:t>→</a:t>
            </a:r>
            <a:endParaRPr kumimoji="0" lang="en-US" sz="16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95" name="Shape 60">
            <a:extLst>
              <a:ext uri="{FF2B5EF4-FFF2-40B4-BE49-F238E27FC236}">
                <a16:creationId xmlns:a16="http://schemas.microsoft.com/office/drawing/2014/main" id="{08C2F3CD-CBEB-4120-A6F7-901F39B73CCE}"/>
              </a:ext>
            </a:extLst>
          </p:cNvPr>
          <p:cNvSpPr/>
          <p:nvPr/>
        </p:nvSpPr>
        <p:spPr>
          <a:xfrm>
            <a:off x="9838944" y="2945562"/>
            <a:ext cx="1325880" cy="566928"/>
          </a:xfrm>
          <a:prstGeom prst="rect">
            <a:avLst/>
          </a:prstGeom>
          <a:solidFill>
            <a:srgbClr val="F8F9FB"/>
          </a:solidFill>
          <a:ln w="12700">
            <a:solidFill>
              <a:srgbClr val="D8D8D8"/>
            </a:solidFill>
            <a:prstDash val="solid"/>
          </a:ln>
        </p:spPr>
      </p:sp>
      <p:sp>
        <p:nvSpPr>
          <p:cNvPr id="196" name="Text 61">
            <a:extLst>
              <a:ext uri="{FF2B5EF4-FFF2-40B4-BE49-F238E27FC236}">
                <a16:creationId xmlns:a16="http://schemas.microsoft.com/office/drawing/2014/main" id="{9289BE78-BFD3-476D-B9AF-617003A86309}"/>
              </a:ext>
            </a:extLst>
          </p:cNvPr>
          <p:cNvSpPr/>
          <p:nvPr/>
        </p:nvSpPr>
        <p:spPr>
          <a:xfrm>
            <a:off x="9838944" y="3018714"/>
            <a:ext cx="1325880" cy="164592"/>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666666"/>
                </a:solidFill>
                <a:effectLst/>
                <a:uLnTx/>
                <a:uFillTx/>
                <a:latin typeface="Arial" pitchFamily="34" charset="0"/>
                <a:ea typeface="Arial" pitchFamily="34" charset="-122"/>
                <a:cs typeface="Arial" pitchFamily="34" charset="-120"/>
              </a:rPr>
              <a:t>FF/Click</a:t>
            </a:r>
            <a:endParaRPr kumimoji="0" lang="en-US" sz="9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97" name="Text 62">
            <a:extLst>
              <a:ext uri="{FF2B5EF4-FFF2-40B4-BE49-F238E27FC236}">
                <a16:creationId xmlns:a16="http://schemas.microsoft.com/office/drawing/2014/main" id="{F4A571A4-CE6C-442A-BDC0-5A6F88E9E807}"/>
              </a:ext>
            </a:extLst>
          </p:cNvPr>
          <p:cNvSpPr/>
          <p:nvPr/>
        </p:nvSpPr>
        <p:spPr>
          <a:xfrm>
            <a:off x="9838944" y="3210738"/>
            <a:ext cx="1325880" cy="201168"/>
          </a:xfrm>
          <a:prstGeom prst="rect">
            <a:avLst/>
          </a:prstGeom>
          <a:noFill/>
          <a:ln/>
        </p:spPr>
        <p:txBody>
          <a:bodyPr wrap="square" lIns="0" tIns="0" rIns="0" bIns="0" rtlCol="0" anchor="ctr">
            <a:normAutofit fontScale="92500"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16844A"/>
                </a:solidFill>
                <a:effectLst/>
                <a:uLnTx/>
                <a:uFillTx/>
                <a:latin typeface="Arial" pitchFamily="34" charset="0"/>
                <a:ea typeface="Arial" pitchFamily="34" charset="-122"/>
                <a:cs typeface="Arial" pitchFamily="34" charset="-120"/>
              </a:rPr>
              <a:t>2.22x</a:t>
            </a:r>
            <a:endParaRPr kumimoji="0" lang="en-US" sz="15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98" name="Text 63">
            <a:extLst>
              <a:ext uri="{FF2B5EF4-FFF2-40B4-BE49-F238E27FC236}">
                <a16:creationId xmlns:a16="http://schemas.microsoft.com/office/drawing/2014/main" id="{4E0644E8-DB91-4D51-AEB8-DA92D8781C0D}"/>
              </a:ext>
            </a:extLst>
          </p:cNvPr>
          <p:cNvSpPr/>
          <p:nvPr/>
        </p:nvSpPr>
        <p:spPr>
          <a:xfrm>
            <a:off x="6473952" y="3722802"/>
            <a:ext cx="4937760" cy="256032"/>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a:ea typeface="+mn-ea"/>
                <a:cs typeface="+mn-cs"/>
              </a:rPr>
              <a:t>2. Channels played different roles across the journey</a:t>
            </a:r>
            <a:endParaRPr kumimoji="0" lang="en-US"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8" name="Agrupar 7">
            <a:extLst>
              <a:ext uri="{FF2B5EF4-FFF2-40B4-BE49-F238E27FC236}">
                <a16:creationId xmlns:a16="http://schemas.microsoft.com/office/drawing/2014/main" id="{D8523195-B52D-466E-B711-4C23C2C814A2}"/>
              </a:ext>
            </a:extLst>
          </p:cNvPr>
          <p:cNvGrpSpPr/>
          <p:nvPr/>
        </p:nvGrpSpPr>
        <p:grpSpPr>
          <a:xfrm>
            <a:off x="6445643" y="4079418"/>
            <a:ext cx="5156569" cy="402265"/>
            <a:chOff x="6445643" y="4079418"/>
            <a:chExt cx="5156569" cy="402265"/>
          </a:xfrm>
        </p:grpSpPr>
        <p:sp>
          <p:nvSpPr>
            <p:cNvPr id="199" name="Shape 64">
              <a:extLst>
                <a:ext uri="{FF2B5EF4-FFF2-40B4-BE49-F238E27FC236}">
                  <a16:creationId xmlns:a16="http://schemas.microsoft.com/office/drawing/2014/main" id="{1E93E1F9-4271-461E-93DB-6A059C8BE48F}"/>
                </a:ext>
              </a:extLst>
            </p:cNvPr>
            <p:cNvSpPr/>
            <p:nvPr/>
          </p:nvSpPr>
          <p:spPr>
            <a:xfrm>
              <a:off x="6445643" y="4079418"/>
              <a:ext cx="5156569" cy="402265"/>
            </a:xfrm>
            <a:prstGeom prst="rect">
              <a:avLst/>
            </a:prstGeom>
            <a:solidFill>
              <a:srgbClr val="F1F5FA"/>
            </a:solidFill>
            <a:ln w="12700">
              <a:solidFill>
                <a:srgbClr val="DCE3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0" name="Text 65">
              <a:extLst>
                <a:ext uri="{FF2B5EF4-FFF2-40B4-BE49-F238E27FC236}">
                  <a16:creationId xmlns:a16="http://schemas.microsoft.com/office/drawing/2014/main" id="{DC5BD38B-4A33-43C7-9146-DFEE6BA1FE9C}"/>
                </a:ext>
              </a:extLst>
            </p:cNvPr>
            <p:cNvSpPr/>
            <p:nvPr/>
          </p:nvSpPr>
          <p:spPr>
            <a:xfrm>
              <a:off x="6583680" y="4213794"/>
              <a:ext cx="822960" cy="18288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92D67"/>
                  </a:solidFill>
                  <a:effectLst/>
                  <a:uLnTx/>
                  <a:uFillTx/>
                  <a:latin typeface="Arial" pitchFamily="34" charset="0"/>
                  <a:ea typeface="Arial" pitchFamily="34" charset="-122"/>
                  <a:cs typeface="Arial" pitchFamily="34" charset="-120"/>
                </a:rPr>
                <a:t>E-mail</a:t>
              </a:r>
              <a:endParaRPr kumimoji="0" lang="en-US"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1" name="Text 66">
              <a:extLst>
                <a:ext uri="{FF2B5EF4-FFF2-40B4-BE49-F238E27FC236}">
                  <a16:creationId xmlns:a16="http://schemas.microsoft.com/office/drawing/2014/main" id="{46672E46-0A19-4DEE-9C92-EA6EC53969A2}"/>
                </a:ext>
              </a:extLst>
            </p:cNvPr>
            <p:cNvSpPr/>
            <p:nvPr/>
          </p:nvSpPr>
          <p:spPr>
            <a:xfrm>
              <a:off x="7452360" y="4134282"/>
              <a:ext cx="2651760" cy="329184"/>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333333"/>
                  </a:solidFill>
                  <a:effectLst/>
                  <a:uLnTx/>
                  <a:uFillTx/>
                  <a:latin typeface="Arial" pitchFamily="34" charset="0"/>
                  <a:ea typeface="Arial" pitchFamily="34" charset="-122"/>
                  <a:cs typeface="Arial" pitchFamily="34" charset="-120"/>
                </a:rPr>
                <a:t>Main CRM driver for HR and FF</a:t>
              </a:r>
              <a:endParaRPr kumimoji="0" lang="en-US" sz="95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2" name="Text 67">
              <a:extLst>
                <a:ext uri="{FF2B5EF4-FFF2-40B4-BE49-F238E27FC236}">
                  <a16:creationId xmlns:a16="http://schemas.microsoft.com/office/drawing/2014/main" id="{45225FA4-D611-48EA-B53D-9E1E0744F16A}"/>
                </a:ext>
              </a:extLst>
            </p:cNvPr>
            <p:cNvSpPr/>
            <p:nvPr/>
          </p:nvSpPr>
          <p:spPr>
            <a:xfrm>
              <a:off x="10168128" y="4134282"/>
              <a:ext cx="1143000" cy="329184"/>
            </a:xfrm>
            <a:prstGeom prst="rect">
              <a:avLst/>
            </a:prstGeom>
            <a:noFill/>
            <a:ln/>
          </p:spPr>
          <p:txBody>
            <a:bodyPr wrap="square" lIns="0" tIns="0" rIns="0" bIns="0" rtlCol="0" anchor="ctr">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16844A"/>
                  </a:solidFill>
                  <a:effectLst/>
                  <a:uLnTx/>
                  <a:uFillTx/>
                  <a:latin typeface="Arial" pitchFamily="34" charset="0"/>
                  <a:ea typeface="Arial" pitchFamily="34" charset="-122"/>
                  <a:cs typeface="Arial" pitchFamily="34" charset="-120"/>
                </a:rPr>
                <a:t>5.0K FF | 1.47x</a:t>
              </a:r>
              <a:endParaRPr kumimoji="0" lang="en-US" sz="95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7" name="Agrupar 6">
            <a:extLst>
              <a:ext uri="{FF2B5EF4-FFF2-40B4-BE49-F238E27FC236}">
                <a16:creationId xmlns:a16="http://schemas.microsoft.com/office/drawing/2014/main" id="{48DB02E7-7F3F-47FB-A16E-BEF810EFAE3A}"/>
              </a:ext>
            </a:extLst>
          </p:cNvPr>
          <p:cNvGrpSpPr/>
          <p:nvPr/>
        </p:nvGrpSpPr>
        <p:grpSpPr>
          <a:xfrm>
            <a:off x="6454073" y="4521114"/>
            <a:ext cx="5156569" cy="402265"/>
            <a:chOff x="6473951" y="4600626"/>
            <a:chExt cx="5156569" cy="402265"/>
          </a:xfrm>
        </p:grpSpPr>
        <p:sp>
          <p:nvSpPr>
            <p:cNvPr id="203" name="Shape 68">
              <a:extLst>
                <a:ext uri="{FF2B5EF4-FFF2-40B4-BE49-F238E27FC236}">
                  <a16:creationId xmlns:a16="http://schemas.microsoft.com/office/drawing/2014/main" id="{83F639F6-7913-465A-87C9-8C218A1A5B62}"/>
                </a:ext>
              </a:extLst>
            </p:cNvPr>
            <p:cNvSpPr/>
            <p:nvPr/>
          </p:nvSpPr>
          <p:spPr>
            <a:xfrm>
              <a:off x="6473951" y="4600626"/>
              <a:ext cx="5156569" cy="402265"/>
            </a:xfrm>
            <a:prstGeom prst="rect">
              <a:avLst/>
            </a:prstGeom>
            <a:solidFill>
              <a:srgbClr val="F8FAFD"/>
            </a:solidFill>
            <a:ln w="12700">
              <a:solidFill>
                <a:srgbClr val="DCE3EC"/>
              </a:solidFill>
              <a:prstDash val="solid"/>
            </a:ln>
          </p:spPr>
        </p:sp>
        <p:sp>
          <p:nvSpPr>
            <p:cNvPr id="204" name="Text 69">
              <a:extLst>
                <a:ext uri="{FF2B5EF4-FFF2-40B4-BE49-F238E27FC236}">
                  <a16:creationId xmlns:a16="http://schemas.microsoft.com/office/drawing/2014/main" id="{822747E0-FEB3-4D25-B0A5-87615FF7DE24}"/>
                </a:ext>
              </a:extLst>
            </p:cNvPr>
            <p:cNvSpPr/>
            <p:nvPr/>
          </p:nvSpPr>
          <p:spPr>
            <a:xfrm>
              <a:off x="6583680" y="4729286"/>
              <a:ext cx="822960" cy="18288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92D67"/>
                  </a:solidFill>
                  <a:effectLst/>
                  <a:uLnTx/>
                  <a:uFillTx/>
                  <a:latin typeface="Arial" pitchFamily="34" charset="0"/>
                  <a:ea typeface="Arial" pitchFamily="34" charset="-122"/>
                  <a:cs typeface="Arial" pitchFamily="34" charset="-120"/>
                </a:rPr>
                <a:t>App Push</a:t>
              </a:r>
              <a:endParaRPr kumimoji="0" lang="en-US"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5" name="Text 70">
              <a:extLst>
                <a:ext uri="{FF2B5EF4-FFF2-40B4-BE49-F238E27FC236}">
                  <a16:creationId xmlns:a16="http://schemas.microsoft.com/office/drawing/2014/main" id="{2526C347-1A21-4380-9CD4-653429711C0E}"/>
                </a:ext>
              </a:extLst>
            </p:cNvPr>
            <p:cNvSpPr/>
            <p:nvPr/>
          </p:nvSpPr>
          <p:spPr>
            <a:xfrm>
              <a:off x="7491476" y="4655490"/>
              <a:ext cx="2651760" cy="329184"/>
            </a:xfrm>
            <a:prstGeom prst="rect">
              <a:avLst/>
            </a:prstGeom>
            <a:noFill/>
            <a:ln/>
          </p:spPr>
          <p:txBody>
            <a:bodyPr wrap="square" lIns="0" tIns="0" rIns="0" bIns="0" rtlCol="0" anchor="ctr">
              <a:norm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pt-BR" sz="1000" i="0" u="none" strike="noStrike" cap="none" normalizeH="0" baseline="0">
                  <a:ln>
                    <a:noFill/>
                  </a:ln>
                  <a:solidFill>
                    <a:schemeClr val="tx1"/>
                  </a:solidFill>
                  <a:effectLst/>
                  <a:latin typeface="Arial" panose="020B0604020202020204" pitchFamily="34" charset="0"/>
                </a:rPr>
                <a:t>Delivery scale; FF close to target </a:t>
              </a:r>
            </a:p>
          </p:txBody>
        </p:sp>
        <p:sp>
          <p:nvSpPr>
            <p:cNvPr id="206" name="Text 71">
              <a:extLst>
                <a:ext uri="{FF2B5EF4-FFF2-40B4-BE49-F238E27FC236}">
                  <a16:creationId xmlns:a16="http://schemas.microsoft.com/office/drawing/2014/main" id="{5319B8DA-B2B2-49D4-B38C-4A2B7C708DC7}"/>
                </a:ext>
              </a:extLst>
            </p:cNvPr>
            <p:cNvSpPr/>
            <p:nvPr/>
          </p:nvSpPr>
          <p:spPr>
            <a:xfrm>
              <a:off x="10168128" y="4664634"/>
              <a:ext cx="1143000" cy="329184"/>
            </a:xfrm>
            <a:prstGeom prst="rect">
              <a:avLst/>
            </a:prstGeom>
            <a:noFill/>
            <a:ln/>
          </p:spPr>
          <p:txBody>
            <a:bodyPr wrap="square" lIns="0" tIns="0" rIns="0" bIns="0" rtlCol="0" anchor="ctr">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16844A"/>
                  </a:solidFill>
                  <a:effectLst/>
                  <a:uLnTx/>
                  <a:uFillTx/>
                  <a:latin typeface="Arial" pitchFamily="34" charset="0"/>
                  <a:ea typeface="Arial" pitchFamily="34" charset="-122"/>
                  <a:cs typeface="Arial" pitchFamily="34" charset="-120"/>
                </a:rPr>
                <a:t>610 FF | 0.95x</a:t>
              </a:r>
              <a:endParaRPr kumimoji="0" lang="en-US" sz="95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9" name="Agrupar 8">
            <a:extLst>
              <a:ext uri="{FF2B5EF4-FFF2-40B4-BE49-F238E27FC236}">
                <a16:creationId xmlns:a16="http://schemas.microsoft.com/office/drawing/2014/main" id="{0F348F6D-577E-4B3C-8C17-CD306096D622}"/>
              </a:ext>
            </a:extLst>
          </p:cNvPr>
          <p:cNvGrpSpPr/>
          <p:nvPr/>
        </p:nvGrpSpPr>
        <p:grpSpPr>
          <a:xfrm>
            <a:off x="6454073" y="4962015"/>
            <a:ext cx="5156569" cy="403200"/>
            <a:chOff x="6473951" y="5130978"/>
            <a:chExt cx="5156569" cy="393192"/>
          </a:xfrm>
        </p:grpSpPr>
        <p:sp>
          <p:nvSpPr>
            <p:cNvPr id="207" name="Shape 72">
              <a:extLst>
                <a:ext uri="{FF2B5EF4-FFF2-40B4-BE49-F238E27FC236}">
                  <a16:creationId xmlns:a16="http://schemas.microsoft.com/office/drawing/2014/main" id="{EA550712-E840-46CA-8448-167D67B6E3DC}"/>
                </a:ext>
              </a:extLst>
            </p:cNvPr>
            <p:cNvSpPr/>
            <p:nvPr/>
          </p:nvSpPr>
          <p:spPr>
            <a:xfrm>
              <a:off x="6473951" y="5130978"/>
              <a:ext cx="5156569" cy="392185"/>
            </a:xfrm>
            <a:prstGeom prst="rect">
              <a:avLst/>
            </a:prstGeom>
            <a:solidFill>
              <a:srgbClr val="F1F5FA"/>
            </a:solidFill>
            <a:ln w="12700">
              <a:solidFill>
                <a:srgbClr val="DCE3EC"/>
              </a:solidFill>
              <a:prstDash val="solid"/>
            </a:ln>
          </p:spPr>
        </p:sp>
        <p:sp>
          <p:nvSpPr>
            <p:cNvPr id="208" name="Text 73">
              <a:extLst>
                <a:ext uri="{FF2B5EF4-FFF2-40B4-BE49-F238E27FC236}">
                  <a16:creationId xmlns:a16="http://schemas.microsoft.com/office/drawing/2014/main" id="{2DD4AF99-FE24-4AE7-AD62-757A22449612}"/>
                </a:ext>
              </a:extLst>
            </p:cNvPr>
            <p:cNvSpPr/>
            <p:nvPr/>
          </p:nvSpPr>
          <p:spPr>
            <a:xfrm>
              <a:off x="6583680" y="5250402"/>
              <a:ext cx="822960" cy="18288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92D67"/>
                  </a:solidFill>
                  <a:effectLst/>
                  <a:uLnTx/>
                  <a:uFillTx/>
                  <a:latin typeface="Arial" pitchFamily="34" charset="0"/>
                  <a:ea typeface="Arial" pitchFamily="34" charset="-122"/>
                  <a:cs typeface="Arial" pitchFamily="34" charset="-120"/>
                </a:rPr>
                <a:t>Webpush</a:t>
              </a:r>
              <a:endParaRPr kumimoji="0" lang="en-US"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9" name="Text 74">
              <a:extLst>
                <a:ext uri="{FF2B5EF4-FFF2-40B4-BE49-F238E27FC236}">
                  <a16:creationId xmlns:a16="http://schemas.microsoft.com/office/drawing/2014/main" id="{7FEDDA19-738A-4F26-8948-AB50C63B09FC}"/>
                </a:ext>
              </a:extLst>
            </p:cNvPr>
            <p:cNvSpPr/>
            <p:nvPr/>
          </p:nvSpPr>
          <p:spPr>
            <a:xfrm>
              <a:off x="7452360" y="5185047"/>
              <a:ext cx="2651760" cy="329184"/>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333333"/>
                  </a:solidFill>
                  <a:effectLst/>
                  <a:uLnTx/>
                  <a:uFillTx/>
                  <a:latin typeface="Arial" pitchFamily="34" charset="0"/>
                  <a:ea typeface="Arial" pitchFamily="34" charset="-122"/>
                  <a:cs typeface="Arial" pitchFamily="34" charset="-120"/>
                </a:rPr>
                <a:t>Strong traffic, with no HR conversion</a:t>
              </a:r>
              <a:endParaRPr kumimoji="0" lang="en-US" sz="95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0" name="Text 75">
              <a:extLst>
                <a:ext uri="{FF2B5EF4-FFF2-40B4-BE49-F238E27FC236}">
                  <a16:creationId xmlns:a16="http://schemas.microsoft.com/office/drawing/2014/main" id="{82E692B7-4CC7-4FDC-AAA1-54AFEE267301}"/>
                </a:ext>
              </a:extLst>
            </p:cNvPr>
            <p:cNvSpPr/>
            <p:nvPr/>
          </p:nvSpPr>
          <p:spPr>
            <a:xfrm>
              <a:off x="10168128" y="5194986"/>
              <a:ext cx="1143000" cy="329184"/>
            </a:xfrm>
            <a:prstGeom prst="rect">
              <a:avLst/>
            </a:prstGeom>
            <a:noFill/>
            <a:ln/>
          </p:spPr>
          <p:txBody>
            <a:bodyPr wrap="square" lIns="0" tIns="0" rIns="0" bIns="0" rtlCol="0" anchor="ctr">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C62828"/>
                  </a:solidFill>
                  <a:effectLst/>
                  <a:uLnTx/>
                  <a:uFillTx/>
                  <a:latin typeface="Arial" pitchFamily="34" charset="0"/>
                  <a:ea typeface="Arial" pitchFamily="34" charset="-122"/>
                  <a:cs typeface="Arial" pitchFamily="34" charset="-120"/>
                </a:rPr>
                <a:t>CTR 2.61x | FF 0</a:t>
              </a:r>
              <a:endParaRPr kumimoji="0" lang="en-US" sz="95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4" name="Agrupar 3">
            <a:extLst>
              <a:ext uri="{FF2B5EF4-FFF2-40B4-BE49-F238E27FC236}">
                <a16:creationId xmlns:a16="http://schemas.microsoft.com/office/drawing/2014/main" id="{65E23DBE-F44F-47F4-8857-2D5492043ECB}"/>
              </a:ext>
            </a:extLst>
          </p:cNvPr>
          <p:cNvGrpSpPr/>
          <p:nvPr/>
        </p:nvGrpSpPr>
        <p:grpSpPr>
          <a:xfrm>
            <a:off x="6440458" y="5881591"/>
            <a:ext cx="5191321" cy="411480"/>
            <a:chOff x="6523107" y="5867813"/>
            <a:chExt cx="5163587" cy="411480"/>
          </a:xfrm>
        </p:grpSpPr>
        <p:sp>
          <p:nvSpPr>
            <p:cNvPr id="211" name="Shape 76">
              <a:extLst>
                <a:ext uri="{FF2B5EF4-FFF2-40B4-BE49-F238E27FC236}">
                  <a16:creationId xmlns:a16="http://schemas.microsoft.com/office/drawing/2014/main" id="{85F2DEC6-C499-44B2-AEF3-212422184E71}"/>
                </a:ext>
              </a:extLst>
            </p:cNvPr>
            <p:cNvSpPr/>
            <p:nvPr/>
          </p:nvSpPr>
          <p:spPr>
            <a:xfrm>
              <a:off x="6523107" y="5867813"/>
              <a:ext cx="5156569" cy="411480"/>
            </a:xfrm>
            <a:prstGeom prst="rect">
              <a:avLst/>
            </a:prstGeom>
            <a:solidFill>
              <a:srgbClr val="FFF4E5"/>
            </a:solidFill>
            <a:ln w="12700">
              <a:solidFill>
                <a:srgbClr val="F2D2A2"/>
              </a:solidFill>
              <a:prstDash val="solid"/>
            </a:ln>
          </p:spPr>
        </p:sp>
        <p:sp>
          <p:nvSpPr>
            <p:cNvPr id="212" name="Text 77">
              <a:extLst>
                <a:ext uri="{FF2B5EF4-FFF2-40B4-BE49-F238E27FC236}">
                  <a16:creationId xmlns:a16="http://schemas.microsoft.com/office/drawing/2014/main" id="{B98904ED-A716-421D-B2F9-8C4F73EEBE87}"/>
                </a:ext>
              </a:extLst>
            </p:cNvPr>
            <p:cNvSpPr/>
            <p:nvPr/>
          </p:nvSpPr>
          <p:spPr>
            <a:xfrm>
              <a:off x="6559035" y="5940229"/>
              <a:ext cx="5127659" cy="270807"/>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8A4B08"/>
                  </a:solidFill>
                  <a:effectLst/>
                  <a:uLnTx/>
                  <a:uFillTx/>
                  <a:latin typeface="Arial" pitchFamily="34" charset="0"/>
                  <a:ea typeface="Arial" pitchFamily="34" charset="-122"/>
                  <a:cs typeface="Arial" pitchFamily="34" charset="-120"/>
                </a:rPr>
                <a:t>OPPORTUNITY: Evolve the HR strategy based on intent and engagement signals, combining source, channel, and behavior to drive more targeted journeys across GTM and Growth.</a:t>
              </a:r>
              <a:endParaRPr kumimoji="0" lang="en-US" sz="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213" name="Shape 78">
            <a:extLst>
              <a:ext uri="{FF2B5EF4-FFF2-40B4-BE49-F238E27FC236}">
                <a16:creationId xmlns:a16="http://schemas.microsoft.com/office/drawing/2014/main" id="{5F96CD89-21D1-4045-B9EE-9A326E7D0D70}"/>
              </a:ext>
            </a:extLst>
          </p:cNvPr>
          <p:cNvSpPr/>
          <p:nvPr/>
        </p:nvSpPr>
        <p:spPr>
          <a:xfrm>
            <a:off x="384048" y="6446520"/>
            <a:ext cx="11411712" cy="256032"/>
          </a:xfrm>
          <a:prstGeom prst="rect">
            <a:avLst/>
          </a:prstGeom>
          <a:solidFill>
            <a:srgbClr val="092D67"/>
          </a:solidFill>
          <a:ln w="12700">
            <a:solidFill>
              <a:srgbClr val="092D67"/>
            </a:solidFill>
            <a:prstDash val="solid"/>
          </a:ln>
        </p:spPr>
      </p:sp>
      <p:sp>
        <p:nvSpPr>
          <p:cNvPr id="214" name="Text 79">
            <a:extLst>
              <a:ext uri="{FF2B5EF4-FFF2-40B4-BE49-F238E27FC236}">
                <a16:creationId xmlns:a16="http://schemas.microsoft.com/office/drawing/2014/main" id="{2B54BD66-A82F-4FEB-914E-432A187E5338}"/>
              </a:ext>
            </a:extLst>
          </p:cNvPr>
          <p:cNvSpPr/>
          <p:nvPr/>
        </p:nvSpPr>
        <p:spPr>
          <a:xfrm>
            <a:off x="566928" y="6473952"/>
            <a:ext cx="10972800" cy="182880"/>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TAKE AWAY  |  VD One exceeds the HR target by 49%, driven by Full Form efficiency; the next step is to scale qualified traffic and conversion for launched products.</a:t>
            </a:r>
          </a:p>
        </p:txBody>
      </p:sp>
      <p:pic>
        <p:nvPicPr>
          <p:cNvPr id="3" name="Imagem 2">
            <a:extLst>
              <a:ext uri="{FF2B5EF4-FFF2-40B4-BE49-F238E27FC236}">
                <a16:creationId xmlns:a16="http://schemas.microsoft.com/office/drawing/2014/main" id="{D252104D-1078-4EC8-87E9-E1C03F98178E}"/>
              </a:ext>
            </a:extLst>
          </p:cNvPr>
          <p:cNvPicPr>
            <a:picLocks noChangeAspect="1"/>
          </p:cNvPicPr>
          <p:nvPr/>
        </p:nvPicPr>
        <p:blipFill>
          <a:blip r:embed="rId3"/>
          <a:stretch>
            <a:fillRect/>
          </a:stretch>
        </p:blipFill>
        <p:spPr>
          <a:xfrm>
            <a:off x="566927" y="2156139"/>
            <a:ext cx="5307807" cy="1574980"/>
          </a:xfrm>
          <a:prstGeom prst="rect">
            <a:avLst/>
          </a:prstGeom>
        </p:spPr>
      </p:pic>
      <p:pic>
        <p:nvPicPr>
          <p:cNvPr id="5" name="Gráfico 4" descr="Estrela com preenchimento sólido">
            <a:extLst>
              <a:ext uri="{FF2B5EF4-FFF2-40B4-BE49-F238E27FC236}">
                <a16:creationId xmlns:a16="http://schemas.microsoft.com/office/drawing/2014/main" id="{BCF82257-5755-4C34-A98E-8A3CC5F272C5}"/>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87041" y="2767290"/>
            <a:ext cx="208787" cy="208787"/>
          </a:xfrm>
          <a:prstGeom prst="rect">
            <a:avLst/>
          </a:prstGeom>
        </p:spPr>
      </p:pic>
      <p:sp>
        <p:nvSpPr>
          <p:cNvPr id="216" name="Título 1">
            <a:extLst>
              <a:ext uri="{FF2B5EF4-FFF2-40B4-BE49-F238E27FC236}">
                <a16:creationId xmlns:a16="http://schemas.microsoft.com/office/drawing/2014/main" id="{87752AB2-6100-421D-9237-A87001DA6346}"/>
              </a:ext>
            </a:extLst>
          </p:cNvPr>
          <p:cNvSpPr txBox="1"/>
          <p:nvPr/>
        </p:nvSpPr>
        <p:spPr>
          <a:xfrm>
            <a:off x="207355" y="86336"/>
            <a:ext cx="8453563" cy="483772"/>
          </a:xfrm>
          <a:prstGeom prst="rect">
            <a:avLst/>
          </a:prstGeom>
          <a:noFill/>
          <a:ln cap="flat">
            <a:noFill/>
          </a:ln>
        </p:spPr>
        <p:txBody>
          <a:bodyPr vert="horz" wrap="square" lIns="75730" tIns="37865" rIns="75730" bIns="37865" anchor="ctr" anchorCtr="0" compatLnSpc="1">
            <a:noAutofit/>
          </a:bodyPr>
          <a:lstStyle/>
          <a:p>
            <a:pPr marL="0" marR="0" lvl="0" indent="0" algn="l" defTabSz="914400" rtl="0" eaLnBrk="1" fontAlgn="auto" latinLnBrk="0" hangingPunct="1">
              <a:lnSpc>
                <a:spcPct val="90000"/>
              </a:lnSpc>
              <a:spcBef>
                <a:spcPts val="0"/>
              </a:spcBef>
              <a:spcAft>
                <a:spcPts val="0"/>
              </a:spcAft>
              <a:buClrTx/>
              <a:buSzTx/>
              <a:buFontTx/>
              <a:buNone/>
              <a:tabLst/>
              <a:defRPr sz="1800" b="0" i="0" u="none" strike="noStrike" kern="0" cap="none" spc="0" baseline="0">
                <a:solidFill>
                  <a:srgbClr val="000000"/>
                </a:solidFill>
                <a:uFillTx/>
              </a:defRPr>
            </a:pPr>
            <a:r>
              <a:rPr kumimoji="0" lang="en-GB" sz="2000" b="1" i="0" u="none" strike="noStrike" kern="0" cap="none" spc="0" normalizeH="0" baseline="0" noProof="0">
                <a:ln>
                  <a:noFill/>
                </a:ln>
                <a:solidFill>
                  <a:srgbClr val="000000"/>
                </a:solidFill>
                <a:effectLst/>
                <a:uLnTx/>
                <a:uFillTx/>
                <a:latin typeface="Roboto"/>
                <a:ea typeface="Roboto"/>
                <a:cs typeface="+mn-cs"/>
              </a:rPr>
              <a:t>GTM | </a:t>
            </a:r>
            <a:r>
              <a:rPr kumimoji="0" lang="pt-BR" sz="2000" b="1" i="0" u="none" strike="noStrike" kern="0" cap="none" spc="0" normalizeH="0" baseline="0" noProof="0">
                <a:ln>
                  <a:noFill/>
                </a:ln>
                <a:solidFill>
                  <a:srgbClr val="1428A0"/>
                </a:solidFill>
                <a:effectLst/>
                <a:uLnTx/>
                <a:uFillTx/>
                <a:latin typeface="Roboto"/>
                <a:ea typeface="Roboto"/>
                <a:cs typeface="+mn-cs"/>
              </a:rPr>
              <a:t>VD ONE - Teaser</a:t>
            </a:r>
            <a:endParaRPr kumimoji="0" lang="en-GB" sz="2000" b="1" i="0" u="none" strike="noStrike" kern="0" cap="none" spc="0" normalizeH="0" baseline="0" noProof="0">
              <a:ln>
                <a:noFill/>
              </a:ln>
              <a:solidFill>
                <a:srgbClr val="1428A0"/>
              </a:solidFill>
              <a:effectLst/>
              <a:uLnTx/>
              <a:uFillTx/>
              <a:latin typeface="Roboto"/>
              <a:ea typeface="Roboto"/>
              <a:cs typeface="+mn-cs"/>
            </a:endParaRPr>
          </a:p>
        </p:txBody>
      </p:sp>
      <p:grpSp>
        <p:nvGrpSpPr>
          <p:cNvPr id="6" name="Agrupar 5">
            <a:extLst>
              <a:ext uri="{FF2B5EF4-FFF2-40B4-BE49-F238E27FC236}">
                <a16:creationId xmlns:a16="http://schemas.microsoft.com/office/drawing/2014/main" id="{A618823E-1F97-4025-BBC6-3EC23C97B2BC}"/>
              </a:ext>
            </a:extLst>
          </p:cNvPr>
          <p:cNvGrpSpPr/>
          <p:nvPr/>
        </p:nvGrpSpPr>
        <p:grpSpPr>
          <a:xfrm>
            <a:off x="6445643" y="5423692"/>
            <a:ext cx="5213304" cy="411480"/>
            <a:chOff x="7751864" y="-436362"/>
            <a:chExt cx="5185453" cy="411480"/>
          </a:xfrm>
        </p:grpSpPr>
        <p:sp>
          <p:nvSpPr>
            <p:cNvPr id="89" name="Shape 76">
              <a:extLst>
                <a:ext uri="{FF2B5EF4-FFF2-40B4-BE49-F238E27FC236}">
                  <a16:creationId xmlns:a16="http://schemas.microsoft.com/office/drawing/2014/main" id="{FD39F698-6BFB-417B-8568-B804A347E363}"/>
                </a:ext>
              </a:extLst>
            </p:cNvPr>
            <p:cNvSpPr/>
            <p:nvPr/>
          </p:nvSpPr>
          <p:spPr>
            <a:xfrm>
              <a:off x="7751864" y="-436362"/>
              <a:ext cx="5156569" cy="411480"/>
            </a:xfrm>
            <a:prstGeom prst="rect">
              <a:avLst/>
            </a:prstGeom>
            <a:solidFill>
              <a:schemeClr val="accent6">
                <a:lumMod val="20000"/>
                <a:lumOff val="80000"/>
              </a:schemeClr>
            </a:solidFill>
            <a:ln w="12700">
              <a:solidFill>
                <a:schemeClr val="accent6">
                  <a:lumMod val="40000"/>
                  <a:lumOff val="60000"/>
                </a:schemeClr>
              </a:solidFill>
              <a:prstDash val="solid"/>
            </a:ln>
          </p:spPr>
        </p:sp>
        <p:sp>
          <p:nvSpPr>
            <p:cNvPr id="90" name="Text 77">
              <a:extLst>
                <a:ext uri="{FF2B5EF4-FFF2-40B4-BE49-F238E27FC236}">
                  <a16:creationId xmlns:a16="http://schemas.microsoft.com/office/drawing/2014/main" id="{61C7F1C3-1050-411E-B914-2EFD9A44C1CB}"/>
                </a:ext>
              </a:extLst>
            </p:cNvPr>
            <p:cNvSpPr/>
            <p:nvPr/>
          </p:nvSpPr>
          <p:spPr>
            <a:xfrm>
              <a:off x="7809657" y="-353599"/>
              <a:ext cx="5127660" cy="270807"/>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800" b="1" i="0" u="none" strike="noStrike" kern="1200" cap="none" spc="0" normalizeH="0" baseline="0" noProof="0">
                  <a:ln>
                    <a:noFill/>
                  </a:ln>
                  <a:solidFill>
                    <a:srgbClr val="4EA72E">
                      <a:lumMod val="50000"/>
                    </a:srgbClr>
                  </a:solidFill>
                  <a:effectLst/>
                  <a:uLnTx/>
                  <a:uFillTx/>
                  <a:latin typeface="Arial" pitchFamily="34" charset="0"/>
                  <a:ea typeface="Arial" pitchFamily="34" charset="-122"/>
                  <a:cs typeface="Arial" pitchFamily="34" charset="-120"/>
                </a:rPr>
                <a:t>LEARNING: </a:t>
              </a:r>
              <a:r>
                <a:rPr kumimoji="0" lang="en-US" sz="800" b="1" i="0" u="none" strike="noStrike" kern="1200" cap="none" spc="0" normalizeH="0" baseline="0" noProof="0">
                  <a:ln>
                    <a:noFill/>
                  </a:ln>
                  <a:solidFill>
                    <a:prstClr val="black"/>
                  </a:solidFill>
                  <a:effectLst/>
                  <a:uLnTx/>
                  <a:uFillTx/>
                  <a:latin typeface="Aptos" panose="020B0004020202020204"/>
                  <a:ea typeface="+mn-ea"/>
                  <a:cs typeface="+mn-cs"/>
                </a:rPr>
                <a:t>The creative optimization, including GIFs, a hard-sell approach, and more explicit product messaging, improved engagement and FF/OC conversion, reaching 9.3% OR in one of the EMKT touchpoints.</a:t>
              </a:r>
              <a:endParaRPr kumimoji="0" lang="en-US" sz="800" b="0" i="0" u="none" strike="noStrike" kern="1200" cap="none" spc="0" normalizeH="0" baseline="0" noProof="0">
                <a:ln>
                  <a:noFill/>
                </a:ln>
                <a:solidFill>
                  <a:srgbClr val="4EA72E">
                    <a:lumMod val="50000"/>
                  </a:srgbClr>
                </a:solidFill>
                <a:effectLst/>
                <a:uLnTx/>
                <a:uFillTx/>
                <a:latin typeface="Aptos" panose="020B0004020202020204"/>
                <a:ea typeface="+mn-ea"/>
                <a:cs typeface="+mn-cs"/>
              </a:endParaRPr>
            </a:p>
          </p:txBody>
        </p:sp>
      </p:grpSp>
    </p:spTree>
    <p:extLst>
      <p:ext uri="{BB962C8B-B14F-4D97-AF65-F5344CB8AC3E}">
        <p14:creationId xmlns:p14="http://schemas.microsoft.com/office/powerpoint/2010/main" val="32310219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heil-Logo(black).png" descr="Cheil-Logo(black).png">
            <a:extLst>
              <a:ext uri="{FF2B5EF4-FFF2-40B4-BE49-F238E27FC236}">
                <a16:creationId xmlns:a16="http://schemas.microsoft.com/office/drawing/2014/main" id="{DF344D88-4EA9-4E92-ADF7-61B55EE4B848}"/>
              </a:ext>
            </a:extLst>
          </p:cNvPr>
          <p:cNvPicPr>
            <a:picLocks noChangeAspect="1"/>
          </p:cNvPicPr>
          <p:nvPr/>
        </p:nvPicPr>
        <p:blipFill>
          <a:blip r:embed="rId2"/>
          <a:stretch>
            <a:fillRect/>
          </a:stretch>
        </p:blipFill>
        <p:spPr>
          <a:xfrm>
            <a:off x="254148" y="6329579"/>
            <a:ext cx="655342" cy="290146"/>
          </a:xfrm>
          <a:prstGeom prst="rect">
            <a:avLst/>
          </a:prstGeom>
          <a:ln w="12700">
            <a:miter lim="400000"/>
          </a:ln>
        </p:spPr>
      </p:pic>
      <p:sp>
        <p:nvSpPr>
          <p:cNvPr id="5" name="Galaxy A06…">
            <a:extLst>
              <a:ext uri="{FF2B5EF4-FFF2-40B4-BE49-F238E27FC236}">
                <a16:creationId xmlns:a16="http://schemas.microsoft.com/office/drawing/2014/main" id="{3C75C3A0-FAE2-4BE8-B90C-87B911D7AE60}"/>
              </a:ext>
            </a:extLst>
          </p:cNvPr>
          <p:cNvSpPr txBox="1"/>
          <p:nvPr/>
        </p:nvSpPr>
        <p:spPr>
          <a:xfrm>
            <a:off x="1061304" y="3079994"/>
            <a:ext cx="7392413" cy="69801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45719" tIns="45719" rIns="45719" bIns="45719" anchor="ctr">
            <a:spAutoFit/>
          </a:bodyPr>
          <a:lstStyle>
            <a:lvl1pPr defTabSz="1828800">
              <a:lnSpc>
                <a:spcPct val="80000"/>
              </a:lnSpc>
              <a:spcBef>
                <a:spcPts val="0"/>
              </a:spcBef>
              <a:defRPr sz="15000" spc="-450">
                <a:solidFill>
                  <a:srgbClr val="FFFFFF"/>
                </a:solidFill>
                <a:latin typeface="SamsungSharpSans-Medium"/>
                <a:ea typeface="SamsungSharpSans-Medium"/>
                <a:cs typeface="SamsungSharpSans-Medium"/>
                <a:sym typeface="SamsungSharpSans-Medium"/>
              </a:defRPr>
            </a:lvl1pPr>
          </a:lstStyle>
          <a:p>
            <a:pPr marL="0" marR="0" lvl="0" indent="0" defTabSz="1828800" eaLnBrk="1" fontAlgn="auto" latinLnBrk="0" hangingPunct="0">
              <a:lnSpc>
                <a:spcPct val="80000"/>
              </a:lnSpc>
              <a:spcBef>
                <a:spcPts val="0"/>
              </a:spcBef>
              <a:spcAft>
                <a:spcPts val="0"/>
              </a:spcAft>
              <a:buClrTx/>
              <a:buSzTx/>
              <a:buFontTx/>
              <a:buNone/>
              <a:tabLst/>
              <a:defRPr/>
            </a:pPr>
            <a:r>
              <a:rPr lang="pt-BR" sz="4800" kern="0" spc="0" err="1"/>
              <a:t>EPPs</a:t>
            </a:r>
            <a:endParaRPr kumimoji="0" lang="pt-BR" sz="4800" b="0" i="0" u="none" strike="noStrike" kern="0" cap="none" spc="0" normalizeH="0" baseline="0" noProof="0">
              <a:ln>
                <a:noFill/>
              </a:ln>
              <a:solidFill>
                <a:srgbClr val="FFFFFF"/>
              </a:solidFill>
              <a:effectLst/>
              <a:uLnTx/>
              <a:uFillTx/>
              <a:latin typeface="SamsungSharpSans-Medium"/>
              <a:ea typeface="SamsungSharpSans-Medium"/>
              <a:cs typeface="SamsungSharpSans-Medium"/>
              <a:sym typeface="SamsungSharpSans-Medium"/>
            </a:endParaRPr>
          </a:p>
        </p:txBody>
      </p:sp>
    </p:spTree>
    <p:extLst>
      <p:ext uri="{BB962C8B-B14F-4D97-AF65-F5344CB8AC3E}">
        <p14:creationId xmlns:p14="http://schemas.microsoft.com/office/powerpoint/2010/main" val="28857778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A3564D23-4C88-4AE5-A21B-17CABB53AAAB}"/>
              </a:ext>
            </a:extLst>
          </p:cNvPr>
          <p:cNvSpPr txBox="1"/>
          <p:nvPr/>
        </p:nvSpPr>
        <p:spPr>
          <a:xfrm>
            <a:off x="251633" y="155387"/>
            <a:ext cx="8453563" cy="483772"/>
          </a:xfrm>
          <a:prstGeom prst="rect">
            <a:avLst/>
          </a:prstGeom>
          <a:noFill/>
          <a:ln cap="flat">
            <a:noFill/>
          </a:ln>
        </p:spPr>
        <p:txBody>
          <a:bodyPr vert="horz" wrap="square" lIns="75730" tIns="37865" rIns="75730" bIns="37865" anchor="ctr" anchorCtr="0" compatLnSpc="1">
            <a:noAutofit/>
          </a:bodyPr>
          <a:lstStyle/>
          <a:p>
            <a:pPr marL="0" marR="0" lvl="0" indent="0" algn="l" defTabSz="914400" rtl="0" eaLnBrk="1" fontAlgn="auto" latinLnBrk="0" hangingPunct="1">
              <a:lnSpc>
                <a:spcPct val="90000"/>
              </a:lnSpc>
              <a:spcBef>
                <a:spcPts val="0"/>
              </a:spcBef>
              <a:spcAft>
                <a:spcPts val="0"/>
              </a:spcAft>
              <a:buClrTx/>
              <a:buSzTx/>
              <a:buFontTx/>
              <a:buNone/>
              <a:tabLst/>
              <a:defRPr sz="1800" b="0" i="0" u="none" strike="noStrike" kern="0" cap="none" spc="0" baseline="0">
                <a:solidFill>
                  <a:srgbClr val="000000"/>
                </a:solidFill>
                <a:uFillTx/>
              </a:defRPr>
            </a:pPr>
            <a:r>
              <a:rPr kumimoji="0" lang="en-GB" sz="2000" b="1" i="0" u="none" strike="noStrike" kern="0" cap="none" spc="0" normalizeH="0" baseline="0" noProof="0">
                <a:ln>
                  <a:noFill/>
                </a:ln>
                <a:solidFill>
                  <a:srgbClr val="000000"/>
                </a:solidFill>
                <a:effectLst/>
                <a:uLnTx/>
                <a:uFillTx/>
                <a:latin typeface="Roboto"/>
                <a:ea typeface="Roboto"/>
                <a:cs typeface="Samsung Sharp Sans Bold" pitchFamily="2"/>
              </a:rPr>
              <a:t>EPPs</a:t>
            </a:r>
            <a:r>
              <a:rPr kumimoji="0" lang="en-GB" sz="2000" b="1" i="0" u="none" strike="noStrike" kern="1200" cap="none" spc="0" normalizeH="0" baseline="0" noProof="0">
                <a:ln>
                  <a:noFill/>
                </a:ln>
                <a:solidFill>
                  <a:srgbClr val="000000"/>
                </a:solidFill>
                <a:effectLst/>
                <a:uLnTx/>
                <a:uFillTx/>
                <a:latin typeface="Roboto"/>
                <a:ea typeface="Roboto"/>
                <a:cs typeface="Samsung Sharp Sans Bold" pitchFamily="2"/>
              </a:rPr>
              <a:t> | </a:t>
            </a:r>
            <a:r>
              <a:rPr kumimoji="0" lang="en-GB" sz="2000" b="1" i="0" u="none" strike="noStrike" kern="0" cap="none" spc="0" normalizeH="0" baseline="0" noProof="0">
                <a:ln>
                  <a:noFill/>
                </a:ln>
                <a:solidFill>
                  <a:srgbClr val="1428A0"/>
                </a:solidFill>
                <a:effectLst/>
                <a:uLnTx/>
                <a:uFillTx/>
                <a:latin typeface="Roboto"/>
                <a:ea typeface="Roboto"/>
                <a:cs typeface="+mn-cs"/>
              </a:rPr>
              <a:t>Triggers</a:t>
            </a:r>
            <a:r>
              <a:rPr kumimoji="0" lang="en-GB" sz="2000" b="1" i="0" u="none" strike="noStrike" kern="0" cap="none" spc="0" normalizeH="0" baseline="0" noProof="0">
                <a:ln>
                  <a:noFill/>
                </a:ln>
                <a:solidFill>
                  <a:srgbClr val="1428A0"/>
                </a:solidFill>
                <a:effectLst/>
                <a:uLnTx/>
                <a:uFillTx/>
                <a:latin typeface="Roboto"/>
                <a:ea typeface="Roboto"/>
                <a:cs typeface="Samsung Sharp Sans Bold" pitchFamily="2"/>
              </a:rPr>
              <a:t> e non-triggers</a:t>
            </a:r>
            <a:endParaRPr kumimoji="0" lang="en-GB" sz="2000" b="1" i="0" u="none" strike="noStrike" kern="1200" cap="none" spc="0" normalizeH="0" baseline="0" noProof="0">
              <a:ln>
                <a:noFill/>
              </a:ln>
              <a:solidFill>
                <a:srgbClr val="1428A0"/>
              </a:solidFill>
              <a:effectLst/>
              <a:uLnTx/>
              <a:uFillTx/>
              <a:latin typeface="Roboto"/>
              <a:ea typeface="Roboto"/>
              <a:cs typeface="Samsung Sharp Sans Bold" pitchFamily="2"/>
            </a:endParaRPr>
          </a:p>
        </p:txBody>
      </p:sp>
      <p:sp>
        <p:nvSpPr>
          <p:cNvPr id="42" name="Espaço Reservado para Conteúdo 2">
            <a:extLst>
              <a:ext uri="{FF2B5EF4-FFF2-40B4-BE49-F238E27FC236}">
                <a16:creationId xmlns:a16="http://schemas.microsoft.com/office/drawing/2014/main" id="{46C358D2-D6C1-437C-AA6A-991B5235AAAE}"/>
              </a:ext>
            </a:extLst>
          </p:cNvPr>
          <p:cNvSpPr txBox="1"/>
          <p:nvPr/>
        </p:nvSpPr>
        <p:spPr>
          <a:xfrm>
            <a:off x="251632" y="649655"/>
            <a:ext cx="9217956" cy="355582"/>
          </a:xfrm>
          <a:prstGeom prst="rect">
            <a:avLst/>
          </a:prstGeom>
          <a:noFill/>
          <a:ln cap="flat">
            <a:noFill/>
          </a:ln>
        </p:spPr>
        <p:txBody>
          <a:bodyPr vert="horz" wrap="square" lIns="91440" tIns="45720" rIns="91440" bIns="45720" anchor="t" anchorCtr="0" compatLnSpc="1">
            <a:noAutofit/>
          </a:bodyPr>
          <a:lstStyle/>
          <a:p>
            <a:pPr defTabSz="912114">
              <a:defRPr/>
            </a:pPr>
            <a:r>
              <a:rPr lang="en-US" sz="1100">
                <a:solidFill>
                  <a:prstClr val="black"/>
                </a:solidFill>
                <a:ea typeface="+mn-lt"/>
                <a:cs typeface="+mn-lt"/>
              </a:rPr>
              <a:t>EPP revenue more than tripled YoY despite lower reach, with ~99% of revenue concentrated in Students and SMB triggers.</a:t>
            </a:r>
            <a:endParaRPr lang="pt-BR">
              <a:cs typeface="+mn-cs"/>
            </a:endParaRPr>
          </a:p>
        </p:txBody>
      </p:sp>
      <p:grpSp>
        <p:nvGrpSpPr>
          <p:cNvPr id="44" name="Agrupar 43">
            <a:extLst>
              <a:ext uri="{FF2B5EF4-FFF2-40B4-BE49-F238E27FC236}">
                <a16:creationId xmlns:a16="http://schemas.microsoft.com/office/drawing/2014/main" id="{A54BA103-FE0A-4B34-931F-CF1556D9D29E}"/>
              </a:ext>
            </a:extLst>
          </p:cNvPr>
          <p:cNvGrpSpPr/>
          <p:nvPr/>
        </p:nvGrpSpPr>
        <p:grpSpPr>
          <a:xfrm>
            <a:off x="251632" y="994910"/>
            <a:ext cx="8689894" cy="2397628"/>
            <a:chOff x="251632" y="1406530"/>
            <a:chExt cx="8451149" cy="2491702"/>
          </a:xfrm>
        </p:grpSpPr>
        <p:sp>
          <p:nvSpPr>
            <p:cNvPr id="45" name="Retângulo 44">
              <a:extLst>
                <a:ext uri="{FF2B5EF4-FFF2-40B4-BE49-F238E27FC236}">
                  <a16:creationId xmlns:a16="http://schemas.microsoft.com/office/drawing/2014/main" id="{A6F72C85-AF4F-4169-8F8F-9D3BEB10DA28}"/>
                </a:ext>
              </a:extLst>
            </p:cNvPr>
            <p:cNvSpPr/>
            <p:nvPr/>
          </p:nvSpPr>
          <p:spPr>
            <a:xfrm>
              <a:off x="251632" y="1560418"/>
              <a:ext cx="8451149" cy="2337814"/>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 name="CaixaDeTexto 45">
              <a:extLst>
                <a:ext uri="{FF2B5EF4-FFF2-40B4-BE49-F238E27FC236}">
                  <a16:creationId xmlns:a16="http://schemas.microsoft.com/office/drawing/2014/main" id="{F22D6782-FA27-4DD9-A5EC-10F729937862}"/>
                </a:ext>
              </a:extLst>
            </p:cNvPr>
            <p:cNvSpPr txBox="1"/>
            <p:nvPr/>
          </p:nvSpPr>
          <p:spPr>
            <a:xfrm>
              <a:off x="402446" y="1406530"/>
              <a:ext cx="1395375" cy="319853"/>
            </a:xfrm>
            <a:prstGeom prst="rect">
              <a:avLst/>
            </a:prstGeom>
            <a:solidFill>
              <a:sysClr val="window" lastClr="FFFFF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2060"/>
                  </a:solidFill>
                  <a:effectLst/>
                  <a:uLnTx/>
                  <a:uFillTx/>
                  <a:latin typeface="Samsung Sharp Sans Bold" panose="02000503000000020004"/>
                  <a:ea typeface="+mn-ea"/>
                  <a:cs typeface="+mn-cs"/>
                </a:rPr>
                <a:t>Big Numbers</a:t>
              </a:r>
            </a:p>
          </p:txBody>
        </p:sp>
      </p:grpSp>
      <p:sp>
        <p:nvSpPr>
          <p:cNvPr id="60" name="Retângulo: Cantos Arredondados 59">
            <a:extLst>
              <a:ext uri="{FF2B5EF4-FFF2-40B4-BE49-F238E27FC236}">
                <a16:creationId xmlns:a16="http://schemas.microsoft.com/office/drawing/2014/main" id="{8F222E55-4D5B-4964-83FD-E90C101C6B3F}"/>
              </a:ext>
            </a:extLst>
          </p:cNvPr>
          <p:cNvSpPr/>
          <p:nvPr/>
        </p:nvSpPr>
        <p:spPr>
          <a:xfrm>
            <a:off x="9081497" y="2038349"/>
            <a:ext cx="2984587" cy="4701853"/>
          </a:xfrm>
          <a:prstGeom prst="roundRect">
            <a:avLst>
              <a:gd name="adj" fmla="val 4184"/>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US" sz="105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rPr>
              <a:t>HIGHLIGHT</a:t>
            </a:r>
          </a:p>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US" sz="105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endParaRPr>
          </a:p>
          <a:p>
            <a:pPr marL="171450" indent="-171450">
              <a:spcAft>
                <a:spcPts val="600"/>
              </a:spcAft>
              <a:buFont typeface="Arial" panose="020B0604020202020204" pitchFamily="34" charset="0"/>
              <a:buChar char="•"/>
              <a:defRPr/>
            </a:pPr>
            <a:r>
              <a:rPr lang="pt-BR" sz="1050" b="1" err="1">
                <a:solidFill>
                  <a:prstClr val="black"/>
                </a:solidFill>
                <a:ea typeface="+mn-lt"/>
                <a:cs typeface="+mn-lt"/>
              </a:rPr>
              <a:t>Revenue</a:t>
            </a:r>
            <a:r>
              <a:rPr lang="pt-BR" sz="1050" b="1">
                <a:solidFill>
                  <a:prstClr val="black"/>
                </a:solidFill>
                <a:ea typeface="+mn-lt"/>
                <a:cs typeface="+mn-lt"/>
              </a:rPr>
              <a:t> </a:t>
            </a:r>
            <a:r>
              <a:rPr lang="pt-BR" sz="1050" b="1" err="1">
                <a:solidFill>
                  <a:prstClr val="black"/>
                </a:solidFill>
                <a:ea typeface="+mn-lt"/>
                <a:cs typeface="+mn-lt"/>
              </a:rPr>
              <a:t>reached</a:t>
            </a:r>
            <a:r>
              <a:rPr lang="pt-BR" sz="1050" b="1">
                <a:solidFill>
                  <a:prstClr val="black"/>
                </a:solidFill>
                <a:ea typeface="+mn-lt"/>
                <a:cs typeface="+mn-lt"/>
              </a:rPr>
              <a:t> R$568k</a:t>
            </a:r>
            <a:r>
              <a:rPr lang="pt-BR" sz="1050">
                <a:solidFill>
                  <a:prstClr val="black"/>
                </a:solidFill>
                <a:ea typeface="+mn-lt"/>
                <a:cs typeface="+mn-lt"/>
              </a:rPr>
              <a:t> (+282% </a:t>
            </a:r>
            <a:r>
              <a:rPr lang="pt-BR" sz="1050" err="1">
                <a:solidFill>
                  <a:prstClr val="black"/>
                </a:solidFill>
                <a:ea typeface="+mn-lt"/>
                <a:cs typeface="+mn-lt"/>
              </a:rPr>
              <a:t>YoY</a:t>
            </a:r>
            <a:r>
              <a:rPr lang="pt-BR" sz="1050">
                <a:solidFill>
                  <a:prstClr val="black"/>
                </a:solidFill>
                <a:ea typeface="+mn-lt"/>
                <a:cs typeface="+mn-lt"/>
              </a:rPr>
              <a:t>), </a:t>
            </a:r>
            <a:r>
              <a:rPr lang="pt-BR" sz="1050" err="1">
                <a:solidFill>
                  <a:prstClr val="black"/>
                </a:solidFill>
                <a:ea typeface="+mn-lt"/>
                <a:cs typeface="+mn-lt"/>
              </a:rPr>
              <a:t>driven</a:t>
            </a:r>
            <a:r>
              <a:rPr lang="pt-BR" sz="1050">
                <a:solidFill>
                  <a:prstClr val="black"/>
                </a:solidFill>
                <a:ea typeface="+mn-lt"/>
                <a:cs typeface="+mn-lt"/>
              </a:rPr>
              <a:t> </a:t>
            </a:r>
            <a:r>
              <a:rPr lang="pt-BR" sz="1050" err="1">
                <a:solidFill>
                  <a:prstClr val="black"/>
                </a:solidFill>
                <a:ea typeface="+mn-lt"/>
                <a:cs typeface="+mn-lt"/>
              </a:rPr>
              <a:t>by</a:t>
            </a:r>
            <a:r>
              <a:rPr lang="pt-BR" sz="1050">
                <a:solidFill>
                  <a:prstClr val="black"/>
                </a:solidFill>
                <a:ea typeface="+mn-lt"/>
                <a:cs typeface="+mn-lt"/>
              </a:rPr>
              <a:t> </a:t>
            </a:r>
            <a:r>
              <a:rPr lang="pt-BR" sz="1050" err="1">
                <a:solidFill>
                  <a:prstClr val="black"/>
                </a:solidFill>
                <a:ea typeface="+mn-lt"/>
                <a:cs typeface="+mn-lt"/>
              </a:rPr>
              <a:t>strong</a:t>
            </a:r>
            <a:r>
              <a:rPr lang="pt-BR" sz="1050">
                <a:solidFill>
                  <a:prstClr val="black"/>
                </a:solidFill>
                <a:ea typeface="+mn-lt"/>
                <a:cs typeface="+mn-lt"/>
              </a:rPr>
              <a:t> EPP trigger performance.</a:t>
            </a:r>
            <a:br>
              <a:rPr lang="pt-BR" sz="1050">
                <a:solidFill>
                  <a:prstClr val="black"/>
                </a:solidFill>
                <a:ea typeface="+mn-lt"/>
                <a:cs typeface="+mn-lt"/>
              </a:rPr>
            </a:br>
            <a:r>
              <a:rPr lang="pt-BR" sz="1050">
                <a:solidFill>
                  <a:prstClr val="black"/>
                </a:solidFill>
                <a:ea typeface="+mn-lt"/>
                <a:cs typeface="+mn-lt"/>
              </a:rPr>
              <a:t> </a:t>
            </a:r>
            <a:r>
              <a:rPr lang="pt-BR" sz="1050" err="1">
                <a:solidFill>
                  <a:prstClr val="black"/>
                </a:solidFill>
                <a:ea typeface="+mn-lt"/>
                <a:cs typeface="+mn-lt"/>
              </a:rPr>
              <a:t>Students</a:t>
            </a:r>
            <a:r>
              <a:rPr lang="pt-BR" sz="1050">
                <a:solidFill>
                  <a:prstClr val="black"/>
                </a:solidFill>
                <a:ea typeface="+mn-lt"/>
                <a:cs typeface="+mn-lt"/>
              </a:rPr>
              <a:t> </a:t>
            </a:r>
            <a:r>
              <a:rPr lang="pt-BR" sz="1050" err="1">
                <a:solidFill>
                  <a:prstClr val="black"/>
                </a:solidFill>
                <a:ea typeface="+mn-lt"/>
                <a:cs typeface="+mn-lt"/>
              </a:rPr>
              <a:t>generated</a:t>
            </a:r>
            <a:r>
              <a:rPr lang="pt-BR" sz="1050">
                <a:solidFill>
                  <a:prstClr val="black"/>
                </a:solidFill>
                <a:ea typeface="+mn-lt"/>
                <a:cs typeface="+mn-lt"/>
              </a:rPr>
              <a:t> R$399k (+319% </a:t>
            </a:r>
            <a:r>
              <a:rPr lang="pt-BR" sz="1050" err="1">
                <a:solidFill>
                  <a:prstClr val="black"/>
                </a:solidFill>
                <a:ea typeface="+mn-lt"/>
                <a:cs typeface="+mn-lt"/>
              </a:rPr>
              <a:t>YoY</a:t>
            </a:r>
            <a:r>
              <a:rPr lang="pt-BR" sz="1050">
                <a:solidFill>
                  <a:prstClr val="black"/>
                </a:solidFill>
                <a:ea typeface="+mn-lt"/>
                <a:cs typeface="+mn-lt"/>
              </a:rPr>
              <a:t>), </a:t>
            </a:r>
            <a:r>
              <a:rPr lang="pt-BR" sz="1050" err="1">
                <a:solidFill>
                  <a:prstClr val="black"/>
                </a:solidFill>
                <a:ea typeface="+mn-lt"/>
                <a:cs typeface="+mn-lt"/>
              </a:rPr>
              <a:t>while</a:t>
            </a:r>
            <a:r>
              <a:rPr lang="pt-BR" sz="1050">
                <a:solidFill>
                  <a:prstClr val="black"/>
                </a:solidFill>
                <a:ea typeface="+mn-lt"/>
                <a:cs typeface="+mn-lt"/>
              </a:rPr>
              <a:t> SMB </a:t>
            </a:r>
            <a:r>
              <a:rPr lang="pt-BR" sz="1050" err="1">
                <a:solidFill>
                  <a:prstClr val="black"/>
                </a:solidFill>
                <a:ea typeface="+mn-lt"/>
                <a:cs typeface="+mn-lt"/>
              </a:rPr>
              <a:t>delivered</a:t>
            </a:r>
            <a:r>
              <a:rPr lang="pt-BR" sz="1050">
                <a:solidFill>
                  <a:prstClr val="black"/>
                </a:solidFill>
                <a:ea typeface="+mn-lt"/>
                <a:cs typeface="+mn-lt"/>
              </a:rPr>
              <a:t> R$149k (+798% </a:t>
            </a:r>
            <a:r>
              <a:rPr lang="pt-BR" sz="1050" err="1">
                <a:solidFill>
                  <a:prstClr val="black"/>
                </a:solidFill>
                <a:ea typeface="+mn-lt"/>
                <a:cs typeface="+mn-lt"/>
              </a:rPr>
              <a:t>YoY</a:t>
            </a:r>
            <a:r>
              <a:rPr lang="pt-BR" sz="1050">
                <a:solidFill>
                  <a:prstClr val="black"/>
                </a:solidFill>
                <a:ea typeface="+mn-lt"/>
                <a:cs typeface="+mn-lt"/>
              </a:rPr>
              <a:t>), </a:t>
            </a:r>
            <a:r>
              <a:rPr lang="pt-BR" sz="1050" err="1">
                <a:solidFill>
                  <a:prstClr val="black"/>
                </a:solidFill>
                <a:ea typeface="+mn-lt"/>
                <a:cs typeface="+mn-lt"/>
              </a:rPr>
              <a:t>together</a:t>
            </a:r>
            <a:r>
              <a:rPr lang="pt-BR" sz="1050">
                <a:solidFill>
                  <a:prstClr val="black"/>
                </a:solidFill>
                <a:ea typeface="+mn-lt"/>
                <a:cs typeface="+mn-lt"/>
              </a:rPr>
              <a:t> </a:t>
            </a:r>
            <a:r>
              <a:rPr lang="pt-BR" sz="1050" err="1">
                <a:solidFill>
                  <a:prstClr val="black"/>
                </a:solidFill>
                <a:ea typeface="+mn-lt"/>
                <a:cs typeface="+mn-lt"/>
              </a:rPr>
              <a:t>accounting</a:t>
            </a:r>
            <a:r>
              <a:rPr lang="pt-BR" sz="1050">
                <a:solidFill>
                  <a:prstClr val="black"/>
                </a:solidFill>
                <a:ea typeface="+mn-lt"/>
                <a:cs typeface="+mn-lt"/>
              </a:rPr>
              <a:t> for ~96% </a:t>
            </a:r>
            <a:r>
              <a:rPr lang="pt-BR" sz="1050" err="1">
                <a:solidFill>
                  <a:prstClr val="black"/>
                </a:solidFill>
                <a:ea typeface="+mn-lt"/>
                <a:cs typeface="+mn-lt"/>
              </a:rPr>
              <a:t>of</a:t>
            </a:r>
            <a:r>
              <a:rPr lang="pt-BR" sz="1050">
                <a:solidFill>
                  <a:prstClr val="black"/>
                </a:solidFill>
                <a:ea typeface="+mn-lt"/>
                <a:cs typeface="+mn-lt"/>
              </a:rPr>
              <a:t> total EPP </a:t>
            </a:r>
            <a:r>
              <a:rPr lang="pt-BR" sz="1050" err="1">
                <a:solidFill>
                  <a:prstClr val="black"/>
                </a:solidFill>
                <a:ea typeface="+mn-lt"/>
                <a:cs typeface="+mn-lt"/>
              </a:rPr>
              <a:t>revenue</a:t>
            </a:r>
            <a:r>
              <a:rPr lang="pt-BR" sz="1050">
                <a:solidFill>
                  <a:prstClr val="black"/>
                </a:solidFill>
                <a:ea typeface="+mn-lt"/>
                <a:cs typeface="+mn-lt"/>
              </a:rPr>
              <a:t>.</a:t>
            </a:r>
            <a:br>
              <a:rPr lang="pt-BR" sz="1050" b="0" i="0" u="none" strike="noStrike" kern="1200" cap="none" spc="0" normalizeH="0" baseline="0" noProof="0">
                <a:ln>
                  <a:noFill/>
                </a:ln>
                <a:effectLst/>
                <a:uLnTx/>
                <a:uFillTx/>
                <a:latin typeface="Roboto" panose="02000000000000000000" pitchFamily="2" charset="0"/>
                <a:ea typeface="Roboto" panose="02000000000000000000" pitchFamily="2" charset="0"/>
              </a:rPr>
            </a:br>
            <a:endParaRPr lang="pt-BR" sz="105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Roboto"/>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rPr>
              <a:t>LOWLIGHT</a:t>
            </a:r>
          </a:p>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US" sz="105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mn-cs"/>
            </a:endParaRPr>
          </a:p>
          <a:p>
            <a:pPr marL="171450" indent="-171450">
              <a:spcBef>
                <a:spcPct val="0"/>
              </a:spcBef>
              <a:spcAft>
                <a:spcPct val="0"/>
              </a:spcAft>
              <a:buFont typeface="Arial" panose="020B0604020202020204" pitchFamily="34" charset="0"/>
              <a:buChar char="•"/>
              <a:defRPr/>
            </a:pPr>
            <a:r>
              <a:rPr lang="pt-BR" sz="1050" b="1" err="1">
                <a:solidFill>
                  <a:prstClr val="black"/>
                </a:solidFill>
                <a:ea typeface="+mn-lt"/>
                <a:cs typeface="+mn-lt"/>
              </a:rPr>
              <a:t>Engagement</a:t>
            </a:r>
            <a:r>
              <a:rPr lang="pt-BR" sz="1050" b="1">
                <a:solidFill>
                  <a:prstClr val="black"/>
                </a:solidFill>
                <a:ea typeface="+mn-lt"/>
                <a:cs typeface="+mn-lt"/>
              </a:rPr>
              <a:t> </a:t>
            </a:r>
            <a:r>
              <a:rPr lang="pt-BR" sz="1050" b="1" err="1">
                <a:solidFill>
                  <a:prstClr val="black"/>
                </a:solidFill>
                <a:ea typeface="+mn-lt"/>
                <a:cs typeface="+mn-lt"/>
              </a:rPr>
              <a:t>declined</a:t>
            </a:r>
            <a:r>
              <a:rPr lang="pt-BR" sz="1050" b="1">
                <a:solidFill>
                  <a:prstClr val="black"/>
                </a:solidFill>
                <a:ea typeface="+mn-lt"/>
                <a:cs typeface="+mn-lt"/>
              </a:rPr>
              <a:t> </a:t>
            </a:r>
            <a:r>
              <a:rPr lang="pt-BR" sz="1050" b="1" err="1">
                <a:solidFill>
                  <a:prstClr val="black"/>
                </a:solidFill>
                <a:ea typeface="+mn-lt"/>
                <a:cs typeface="+mn-lt"/>
              </a:rPr>
              <a:t>despite</a:t>
            </a:r>
            <a:r>
              <a:rPr lang="pt-BR" sz="1050" b="1">
                <a:solidFill>
                  <a:prstClr val="black"/>
                </a:solidFill>
                <a:ea typeface="+mn-lt"/>
                <a:cs typeface="+mn-lt"/>
              </a:rPr>
              <a:t> </a:t>
            </a:r>
            <a:r>
              <a:rPr lang="pt-BR" sz="1050" b="1" err="1">
                <a:solidFill>
                  <a:prstClr val="black"/>
                </a:solidFill>
                <a:ea typeface="+mn-lt"/>
                <a:cs typeface="+mn-lt"/>
              </a:rPr>
              <a:t>the</a:t>
            </a:r>
            <a:r>
              <a:rPr lang="pt-BR" sz="1050" b="1">
                <a:solidFill>
                  <a:prstClr val="black"/>
                </a:solidFill>
                <a:ea typeface="+mn-lt"/>
                <a:cs typeface="+mn-lt"/>
              </a:rPr>
              <a:t> </a:t>
            </a:r>
            <a:r>
              <a:rPr lang="pt-BR" sz="1050" b="1" err="1">
                <a:solidFill>
                  <a:prstClr val="black"/>
                </a:solidFill>
                <a:ea typeface="+mn-lt"/>
                <a:cs typeface="+mn-lt"/>
              </a:rPr>
              <a:t>revenue</a:t>
            </a:r>
            <a:r>
              <a:rPr lang="pt-BR" sz="1050" b="1">
                <a:solidFill>
                  <a:prstClr val="black"/>
                </a:solidFill>
                <a:ea typeface="+mn-lt"/>
                <a:cs typeface="+mn-lt"/>
              </a:rPr>
              <a:t> </a:t>
            </a:r>
            <a:r>
              <a:rPr lang="pt-BR" sz="1050" b="1" err="1">
                <a:solidFill>
                  <a:prstClr val="black"/>
                </a:solidFill>
                <a:ea typeface="+mn-lt"/>
                <a:cs typeface="+mn-lt"/>
              </a:rPr>
              <a:t>growth</a:t>
            </a:r>
            <a:r>
              <a:rPr lang="pt-BR" sz="1050" b="1">
                <a:solidFill>
                  <a:prstClr val="black"/>
                </a:solidFill>
                <a:ea typeface="+mn-lt"/>
                <a:cs typeface="+mn-lt"/>
              </a:rPr>
              <a:t>:  </a:t>
            </a:r>
            <a:r>
              <a:rPr lang="pt-BR" sz="1050">
                <a:solidFill>
                  <a:prstClr val="black"/>
                </a:solidFill>
                <a:ea typeface="+mn-lt"/>
                <a:cs typeface="+mn-lt"/>
              </a:rPr>
              <a:t>Deliveries </a:t>
            </a:r>
            <a:r>
              <a:rPr lang="pt-BR" sz="1050" err="1">
                <a:solidFill>
                  <a:prstClr val="black"/>
                </a:solidFill>
                <a:ea typeface="+mn-lt"/>
                <a:cs typeface="+mn-lt"/>
              </a:rPr>
              <a:t>fell</a:t>
            </a:r>
            <a:r>
              <a:rPr lang="pt-BR" sz="1050">
                <a:solidFill>
                  <a:prstClr val="black"/>
                </a:solidFill>
                <a:ea typeface="+mn-lt"/>
                <a:cs typeface="+mn-lt"/>
              </a:rPr>
              <a:t> 23% </a:t>
            </a:r>
            <a:r>
              <a:rPr lang="pt-BR" sz="1050" err="1">
                <a:solidFill>
                  <a:prstClr val="black"/>
                </a:solidFill>
                <a:ea typeface="+mn-lt"/>
                <a:cs typeface="+mn-lt"/>
              </a:rPr>
              <a:t>YoY</a:t>
            </a:r>
            <a:r>
              <a:rPr lang="pt-BR" sz="1050">
                <a:solidFill>
                  <a:prstClr val="black"/>
                </a:solidFill>
                <a:ea typeface="+mn-lt"/>
                <a:cs typeface="+mn-lt"/>
              </a:rPr>
              <a:t>, </a:t>
            </a:r>
            <a:r>
              <a:rPr lang="pt-BR" sz="1050" err="1">
                <a:solidFill>
                  <a:prstClr val="black"/>
                </a:solidFill>
                <a:ea typeface="+mn-lt"/>
                <a:cs typeface="+mn-lt"/>
              </a:rPr>
              <a:t>while</a:t>
            </a:r>
            <a:r>
              <a:rPr lang="pt-BR" sz="1050">
                <a:solidFill>
                  <a:prstClr val="black"/>
                </a:solidFill>
                <a:ea typeface="+mn-lt"/>
                <a:cs typeface="+mn-lt"/>
              </a:rPr>
              <a:t> Opens </a:t>
            </a:r>
            <a:r>
              <a:rPr lang="pt-BR" sz="1050" err="1">
                <a:solidFill>
                  <a:prstClr val="black"/>
                </a:solidFill>
                <a:ea typeface="+mn-lt"/>
                <a:cs typeface="+mn-lt"/>
              </a:rPr>
              <a:t>and</a:t>
            </a:r>
            <a:r>
              <a:rPr lang="pt-BR" sz="1050">
                <a:solidFill>
                  <a:prstClr val="black"/>
                </a:solidFill>
                <a:ea typeface="+mn-lt"/>
                <a:cs typeface="+mn-lt"/>
              </a:rPr>
              <a:t> Clicks </a:t>
            </a:r>
            <a:r>
              <a:rPr lang="pt-BR" sz="1050" err="1">
                <a:solidFill>
                  <a:prstClr val="black"/>
                </a:solidFill>
                <a:ea typeface="+mn-lt"/>
                <a:cs typeface="+mn-lt"/>
              </a:rPr>
              <a:t>decreased</a:t>
            </a:r>
            <a:r>
              <a:rPr lang="pt-BR" sz="1050">
                <a:solidFill>
                  <a:prstClr val="black"/>
                </a:solidFill>
                <a:ea typeface="+mn-lt"/>
                <a:cs typeface="+mn-lt"/>
              </a:rPr>
              <a:t> 63% </a:t>
            </a:r>
            <a:r>
              <a:rPr lang="pt-BR" sz="1050" err="1">
                <a:solidFill>
                  <a:prstClr val="black"/>
                </a:solidFill>
                <a:ea typeface="+mn-lt"/>
                <a:cs typeface="+mn-lt"/>
              </a:rPr>
              <a:t>and</a:t>
            </a:r>
            <a:r>
              <a:rPr lang="pt-BR" sz="1050">
                <a:solidFill>
                  <a:prstClr val="black"/>
                </a:solidFill>
                <a:ea typeface="+mn-lt"/>
                <a:cs typeface="+mn-lt"/>
              </a:rPr>
              <a:t> 27%, </a:t>
            </a:r>
            <a:r>
              <a:rPr lang="pt-BR" sz="1050" err="1">
                <a:solidFill>
                  <a:prstClr val="black"/>
                </a:solidFill>
                <a:ea typeface="+mn-lt"/>
                <a:cs typeface="+mn-lt"/>
              </a:rPr>
              <a:t>respectively</a:t>
            </a:r>
            <a:r>
              <a:rPr lang="pt-BR" sz="1050">
                <a:solidFill>
                  <a:prstClr val="black"/>
                </a:solidFill>
                <a:ea typeface="+mn-lt"/>
                <a:cs typeface="+mn-lt"/>
              </a:rPr>
              <a:t>. Wallet </a:t>
            </a:r>
            <a:r>
              <a:rPr lang="pt-BR" sz="1050" err="1">
                <a:solidFill>
                  <a:prstClr val="black"/>
                </a:solidFill>
                <a:ea typeface="+mn-lt"/>
                <a:cs typeface="+mn-lt"/>
              </a:rPr>
              <a:t>concentrated</a:t>
            </a:r>
            <a:r>
              <a:rPr lang="pt-BR" sz="1050">
                <a:solidFill>
                  <a:prstClr val="black"/>
                </a:solidFill>
                <a:ea typeface="+mn-lt"/>
                <a:cs typeface="+mn-lt"/>
              </a:rPr>
              <a:t> </a:t>
            </a:r>
            <a:r>
              <a:rPr lang="pt-BR" sz="1050" err="1">
                <a:solidFill>
                  <a:prstClr val="black"/>
                </a:solidFill>
                <a:ea typeface="+mn-lt"/>
                <a:cs typeface="+mn-lt"/>
              </a:rPr>
              <a:t>most</a:t>
            </a:r>
            <a:r>
              <a:rPr lang="pt-BR" sz="1050">
                <a:solidFill>
                  <a:prstClr val="black"/>
                </a:solidFill>
                <a:ea typeface="+mn-lt"/>
                <a:cs typeface="+mn-lt"/>
              </a:rPr>
              <a:t> </a:t>
            </a:r>
            <a:r>
              <a:rPr lang="pt-BR" sz="1050" err="1">
                <a:solidFill>
                  <a:prstClr val="black"/>
                </a:solidFill>
                <a:ea typeface="+mn-lt"/>
                <a:cs typeface="+mn-lt"/>
              </a:rPr>
              <a:t>of</a:t>
            </a:r>
            <a:r>
              <a:rPr lang="pt-BR" sz="1050">
                <a:solidFill>
                  <a:prstClr val="black"/>
                </a:solidFill>
                <a:ea typeface="+mn-lt"/>
                <a:cs typeface="+mn-lt"/>
              </a:rPr>
              <a:t> </a:t>
            </a:r>
            <a:r>
              <a:rPr lang="pt-BR" sz="1050" err="1">
                <a:solidFill>
                  <a:prstClr val="black"/>
                </a:solidFill>
                <a:ea typeface="+mn-lt"/>
                <a:cs typeface="+mn-lt"/>
              </a:rPr>
              <a:t>the</a:t>
            </a:r>
            <a:r>
              <a:rPr lang="pt-BR" sz="1050">
                <a:solidFill>
                  <a:prstClr val="black"/>
                </a:solidFill>
                <a:ea typeface="+mn-lt"/>
                <a:cs typeface="+mn-lt"/>
              </a:rPr>
              <a:t> volume </a:t>
            </a:r>
            <a:r>
              <a:rPr lang="pt-BR" sz="1050" err="1">
                <a:solidFill>
                  <a:prstClr val="black"/>
                </a:solidFill>
                <a:ea typeface="+mn-lt"/>
                <a:cs typeface="+mn-lt"/>
              </a:rPr>
              <a:t>but</a:t>
            </a:r>
            <a:r>
              <a:rPr lang="pt-BR" sz="1050">
                <a:solidFill>
                  <a:prstClr val="black"/>
                </a:solidFill>
                <a:ea typeface="+mn-lt"/>
                <a:cs typeface="+mn-lt"/>
              </a:rPr>
              <a:t> </a:t>
            </a:r>
            <a:r>
              <a:rPr lang="pt-BR" sz="1050" err="1">
                <a:solidFill>
                  <a:prstClr val="black"/>
                </a:solidFill>
                <a:ea typeface="+mn-lt"/>
                <a:cs typeface="+mn-lt"/>
              </a:rPr>
              <a:t>generated</a:t>
            </a:r>
            <a:r>
              <a:rPr lang="pt-BR" sz="1050">
                <a:solidFill>
                  <a:prstClr val="black"/>
                </a:solidFill>
                <a:ea typeface="+mn-lt"/>
                <a:cs typeface="+mn-lt"/>
              </a:rPr>
              <a:t> </a:t>
            </a:r>
            <a:r>
              <a:rPr lang="pt-BR" sz="1050" err="1">
                <a:solidFill>
                  <a:prstClr val="black"/>
                </a:solidFill>
                <a:ea typeface="+mn-lt"/>
                <a:cs typeface="+mn-lt"/>
              </a:rPr>
              <a:t>only</a:t>
            </a:r>
            <a:r>
              <a:rPr lang="pt-BR" sz="1050">
                <a:solidFill>
                  <a:prstClr val="black"/>
                </a:solidFill>
                <a:ea typeface="+mn-lt"/>
                <a:cs typeface="+mn-lt"/>
              </a:rPr>
              <a:t> R$13k, </a:t>
            </a:r>
            <a:r>
              <a:rPr lang="pt-BR" sz="1050" err="1">
                <a:solidFill>
                  <a:prstClr val="black"/>
                </a:solidFill>
                <a:ea typeface="+mn-lt"/>
                <a:cs typeface="+mn-lt"/>
              </a:rPr>
              <a:t>showing</a:t>
            </a:r>
            <a:r>
              <a:rPr lang="pt-BR" sz="1050">
                <a:solidFill>
                  <a:prstClr val="black"/>
                </a:solidFill>
                <a:ea typeface="+mn-lt"/>
                <a:cs typeface="+mn-lt"/>
              </a:rPr>
              <a:t> a </a:t>
            </a:r>
            <a:r>
              <a:rPr lang="pt-BR" sz="1050" err="1">
                <a:solidFill>
                  <a:prstClr val="black"/>
                </a:solidFill>
                <a:ea typeface="+mn-lt"/>
                <a:cs typeface="+mn-lt"/>
              </a:rPr>
              <a:t>significant</a:t>
            </a:r>
            <a:r>
              <a:rPr lang="pt-BR" sz="1050">
                <a:solidFill>
                  <a:prstClr val="black"/>
                </a:solidFill>
                <a:ea typeface="+mn-lt"/>
                <a:cs typeface="+mn-lt"/>
              </a:rPr>
              <a:t> gap </a:t>
            </a:r>
            <a:r>
              <a:rPr lang="pt-BR" sz="1050" err="1">
                <a:solidFill>
                  <a:prstClr val="black"/>
                </a:solidFill>
                <a:ea typeface="+mn-lt"/>
                <a:cs typeface="+mn-lt"/>
              </a:rPr>
              <a:t>between</a:t>
            </a:r>
            <a:r>
              <a:rPr lang="pt-BR" sz="1050">
                <a:solidFill>
                  <a:prstClr val="black"/>
                </a:solidFill>
                <a:ea typeface="+mn-lt"/>
                <a:cs typeface="+mn-lt"/>
              </a:rPr>
              <a:t> </a:t>
            </a:r>
            <a:r>
              <a:rPr lang="pt-BR" sz="1050" err="1">
                <a:solidFill>
                  <a:prstClr val="black"/>
                </a:solidFill>
                <a:ea typeface="+mn-lt"/>
                <a:cs typeface="+mn-lt"/>
              </a:rPr>
              <a:t>reach</a:t>
            </a:r>
            <a:r>
              <a:rPr lang="pt-BR" sz="1050">
                <a:solidFill>
                  <a:prstClr val="black"/>
                </a:solidFill>
                <a:ea typeface="+mn-lt"/>
                <a:cs typeface="+mn-lt"/>
              </a:rPr>
              <a:t> </a:t>
            </a:r>
            <a:r>
              <a:rPr lang="pt-BR" sz="1050" err="1">
                <a:solidFill>
                  <a:prstClr val="black"/>
                </a:solidFill>
                <a:ea typeface="+mn-lt"/>
                <a:cs typeface="+mn-lt"/>
              </a:rPr>
              <a:t>and</a:t>
            </a:r>
            <a:r>
              <a:rPr lang="pt-BR" sz="1050">
                <a:solidFill>
                  <a:prstClr val="black"/>
                </a:solidFill>
                <a:ea typeface="+mn-lt"/>
                <a:cs typeface="+mn-lt"/>
              </a:rPr>
              <a:t> </a:t>
            </a:r>
            <a:r>
              <a:rPr lang="pt-BR" sz="1050" err="1">
                <a:solidFill>
                  <a:prstClr val="black"/>
                </a:solidFill>
                <a:ea typeface="+mn-lt"/>
                <a:cs typeface="+mn-lt"/>
              </a:rPr>
              <a:t>revenue</a:t>
            </a:r>
            <a:r>
              <a:rPr lang="pt-BR" sz="1050">
                <a:solidFill>
                  <a:prstClr val="black"/>
                </a:solidFill>
                <a:ea typeface="+mn-lt"/>
                <a:cs typeface="+mn-lt"/>
              </a:rPr>
              <a:t> </a:t>
            </a:r>
            <a:r>
              <a:rPr lang="pt-BR" sz="1050" err="1">
                <a:solidFill>
                  <a:prstClr val="black"/>
                </a:solidFill>
                <a:ea typeface="+mn-lt"/>
                <a:cs typeface="+mn-lt"/>
              </a:rPr>
              <a:t>contribution</a:t>
            </a:r>
            <a:r>
              <a:rPr lang="pt-BR" sz="1050">
                <a:solidFill>
                  <a:prstClr val="black"/>
                </a:solidFill>
                <a:ea typeface="+mn-lt"/>
                <a:cs typeface="+mn-lt"/>
              </a:rPr>
              <a:t>.</a:t>
            </a:r>
            <a:endParaRPr lang="pt-BR">
              <a:solidFill>
                <a:prstClr val="black"/>
              </a:solidFill>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pt-BR" altLang="pt-BR" sz="105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4" name="Retângulo 33">
            <a:extLst>
              <a:ext uri="{FF2B5EF4-FFF2-40B4-BE49-F238E27FC236}">
                <a16:creationId xmlns:a16="http://schemas.microsoft.com/office/drawing/2014/main" id="{14A46EDA-42C1-4B13-B820-AA069B2B7407}"/>
              </a:ext>
            </a:extLst>
          </p:cNvPr>
          <p:cNvSpPr/>
          <p:nvPr/>
        </p:nvSpPr>
        <p:spPr>
          <a:xfrm>
            <a:off x="9469588" y="1169102"/>
            <a:ext cx="1204498" cy="7013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Revenue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a:solidFill>
                  <a:srgbClr val="061799"/>
                </a:solidFill>
                <a:latin typeface="Roboto"/>
                <a:ea typeface="Roboto"/>
                <a:cs typeface="Roboto"/>
              </a:rPr>
              <a:t>568k</a:t>
            </a:r>
            <a:endParaRPr lang="en-US" sz="2000" b="1" i="0" u="none" strike="noStrike" kern="1200" cap="none" spc="0" normalizeH="0" baseline="0" noProof="0">
              <a:ln>
                <a:noFill/>
              </a:ln>
              <a:solidFill>
                <a:srgbClr val="061799"/>
              </a:solidFill>
              <a:effectLst/>
              <a:uLnTx/>
              <a:uFillTx/>
              <a:latin typeface="Roboto" panose="02000000000000000000" pitchFamily="2" charset="0"/>
              <a:ea typeface="Roboto" panose="02000000000000000000" pitchFamily="2" charset="0"/>
              <a:cs typeface="Roboto"/>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a:solidFill>
                  <a:prstClr val="black"/>
                </a:solidFill>
                <a:latin typeface="Roboto"/>
                <a:ea typeface="Roboto"/>
                <a:cs typeface="Roboto"/>
              </a:rPr>
              <a:t>3.84</a:t>
            </a:r>
            <a:endParaRPr lang="en-US" sz="1400" b="1" i="0" u="none" strike="noStrike" kern="1200" cap="none" spc="0" normalizeH="0" baseline="0" noProof="0">
              <a:ln>
                <a:noFill/>
              </a:ln>
              <a:solidFill>
                <a:prstClr val="black"/>
              </a:solidFill>
              <a:effectLst/>
              <a:uLnTx/>
              <a:uFillTx/>
              <a:latin typeface="Roboto"/>
              <a:ea typeface="Roboto"/>
              <a:cs typeface="Roboto"/>
            </a:endParaRPr>
          </a:p>
        </p:txBody>
      </p:sp>
      <p:sp>
        <p:nvSpPr>
          <p:cNvPr id="37" name="Retângulo 36">
            <a:extLst>
              <a:ext uri="{FF2B5EF4-FFF2-40B4-BE49-F238E27FC236}">
                <a16:creationId xmlns:a16="http://schemas.microsoft.com/office/drawing/2014/main" id="{132888C1-05F6-4009-B297-7E7F121A596D}"/>
              </a:ext>
            </a:extLst>
          </p:cNvPr>
          <p:cNvSpPr/>
          <p:nvPr/>
        </p:nvSpPr>
        <p:spPr>
          <a:xfrm>
            <a:off x="10841415" y="1169102"/>
            <a:ext cx="1204498" cy="7013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Unit</a:t>
            </a:r>
          </a:p>
          <a:p>
            <a:pPr algn="ctr">
              <a:defRPr/>
            </a:pPr>
            <a:r>
              <a:rPr lang="en-US" sz="2000" b="1">
                <a:solidFill>
                  <a:srgbClr val="061799"/>
                </a:solidFill>
                <a:latin typeface="Roboto"/>
                <a:ea typeface="Roboto"/>
                <a:cs typeface="Roboto"/>
              </a:rPr>
              <a:t>262</a:t>
            </a:r>
            <a:endParaRPr lang="en-US" sz="1400" b="1">
              <a:solidFill>
                <a:srgbClr val="000000"/>
              </a:solidFill>
              <a:latin typeface="Roboto" panose="02000000000000000000" pitchFamily="2" charset="0"/>
              <a:ea typeface="Roboto" panose="02000000000000000000" pitchFamily="2" charset="0"/>
              <a:cs typeface="Roboto"/>
            </a:endParaRPr>
          </a:p>
          <a:p>
            <a:pPr marL="0" marR="0" lvl="0" indent="0" algn="ctr" defTabSz="914400" rtl="0">
              <a:lnSpc>
                <a:spcPct val="100000"/>
              </a:lnSpc>
              <a:spcBef>
                <a:spcPts val="0"/>
              </a:spcBef>
              <a:spcAft>
                <a:spcPts val="0"/>
              </a:spcAft>
              <a:buClrTx/>
              <a:buSzTx/>
              <a:buFontTx/>
              <a:buNone/>
              <a:tabLst/>
              <a:defRPr/>
            </a:pPr>
            <a:r>
              <a:rPr lang="en-US" sz="1400" b="1">
                <a:solidFill>
                  <a:prstClr val="black"/>
                </a:solidFill>
                <a:latin typeface="Roboto" panose="02000000000000000000" pitchFamily="2" charset="0"/>
                <a:ea typeface="Roboto" panose="02000000000000000000" pitchFamily="2" charset="0"/>
                <a:cs typeface="Roboto"/>
              </a:rPr>
              <a:t>3.78</a:t>
            </a:r>
            <a:endParaRPr lang="en-US" sz="14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Roboto"/>
            </a:endParaRPr>
          </a:p>
        </p:txBody>
      </p:sp>
      <p:sp>
        <p:nvSpPr>
          <p:cNvPr id="38" name="CaixaDeTexto 37">
            <a:extLst>
              <a:ext uri="{FF2B5EF4-FFF2-40B4-BE49-F238E27FC236}">
                <a16:creationId xmlns:a16="http://schemas.microsoft.com/office/drawing/2014/main" id="{7618D7AD-C6AC-47D2-AB52-1F21BADB3C78}"/>
              </a:ext>
            </a:extLst>
          </p:cNvPr>
          <p:cNvSpPr txBox="1"/>
          <p:nvPr/>
        </p:nvSpPr>
        <p:spPr>
          <a:xfrm>
            <a:off x="9096600" y="1639170"/>
            <a:ext cx="823481" cy="230832"/>
          </a:xfrm>
          <a:prstGeom prst="rect">
            <a:avLst/>
          </a:prstGeom>
          <a:noFill/>
        </p:spPr>
        <p:txBody>
          <a:bodyPr wrap="square" rtlCol="0">
            <a:spAutoFit/>
          </a:bodyPr>
          <a:lstStyle>
            <a:defPPr>
              <a:defRPr lang="de-DE"/>
            </a:defPPr>
            <a:lvl1pPr marR="0" lvl="0" indent="0" fontAlgn="auto">
              <a:lnSpc>
                <a:spcPct val="100000"/>
              </a:lnSpc>
              <a:spcBef>
                <a:spcPts val="0"/>
              </a:spcBef>
              <a:spcAft>
                <a:spcPts val="0"/>
              </a:spcAft>
              <a:buClrTx/>
              <a:buSzTx/>
              <a:buFontTx/>
              <a:buNone/>
              <a:tabLst/>
              <a:defRPr kumimoji="0" sz="1100" b="0" i="0" u="none" strike="noStrike" cap="none" spc="0" normalizeH="0" baseline="0">
                <a:ln>
                  <a:noFill/>
                </a:ln>
                <a:solidFill>
                  <a:prstClr val="black"/>
                </a:solidFill>
                <a:effectLst/>
                <a:uLnTx/>
                <a:uFillTx/>
                <a:latin typeface="Roboto" panose="02000000000000000000" pitchFamily="2" charset="0"/>
                <a:ea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G/R</a:t>
            </a:r>
          </a:p>
        </p:txBody>
      </p:sp>
      <p:cxnSp>
        <p:nvCxnSpPr>
          <p:cNvPr id="40" name="Conector reto 39">
            <a:extLst>
              <a:ext uri="{FF2B5EF4-FFF2-40B4-BE49-F238E27FC236}">
                <a16:creationId xmlns:a16="http://schemas.microsoft.com/office/drawing/2014/main" id="{1FB32648-1E2A-4C53-86AC-138A32B97F77}"/>
              </a:ext>
            </a:extLst>
          </p:cNvPr>
          <p:cNvCxnSpPr/>
          <p:nvPr/>
        </p:nvCxnSpPr>
        <p:spPr>
          <a:xfrm>
            <a:off x="9198862" y="1649826"/>
            <a:ext cx="2880000" cy="0"/>
          </a:xfrm>
          <a:prstGeom prst="line">
            <a:avLst/>
          </a:prstGeom>
          <a:ln w="6350">
            <a:solidFill>
              <a:schemeClr val="bg2">
                <a:lumMod val="90000"/>
              </a:schemeClr>
            </a:solidFill>
            <a:prstDash val="dash"/>
          </a:ln>
        </p:spPr>
        <p:style>
          <a:lnRef idx="2">
            <a:schemeClr val="accent1"/>
          </a:lnRef>
          <a:fillRef idx="0">
            <a:schemeClr val="accent1"/>
          </a:fillRef>
          <a:effectRef idx="1">
            <a:schemeClr val="accent1"/>
          </a:effectRef>
          <a:fontRef idx="minor">
            <a:schemeClr val="tx1"/>
          </a:fontRef>
        </p:style>
      </p:cxnSp>
      <p:grpSp>
        <p:nvGrpSpPr>
          <p:cNvPr id="58" name="Agrupar 57">
            <a:extLst>
              <a:ext uri="{FF2B5EF4-FFF2-40B4-BE49-F238E27FC236}">
                <a16:creationId xmlns:a16="http://schemas.microsoft.com/office/drawing/2014/main" id="{AA1089CA-7A2B-41D3-9AAD-3CC0B8280951}"/>
              </a:ext>
            </a:extLst>
          </p:cNvPr>
          <p:cNvGrpSpPr/>
          <p:nvPr/>
        </p:nvGrpSpPr>
        <p:grpSpPr>
          <a:xfrm>
            <a:off x="251632" y="4576860"/>
            <a:ext cx="8689894" cy="2163343"/>
            <a:chOff x="251632" y="1650007"/>
            <a:chExt cx="8451149" cy="2248225"/>
          </a:xfrm>
        </p:grpSpPr>
        <p:sp>
          <p:nvSpPr>
            <p:cNvPr id="59" name="Retângulo 58">
              <a:extLst>
                <a:ext uri="{FF2B5EF4-FFF2-40B4-BE49-F238E27FC236}">
                  <a16:creationId xmlns:a16="http://schemas.microsoft.com/office/drawing/2014/main" id="{6B7F3DFA-D0D5-468E-ADC4-5D904AC1D42F}"/>
                </a:ext>
              </a:extLst>
            </p:cNvPr>
            <p:cNvSpPr/>
            <p:nvPr/>
          </p:nvSpPr>
          <p:spPr>
            <a:xfrm>
              <a:off x="251632" y="1809935"/>
              <a:ext cx="8451149" cy="2088297"/>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CaixaDeTexto 60">
              <a:extLst>
                <a:ext uri="{FF2B5EF4-FFF2-40B4-BE49-F238E27FC236}">
                  <a16:creationId xmlns:a16="http://schemas.microsoft.com/office/drawing/2014/main" id="{6A9ED88A-A82A-402B-9AA5-71C0BC8C930D}"/>
                </a:ext>
              </a:extLst>
            </p:cNvPr>
            <p:cNvSpPr txBox="1"/>
            <p:nvPr/>
          </p:nvSpPr>
          <p:spPr>
            <a:xfrm>
              <a:off x="402446" y="1650007"/>
              <a:ext cx="1395375" cy="319853"/>
            </a:xfrm>
            <a:prstGeom prst="rect">
              <a:avLst/>
            </a:prstGeom>
            <a:solidFill>
              <a:sysClr val="window" lastClr="FFFFF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2060"/>
                  </a:solidFill>
                  <a:effectLst/>
                  <a:uLnTx/>
                  <a:uFillTx/>
                  <a:latin typeface="Samsung Sharp Sans Bold" panose="02000503000000020004"/>
                  <a:ea typeface="+mn-ea"/>
                  <a:cs typeface="+mn-cs"/>
                </a:rPr>
                <a:t>EPPs Details</a:t>
              </a:r>
            </a:p>
          </p:txBody>
        </p:sp>
      </p:grpSp>
      <p:grpSp>
        <p:nvGrpSpPr>
          <p:cNvPr id="63" name="Agrupar 62">
            <a:extLst>
              <a:ext uri="{FF2B5EF4-FFF2-40B4-BE49-F238E27FC236}">
                <a16:creationId xmlns:a16="http://schemas.microsoft.com/office/drawing/2014/main" id="{34406E56-4167-4676-B3AE-8B43FE1EBEAF}"/>
              </a:ext>
            </a:extLst>
          </p:cNvPr>
          <p:cNvGrpSpPr/>
          <p:nvPr/>
        </p:nvGrpSpPr>
        <p:grpSpPr>
          <a:xfrm>
            <a:off x="251632" y="3513402"/>
            <a:ext cx="8689894" cy="976047"/>
            <a:chOff x="251632" y="1650007"/>
            <a:chExt cx="8451149" cy="1014344"/>
          </a:xfrm>
        </p:grpSpPr>
        <p:sp>
          <p:nvSpPr>
            <p:cNvPr id="64" name="Retângulo 63">
              <a:extLst>
                <a:ext uri="{FF2B5EF4-FFF2-40B4-BE49-F238E27FC236}">
                  <a16:creationId xmlns:a16="http://schemas.microsoft.com/office/drawing/2014/main" id="{DE46C383-E9BB-400F-A5B4-14933A4B70CF}"/>
                </a:ext>
              </a:extLst>
            </p:cNvPr>
            <p:cNvSpPr/>
            <p:nvPr/>
          </p:nvSpPr>
          <p:spPr>
            <a:xfrm>
              <a:off x="251632" y="1809935"/>
              <a:ext cx="8451149" cy="854416"/>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5" name="CaixaDeTexto 64">
              <a:extLst>
                <a:ext uri="{FF2B5EF4-FFF2-40B4-BE49-F238E27FC236}">
                  <a16:creationId xmlns:a16="http://schemas.microsoft.com/office/drawing/2014/main" id="{AF0502B3-50EC-4B98-BC85-93AE69146BAE}"/>
                </a:ext>
              </a:extLst>
            </p:cNvPr>
            <p:cNvSpPr txBox="1"/>
            <p:nvPr/>
          </p:nvSpPr>
          <p:spPr>
            <a:xfrm>
              <a:off x="402446" y="1650007"/>
              <a:ext cx="3093648" cy="319853"/>
            </a:xfrm>
            <a:prstGeom prst="rect">
              <a:avLst/>
            </a:prstGeom>
            <a:solidFill>
              <a:sysClr val="window" lastClr="FFFFF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2060"/>
                  </a:solidFill>
                  <a:effectLst/>
                  <a:uLnTx/>
                  <a:uFillTx/>
                  <a:latin typeface="Samsung Sharp Sans Bold" panose="02000503000000020004"/>
                  <a:ea typeface="+mn-ea"/>
                  <a:cs typeface="+mn-cs"/>
                </a:rPr>
                <a:t>Revenue by Pillars &amp; Triggers</a:t>
              </a:r>
            </a:p>
          </p:txBody>
        </p:sp>
      </p:grpSp>
      <p:sp>
        <p:nvSpPr>
          <p:cNvPr id="75" name="Espaço Reservado para Conteúdo 2">
            <a:extLst>
              <a:ext uri="{FF2B5EF4-FFF2-40B4-BE49-F238E27FC236}">
                <a16:creationId xmlns:a16="http://schemas.microsoft.com/office/drawing/2014/main" id="{7D123387-D628-4573-B4C2-688D19F9DEC3}"/>
              </a:ext>
            </a:extLst>
          </p:cNvPr>
          <p:cNvSpPr txBox="1"/>
          <p:nvPr/>
        </p:nvSpPr>
        <p:spPr>
          <a:xfrm>
            <a:off x="572966" y="3716669"/>
            <a:ext cx="684136" cy="197303"/>
          </a:xfrm>
          <a:prstGeom prst="rect">
            <a:avLst/>
          </a:prstGeom>
          <a:noFill/>
          <a:ln cap="flat">
            <a:noFill/>
          </a:ln>
        </p:spPr>
        <p:txBody>
          <a:bodyPr vert="horz" wrap="square" lIns="91440" tIns="45720" rIns="91440" bIns="45720" anchor="t" anchorCtr="0" compatLnSpc="1">
            <a:no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0000"/>
                </a:solidFill>
                <a:effectLst/>
                <a:uLnTx/>
                <a:uFillTx/>
                <a:latin typeface="SamsungOne 400"/>
                <a:ea typeface="SamsungOne 400"/>
                <a:cs typeface="+mn-cs"/>
                <a:sym typeface="SamsungOne 400"/>
              </a:rPr>
              <a:t>Pillars</a:t>
            </a:r>
          </a:p>
        </p:txBody>
      </p:sp>
      <p:sp>
        <p:nvSpPr>
          <p:cNvPr id="76" name="Espaço Reservado para Conteúdo 2">
            <a:extLst>
              <a:ext uri="{FF2B5EF4-FFF2-40B4-BE49-F238E27FC236}">
                <a16:creationId xmlns:a16="http://schemas.microsoft.com/office/drawing/2014/main" id="{FA628C7A-8831-4758-8906-5F22CF61D3A3}"/>
              </a:ext>
            </a:extLst>
          </p:cNvPr>
          <p:cNvSpPr txBox="1"/>
          <p:nvPr/>
        </p:nvSpPr>
        <p:spPr>
          <a:xfrm>
            <a:off x="4551705" y="3716669"/>
            <a:ext cx="836723" cy="197303"/>
          </a:xfrm>
          <a:prstGeom prst="rect">
            <a:avLst/>
          </a:prstGeom>
          <a:noFill/>
          <a:ln cap="flat">
            <a:noFill/>
          </a:ln>
        </p:spPr>
        <p:txBody>
          <a:bodyPr vert="horz" wrap="square" lIns="91440" tIns="45720" rIns="91440" bIns="45720" anchor="t" anchorCtr="0" compatLnSpc="1">
            <a:no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0000"/>
                </a:solidFill>
                <a:effectLst/>
                <a:uLnTx/>
                <a:uFillTx/>
                <a:latin typeface="SamsungOne 400"/>
                <a:ea typeface="SamsungOne 400"/>
                <a:cs typeface="+mn-cs"/>
                <a:sym typeface="SamsungOne 400"/>
              </a:rPr>
              <a:t>Triggers</a:t>
            </a:r>
          </a:p>
        </p:txBody>
      </p:sp>
      <p:sp>
        <p:nvSpPr>
          <p:cNvPr id="15" name="Rectangle 2">
            <a:extLst>
              <a:ext uri="{FF2B5EF4-FFF2-40B4-BE49-F238E27FC236}">
                <a16:creationId xmlns:a16="http://schemas.microsoft.com/office/drawing/2014/main" id="{C5C515D6-2A78-4376-8CC7-AC5CBC66EB87}"/>
              </a:ext>
            </a:extLst>
          </p:cNvPr>
          <p:cNvSpPr>
            <a:spLocks noChangeArrowheads="1"/>
          </p:cNvSpPr>
          <p:nvPr/>
        </p:nvSpPr>
        <p:spPr bwMode="auto">
          <a:xfrm>
            <a:off x="-1" y="301814"/>
            <a:ext cx="3934094" cy="337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defRPr/>
            </a:pPr>
            <a:endParaRPr kumimoji="0" lang="pt-BR" altLang="pt-BR"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8" name="Rectangle 5">
            <a:extLst>
              <a:ext uri="{FF2B5EF4-FFF2-40B4-BE49-F238E27FC236}">
                <a16:creationId xmlns:a16="http://schemas.microsoft.com/office/drawing/2014/main" id="{FBA881AF-FA99-473E-B762-6E1C19A9A0B9}"/>
              </a:ext>
            </a:extLst>
          </p:cNvPr>
          <p:cNvSpPr>
            <a:spLocks noChangeArrowheads="1"/>
          </p:cNvSpPr>
          <p:nvPr/>
        </p:nvSpPr>
        <p:spPr bwMode="auto">
          <a:xfrm>
            <a:off x="368094" y="4828177"/>
            <a:ext cx="8220639"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indent="-171450" eaLnBrk="0" fontAlgn="base" hangingPunct="0">
              <a:spcBef>
                <a:spcPct val="0"/>
              </a:spcBef>
              <a:spcAft>
                <a:spcPct val="0"/>
              </a:spcAft>
              <a:buFont typeface="Arial" panose="020B0604020202020204" pitchFamily="34" charset="0"/>
              <a:buChar char="•"/>
              <a:defRPr/>
            </a:pPr>
            <a:r>
              <a:rPr kumimoji="0" lang="pt-BR" altLang="pt-BR" sz="1000" b="1" i="0" u="none" strike="noStrike" kern="1200" cap="none" spc="0" normalizeH="0" baseline="0" noProof="0" err="1">
                <a:ln>
                  <a:noFill/>
                </a:ln>
                <a:solidFill>
                  <a:prstClr val="black"/>
                </a:solidFill>
                <a:effectLst/>
                <a:uLnTx/>
                <a:uFillTx/>
                <a:latin typeface="Roboto"/>
                <a:ea typeface="Roboto"/>
                <a:cs typeface="Roboto"/>
              </a:rPr>
              <a:t>Students</a:t>
            </a:r>
            <a:r>
              <a:rPr kumimoji="0" lang="pt-BR" altLang="pt-BR" sz="1000" b="1" i="0" u="none" strike="noStrike" kern="1200" cap="none" spc="0" normalizeH="0" baseline="0" noProof="0">
                <a:ln>
                  <a:noFill/>
                </a:ln>
                <a:solidFill>
                  <a:prstClr val="black"/>
                </a:solidFill>
                <a:effectLst/>
                <a:uLnTx/>
                <a:uFillTx/>
                <a:latin typeface="Roboto"/>
                <a:ea typeface="Roboto"/>
                <a:cs typeface="Roboto"/>
              </a:rPr>
              <a:t>: </a:t>
            </a:r>
            <a:r>
              <a:rPr lang="pt-BR" sz="1000" err="1">
                <a:solidFill>
                  <a:prstClr val="black"/>
                </a:solidFill>
                <a:ea typeface="+mn-lt"/>
                <a:cs typeface="+mn-lt"/>
              </a:rPr>
              <a:t>Main</a:t>
            </a:r>
            <a:r>
              <a:rPr lang="pt-BR" sz="1000">
                <a:solidFill>
                  <a:prstClr val="black"/>
                </a:solidFill>
                <a:ea typeface="+mn-lt"/>
                <a:cs typeface="+mn-lt"/>
              </a:rPr>
              <a:t> </a:t>
            </a:r>
            <a:r>
              <a:rPr lang="pt-BR" sz="1000" err="1">
                <a:solidFill>
                  <a:prstClr val="black"/>
                </a:solidFill>
                <a:ea typeface="+mn-lt"/>
                <a:cs typeface="+mn-lt"/>
              </a:rPr>
              <a:t>revenue</a:t>
            </a:r>
            <a:r>
              <a:rPr lang="pt-BR" sz="1000">
                <a:solidFill>
                  <a:prstClr val="black"/>
                </a:solidFill>
                <a:ea typeface="+mn-lt"/>
                <a:cs typeface="+mn-lt"/>
              </a:rPr>
              <a:t> driver, </a:t>
            </a:r>
            <a:r>
              <a:rPr lang="pt-BR" sz="1000" err="1">
                <a:solidFill>
                  <a:prstClr val="black"/>
                </a:solidFill>
                <a:ea typeface="+mn-lt"/>
                <a:cs typeface="+mn-lt"/>
              </a:rPr>
              <a:t>contributing</a:t>
            </a:r>
            <a:r>
              <a:rPr lang="pt-BR" sz="1000">
                <a:solidFill>
                  <a:prstClr val="black"/>
                </a:solidFill>
                <a:ea typeface="+mn-lt"/>
                <a:cs typeface="+mn-lt"/>
              </a:rPr>
              <a:t> </a:t>
            </a:r>
            <a:r>
              <a:rPr lang="pt-BR" sz="1000" b="1">
                <a:solidFill>
                  <a:prstClr val="black"/>
                </a:solidFill>
                <a:ea typeface="+mn-lt"/>
                <a:cs typeface="+mn-lt"/>
              </a:rPr>
              <a:t>R$399k</a:t>
            </a:r>
            <a:r>
              <a:rPr lang="pt-BR" sz="1000">
                <a:solidFill>
                  <a:prstClr val="black"/>
                </a:solidFill>
                <a:ea typeface="+mn-lt"/>
                <a:cs typeface="+mn-lt"/>
              </a:rPr>
              <a:t> </a:t>
            </a:r>
            <a:r>
              <a:rPr lang="pt-BR" sz="1000" err="1">
                <a:solidFill>
                  <a:prstClr val="black"/>
                </a:solidFill>
                <a:ea typeface="+mn-lt"/>
                <a:cs typeface="+mn-lt"/>
              </a:rPr>
              <a:t>and</a:t>
            </a:r>
            <a:r>
              <a:rPr lang="pt-BR" sz="1000">
                <a:solidFill>
                  <a:prstClr val="black"/>
                </a:solidFill>
                <a:ea typeface="+mn-lt"/>
                <a:cs typeface="+mn-lt"/>
              </a:rPr>
              <a:t> </a:t>
            </a:r>
            <a:r>
              <a:rPr lang="pt-BR" sz="1000" err="1">
                <a:solidFill>
                  <a:prstClr val="black"/>
                </a:solidFill>
                <a:ea typeface="+mn-lt"/>
                <a:cs typeface="+mn-lt"/>
              </a:rPr>
              <a:t>leading</a:t>
            </a:r>
            <a:r>
              <a:rPr lang="pt-BR" sz="1000">
                <a:solidFill>
                  <a:prstClr val="black"/>
                </a:solidFill>
                <a:ea typeface="+mn-lt"/>
                <a:cs typeface="+mn-lt"/>
              </a:rPr>
              <a:t> EPP performance in August.</a:t>
            </a:r>
            <a:endParaRPr lang="pt-BR" altLang="pt-BR" sz="1000">
              <a:solidFill>
                <a:prstClr val="black"/>
              </a:solidFill>
              <a:latin typeface="Roboto"/>
              <a:ea typeface="Roboto"/>
              <a:cs typeface="Roboto"/>
            </a:endParaRPr>
          </a:p>
          <a:p>
            <a:pPr marL="171450" indent="-171450" eaLnBrk="0" fontAlgn="base" hangingPunct="0">
              <a:spcBef>
                <a:spcPct val="0"/>
              </a:spcBef>
              <a:spcAft>
                <a:spcPct val="0"/>
              </a:spcAft>
              <a:buFont typeface="Arial" panose="020B0604020202020204" pitchFamily="34" charset="0"/>
              <a:buChar char="•"/>
              <a:defRPr/>
            </a:pPr>
            <a:r>
              <a:rPr kumimoji="0" lang="pt-BR" altLang="pt-BR" sz="1000" b="1" i="0" u="none" strike="noStrike" kern="1200" cap="none" spc="0" normalizeH="0" baseline="0" noProof="0">
                <a:ln>
                  <a:noFill/>
                </a:ln>
                <a:solidFill>
                  <a:prstClr val="black"/>
                </a:solidFill>
                <a:effectLst/>
                <a:uLnTx/>
                <a:uFillTx/>
                <a:latin typeface="Roboto"/>
                <a:ea typeface="Roboto"/>
                <a:cs typeface="Roboto"/>
              </a:rPr>
              <a:t>SMB: </a:t>
            </a:r>
            <a:r>
              <a:rPr lang="pt-BR" sz="1000" err="1">
                <a:solidFill>
                  <a:prstClr val="black"/>
                </a:solidFill>
                <a:ea typeface="+mn-lt"/>
                <a:cs typeface="+mn-lt"/>
              </a:rPr>
              <a:t>Strongest</a:t>
            </a:r>
            <a:r>
              <a:rPr lang="pt-BR" sz="1000">
                <a:solidFill>
                  <a:prstClr val="black"/>
                </a:solidFill>
                <a:ea typeface="+mn-lt"/>
                <a:cs typeface="+mn-lt"/>
              </a:rPr>
              <a:t> </a:t>
            </a:r>
            <a:r>
              <a:rPr lang="pt-BR" sz="1000" err="1">
                <a:solidFill>
                  <a:prstClr val="black"/>
                </a:solidFill>
                <a:ea typeface="+mn-lt"/>
                <a:cs typeface="+mn-lt"/>
              </a:rPr>
              <a:t>growth</a:t>
            </a:r>
            <a:r>
              <a:rPr lang="pt-BR" sz="1000">
                <a:solidFill>
                  <a:prstClr val="black"/>
                </a:solidFill>
                <a:ea typeface="+mn-lt"/>
                <a:cs typeface="+mn-lt"/>
              </a:rPr>
              <a:t> </a:t>
            </a:r>
            <a:r>
              <a:rPr lang="pt-BR" sz="1000" err="1">
                <a:solidFill>
                  <a:prstClr val="black"/>
                </a:solidFill>
                <a:ea typeface="+mn-lt"/>
                <a:cs typeface="+mn-lt"/>
              </a:rPr>
              <a:t>lever</a:t>
            </a:r>
            <a:r>
              <a:rPr lang="pt-BR" sz="1000">
                <a:solidFill>
                  <a:prstClr val="black"/>
                </a:solidFill>
                <a:ea typeface="+mn-lt"/>
                <a:cs typeface="+mn-lt"/>
              </a:rPr>
              <a:t>, </a:t>
            </a:r>
            <a:r>
              <a:rPr lang="pt-BR" sz="1000" err="1">
                <a:solidFill>
                  <a:prstClr val="black"/>
                </a:solidFill>
                <a:ea typeface="+mn-lt"/>
                <a:cs typeface="+mn-lt"/>
              </a:rPr>
              <a:t>reaching</a:t>
            </a:r>
            <a:r>
              <a:rPr lang="pt-BR" sz="1000">
                <a:solidFill>
                  <a:prstClr val="black"/>
                </a:solidFill>
                <a:ea typeface="+mn-lt"/>
                <a:cs typeface="+mn-lt"/>
              </a:rPr>
              <a:t> </a:t>
            </a:r>
            <a:r>
              <a:rPr lang="pt-BR" sz="1000" b="1">
                <a:solidFill>
                  <a:prstClr val="black"/>
                </a:solidFill>
                <a:ea typeface="+mn-lt"/>
                <a:cs typeface="+mn-lt"/>
              </a:rPr>
              <a:t>R$149k</a:t>
            </a:r>
            <a:r>
              <a:rPr lang="pt-BR" sz="1000">
                <a:solidFill>
                  <a:prstClr val="black"/>
                </a:solidFill>
                <a:ea typeface="+mn-lt"/>
                <a:cs typeface="+mn-lt"/>
              </a:rPr>
              <a:t> </a:t>
            </a:r>
            <a:r>
              <a:rPr lang="pt-BR" sz="1000" err="1">
                <a:solidFill>
                  <a:prstClr val="black"/>
                </a:solidFill>
                <a:ea typeface="+mn-lt"/>
                <a:cs typeface="+mn-lt"/>
              </a:rPr>
              <a:t>and</a:t>
            </a:r>
            <a:r>
              <a:rPr lang="pt-BR" sz="1000">
                <a:solidFill>
                  <a:prstClr val="black"/>
                </a:solidFill>
                <a:ea typeface="+mn-lt"/>
                <a:cs typeface="+mn-lt"/>
              </a:rPr>
              <a:t> </a:t>
            </a:r>
            <a:r>
              <a:rPr lang="pt-BR" sz="1000" err="1">
                <a:solidFill>
                  <a:prstClr val="black"/>
                </a:solidFill>
                <a:ea typeface="+mn-lt"/>
                <a:cs typeface="+mn-lt"/>
              </a:rPr>
              <a:t>nearly</a:t>
            </a:r>
            <a:r>
              <a:rPr lang="pt-BR" sz="1000">
                <a:solidFill>
                  <a:prstClr val="black"/>
                </a:solidFill>
                <a:ea typeface="+mn-lt"/>
                <a:cs typeface="+mn-lt"/>
              </a:rPr>
              <a:t> </a:t>
            </a:r>
            <a:r>
              <a:rPr lang="pt-BR" sz="1000" b="1">
                <a:solidFill>
                  <a:prstClr val="black"/>
                </a:solidFill>
                <a:ea typeface="+mn-lt"/>
                <a:cs typeface="+mn-lt"/>
              </a:rPr>
              <a:t>8x </a:t>
            </a:r>
            <a:r>
              <a:rPr lang="pt-BR" sz="1000" b="1" err="1">
                <a:solidFill>
                  <a:prstClr val="black"/>
                </a:solidFill>
                <a:ea typeface="+mn-lt"/>
                <a:cs typeface="+mn-lt"/>
              </a:rPr>
              <a:t>YoY</a:t>
            </a:r>
            <a:r>
              <a:rPr lang="pt-BR" sz="1000" b="1">
                <a:solidFill>
                  <a:prstClr val="black"/>
                </a:solidFill>
                <a:ea typeface="+mn-lt"/>
                <a:cs typeface="+mn-lt"/>
              </a:rPr>
              <a:t> </a:t>
            </a:r>
            <a:r>
              <a:rPr lang="pt-BR" sz="1000" b="1" err="1">
                <a:solidFill>
                  <a:prstClr val="black"/>
                </a:solidFill>
                <a:ea typeface="+mn-lt"/>
                <a:cs typeface="+mn-lt"/>
              </a:rPr>
              <a:t>revenue</a:t>
            </a:r>
            <a:r>
              <a:rPr lang="pt-BR" sz="1000" b="1">
                <a:solidFill>
                  <a:prstClr val="black"/>
                </a:solidFill>
                <a:ea typeface="+mn-lt"/>
                <a:cs typeface="+mn-lt"/>
              </a:rPr>
              <a:t> </a:t>
            </a:r>
            <a:r>
              <a:rPr lang="pt-BR" sz="1000" b="1" err="1">
                <a:solidFill>
                  <a:prstClr val="black"/>
                </a:solidFill>
                <a:ea typeface="+mn-lt"/>
                <a:cs typeface="+mn-lt"/>
              </a:rPr>
              <a:t>growth</a:t>
            </a:r>
            <a:r>
              <a:rPr lang="pt-BR" sz="1000">
                <a:solidFill>
                  <a:prstClr val="black"/>
                </a:solidFill>
                <a:ea typeface="+mn-lt"/>
                <a:cs typeface="+mn-lt"/>
              </a:rPr>
              <a:t>.</a:t>
            </a:r>
            <a:endParaRPr lang="pt-BR" altLang="pt-BR" sz="1000" b="0" i="0" u="none" strike="noStrike" kern="1200" cap="none" spc="0" normalizeH="0" baseline="0" noProof="0">
              <a:ln>
                <a:noFill/>
              </a:ln>
              <a:solidFill>
                <a:prstClr val="black"/>
              </a:solidFill>
              <a:effectLst/>
              <a:uLnTx/>
              <a:uFillTx/>
              <a:latin typeface="Roboto"/>
              <a:ea typeface="Roboto"/>
              <a:cs typeface="Roboto"/>
            </a:endParaRPr>
          </a:p>
          <a:p>
            <a:pPr marL="171450" indent="-171450" eaLnBrk="0" fontAlgn="base" hangingPunct="0">
              <a:spcBef>
                <a:spcPct val="0"/>
              </a:spcBef>
              <a:spcAft>
                <a:spcPct val="0"/>
              </a:spcAft>
              <a:buFont typeface="Arial" panose="020B0604020202020204" pitchFamily="34" charset="0"/>
              <a:buChar char="•"/>
              <a:defRPr/>
            </a:pPr>
            <a:r>
              <a:rPr kumimoji="0" lang="pt-BR" altLang="pt-BR" sz="1000" b="1" i="0" u="none" strike="noStrike" kern="1200" cap="none" spc="0" normalizeH="0" baseline="0" noProof="0" err="1">
                <a:ln>
                  <a:noFill/>
                </a:ln>
                <a:solidFill>
                  <a:prstClr val="black"/>
                </a:solidFill>
                <a:effectLst/>
                <a:uLnTx/>
                <a:uFillTx/>
                <a:latin typeface="Roboto"/>
                <a:ea typeface="Roboto"/>
                <a:cs typeface="Roboto"/>
              </a:rPr>
              <a:t>Partners</a:t>
            </a:r>
            <a:r>
              <a:rPr kumimoji="0" lang="pt-BR" altLang="pt-BR" sz="1000" b="1" i="0" u="none" strike="noStrike" kern="1200" cap="none" spc="0" normalizeH="0" baseline="0" noProof="0">
                <a:ln>
                  <a:noFill/>
                </a:ln>
                <a:solidFill>
                  <a:prstClr val="black"/>
                </a:solidFill>
                <a:effectLst/>
                <a:uLnTx/>
                <a:uFillTx/>
                <a:latin typeface="Roboto"/>
                <a:ea typeface="Roboto"/>
                <a:cs typeface="Roboto"/>
              </a:rPr>
              <a:t>: </a:t>
            </a:r>
            <a:r>
              <a:rPr lang="pt-BR" sz="1000" err="1">
                <a:solidFill>
                  <a:prstClr val="black"/>
                </a:solidFill>
                <a:ea typeface="+mn-lt"/>
                <a:cs typeface="+mn-lt"/>
              </a:rPr>
              <a:t>Highest</a:t>
            </a:r>
            <a:r>
              <a:rPr lang="pt-BR" sz="1000">
                <a:solidFill>
                  <a:prstClr val="black"/>
                </a:solidFill>
                <a:ea typeface="+mn-lt"/>
                <a:cs typeface="+mn-lt"/>
              </a:rPr>
              <a:t> </a:t>
            </a:r>
            <a:r>
              <a:rPr lang="pt-BR" sz="1000" err="1">
                <a:solidFill>
                  <a:prstClr val="black"/>
                </a:solidFill>
                <a:ea typeface="+mn-lt"/>
                <a:cs typeface="+mn-lt"/>
              </a:rPr>
              <a:t>efficiency</a:t>
            </a:r>
            <a:r>
              <a:rPr lang="pt-BR" sz="1000">
                <a:solidFill>
                  <a:prstClr val="black"/>
                </a:solidFill>
                <a:ea typeface="+mn-lt"/>
                <a:cs typeface="+mn-lt"/>
              </a:rPr>
              <a:t>, </a:t>
            </a:r>
            <a:r>
              <a:rPr lang="pt-BR" sz="1000" err="1">
                <a:solidFill>
                  <a:prstClr val="black"/>
                </a:solidFill>
                <a:ea typeface="+mn-lt"/>
                <a:cs typeface="+mn-lt"/>
              </a:rPr>
              <a:t>with</a:t>
            </a:r>
            <a:r>
              <a:rPr lang="pt-BR" sz="1000">
                <a:solidFill>
                  <a:prstClr val="black"/>
                </a:solidFill>
                <a:ea typeface="+mn-lt"/>
                <a:cs typeface="+mn-lt"/>
              </a:rPr>
              <a:t> </a:t>
            </a:r>
            <a:r>
              <a:rPr lang="pt-BR" sz="1000" err="1">
                <a:solidFill>
                  <a:prstClr val="black"/>
                </a:solidFill>
                <a:ea typeface="+mn-lt"/>
                <a:cs typeface="+mn-lt"/>
              </a:rPr>
              <a:t>room</a:t>
            </a:r>
            <a:r>
              <a:rPr lang="pt-BR" sz="1000">
                <a:solidFill>
                  <a:prstClr val="black"/>
                </a:solidFill>
                <a:ea typeface="+mn-lt"/>
                <a:cs typeface="+mn-lt"/>
              </a:rPr>
              <a:t> </a:t>
            </a:r>
            <a:r>
              <a:rPr lang="pt-BR" sz="1000" err="1">
                <a:solidFill>
                  <a:prstClr val="black"/>
                </a:solidFill>
                <a:ea typeface="+mn-lt"/>
                <a:cs typeface="+mn-lt"/>
              </a:rPr>
              <a:t>to</a:t>
            </a:r>
            <a:r>
              <a:rPr lang="pt-BR" sz="1000">
                <a:solidFill>
                  <a:prstClr val="black"/>
                </a:solidFill>
                <a:ea typeface="+mn-lt"/>
                <a:cs typeface="+mn-lt"/>
              </a:rPr>
              <a:t> </a:t>
            </a:r>
            <a:r>
              <a:rPr lang="pt-BR" sz="1000" err="1">
                <a:solidFill>
                  <a:prstClr val="black"/>
                </a:solidFill>
                <a:ea typeface="+mn-lt"/>
                <a:cs typeface="+mn-lt"/>
              </a:rPr>
              <a:t>scale</a:t>
            </a:r>
            <a:r>
              <a:rPr lang="pt-BR" sz="1000">
                <a:solidFill>
                  <a:prstClr val="black"/>
                </a:solidFill>
                <a:ea typeface="+mn-lt"/>
                <a:cs typeface="+mn-lt"/>
              </a:rPr>
              <a:t>.</a:t>
            </a:r>
            <a:endParaRPr lang="pt-BR" altLang="pt-BR" sz="1000" b="0" i="0" u="none" strike="noStrike" kern="1200" cap="none" spc="0" normalizeH="0" baseline="0" noProof="0">
              <a:ln>
                <a:noFill/>
              </a:ln>
              <a:solidFill>
                <a:prstClr val="black"/>
              </a:solidFill>
              <a:effectLst/>
              <a:uLnTx/>
              <a:uFillTx/>
              <a:latin typeface="Roboto"/>
              <a:ea typeface="Roboto"/>
              <a:cs typeface="Roboto"/>
            </a:endParaRPr>
          </a:p>
        </p:txBody>
      </p:sp>
      <p:pic>
        <p:nvPicPr>
          <p:cNvPr id="3" name="Imagem 2">
            <a:extLst>
              <a:ext uri="{FF2B5EF4-FFF2-40B4-BE49-F238E27FC236}">
                <a16:creationId xmlns:a16="http://schemas.microsoft.com/office/drawing/2014/main" id="{96117BEF-F1A8-217E-6DFD-42E5E9E85723}"/>
              </a:ext>
            </a:extLst>
          </p:cNvPr>
          <p:cNvPicPr>
            <a:picLocks noChangeAspect="1"/>
          </p:cNvPicPr>
          <p:nvPr/>
        </p:nvPicPr>
        <p:blipFill>
          <a:blip r:embed="rId2"/>
          <a:stretch>
            <a:fillRect/>
          </a:stretch>
        </p:blipFill>
        <p:spPr>
          <a:xfrm>
            <a:off x="288366" y="3920209"/>
            <a:ext cx="4263581" cy="542446"/>
          </a:xfrm>
          <a:prstGeom prst="rect">
            <a:avLst/>
          </a:prstGeom>
        </p:spPr>
      </p:pic>
      <p:pic>
        <p:nvPicPr>
          <p:cNvPr id="4" name="Imagem 3">
            <a:extLst>
              <a:ext uri="{FF2B5EF4-FFF2-40B4-BE49-F238E27FC236}">
                <a16:creationId xmlns:a16="http://schemas.microsoft.com/office/drawing/2014/main" id="{3AFD2949-8F16-116A-AF21-AC1C4E26F420}"/>
              </a:ext>
            </a:extLst>
          </p:cNvPr>
          <p:cNvPicPr>
            <a:picLocks noChangeAspect="1"/>
          </p:cNvPicPr>
          <p:nvPr/>
        </p:nvPicPr>
        <p:blipFill>
          <a:blip r:embed="rId3"/>
          <a:stretch>
            <a:fillRect/>
          </a:stretch>
        </p:blipFill>
        <p:spPr>
          <a:xfrm>
            <a:off x="4683819" y="3917928"/>
            <a:ext cx="4208849" cy="545292"/>
          </a:xfrm>
          <a:prstGeom prst="rect">
            <a:avLst/>
          </a:prstGeom>
        </p:spPr>
      </p:pic>
      <p:pic>
        <p:nvPicPr>
          <p:cNvPr id="7" name="Imagem 6">
            <a:extLst>
              <a:ext uri="{FF2B5EF4-FFF2-40B4-BE49-F238E27FC236}">
                <a16:creationId xmlns:a16="http://schemas.microsoft.com/office/drawing/2014/main" id="{1E3F65D7-59BC-E81F-70B7-D19E019CEB9C}"/>
              </a:ext>
            </a:extLst>
          </p:cNvPr>
          <p:cNvPicPr>
            <a:picLocks noChangeAspect="1"/>
          </p:cNvPicPr>
          <p:nvPr/>
        </p:nvPicPr>
        <p:blipFill>
          <a:blip r:embed="rId4"/>
          <a:stretch>
            <a:fillRect/>
          </a:stretch>
        </p:blipFill>
        <p:spPr>
          <a:xfrm>
            <a:off x="257577" y="5380425"/>
            <a:ext cx="8639580" cy="1332416"/>
          </a:xfrm>
          <a:prstGeom prst="rect">
            <a:avLst/>
          </a:prstGeom>
        </p:spPr>
      </p:pic>
      <p:pic>
        <p:nvPicPr>
          <p:cNvPr id="9" name="Imagem 8">
            <a:extLst>
              <a:ext uri="{FF2B5EF4-FFF2-40B4-BE49-F238E27FC236}">
                <a16:creationId xmlns:a16="http://schemas.microsoft.com/office/drawing/2014/main" id="{C0CB5DD2-8619-1578-395C-5FCFEE2B289C}"/>
              </a:ext>
            </a:extLst>
          </p:cNvPr>
          <p:cNvPicPr>
            <a:picLocks noChangeAspect="1"/>
          </p:cNvPicPr>
          <p:nvPr/>
        </p:nvPicPr>
        <p:blipFill>
          <a:blip r:embed="rId5"/>
          <a:stretch>
            <a:fillRect/>
          </a:stretch>
        </p:blipFill>
        <p:spPr>
          <a:xfrm>
            <a:off x="364902" y="1259636"/>
            <a:ext cx="8446406" cy="2102107"/>
          </a:xfrm>
          <a:prstGeom prst="rect">
            <a:avLst/>
          </a:prstGeom>
        </p:spPr>
      </p:pic>
    </p:spTree>
    <p:extLst>
      <p:ext uri="{BB962C8B-B14F-4D97-AF65-F5344CB8AC3E}">
        <p14:creationId xmlns:p14="http://schemas.microsoft.com/office/powerpoint/2010/main" val="6241023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heil-Logo(black).png" descr="Cheil-Logo(black).png">
            <a:extLst>
              <a:ext uri="{FF2B5EF4-FFF2-40B4-BE49-F238E27FC236}">
                <a16:creationId xmlns:a16="http://schemas.microsoft.com/office/drawing/2014/main" id="{DF344D88-4EA9-4E92-ADF7-61B55EE4B848}"/>
              </a:ext>
            </a:extLst>
          </p:cNvPr>
          <p:cNvPicPr>
            <a:picLocks noChangeAspect="1"/>
          </p:cNvPicPr>
          <p:nvPr/>
        </p:nvPicPr>
        <p:blipFill>
          <a:blip r:embed="rId2"/>
          <a:stretch>
            <a:fillRect/>
          </a:stretch>
        </p:blipFill>
        <p:spPr>
          <a:xfrm>
            <a:off x="254148" y="6329579"/>
            <a:ext cx="655342" cy="290146"/>
          </a:xfrm>
          <a:prstGeom prst="rect">
            <a:avLst/>
          </a:prstGeom>
          <a:ln w="12700">
            <a:miter lim="400000"/>
          </a:ln>
        </p:spPr>
      </p:pic>
      <p:sp>
        <p:nvSpPr>
          <p:cNvPr id="5" name="Galaxy A06…">
            <a:extLst>
              <a:ext uri="{FF2B5EF4-FFF2-40B4-BE49-F238E27FC236}">
                <a16:creationId xmlns:a16="http://schemas.microsoft.com/office/drawing/2014/main" id="{3C75C3A0-FAE2-4BE8-B90C-87B911D7AE60}"/>
              </a:ext>
            </a:extLst>
          </p:cNvPr>
          <p:cNvSpPr txBox="1"/>
          <p:nvPr/>
        </p:nvSpPr>
        <p:spPr>
          <a:xfrm>
            <a:off x="581819" y="3079995"/>
            <a:ext cx="7392413" cy="69801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45719" tIns="45719" rIns="45719" bIns="45719" anchor="ctr">
            <a:spAutoFit/>
          </a:bodyPr>
          <a:lstStyle>
            <a:lvl1pPr defTabSz="1828800">
              <a:lnSpc>
                <a:spcPct val="80000"/>
              </a:lnSpc>
              <a:spcBef>
                <a:spcPts val="0"/>
              </a:spcBef>
              <a:defRPr sz="15000" spc="-450">
                <a:solidFill>
                  <a:srgbClr val="FFFFFF"/>
                </a:solidFill>
                <a:latin typeface="SamsungSharpSans-Medium"/>
                <a:ea typeface="SamsungSharpSans-Medium"/>
                <a:cs typeface="SamsungSharpSans-Medium"/>
                <a:sym typeface="SamsungSharpSans-Medium"/>
              </a:defRPr>
            </a:lvl1pPr>
          </a:lstStyle>
          <a:p>
            <a:pPr marL="0" marR="0" lvl="0" indent="0" defTabSz="1828800" eaLnBrk="1" fontAlgn="auto" latinLnBrk="0" hangingPunct="0">
              <a:lnSpc>
                <a:spcPct val="80000"/>
              </a:lnSpc>
              <a:spcBef>
                <a:spcPts val="0"/>
              </a:spcBef>
              <a:spcAft>
                <a:spcPts val="0"/>
              </a:spcAft>
              <a:buClrTx/>
              <a:buSzTx/>
              <a:buFontTx/>
              <a:buNone/>
              <a:tabLst/>
              <a:defRPr/>
            </a:pPr>
            <a:r>
              <a:rPr lang="pt-BR" sz="4800" kern="0" spc="0"/>
              <a:t>HIGHLIGHTS &amp; NEXT STEPS</a:t>
            </a:r>
          </a:p>
        </p:txBody>
      </p:sp>
    </p:spTree>
    <p:extLst>
      <p:ext uri="{BB962C8B-B14F-4D97-AF65-F5344CB8AC3E}">
        <p14:creationId xmlns:p14="http://schemas.microsoft.com/office/powerpoint/2010/main" val="27532879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031AF-657E-EDFF-F0DC-7CF55D8C83DD}"/>
            </a:ext>
          </a:extLst>
        </p:cNvPr>
        <p:cNvGrpSpPr/>
        <p:nvPr/>
      </p:nvGrpSpPr>
      <p:grpSpPr>
        <a:xfrm>
          <a:off x="0" y="0"/>
          <a:ext cx="0" cy="0"/>
          <a:chOff x="0" y="0"/>
          <a:chExt cx="0" cy="0"/>
        </a:xfrm>
      </p:grpSpPr>
      <p:sp>
        <p:nvSpPr>
          <p:cNvPr id="19" name="Retângulo 18">
            <a:extLst>
              <a:ext uri="{FF2B5EF4-FFF2-40B4-BE49-F238E27FC236}">
                <a16:creationId xmlns:a16="http://schemas.microsoft.com/office/drawing/2014/main" id="{6F9CAE3F-6A7A-4E5F-AD70-0D650BC2E321}"/>
              </a:ext>
            </a:extLst>
          </p:cNvPr>
          <p:cNvSpPr/>
          <p:nvPr/>
        </p:nvSpPr>
        <p:spPr>
          <a:xfrm>
            <a:off x="296942" y="3995495"/>
            <a:ext cx="5028940" cy="1260000"/>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Retângulo 3">
            <a:extLst>
              <a:ext uri="{FF2B5EF4-FFF2-40B4-BE49-F238E27FC236}">
                <a16:creationId xmlns:a16="http://schemas.microsoft.com/office/drawing/2014/main" id="{247DBE73-62ED-404F-ACE8-D31FC253B536}"/>
              </a:ext>
            </a:extLst>
          </p:cNvPr>
          <p:cNvSpPr/>
          <p:nvPr/>
        </p:nvSpPr>
        <p:spPr>
          <a:xfrm>
            <a:off x="296942" y="995925"/>
            <a:ext cx="5028940" cy="1404000"/>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Título 1">
            <a:extLst>
              <a:ext uri="{FF2B5EF4-FFF2-40B4-BE49-F238E27FC236}">
                <a16:creationId xmlns:a16="http://schemas.microsoft.com/office/drawing/2014/main" id="{DF2424B3-F6B9-4960-BA63-14DE92E9DAB9}"/>
              </a:ext>
            </a:extLst>
          </p:cNvPr>
          <p:cNvSpPr txBox="1"/>
          <p:nvPr/>
        </p:nvSpPr>
        <p:spPr>
          <a:xfrm>
            <a:off x="251633" y="127107"/>
            <a:ext cx="8453563" cy="483772"/>
          </a:xfrm>
          <a:prstGeom prst="rect">
            <a:avLst/>
          </a:prstGeom>
          <a:noFill/>
          <a:ln cap="flat">
            <a:noFill/>
          </a:ln>
        </p:spPr>
        <p:txBody>
          <a:bodyPr vert="horz" wrap="square" lIns="75730" tIns="37865" rIns="75730" bIns="37865" anchor="ctr" anchorCtr="0" compatLnSpc="1">
            <a:noAutofit/>
          </a:bodyPr>
          <a:lstStyle/>
          <a:p>
            <a:pPr marL="0" marR="0" lvl="0" indent="0" algn="l" defTabSz="914400" rtl="0" eaLnBrk="1" fontAlgn="auto" latinLnBrk="0" hangingPunct="1">
              <a:lnSpc>
                <a:spcPct val="90000"/>
              </a:lnSpc>
              <a:spcBef>
                <a:spcPts val="0"/>
              </a:spcBef>
              <a:spcAft>
                <a:spcPts val="0"/>
              </a:spcAft>
              <a:buClrTx/>
              <a:buSzTx/>
              <a:buFontTx/>
              <a:buNone/>
              <a:tabLst/>
              <a:defRPr sz="1800" b="0" i="0" u="none" strike="noStrike" kern="0" cap="none" spc="0" baseline="0">
                <a:solidFill>
                  <a:srgbClr val="000000"/>
                </a:solidFill>
                <a:uFillTx/>
              </a:defRPr>
            </a:pPr>
            <a:r>
              <a:rPr kumimoji="0" lang="en-GB" sz="2000" b="1" i="0" u="none" strike="noStrike" kern="0" cap="none" spc="0" normalizeH="0" baseline="0" noProof="0">
                <a:ln>
                  <a:noFill/>
                </a:ln>
                <a:solidFill>
                  <a:srgbClr val="000000"/>
                </a:solidFill>
                <a:effectLst/>
                <a:uLnTx/>
                <a:uFillTx/>
                <a:latin typeface="Roboto"/>
                <a:ea typeface="Roboto"/>
                <a:cs typeface="Samsung Sharp Sans Bold" pitchFamily="2"/>
              </a:rPr>
              <a:t>SUMMARY &amp; NEXT STEPS</a:t>
            </a:r>
            <a:r>
              <a:rPr kumimoji="0" lang="en-GB" sz="2000" b="1" i="0" u="none" strike="noStrike" kern="1200" cap="none" spc="0" normalizeH="0" baseline="0" noProof="0">
                <a:ln>
                  <a:noFill/>
                </a:ln>
                <a:solidFill>
                  <a:srgbClr val="000000"/>
                </a:solidFill>
                <a:effectLst/>
                <a:uLnTx/>
                <a:uFillTx/>
                <a:latin typeface="Roboto"/>
                <a:ea typeface="Roboto"/>
                <a:cs typeface="Samsung Sharp Sans Bold" pitchFamily="2"/>
              </a:rPr>
              <a:t> | </a:t>
            </a:r>
            <a:r>
              <a:rPr lang="en-GB" sz="2000" b="1" kern="0">
                <a:solidFill>
                  <a:srgbClr val="1428A0"/>
                </a:solidFill>
                <a:latin typeface="Roboto"/>
                <a:ea typeface="Roboto"/>
                <a:cs typeface="Samsung Sharp Sans Bold" pitchFamily="2"/>
              </a:rPr>
              <a:t>Sep</a:t>
            </a:r>
            <a:r>
              <a:rPr kumimoji="0" lang="en-GB" sz="2000" b="1" i="0" u="none" strike="noStrike" kern="0" cap="none" spc="0" normalizeH="0" baseline="0" noProof="0">
                <a:ln>
                  <a:noFill/>
                </a:ln>
                <a:solidFill>
                  <a:srgbClr val="1428A0"/>
                </a:solidFill>
                <a:effectLst/>
                <a:uLnTx/>
                <a:uFillTx/>
                <a:latin typeface="Roboto"/>
                <a:ea typeface="Roboto"/>
                <a:cs typeface="+mn-cs"/>
              </a:rPr>
              <a:t> &amp; </a:t>
            </a:r>
            <a:r>
              <a:rPr lang="en-GB" sz="2000" b="1" kern="0">
                <a:solidFill>
                  <a:srgbClr val="1428A0"/>
                </a:solidFill>
                <a:latin typeface="Roboto"/>
                <a:ea typeface="Roboto"/>
              </a:rPr>
              <a:t>Oct</a:t>
            </a:r>
            <a:endParaRPr kumimoji="0" lang="en-GB" sz="2000" b="1" i="0" u="none" strike="noStrike" kern="1200" cap="none" spc="0" normalizeH="0" baseline="0" noProof="0">
              <a:ln>
                <a:noFill/>
              </a:ln>
              <a:solidFill>
                <a:srgbClr val="1428A0"/>
              </a:solidFill>
              <a:effectLst/>
              <a:uLnTx/>
              <a:uFillTx/>
              <a:latin typeface="Roboto"/>
              <a:ea typeface="Roboto"/>
              <a:cs typeface="Samsung Sharp Sans Bold" pitchFamily="2"/>
            </a:endParaRPr>
          </a:p>
        </p:txBody>
      </p:sp>
      <p:sp>
        <p:nvSpPr>
          <p:cNvPr id="23" name="Retângulo 22">
            <a:extLst>
              <a:ext uri="{FF2B5EF4-FFF2-40B4-BE49-F238E27FC236}">
                <a16:creationId xmlns:a16="http://schemas.microsoft.com/office/drawing/2014/main" id="{BA721844-0111-4FE5-A603-1BDDA9DFFADA}"/>
              </a:ext>
            </a:extLst>
          </p:cNvPr>
          <p:cNvSpPr/>
          <p:nvPr/>
        </p:nvSpPr>
        <p:spPr>
          <a:xfrm>
            <a:off x="291648" y="761289"/>
            <a:ext cx="5028940" cy="5941324"/>
          </a:xfrm>
          <a:prstGeom prst="rect">
            <a:avLst/>
          </a:prstGeom>
          <a:no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216000" rtlCol="0" anchor="t"/>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2114" rtl="0" eaLnBrk="1" fontAlgn="auto" latinLnBrk="0" hangingPunct="1">
              <a:lnSpc>
                <a:spcPct val="100000"/>
              </a:lnSpc>
              <a:spcBef>
                <a:spcPct val="0"/>
              </a:spcBef>
              <a:spcAft>
                <a:spcPts val="0"/>
              </a:spcAft>
              <a:buClrTx/>
              <a:buSzTx/>
              <a:buFontTx/>
              <a:buNone/>
              <a:tabLst/>
              <a:defRPr/>
            </a:pPr>
            <a:r>
              <a:rPr kumimoji="0" lang="en-US" sz="1200" b="1" i="0" u="none" strike="noStrike" kern="1200" cap="none" spc="0" normalizeH="0" baseline="0" noProof="0">
                <a:ln>
                  <a:noFill/>
                </a:ln>
                <a:solidFill>
                  <a:srgbClr val="1428A0"/>
                </a:solidFill>
                <a:effectLst/>
                <a:uLnTx/>
                <a:uFillTx/>
                <a:latin typeface="Roboto" panose="02000000000000000000" pitchFamily="2" charset="0"/>
                <a:ea typeface="Roboto" panose="02000000000000000000" pitchFamily="2" charset="0"/>
                <a:cs typeface="Calibri"/>
              </a:rPr>
              <a:t>OVERALL</a:t>
            </a:r>
          </a:p>
          <a:p>
            <a:pPr marL="0" marR="0" lvl="0" indent="0" algn="l" defTabSz="912114" rtl="0" eaLnBrk="1" fontAlgn="auto" latinLnBrk="0" hangingPunct="1">
              <a:lnSpc>
                <a:spcPct val="100000"/>
              </a:lnSpc>
              <a:spcBef>
                <a:spcPct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Highlight: </a:t>
            </a:r>
          </a:p>
          <a:p>
            <a:pPr marL="0" marR="0" lvl="0" indent="0" algn="l" defTabSz="912114" rtl="0" eaLnBrk="1" fontAlgn="auto" latinLnBrk="0" hangingPunct="1">
              <a:lnSpc>
                <a:spcPct val="100000"/>
              </a:lnSpc>
              <a:spcBef>
                <a:spcPct val="0"/>
              </a:spcBef>
              <a:spcAft>
                <a:spcPts val="0"/>
              </a:spcAft>
              <a:buClrTx/>
              <a:buSzTx/>
              <a:buFontTx/>
              <a:buNone/>
              <a:tabLst/>
              <a:defRPr/>
            </a:pPr>
            <a:r>
              <a:rPr kumimoji="0" lang="en-US" sz="1200"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R$</a:t>
            </a:r>
            <a:r>
              <a:rPr lang="en-US" sz="1200">
                <a:solidFill>
                  <a:schemeClr val="tx1"/>
                </a:solidFill>
                <a:latin typeface="Roboto" panose="02000000000000000000" pitchFamily="2" charset="0"/>
                <a:ea typeface="Roboto" panose="02000000000000000000" pitchFamily="2" charset="0"/>
                <a:cs typeface="Calibri"/>
              </a:rPr>
              <a:t>7.8</a:t>
            </a:r>
            <a:r>
              <a:rPr kumimoji="0" lang="en-US" sz="1200"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M | </a:t>
            </a:r>
            <a:r>
              <a:rPr lang="en-US" sz="1200">
                <a:solidFill>
                  <a:schemeClr val="tx1"/>
                </a:solidFill>
                <a:latin typeface="Roboto" panose="02000000000000000000" pitchFamily="2" charset="0"/>
                <a:ea typeface="Roboto" panose="02000000000000000000" pitchFamily="2" charset="0"/>
                <a:cs typeface="Calibri"/>
              </a:rPr>
              <a:t>2.01</a:t>
            </a:r>
            <a:r>
              <a:rPr kumimoji="0" lang="en-US" sz="1200"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 G/R → </a:t>
            </a:r>
            <a:r>
              <a:rPr lang="en-US" sz="1200">
                <a:solidFill>
                  <a:schemeClr val="tx1"/>
                </a:solidFill>
                <a:latin typeface="Roboto" panose="02000000000000000000" pitchFamily="2" charset="0"/>
                <a:ea typeface="Roboto" panose="02000000000000000000" pitchFamily="2" charset="0"/>
                <a:cs typeface="Calibri"/>
              </a:rPr>
              <a:t>August exceeded the target, where all pillars grew in line with their respective strategies</a:t>
            </a:r>
            <a:r>
              <a:rPr kumimoji="0" lang="en-US" sz="1200"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a:t>
            </a:r>
          </a:p>
          <a:p>
            <a:pPr marL="0" marR="0" lvl="0" indent="0" algn="l" defTabSz="912114" rtl="0" eaLnBrk="1" fontAlgn="auto" latinLnBrk="0" hangingPunct="1">
              <a:lnSpc>
                <a:spcPct val="100000"/>
              </a:lnSpc>
              <a:spcBef>
                <a:spcPct val="0"/>
              </a:spcBef>
              <a:spcAft>
                <a:spcPts val="0"/>
              </a:spcAft>
              <a:buClrTx/>
              <a:buSzTx/>
              <a:buFontTx/>
              <a:buNone/>
              <a:tabLst/>
              <a:defRPr/>
            </a:pPr>
            <a:endParaRPr kumimoji="0" lang="en-US" sz="1200" b="1"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endParaRPr>
          </a:p>
          <a:p>
            <a:pPr marL="0" marR="0" lvl="0" indent="0" algn="l" defTabSz="912114" rtl="0" eaLnBrk="1" fontAlgn="auto" latinLnBrk="0" hangingPunct="1">
              <a:lnSpc>
                <a:spcPct val="100000"/>
              </a:lnSpc>
              <a:spcBef>
                <a:spcPct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Next Step:</a:t>
            </a:r>
            <a:r>
              <a:rPr kumimoji="0" lang="en-US" sz="1200"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 </a:t>
            </a:r>
          </a:p>
          <a:p>
            <a:pPr marL="0" marR="0" lvl="0" indent="0" algn="l" defTabSz="912114" rtl="0" eaLnBrk="1" fontAlgn="auto" latinLnBrk="0" hangingPunct="1">
              <a:lnSpc>
                <a:spcPct val="100000"/>
              </a:lnSpc>
              <a:spcBef>
                <a:spcPct val="0"/>
              </a:spcBef>
              <a:spcAft>
                <a:spcPts val="0"/>
              </a:spcAft>
              <a:buClrTx/>
              <a:buSzTx/>
              <a:buFontTx/>
              <a:buNone/>
              <a:tabLst/>
              <a:defRPr/>
            </a:pPr>
            <a:r>
              <a:rPr kumimoji="0" lang="en-US" sz="1200"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Scale Growth operation and improve GTM KPIs to better qualify audiences at the same time.</a:t>
            </a:r>
          </a:p>
          <a:p>
            <a:pPr marL="0" marR="0" lvl="0" indent="0" algn="l" defTabSz="912114" rtl="0" eaLnBrk="1" fontAlgn="auto" latinLnBrk="0" hangingPunct="1">
              <a:lnSpc>
                <a:spcPct val="100000"/>
              </a:lnSpc>
              <a:spcBef>
                <a:spcPct val="0"/>
              </a:spcBef>
              <a:spcAft>
                <a:spcPts val="0"/>
              </a:spcAft>
              <a:buClrTx/>
              <a:buSzTx/>
              <a:buFontTx/>
              <a:buNone/>
              <a:tabLst/>
              <a:defRPr/>
            </a:pPr>
            <a:endParaRPr lang="en-US" sz="1200">
              <a:solidFill>
                <a:schemeClr val="tx1"/>
              </a:solidFill>
              <a:latin typeface="Roboto" panose="02000000000000000000" pitchFamily="2" charset="0"/>
              <a:ea typeface="Roboto" panose="02000000000000000000" pitchFamily="2" charset="0"/>
              <a:cs typeface="Calibri"/>
            </a:endParaRPr>
          </a:p>
          <a:p>
            <a:pPr marL="0" marR="0" lvl="0" indent="0" algn="l" defTabSz="912114" rtl="0" eaLnBrk="1" fontAlgn="auto" latinLnBrk="0" hangingPunct="1">
              <a:lnSpc>
                <a:spcPct val="100000"/>
              </a:lnSpc>
              <a:spcBef>
                <a:spcPct val="0"/>
              </a:spcBef>
              <a:spcAft>
                <a:spcPts val="0"/>
              </a:spcAft>
              <a:buClrTx/>
              <a:buSzTx/>
              <a:buFontTx/>
              <a:buNone/>
              <a:tabLst/>
              <a:defRPr/>
            </a:pPr>
            <a:r>
              <a:rPr kumimoji="0" lang="en-US" sz="1200" b="1" i="0" u="none" strike="noStrike" kern="1200" cap="none" spc="0" normalizeH="0" baseline="0" noProof="0">
                <a:ln>
                  <a:noFill/>
                </a:ln>
                <a:solidFill>
                  <a:srgbClr val="1428A0"/>
                </a:solidFill>
                <a:effectLst/>
                <a:uLnTx/>
                <a:uFillTx/>
                <a:latin typeface="Roboto" panose="02000000000000000000" pitchFamily="2" charset="0"/>
                <a:ea typeface="Roboto" panose="02000000000000000000" pitchFamily="2" charset="0"/>
                <a:cs typeface="Calibri"/>
              </a:rPr>
              <a:t>MX</a:t>
            </a:r>
          </a:p>
          <a:p>
            <a:pPr marL="0" marR="0" lvl="0" indent="0" algn="l" defTabSz="912114" rtl="0" eaLnBrk="1" fontAlgn="auto" latinLnBrk="0" hangingPunct="1">
              <a:lnSpc>
                <a:spcPct val="100000"/>
              </a:lnSpc>
              <a:spcBef>
                <a:spcPct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Highlight: </a:t>
            </a:r>
          </a:p>
          <a:p>
            <a:pPr marL="0" marR="0" lvl="0" indent="0" algn="l" defTabSz="912114" rtl="0" eaLnBrk="1" fontAlgn="auto" latinLnBrk="0" hangingPunct="1">
              <a:lnSpc>
                <a:spcPct val="100000"/>
              </a:lnSpc>
              <a:spcBef>
                <a:spcPct val="0"/>
              </a:spcBef>
              <a:spcAft>
                <a:spcPts val="0"/>
              </a:spcAft>
              <a:buClrTx/>
              <a:buSzTx/>
              <a:buFontTx/>
              <a:buNone/>
              <a:tabLst/>
              <a:defRPr/>
            </a:pPr>
            <a:r>
              <a:rPr kumimoji="0" lang="en-US" sz="1200"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R$5</a:t>
            </a:r>
            <a:r>
              <a:rPr lang="en-US" sz="1200">
                <a:solidFill>
                  <a:schemeClr val="tx1"/>
                </a:solidFill>
                <a:latin typeface="Roboto" panose="02000000000000000000" pitchFamily="2" charset="0"/>
                <a:ea typeface="Roboto" panose="02000000000000000000" pitchFamily="2" charset="0"/>
                <a:cs typeface="Calibri"/>
              </a:rPr>
              <a:t>.9</a:t>
            </a:r>
            <a:r>
              <a:rPr kumimoji="0" lang="en-US" sz="1200"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M | 2.33 G/R → increase Watch and Galaxy Book penetration.</a:t>
            </a:r>
          </a:p>
          <a:p>
            <a:pPr marL="0" marR="0" lvl="0" indent="0" algn="l" defTabSz="912114" rtl="0" eaLnBrk="1" fontAlgn="auto" latinLnBrk="0" hangingPunct="1">
              <a:lnSpc>
                <a:spcPct val="100000"/>
              </a:lnSpc>
              <a:spcBef>
                <a:spcPct val="0"/>
              </a:spcBef>
              <a:spcAft>
                <a:spcPts val="0"/>
              </a:spcAft>
              <a:buClrTx/>
              <a:buSzTx/>
              <a:buFontTx/>
              <a:buNone/>
              <a:tabLst/>
              <a:defRPr/>
            </a:pPr>
            <a:endParaRPr kumimoji="0" lang="en-US" sz="1200" b="1" i="0" u="none" strike="noStrike" kern="1200" cap="none" spc="0" normalizeH="0" baseline="0" noProof="0">
              <a:ln>
                <a:noFill/>
              </a:ln>
              <a:solidFill>
                <a:schemeClr val="tx1"/>
              </a:solidFill>
              <a:effectLst/>
              <a:highlight>
                <a:srgbClr val="FFFF00"/>
              </a:highlight>
              <a:uLnTx/>
              <a:uFillTx/>
              <a:latin typeface="Roboto" panose="02000000000000000000" pitchFamily="2" charset="0"/>
              <a:ea typeface="Roboto" panose="02000000000000000000" pitchFamily="2" charset="0"/>
              <a:cs typeface="Calibri"/>
            </a:endParaRPr>
          </a:p>
          <a:p>
            <a:pPr marL="0" marR="0" lvl="0" indent="0" algn="l" defTabSz="912114" rtl="0" eaLnBrk="1" fontAlgn="auto" latinLnBrk="0" hangingPunct="1">
              <a:lnSpc>
                <a:spcPct val="100000"/>
              </a:lnSpc>
              <a:spcBef>
                <a:spcPct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Next Step: </a:t>
            </a:r>
          </a:p>
          <a:p>
            <a:pPr marL="0" marR="0" lvl="0" indent="0" algn="l" defTabSz="912114" rtl="0" eaLnBrk="1" fontAlgn="auto" latinLnBrk="0" hangingPunct="1">
              <a:lnSpc>
                <a:spcPct val="100000"/>
              </a:lnSpc>
              <a:spcBef>
                <a:spcPct val="0"/>
              </a:spcBef>
              <a:spcAft>
                <a:spcPts val="0"/>
              </a:spcAft>
              <a:buClrTx/>
              <a:buSzTx/>
              <a:buFontTx/>
              <a:buNone/>
              <a:tabLst/>
              <a:defRPr/>
            </a:pPr>
            <a:r>
              <a:rPr kumimoji="0" lang="en-US" sz="1200"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Diversify beyond smartphones through Watch and Galaxy Book. Retarget engaged Q8H8B8 audiences through Growth..</a:t>
            </a:r>
          </a:p>
          <a:p>
            <a:pPr marL="0" marR="0" lvl="0" indent="0" algn="l" defTabSz="912114" rtl="0" eaLnBrk="1" fontAlgn="auto" latinLnBrk="0" hangingPunct="1">
              <a:lnSpc>
                <a:spcPct val="100000"/>
              </a:lnSpc>
              <a:spcBef>
                <a:spcPct val="0"/>
              </a:spcBef>
              <a:spcAft>
                <a:spcPts val="0"/>
              </a:spcAft>
              <a:buClrTx/>
              <a:buSzTx/>
              <a:buFontTx/>
              <a:buNone/>
              <a:tabLst/>
              <a:defRPr/>
            </a:pPr>
            <a:endParaRPr kumimoji="0" lang="en-US" sz="1200"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endParaRPr>
          </a:p>
          <a:p>
            <a:pPr marL="0" marR="0" lvl="0" indent="0" algn="l" defTabSz="912114" rtl="0" eaLnBrk="1" fontAlgn="auto" latinLnBrk="0" hangingPunct="1">
              <a:lnSpc>
                <a:spcPct val="100000"/>
              </a:lnSpc>
              <a:spcBef>
                <a:spcPct val="0"/>
              </a:spcBef>
              <a:spcAft>
                <a:spcPts val="0"/>
              </a:spcAft>
              <a:buClrTx/>
              <a:buSzTx/>
              <a:buFontTx/>
              <a:buNone/>
              <a:tabLst/>
              <a:defRPr/>
            </a:pPr>
            <a:r>
              <a:rPr kumimoji="0" lang="en-US" sz="1200" b="1" i="0" u="none" strike="noStrike" kern="1200" cap="none" spc="0" normalizeH="0" baseline="0" noProof="0">
                <a:ln>
                  <a:noFill/>
                </a:ln>
                <a:solidFill>
                  <a:srgbClr val="1428A0"/>
                </a:solidFill>
                <a:effectLst/>
                <a:uLnTx/>
                <a:uFillTx/>
                <a:latin typeface="Roboto" panose="02000000000000000000" pitchFamily="2" charset="0"/>
                <a:ea typeface="Roboto" panose="02000000000000000000" pitchFamily="2" charset="0"/>
                <a:cs typeface="Calibri"/>
              </a:rPr>
              <a:t>VD</a:t>
            </a:r>
          </a:p>
          <a:p>
            <a:pPr marL="0" marR="0" lvl="0" indent="0" algn="l" defTabSz="912114" rtl="0" eaLnBrk="1" fontAlgn="auto" latinLnBrk="0" hangingPunct="1">
              <a:lnSpc>
                <a:spcPct val="100000"/>
              </a:lnSpc>
              <a:spcBef>
                <a:spcPct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Highlight: </a:t>
            </a:r>
          </a:p>
          <a:p>
            <a:pPr marL="0" marR="0" lvl="0" indent="0" algn="l" defTabSz="912114" rtl="0" eaLnBrk="1" fontAlgn="auto" latinLnBrk="0" hangingPunct="1">
              <a:lnSpc>
                <a:spcPct val="100000"/>
              </a:lnSpc>
              <a:spcBef>
                <a:spcPct val="0"/>
              </a:spcBef>
              <a:spcAft>
                <a:spcPts val="0"/>
              </a:spcAft>
              <a:buClrTx/>
              <a:buSzTx/>
              <a:buFontTx/>
              <a:buNone/>
              <a:tabLst/>
              <a:defRPr/>
            </a:pPr>
            <a:r>
              <a:rPr kumimoji="0" lang="en-US" sz="1200"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R$</a:t>
            </a:r>
            <a:r>
              <a:rPr lang="en-US" sz="1200">
                <a:solidFill>
                  <a:schemeClr val="tx1"/>
                </a:solidFill>
                <a:latin typeface="Roboto" panose="02000000000000000000" pitchFamily="2" charset="0"/>
                <a:ea typeface="Roboto" panose="02000000000000000000" pitchFamily="2" charset="0"/>
                <a:cs typeface="Calibri"/>
              </a:rPr>
              <a:t>1.10M</a:t>
            </a:r>
            <a:r>
              <a:rPr kumimoji="0" lang="en-US" sz="1200"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 | 1.64 G/R → Mini LED family led products sales.</a:t>
            </a:r>
          </a:p>
          <a:p>
            <a:pPr marL="0" marR="0" lvl="0" indent="0" algn="l" defTabSz="912114" rtl="0" eaLnBrk="1" fontAlgn="auto" latinLnBrk="0" hangingPunct="1">
              <a:lnSpc>
                <a:spcPct val="100000"/>
              </a:lnSpc>
              <a:spcBef>
                <a:spcPct val="0"/>
              </a:spcBef>
              <a:spcAft>
                <a:spcPts val="0"/>
              </a:spcAft>
              <a:buClrTx/>
              <a:buSzTx/>
              <a:buFontTx/>
              <a:buNone/>
              <a:tabLst/>
              <a:defRPr/>
            </a:pPr>
            <a:endParaRPr kumimoji="0" lang="en-US" sz="1200" b="1" i="0" u="none" strike="noStrike" kern="1200" cap="none" spc="0" normalizeH="0" baseline="0" noProof="0">
              <a:ln>
                <a:noFill/>
              </a:ln>
              <a:solidFill>
                <a:schemeClr val="tx1"/>
              </a:solidFill>
              <a:effectLst/>
              <a:highlight>
                <a:srgbClr val="FFFF00"/>
              </a:highlight>
              <a:uLnTx/>
              <a:uFillTx/>
              <a:latin typeface="Roboto" panose="02000000000000000000" pitchFamily="2" charset="0"/>
              <a:ea typeface="Roboto" panose="02000000000000000000" pitchFamily="2" charset="0"/>
              <a:cs typeface="Calibri"/>
            </a:endParaRPr>
          </a:p>
          <a:p>
            <a:pPr marL="0" marR="0" lvl="0" indent="0" algn="l" defTabSz="912114" rtl="0" eaLnBrk="1" fontAlgn="auto" latinLnBrk="0" hangingPunct="1">
              <a:lnSpc>
                <a:spcPct val="100000"/>
              </a:lnSpc>
              <a:spcBef>
                <a:spcPct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Next Step:</a:t>
            </a:r>
            <a:r>
              <a:rPr kumimoji="0" lang="en-US" sz="1200"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 </a:t>
            </a:r>
          </a:p>
          <a:p>
            <a:pPr marL="0" marR="0" lvl="0" indent="0" algn="l" defTabSz="912114" rtl="0" eaLnBrk="1" fontAlgn="auto" latinLnBrk="0" hangingPunct="1">
              <a:lnSpc>
                <a:spcPct val="100000"/>
              </a:lnSpc>
              <a:spcBef>
                <a:spcPct val="0"/>
              </a:spcBef>
              <a:spcAft>
                <a:spcPts val="0"/>
              </a:spcAft>
              <a:buClrTx/>
              <a:buSzTx/>
              <a:buFontTx/>
              <a:buNone/>
              <a:tabLst/>
              <a:defRPr/>
            </a:pPr>
            <a:r>
              <a:rPr lang="en-US" sz="1200">
                <a:solidFill>
                  <a:schemeClr val="tx1"/>
                </a:solidFill>
                <a:latin typeface="Roboto" panose="02000000000000000000" pitchFamily="2" charset="0"/>
                <a:ea typeface="Roboto" panose="02000000000000000000" pitchFamily="2" charset="0"/>
                <a:cs typeface="Calibri"/>
              </a:rPr>
              <a:t>Increase basket size to diversify products, increase Soundbar offer. </a:t>
            </a:r>
          </a:p>
          <a:p>
            <a:pPr marL="0" marR="0" lvl="0" indent="0" algn="l" defTabSz="912114" rtl="0" eaLnBrk="1" fontAlgn="auto" latinLnBrk="0" hangingPunct="1">
              <a:lnSpc>
                <a:spcPct val="100000"/>
              </a:lnSpc>
              <a:spcBef>
                <a:spcPct val="0"/>
              </a:spcBef>
              <a:spcAft>
                <a:spcPts val="0"/>
              </a:spcAft>
              <a:buClrTx/>
              <a:buSzTx/>
              <a:buFontTx/>
              <a:buNone/>
              <a:tabLst/>
              <a:defRPr/>
            </a:pPr>
            <a:endParaRPr lang="en-US" sz="1200">
              <a:solidFill>
                <a:schemeClr val="tx1"/>
              </a:solidFill>
              <a:latin typeface="Roboto" panose="02000000000000000000" pitchFamily="2" charset="0"/>
              <a:ea typeface="Roboto" panose="02000000000000000000" pitchFamily="2" charset="0"/>
              <a:cs typeface="Calibri"/>
            </a:endParaRPr>
          </a:p>
          <a:p>
            <a:pPr marL="0" marR="0" lvl="0" indent="0" algn="l" defTabSz="912114" rtl="0" eaLnBrk="1" fontAlgn="auto" latinLnBrk="0" hangingPunct="1">
              <a:lnSpc>
                <a:spcPct val="100000"/>
              </a:lnSpc>
              <a:spcBef>
                <a:spcPct val="0"/>
              </a:spcBef>
              <a:spcAft>
                <a:spcPts val="0"/>
              </a:spcAft>
              <a:buClrTx/>
              <a:buSzTx/>
              <a:buFontTx/>
              <a:buNone/>
              <a:tabLst/>
              <a:defRPr/>
            </a:pPr>
            <a:r>
              <a:rPr kumimoji="0" lang="en-US" sz="1200" b="1" i="0" u="none" strike="noStrike" kern="1200" cap="none" spc="0" normalizeH="0" baseline="0" noProof="0">
                <a:ln>
                  <a:noFill/>
                </a:ln>
                <a:solidFill>
                  <a:srgbClr val="1428A0"/>
                </a:solidFill>
                <a:effectLst/>
                <a:uLnTx/>
                <a:uFillTx/>
                <a:latin typeface="Roboto" panose="02000000000000000000" pitchFamily="2" charset="0"/>
                <a:ea typeface="Roboto" panose="02000000000000000000" pitchFamily="2" charset="0"/>
                <a:cs typeface="Calibri"/>
              </a:rPr>
              <a:t>DA</a:t>
            </a:r>
          </a:p>
          <a:p>
            <a:pPr marL="0" marR="0" lvl="0" indent="0" algn="l" defTabSz="912114" rtl="0" eaLnBrk="1" fontAlgn="auto" latinLnBrk="0" hangingPunct="1">
              <a:lnSpc>
                <a:spcPct val="100000"/>
              </a:lnSpc>
              <a:spcBef>
                <a:spcPct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Highlight: </a:t>
            </a:r>
          </a:p>
          <a:p>
            <a:pPr marL="0" marR="0" lvl="0" indent="0" algn="l" defTabSz="912114" rtl="0" eaLnBrk="1" fontAlgn="auto" latinLnBrk="0" hangingPunct="1">
              <a:lnSpc>
                <a:spcPct val="100000"/>
              </a:lnSpc>
              <a:spcBef>
                <a:spcPct val="0"/>
              </a:spcBef>
              <a:spcAft>
                <a:spcPts val="0"/>
              </a:spcAft>
              <a:buClrTx/>
              <a:buSzTx/>
              <a:buFontTx/>
              <a:buNone/>
              <a:tabLst/>
              <a:defRPr/>
            </a:pPr>
            <a:r>
              <a:rPr kumimoji="0" lang="en-US" sz="1200"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R$</a:t>
            </a:r>
            <a:r>
              <a:rPr lang="en-US" sz="1200">
                <a:solidFill>
                  <a:schemeClr val="tx1"/>
                </a:solidFill>
                <a:latin typeface="Roboto" panose="02000000000000000000" pitchFamily="2" charset="0"/>
                <a:ea typeface="Roboto" panose="02000000000000000000" pitchFamily="2" charset="0"/>
                <a:cs typeface="Calibri"/>
              </a:rPr>
              <a:t>496</a:t>
            </a:r>
            <a:r>
              <a:rPr kumimoji="0" lang="en-US" sz="1200"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K | 1.09 G/R → Cook emerged as an opportunity; explore its potential.</a:t>
            </a:r>
            <a:endParaRPr kumimoji="0" lang="en-US" sz="1200" i="0" u="none" strike="noStrike" kern="1200" cap="none" spc="0" normalizeH="0" baseline="0" noProof="0">
              <a:ln>
                <a:noFill/>
              </a:ln>
              <a:solidFill>
                <a:schemeClr val="tx1"/>
              </a:solidFill>
              <a:effectLst/>
              <a:highlight>
                <a:srgbClr val="FFFF00"/>
              </a:highlight>
              <a:uLnTx/>
              <a:uFillTx/>
              <a:latin typeface="Roboto" panose="02000000000000000000" pitchFamily="2" charset="0"/>
              <a:ea typeface="Roboto" panose="02000000000000000000" pitchFamily="2" charset="0"/>
              <a:cs typeface="Calibri"/>
            </a:endParaRPr>
          </a:p>
          <a:p>
            <a:pPr marL="0" marR="0" lvl="0" indent="0" algn="l" defTabSz="912114" rtl="0" eaLnBrk="1" fontAlgn="auto" latinLnBrk="0" hangingPunct="1">
              <a:lnSpc>
                <a:spcPct val="100000"/>
              </a:lnSpc>
              <a:spcBef>
                <a:spcPct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Next Step:</a:t>
            </a:r>
            <a:r>
              <a:rPr kumimoji="0" lang="en-US" sz="1200"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 </a:t>
            </a:r>
          </a:p>
          <a:p>
            <a:pPr marL="0" marR="0" lvl="0" indent="0" algn="l" defTabSz="912114" rtl="0" eaLnBrk="1" fontAlgn="auto" latinLnBrk="0" hangingPunct="1">
              <a:lnSpc>
                <a:spcPct val="100000"/>
              </a:lnSpc>
              <a:spcBef>
                <a:spcPct val="0"/>
              </a:spcBef>
              <a:spcAft>
                <a:spcPts val="0"/>
              </a:spcAft>
              <a:buClrTx/>
              <a:buSzTx/>
              <a:buFontTx/>
              <a:buNone/>
              <a:tabLst/>
              <a:defRPr/>
            </a:pPr>
            <a:r>
              <a:rPr lang="en-US" sz="1200">
                <a:solidFill>
                  <a:schemeClr val="tx1"/>
                </a:solidFill>
                <a:latin typeface="Roboto" panose="02000000000000000000" pitchFamily="2" charset="0"/>
                <a:ea typeface="Roboto" panose="02000000000000000000" pitchFamily="2" charset="0"/>
                <a:cs typeface="Calibri"/>
              </a:rPr>
              <a:t>Repeating efforts from W32 test whether Washer Dryer can peak again.</a:t>
            </a:r>
            <a:endParaRPr kumimoji="0" lang="en-US" sz="1200"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endParaRPr>
          </a:p>
        </p:txBody>
      </p:sp>
      <p:grpSp>
        <p:nvGrpSpPr>
          <p:cNvPr id="2" name="Agrupar 1">
            <a:extLst>
              <a:ext uri="{FF2B5EF4-FFF2-40B4-BE49-F238E27FC236}">
                <a16:creationId xmlns:a16="http://schemas.microsoft.com/office/drawing/2014/main" id="{E8FA7018-3D0B-4794-AB17-3F9E668E602A}"/>
              </a:ext>
            </a:extLst>
          </p:cNvPr>
          <p:cNvGrpSpPr/>
          <p:nvPr/>
        </p:nvGrpSpPr>
        <p:grpSpPr>
          <a:xfrm>
            <a:off x="5508001" y="615114"/>
            <a:ext cx="6397351" cy="6087499"/>
            <a:chOff x="6182588" y="615114"/>
            <a:chExt cx="5722764" cy="5968259"/>
          </a:xfrm>
        </p:grpSpPr>
        <p:sp>
          <p:nvSpPr>
            <p:cNvPr id="24" name="Retângulo 23">
              <a:extLst>
                <a:ext uri="{FF2B5EF4-FFF2-40B4-BE49-F238E27FC236}">
                  <a16:creationId xmlns:a16="http://schemas.microsoft.com/office/drawing/2014/main" id="{E41F0F12-2CE7-458D-8EB8-D51B6290FB4E}"/>
                </a:ext>
              </a:extLst>
            </p:cNvPr>
            <p:cNvSpPr/>
            <p:nvPr/>
          </p:nvSpPr>
          <p:spPr>
            <a:xfrm>
              <a:off x="6182588" y="761289"/>
              <a:ext cx="2779793" cy="2751456"/>
            </a:xfrm>
            <a:prstGeom prst="rect">
              <a:avLst/>
            </a:prstGeom>
            <a:no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216000" rtlCol="0" anchor="t"/>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2114" rtl="0" eaLnBrk="1" fontAlgn="auto" latinLnBrk="0" hangingPunct="1">
                <a:lnSpc>
                  <a:spcPct val="100000"/>
                </a:lnSpc>
                <a:spcBef>
                  <a:spcPts val="30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Highlight: </a:t>
              </a:r>
            </a:p>
            <a:p>
              <a:pPr marL="0" marR="0" lvl="0" indent="0" algn="l" defTabSz="912114" rtl="0" eaLnBrk="1" fontAlgn="auto" latinLnBrk="0" hangingPunct="1">
                <a:lnSpc>
                  <a:spcPct val="100000"/>
                </a:lnSpc>
                <a:spcBef>
                  <a:spcPts val="300"/>
                </a:spcBef>
                <a:spcAft>
                  <a:spcPts val="0"/>
                </a:spcAft>
                <a:buClrTx/>
                <a:buSzTx/>
                <a:buFontTx/>
                <a:buNone/>
                <a:tabLst/>
                <a:defRPr/>
              </a:pPr>
              <a:r>
                <a:rPr kumimoji="0" lang="en-US" sz="1200"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R$2.9M | 2.85 G/R →Live Commerce sustained the pillar.</a:t>
              </a:r>
            </a:p>
            <a:p>
              <a:pPr marL="0" marR="0" lvl="0" indent="0" algn="l" defTabSz="912114" rtl="0" eaLnBrk="1" fontAlgn="auto" latinLnBrk="0" hangingPunct="1">
                <a:lnSpc>
                  <a:spcPct val="100000"/>
                </a:lnSpc>
                <a:spcBef>
                  <a:spcPts val="30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Next Step: </a:t>
              </a:r>
            </a:p>
            <a:p>
              <a:pPr marL="171450" marR="0" lvl="0" indent="-171450" algn="l" defTabSz="912114"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200">
                  <a:solidFill>
                    <a:schemeClr val="tx1"/>
                  </a:solidFill>
                  <a:latin typeface="Roboto" panose="02000000000000000000" pitchFamily="2" charset="0"/>
                  <a:ea typeface="Roboto" panose="02000000000000000000" pitchFamily="2" charset="0"/>
                  <a:cs typeface="Calibri"/>
                </a:rPr>
                <a:t>Balance the product mix, reduce the weight of foldables, focus on Tv and Watch Ultra.</a:t>
              </a:r>
            </a:p>
            <a:p>
              <a:pPr marL="171450" marR="0" lvl="0" indent="-171450" algn="l" defTabSz="912114"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Replicate the new discount framing </a:t>
              </a:r>
              <a:r>
                <a:rPr lang="en-US" sz="1200">
                  <a:solidFill>
                    <a:schemeClr val="tx1"/>
                  </a:solidFill>
                  <a:latin typeface="Roboto" panose="02000000000000000000" pitchFamily="2" charset="0"/>
                  <a:ea typeface="Roboto" panose="02000000000000000000" pitchFamily="2" charset="0"/>
                  <a:cs typeface="Calibri"/>
                </a:rPr>
                <a:t>validated on W34.</a:t>
              </a:r>
            </a:p>
            <a:p>
              <a:pPr marL="171450" marR="0" lvl="0" indent="-171450" algn="l" defTabSz="912114"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Investigate the loss in efficiency on APP Push, identify a new way to balance the two main channels Growth.</a:t>
              </a:r>
              <a:endParaRPr kumimoji="0" lang="en-US" sz="180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25" name="Retângulo 24">
              <a:extLst>
                <a:ext uri="{FF2B5EF4-FFF2-40B4-BE49-F238E27FC236}">
                  <a16:creationId xmlns:a16="http://schemas.microsoft.com/office/drawing/2014/main" id="{98F18E40-9232-4FA0-BAA0-E8A99BC2A1E6}"/>
                </a:ext>
              </a:extLst>
            </p:cNvPr>
            <p:cNvSpPr/>
            <p:nvPr/>
          </p:nvSpPr>
          <p:spPr>
            <a:xfrm>
              <a:off x="9125559" y="761289"/>
              <a:ext cx="2779793" cy="2751456"/>
            </a:xfrm>
            <a:prstGeom prst="rect">
              <a:avLst/>
            </a:prstGeom>
            <a:no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216000" rtlCol="0" anchor="t"/>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2114" rtl="0" eaLnBrk="1" fontAlgn="auto" latinLnBrk="0" hangingPunct="1">
                <a:lnSpc>
                  <a:spcPct val="100000"/>
                </a:lnSpc>
                <a:spcBef>
                  <a:spcPts val="20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Highlight: </a:t>
              </a:r>
            </a:p>
            <a:p>
              <a:pPr marL="0" marR="0" lvl="0" indent="0" algn="l" defTabSz="912114" rtl="0" eaLnBrk="1" fontAlgn="auto" latinLnBrk="0" hangingPunct="1">
                <a:lnSpc>
                  <a:spcPct val="100000"/>
                </a:lnSpc>
                <a:spcBef>
                  <a:spcPts val="200"/>
                </a:spcBef>
                <a:spcAft>
                  <a:spcPts val="0"/>
                </a:spcAft>
                <a:buClrTx/>
                <a:buSzTx/>
                <a:buFontTx/>
                <a:buNone/>
                <a:tabLst/>
                <a:defRPr/>
              </a:pPr>
              <a:r>
                <a:rPr kumimoji="0" lang="en-US" sz="1200"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R$1,22M | 1.63 G/R</a:t>
              </a:r>
            </a:p>
            <a:p>
              <a:pPr marL="0" marR="0" lvl="0" indent="0" algn="l" defTabSz="912114" rtl="0" eaLnBrk="1" fontAlgn="auto" latinLnBrk="0" hangingPunct="1">
                <a:lnSpc>
                  <a:spcPct val="100000"/>
                </a:lnSpc>
                <a:spcBef>
                  <a:spcPts val="200"/>
                </a:spcBef>
                <a:spcAft>
                  <a:spcPts val="0"/>
                </a:spcAft>
                <a:buClrTx/>
                <a:buSzTx/>
                <a:buFontTx/>
                <a:buNone/>
                <a:tabLst/>
                <a:defRPr/>
              </a:pPr>
              <a:endParaRPr lang="en-US" sz="1200">
                <a:solidFill>
                  <a:schemeClr val="tx1"/>
                </a:solidFill>
                <a:highlight>
                  <a:srgbClr val="FFFF00"/>
                </a:highlight>
                <a:latin typeface="Roboto" panose="02000000000000000000" pitchFamily="2" charset="0"/>
                <a:ea typeface="Roboto" panose="02000000000000000000" pitchFamily="2" charset="0"/>
                <a:cs typeface="Calibri"/>
              </a:endParaRPr>
            </a:p>
            <a:p>
              <a:pPr marL="0" marR="0" lvl="0" indent="0" algn="l" defTabSz="912114" rtl="0" eaLnBrk="1" fontAlgn="auto" latinLnBrk="0" hangingPunct="1">
                <a:lnSpc>
                  <a:spcPct val="100000"/>
                </a:lnSpc>
                <a:spcBef>
                  <a:spcPts val="20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Next Step: </a:t>
              </a:r>
            </a:p>
            <a:p>
              <a:pPr marL="171450" indent="-171450" defTabSz="912114">
                <a:spcBef>
                  <a:spcPts val="200"/>
                </a:spcBef>
                <a:buFont typeface="Arial" panose="020B0604020202020204" pitchFamily="34" charset="0"/>
                <a:buChar char="•"/>
                <a:defRPr/>
              </a:pPr>
              <a:r>
                <a:rPr lang="en-US" sz="1200">
                  <a:solidFill>
                    <a:schemeClr val="tx1"/>
                  </a:solidFill>
                  <a:latin typeface="Roboto" panose="02000000000000000000" pitchFamily="2" charset="0"/>
                  <a:ea typeface="Roboto" panose="02000000000000000000" pitchFamily="2" charset="0"/>
                  <a:cs typeface="Calibri"/>
                </a:rPr>
                <a:t>Evolve HR to buyers.</a:t>
              </a:r>
            </a:p>
            <a:p>
              <a:pPr marL="171450" indent="-171450" defTabSz="912114">
                <a:spcBef>
                  <a:spcPts val="200"/>
                </a:spcBef>
                <a:buFont typeface="Arial" panose="020B0604020202020204" pitchFamily="34" charset="0"/>
                <a:buChar char="•"/>
                <a:defRPr/>
              </a:pPr>
              <a:r>
                <a:rPr lang="en-US" sz="1200">
                  <a:solidFill>
                    <a:schemeClr val="tx1"/>
                  </a:solidFill>
                  <a:latin typeface="Roboto" panose="02000000000000000000" pitchFamily="2" charset="0"/>
                  <a:ea typeface="Roboto" panose="02000000000000000000" pitchFamily="2" charset="0"/>
                  <a:cs typeface="Calibri"/>
                </a:rPr>
                <a:t>Increase engagement rate: CTR and CTOR.</a:t>
              </a:r>
            </a:p>
            <a:p>
              <a:pPr marL="171450" indent="-171450" defTabSz="912114">
                <a:spcBef>
                  <a:spcPts val="200"/>
                </a:spcBef>
                <a:buFont typeface="Arial" panose="020B0604020202020204" pitchFamily="34" charset="0"/>
                <a:buChar char="•"/>
                <a:defRPr/>
              </a:pPr>
              <a:r>
                <a:rPr lang="en-US" sz="1200">
                  <a:solidFill>
                    <a:schemeClr val="tx1"/>
                  </a:solidFill>
                  <a:latin typeface="Roboto" panose="02000000000000000000" pitchFamily="2" charset="0"/>
                  <a:ea typeface="Roboto" panose="02000000000000000000" pitchFamily="2" charset="0"/>
                  <a:cs typeface="Calibri"/>
                </a:rPr>
                <a:t>Incorporate learnings to GTM journeys.</a:t>
              </a:r>
            </a:p>
            <a:p>
              <a:pPr marL="171450" indent="-171450" defTabSz="912114">
                <a:spcBef>
                  <a:spcPts val="200"/>
                </a:spcBef>
                <a:buFont typeface="Arial" panose="020B0604020202020204" pitchFamily="34" charset="0"/>
                <a:buChar char="•"/>
                <a:defRPr/>
              </a:pPr>
              <a:r>
                <a:rPr lang="en-US" sz="1200">
                  <a:solidFill>
                    <a:schemeClr val="tx1"/>
                  </a:solidFill>
                  <a:latin typeface="Roboto" panose="02000000000000000000" pitchFamily="2" charset="0"/>
                  <a:ea typeface="Roboto" panose="02000000000000000000" pitchFamily="2" charset="0"/>
                  <a:cs typeface="Calibri"/>
                </a:rPr>
                <a:t>Testing and replicating Q8H8B8 e VD One, keep learning audiences tests.</a:t>
              </a:r>
            </a:p>
            <a:p>
              <a:pPr marL="171450" indent="-171450" defTabSz="912114">
                <a:spcBef>
                  <a:spcPts val="200"/>
                </a:spcBef>
                <a:buFont typeface="Arial" panose="020B0604020202020204" pitchFamily="34" charset="0"/>
                <a:buChar char="•"/>
                <a:defRPr/>
              </a:pPr>
              <a:endParaRPr kumimoji="0" lang="en-US" sz="600" i="0" u="none" strike="noStrike" kern="1200" cap="none" spc="0" normalizeH="0" baseline="0" noProof="0">
                <a:ln>
                  <a:noFill/>
                </a:ln>
                <a:solidFill>
                  <a:schemeClr val="tx1"/>
                </a:solidFill>
                <a:effectLst/>
                <a:highlight>
                  <a:srgbClr val="FFFF00"/>
                </a:highlight>
                <a:uLnTx/>
                <a:uFillTx/>
                <a:latin typeface="Calibri" panose="020F0502020204030204"/>
                <a:ea typeface="Roboto"/>
                <a:cs typeface="Roboto"/>
              </a:endParaRPr>
            </a:p>
            <a:p>
              <a:pPr marL="0" marR="0" lvl="0" indent="0" algn="l" defTabSz="912114" rtl="0" eaLnBrk="1" fontAlgn="auto" latinLnBrk="0" hangingPunct="1">
                <a:lnSpc>
                  <a:spcPct val="100000"/>
                </a:lnSpc>
                <a:spcBef>
                  <a:spcPts val="200"/>
                </a:spcBef>
                <a:spcAft>
                  <a:spcPts val="0"/>
                </a:spcAft>
                <a:buClrTx/>
                <a:buSzTx/>
                <a:buFontTx/>
                <a:buNone/>
                <a:tabLst/>
                <a:defRPr/>
              </a:pPr>
              <a:endParaRPr kumimoji="0" lang="pt-BR" sz="600" i="0" u="none" strike="noStrike" kern="1200" cap="none" spc="0" normalizeH="0" baseline="0" noProof="0">
                <a:ln>
                  <a:noFill/>
                </a:ln>
                <a:solidFill>
                  <a:schemeClr val="tx1"/>
                </a:solidFill>
                <a:effectLst/>
                <a:uLnTx/>
                <a:uFillTx/>
                <a:latin typeface="Roboto"/>
                <a:ea typeface="Roboto"/>
                <a:cs typeface="Roboto"/>
              </a:endParaRPr>
            </a:p>
          </p:txBody>
        </p:sp>
        <p:sp>
          <p:nvSpPr>
            <p:cNvPr id="3" name="CaixaDeTexto 98">
              <a:extLst>
                <a:ext uri="{FF2B5EF4-FFF2-40B4-BE49-F238E27FC236}">
                  <a16:creationId xmlns:a16="http://schemas.microsoft.com/office/drawing/2014/main" id="{8269061E-16AD-D6EE-3B48-9B9D502FFBFA}"/>
                </a:ext>
              </a:extLst>
            </p:cNvPr>
            <p:cNvSpPr txBox="1"/>
            <p:nvPr/>
          </p:nvSpPr>
          <p:spPr>
            <a:xfrm>
              <a:off x="6328182" y="615114"/>
              <a:ext cx="980254" cy="307777"/>
            </a:xfrm>
            <a:prstGeom prst="rect">
              <a:avLst/>
            </a:prstGeom>
            <a:solidFill>
              <a:schemeClr val="bg1"/>
            </a:solidFill>
          </p:spPr>
          <p:txBody>
            <a:bodyPr wrap="square" lIns="91440" tIns="45720" rIns="91440" bIns="45720" rtlCol="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2060"/>
                  </a:solidFill>
                  <a:effectLst/>
                  <a:uLnTx/>
                  <a:uFillTx/>
                  <a:latin typeface="Samsung Sharp Sans Bold" panose="02000503000000020004"/>
                  <a:ea typeface="+mn-ea"/>
                  <a:cs typeface="+mn-cs"/>
                </a:rPr>
                <a:t>GROWTH</a:t>
              </a:r>
            </a:p>
          </p:txBody>
        </p:sp>
        <p:sp>
          <p:nvSpPr>
            <p:cNvPr id="12" name="CaixaDeTexto 98">
              <a:extLst>
                <a:ext uri="{FF2B5EF4-FFF2-40B4-BE49-F238E27FC236}">
                  <a16:creationId xmlns:a16="http://schemas.microsoft.com/office/drawing/2014/main" id="{B82E7CCF-A10D-E48C-1514-15647E05D795}"/>
                </a:ext>
              </a:extLst>
            </p:cNvPr>
            <p:cNvSpPr txBox="1"/>
            <p:nvPr/>
          </p:nvSpPr>
          <p:spPr>
            <a:xfrm>
              <a:off x="9224006" y="615114"/>
              <a:ext cx="555893" cy="307777"/>
            </a:xfrm>
            <a:prstGeom prst="rect">
              <a:avLst/>
            </a:prstGeom>
            <a:solidFill>
              <a:schemeClr val="bg1"/>
            </a:solidFill>
          </p:spPr>
          <p:txBody>
            <a:bodyPr wrap="square" lIns="91440" tIns="45720" rIns="91440" bIns="45720" rtlCol="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2060"/>
                  </a:solidFill>
                  <a:effectLst/>
                  <a:uLnTx/>
                  <a:uFillTx/>
                  <a:latin typeface="Samsung Sharp Sans Bold" panose="02000503000000020004"/>
                  <a:ea typeface="+mn-ea"/>
                  <a:cs typeface="+mn-cs"/>
                </a:rPr>
                <a:t>GTM</a:t>
              </a:r>
              <a:endParaRPr kumimoji="0" lang="pt-BR"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 name="Retângulo 10">
              <a:extLst>
                <a:ext uri="{FF2B5EF4-FFF2-40B4-BE49-F238E27FC236}">
                  <a16:creationId xmlns:a16="http://schemas.microsoft.com/office/drawing/2014/main" id="{47D5550A-7337-4080-BDB1-457E3F68EFD9}"/>
                </a:ext>
              </a:extLst>
            </p:cNvPr>
            <p:cNvSpPr/>
            <p:nvPr/>
          </p:nvSpPr>
          <p:spPr>
            <a:xfrm>
              <a:off x="6182588" y="3831917"/>
              <a:ext cx="2779793" cy="2751456"/>
            </a:xfrm>
            <a:prstGeom prst="rect">
              <a:avLst/>
            </a:prstGeom>
            <a:no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216000" rtlCol="0" anchor="t"/>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2114" rtl="0" eaLnBrk="1" fontAlgn="auto" latinLnBrk="0" hangingPunct="1">
                <a:lnSpc>
                  <a:spcPct val="100000"/>
                </a:lnSpc>
                <a:spcBef>
                  <a:spcPts val="300"/>
                </a:spcBef>
                <a:spcAft>
                  <a:spcPts val="0"/>
                </a:spcAft>
                <a:buClrTx/>
                <a:buSzTx/>
                <a:buFontTx/>
                <a:buNone/>
                <a:tabLst/>
                <a:defRPr/>
              </a:pPr>
              <a:r>
                <a:rPr kumimoji="0" lang="en-US" sz="1100" b="1"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Highlight: </a:t>
              </a:r>
            </a:p>
            <a:p>
              <a:pPr marL="0" marR="0" lvl="0" indent="0" algn="l" defTabSz="912114" rtl="0" eaLnBrk="1" fontAlgn="auto" latinLnBrk="0" hangingPunct="1">
                <a:lnSpc>
                  <a:spcPct val="100000"/>
                </a:lnSpc>
                <a:spcBef>
                  <a:spcPts val="300"/>
                </a:spcBef>
                <a:spcAft>
                  <a:spcPts val="0"/>
                </a:spcAft>
                <a:buClrTx/>
                <a:buSzTx/>
                <a:buFontTx/>
                <a:buNone/>
                <a:tabLst/>
                <a:defRPr/>
              </a:pPr>
              <a:r>
                <a:rPr kumimoji="0" lang="en-US" sz="1100"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R$3.64M | 1.74 G/R → journey beyond Cart.</a:t>
              </a:r>
            </a:p>
            <a:p>
              <a:pPr marL="0" marR="0" lvl="0" indent="0" algn="l" defTabSz="912114" rtl="0" eaLnBrk="1" fontAlgn="auto" latinLnBrk="0" hangingPunct="1">
                <a:lnSpc>
                  <a:spcPct val="100000"/>
                </a:lnSpc>
                <a:spcBef>
                  <a:spcPts val="300"/>
                </a:spcBef>
                <a:spcAft>
                  <a:spcPts val="0"/>
                </a:spcAft>
                <a:buClrTx/>
                <a:buSzTx/>
                <a:buFontTx/>
                <a:buNone/>
                <a:tabLst/>
                <a:defRPr/>
              </a:pPr>
              <a:endParaRPr lang="en-US" sz="1100">
                <a:solidFill>
                  <a:schemeClr val="tx1"/>
                </a:solidFill>
                <a:highlight>
                  <a:srgbClr val="FFFF00"/>
                </a:highlight>
                <a:latin typeface="Roboto" panose="02000000000000000000" pitchFamily="2" charset="0"/>
                <a:ea typeface="Roboto" panose="02000000000000000000" pitchFamily="2" charset="0"/>
                <a:cs typeface="Calibri"/>
              </a:endParaRPr>
            </a:p>
            <a:p>
              <a:pPr marL="0" marR="0" lvl="0" indent="0" algn="l" defTabSz="912114" rtl="0" eaLnBrk="1" fontAlgn="auto" latinLnBrk="0" hangingPunct="1">
                <a:lnSpc>
                  <a:spcPct val="100000"/>
                </a:lnSpc>
                <a:spcBef>
                  <a:spcPts val="300"/>
                </a:spcBef>
                <a:spcAft>
                  <a:spcPts val="0"/>
                </a:spcAft>
                <a:buClrTx/>
                <a:buSzTx/>
                <a:buFontTx/>
                <a:buNone/>
                <a:tabLst/>
                <a:defRPr/>
              </a:pPr>
              <a:r>
                <a:rPr kumimoji="0" lang="en-US" sz="1100" b="1"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Next Step: </a:t>
              </a:r>
            </a:p>
            <a:p>
              <a:pPr marL="171450" marR="0" lvl="0" indent="-171450" defTabSz="912114" fontAlgn="auto">
                <a:lnSpc>
                  <a:spcPct val="100000"/>
                </a:lnSpc>
                <a:spcBef>
                  <a:spcPts val="300"/>
                </a:spcBef>
                <a:spcAft>
                  <a:spcPts val="0"/>
                </a:spcAft>
                <a:buClrTx/>
                <a:buSzTx/>
                <a:buFont typeface="Arial" panose="020B0604020202020204" pitchFamily="34" charset="0"/>
                <a:buChar char="•"/>
                <a:tabLst/>
                <a:defRPr/>
              </a:pPr>
              <a:r>
                <a:rPr lang="en-US" sz="1100">
                  <a:solidFill>
                    <a:schemeClr val="tx1"/>
                  </a:solidFill>
                  <a:latin typeface="Roboto" panose="02000000000000000000" pitchFamily="2" charset="0"/>
                  <a:ea typeface="Roboto" panose="02000000000000000000" pitchFamily="2" charset="0"/>
                  <a:cs typeface="Calibri"/>
                </a:rPr>
                <a:t>Scale triggers generating less than R$100K in revenue.</a:t>
              </a:r>
            </a:p>
            <a:p>
              <a:pPr marL="171450" marR="0" lvl="0" indent="-171450" defTabSz="912114" fontAlgn="auto">
                <a:lnSpc>
                  <a:spcPct val="100000"/>
                </a:lnSpc>
                <a:spcBef>
                  <a:spcPts val="300"/>
                </a:spcBef>
                <a:spcAft>
                  <a:spcPts val="0"/>
                </a:spcAft>
                <a:buClrTx/>
                <a:buSzTx/>
                <a:buFont typeface="Arial" panose="020B0604020202020204" pitchFamily="34" charset="0"/>
                <a:buChar char="•"/>
                <a:tabLst/>
                <a:defRPr/>
              </a:pPr>
              <a:r>
                <a:rPr lang="en-US" sz="1100">
                  <a:solidFill>
                    <a:schemeClr val="tx1"/>
                  </a:solidFill>
                  <a:latin typeface="Roboto" panose="02000000000000000000" pitchFamily="2" charset="0"/>
                  <a:ea typeface="Roboto" panose="02000000000000000000" pitchFamily="2" charset="0"/>
                  <a:cs typeface="Calibri"/>
                </a:rPr>
                <a:t>Stabilize automation performance from Inactive Users and Browser Abandonment.</a:t>
              </a:r>
            </a:p>
            <a:p>
              <a:pPr marL="171450" marR="0" lvl="0" indent="-171450" defTabSz="912114" fontAlgn="auto">
                <a:lnSpc>
                  <a:spcPct val="100000"/>
                </a:lnSpc>
                <a:spcBef>
                  <a:spcPts val="300"/>
                </a:spcBef>
                <a:spcAft>
                  <a:spcPts val="0"/>
                </a:spcAft>
                <a:buClrTx/>
                <a:buSzTx/>
                <a:buFont typeface="Arial" panose="020B0604020202020204" pitchFamily="34" charset="0"/>
                <a:buChar char="•"/>
                <a:tabLst/>
                <a:defRPr/>
              </a:pPr>
              <a:r>
                <a:rPr lang="en-US" sz="1100">
                  <a:solidFill>
                    <a:schemeClr val="tx1"/>
                  </a:solidFill>
                  <a:latin typeface="Roboto" panose="02000000000000000000" pitchFamily="2" charset="0"/>
                  <a:ea typeface="Roboto" panose="02000000000000000000" pitchFamily="2" charset="0"/>
                  <a:cs typeface="Calibri"/>
                </a:rPr>
                <a:t>Investigate causes of decline in Transactional performance.</a:t>
              </a:r>
            </a:p>
            <a:p>
              <a:pPr marL="171450" marR="0" lvl="0" indent="-171450" defTabSz="912114" fontAlgn="auto">
                <a:lnSpc>
                  <a:spcPct val="100000"/>
                </a:lnSpc>
                <a:spcBef>
                  <a:spcPts val="300"/>
                </a:spcBef>
                <a:spcAft>
                  <a:spcPts val="0"/>
                </a:spcAft>
                <a:buClrTx/>
                <a:buSzTx/>
                <a:buFont typeface="Arial" panose="020B0604020202020204" pitchFamily="34" charset="0"/>
                <a:buChar char="•"/>
                <a:tabLst/>
                <a:defRPr/>
              </a:pPr>
              <a:r>
                <a:rPr lang="en-US" sz="1100">
                  <a:solidFill>
                    <a:schemeClr val="tx1"/>
                  </a:solidFill>
                  <a:latin typeface="Roboto" panose="02000000000000000000" pitchFamily="2" charset="0"/>
                  <a:ea typeface="Roboto" panose="02000000000000000000" pitchFamily="2" charset="0"/>
                  <a:cs typeface="Calibri"/>
                </a:rPr>
                <a:t>Monitor CTR distortion caused by the decline in deliveries.</a:t>
              </a:r>
            </a:p>
            <a:p>
              <a:pPr marL="171450" marR="0" lvl="0" indent="-171450" defTabSz="912114" fontAlgn="auto">
                <a:lnSpc>
                  <a:spcPct val="100000"/>
                </a:lnSpc>
                <a:spcBef>
                  <a:spcPts val="300"/>
                </a:spcBef>
                <a:spcAft>
                  <a:spcPts val="0"/>
                </a:spcAft>
                <a:buClrTx/>
                <a:buSzTx/>
                <a:buFont typeface="Arial" panose="020B0604020202020204" pitchFamily="34" charset="0"/>
                <a:buChar char="•"/>
                <a:tabLst/>
                <a:defRPr/>
              </a:pPr>
              <a:endParaRPr kumimoji="0" lang="en-US" sz="160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14" name="Retângulo 13">
              <a:extLst>
                <a:ext uri="{FF2B5EF4-FFF2-40B4-BE49-F238E27FC236}">
                  <a16:creationId xmlns:a16="http://schemas.microsoft.com/office/drawing/2014/main" id="{9F6F319C-C0A3-457C-9775-5FC4E40253DE}"/>
                </a:ext>
              </a:extLst>
            </p:cNvPr>
            <p:cNvSpPr/>
            <p:nvPr/>
          </p:nvSpPr>
          <p:spPr>
            <a:xfrm>
              <a:off x="9125559" y="3831917"/>
              <a:ext cx="2779793" cy="2751456"/>
            </a:xfrm>
            <a:prstGeom prst="rect">
              <a:avLst/>
            </a:prstGeom>
            <a:no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216000" rtlCol="0" anchor="t"/>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2114" rtl="0" eaLnBrk="1" fontAlgn="auto" latinLnBrk="0" hangingPunct="1">
                <a:lnSpc>
                  <a:spcPct val="100000"/>
                </a:lnSpc>
                <a:spcBef>
                  <a:spcPts val="30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Highlight: </a:t>
              </a:r>
            </a:p>
            <a:p>
              <a:pPr marL="0" marR="0" lvl="0" indent="0" algn="l" defTabSz="912114" rtl="0" eaLnBrk="1" fontAlgn="auto" latinLnBrk="0" hangingPunct="1">
                <a:lnSpc>
                  <a:spcPct val="100000"/>
                </a:lnSpc>
                <a:spcBef>
                  <a:spcPts val="300"/>
                </a:spcBef>
                <a:spcAft>
                  <a:spcPts val="0"/>
                </a:spcAft>
                <a:buClrTx/>
                <a:buSzTx/>
                <a:buFontTx/>
                <a:buNone/>
                <a:tabLst/>
                <a:defRPr/>
              </a:pPr>
              <a:r>
                <a:rPr kumimoji="0" lang="en-US" sz="1200"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EPP: </a:t>
              </a:r>
              <a:r>
                <a:rPr lang="en-US" sz="1200">
                  <a:solidFill>
                    <a:schemeClr val="tx1"/>
                  </a:solidFill>
                  <a:latin typeface="Roboto" panose="02000000000000000000" pitchFamily="2" charset="0"/>
                  <a:ea typeface="Roboto" panose="02000000000000000000" pitchFamily="2" charset="0"/>
                  <a:cs typeface="Calibri"/>
                </a:rPr>
                <a:t>stable growth, despite low traffic.</a:t>
              </a:r>
              <a:endParaRPr kumimoji="0" lang="en-US" sz="1200"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endParaRPr>
            </a:p>
            <a:p>
              <a:pPr marL="0" marR="0" lvl="0" indent="0" algn="l" defTabSz="912114" rtl="0" eaLnBrk="1" fontAlgn="auto" latinLnBrk="0" hangingPunct="1">
                <a:lnSpc>
                  <a:spcPct val="100000"/>
                </a:lnSpc>
                <a:spcBef>
                  <a:spcPts val="300"/>
                </a:spcBef>
                <a:spcAft>
                  <a:spcPts val="0"/>
                </a:spcAft>
                <a:buClrTx/>
                <a:buSzTx/>
                <a:buFontTx/>
                <a:buNone/>
                <a:tabLst/>
                <a:defRPr/>
              </a:pPr>
              <a:endParaRPr lang="en-US" sz="1200">
                <a:solidFill>
                  <a:schemeClr val="tx1"/>
                </a:solidFill>
                <a:highlight>
                  <a:srgbClr val="FFFF00"/>
                </a:highlight>
                <a:latin typeface="Roboto" panose="02000000000000000000" pitchFamily="2" charset="0"/>
                <a:ea typeface="Roboto" panose="02000000000000000000" pitchFamily="2" charset="0"/>
                <a:cs typeface="Calibri"/>
              </a:endParaRPr>
            </a:p>
            <a:p>
              <a:pPr marL="0" marR="0" lvl="0" indent="0" algn="l" defTabSz="912114" rtl="0" eaLnBrk="1" fontAlgn="auto" latinLnBrk="0" hangingPunct="1">
                <a:lnSpc>
                  <a:spcPct val="100000"/>
                </a:lnSpc>
                <a:spcBef>
                  <a:spcPts val="30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Roboto" panose="02000000000000000000" pitchFamily="2" charset="0"/>
                  <a:ea typeface="Roboto" panose="02000000000000000000" pitchFamily="2" charset="0"/>
                  <a:cs typeface="Calibri"/>
                </a:rPr>
                <a:t>Next Step: </a:t>
              </a:r>
            </a:p>
            <a:p>
              <a:pPr marL="171450" indent="-171450" defTabSz="912114">
                <a:spcBef>
                  <a:spcPts val="300"/>
                </a:spcBef>
                <a:buFont typeface="Arial" panose="020B0604020202020204" pitchFamily="34" charset="0"/>
                <a:buChar char="•"/>
                <a:defRPr/>
              </a:pPr>
              <a:r>
                <a:rPr lang="en-US" sz="1200">
                  <a:solidFill>
                    <a:schemeClr val="tx1"/>
                  </a:solidFill>
                  <a:latin typeface="Roboto" panose="02000000000000000000" pitchFamily="2" charset="0"/>
                  <a:ea typeface="Roboto" panose="02000000000000000000" pitchFamily="2" charset="0"/>
                  <a:cs typeface="Calibri"/>
                </a:rPr>
                <a:t>Increase AOV from Wallet, several visits with low number of orders.</a:t>
              </a:r>
            </a:p>
            <a:p>
              <a:pPr marL="171450" indent="-171450" defTabSz="912114">
                <a:spcBef>
                  <a:spcPts val="300"/>
                </a:spcBef>
                <a:buFont typeface="Arial" panose="020B0604020202020204" pitchFamily="34" charset="0"/>
                <a:buChar char="•"/>
                <a:defRPr/>
              </a:pPr>
              <a:r>
                <a:rPr lang="en-US" sz="1200">
                  <a:solidFill>
                    <a:schemeClr val="tx1"/>
                  </a:solidFill>
                  <a:latin typeface="Roboto" panose="02000000000000000000" pitchFamily="2" charset="0"/>
                  <a:ea typeface="Roboto" panose="02000000000000000000" pitchFamily="2" charset="0"/>
                  <a:cs typeface="Calibri"/>
                </a:rPr>
                <a:t> Partners has the potential to bring more revenue.</a:t>
              </a:r>
              <a:endParaRPr lang="en-US">
                <a:solidFill>
                  <a:schemeClr val="tx1"/>
                </a:solidFill>
                <a:latin typeface="Calibri" panose="020F0502020204030204"/>
              </a:endParaRPr>
            </a:p>
            <a:p>
              <a:pPr marL="171450" indent="-171450" defTabSz="912114">
                <a:spcBef>
                  <a:spcPts val="300"/>
                </a:spcBef>
                <a:buFont typeface="Arial" panose="020B0604020202020204" pitchFamily="34" charset="0"/>
                <a:buChar char="•"/>
                <a:defRPr/>
              </a:pPr>
              <a:r>
                <a:rPr lang="en-US" sz="1200">
                  <a:solidFill>
                    <a:schemeClr val="tx1"/>
                  </a:solidFill>
                  <a:latin typeface="Calibri" panose="020F0502020204030204"/>
                  <a:ea typeface="Roboto" panose="02000000000000000000" pitchFamily="2" charset="0"/>
                  <a:cs typeface="Calibri"/>
                </a:rPr>
                <a:t>Try to replicate CTR and CTOR performance and CTOR from Partners to Students and SMB.</a:t>
              </a:r>
              <a:endParaRPr lang="en-US" sz="1200">
                <a:solidFill>
                  <a:schemeClr val="tx1"/>
                </a:solidFill>
                <a:latin typeface="Roboto" panose="02000000000000000000" pitchFamily="2" charset="0"/>
                <a:ea typeface="Roboto" panose="02000000000000000000" pitchFamily="2" charset="0"/>
                <a:cs typeface="Calibri"/>
              </a:endParaRPr>
            </a:p>
          </p:txBody>
        </p:sp>
        <p:sp>
          <p:nvSpPr>
            <p:cNvPr id="15" name="CaixaDeTexto 98">
              <a:extLst>
                <a:ext uri="{FF2B5EF4-FFF2-40B4-BE49-F238E27FC236}">
                  <a16:creationId xmlns:a16="http://schemas.microsoft.com/office/drawing/2014/main" id="{17191555-4052-4278-A105-208BBC8B6D44}"/>
                </a:ext>
              </a:extLst>
            </p:cNvPr>
            <p:cNvSpPr txBox="1"/>
            <p:nvPr/>
          </p:nvSpPr>
          <p:spPr>
            <a:xfrm>
              <a:off x="6328181" y="3685742"/>
              <a:ext cx="1135300" cy="307777"/>
            </a:xfrm>
            <a:prstGeom prst="rect">
              <a:avLst/>
            </a:prstGeom>
            <a:solidFill>
              <a:schemeClr val="bg1"/>
            </a:solidFill>
          </p:spPr>
          <p:txBody>
            <a:bodyPr wrap="square" lIns="91440" tIns="45720" rIns="91440" bIns="45720" rtlCol="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kumimoji="0" lang="en-US" sz="1400" b="1" i="0" u="none" strike="noStrike" kern="0" cap="none" spc="0" normalizeH="0" baseline="0" noProof="0">
                  <a:ln>
                    <a:noFill/>
                  </a:ln>
                  <a:solidFill>
                    <a:srgbClr val="002060"/>
                  </a:solidFill>
                  <a:effectLst/>
                  <a:uLnTx/>
                  <a:uFillTx/>
                  <a:latin typeface="Samsung Sharp Sans Bold" panose="02000503000000020004"/>
                  <a:ea typeface="+mn-ea"/>
                  <a:cs typeface="+mn-cs"/>
                </a:rPr>
                <a:t>TRIGGERS</a:t>
              </a:r>
              <a:endParaRPr kumimoji="0" lang="pt-BR"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 name="CaixaDeTexto 98">
              <a:extLst>
                <a:ext uri="{FF2B5EF4-FFF2-40B4-BE49-F238E27FC236}">
                  <a16:creationId xmlns:a16="http://schemas.microsoft.com/office/drawing/2014/main" id="{78C5FE39-E1B3-405F-A526-63C7ACB53AB5}"/>
                </a:ext>
              </a:extLst>
            </p:cNvPr>
            <p:cNvSpPr txBox="1"/>
            <p:nvPr/>
          </p:nvSpPr>
          <p:spPr>
            <a:xfrm>
              <a:off x="9224006" y="3685742"/>
              <a:ext cx="701960" cy="307777"/>
            </a:xfrm>
            <a:prstGeom prst="rect">
              <a:avLst/>
            </a:prstGeom>
            <a:solidFill>
              <a:schemeClr val="bg1"/>
            </a:solidFill>
          </p:spPr>
          <p:txBody>
            <a:bodyPr wrap="square" lIns="91440" tIns="45720" rIns="91440" bIns="45720" rtlCol="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2060"/>
                  </a:solidFill>
                  <a:effectLst/>
                  <a:uLnTx/>
                  <a:uFillTx/>
                  <a:latin typeface="Samsung Sharp Sans Bold" panose="02000503000000020004"/>
                  <a:ea typeface="+mn-ea"/>
                  <a:cs typeface="+mn-cs"/>
                </a:rPr>
                <a:t>EPP</a:t>
              </a:r>
              <a:endParaRPr kumimoji="0" lang="pt-BR"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16" name="CaixaDeTexto 98">
            <a:extLst>
              <a:ext uri="{FF2B5EF4-FFF2-40B4-BE49-F238E27FC236}">
                <a16:creationId xmlns:a16="http://schemas.microsoft.com/office/drawing/2014/main" id="{1E162399-0F22-4F8A-BF64-E607D026C06B}"/>
              </a:ext>
            </a:extLst>
          </p:cNvPr>
          <p:cNvSpPr txBox="1"/>
          <p:nvPr/>
        </p:nvSpPr>
        <p:spPr>
          <a:xfrm>
            <a:off x="423457" y="615114"/>
            <a:ext cx="864871" cy="307777"/>
          </a:xfrm>
          <a:prstGeom prst="rect">
            <a:avLst/>
          </a:prstGeom>
          <a:solidFill>
            <a:schemeClr val="bg1"/>
          </a:solidFill>
        </p:spPr>
        <p:txBody>
          <a:bodyPr wrap="square" lIns="91440" tIns="45720" rIns="91440" bIns="45720" rtlCol="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2060"/>
                </a:solidFill>
                <a:effectLst/>
                <a:uLnTx/>
                <a:uFillTx/>
                <a:latin typeface="Samsung Sharp Sans Bold" panose="02000503000000020004"/>
                <a:ea typeface="+mn-ea"/>
                <a:cs typeface="+mn-cs"/>
              </a:rPr>
              <a:t>SEDA</a:t>
            </a:r>
          </a:p>
        </p:txBody>
      </p:sp>
    </p:spTree>
    <p:extLst>
      <p:ext uri="{BB962C8B-B14F-4D97-AF65-F5344CB8AC3E}">
        <p14:creationId xmlns:p14="http://schemas.microsoft.com/office/powerpoint/2010/main" val="37492664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heil-Logo(black).png" descr="Cheil-Logo(black).png">
            <a:extLst>
              <a:ext uri="{FF2B5EF4-FFF2-40B4-BE49-F238E27FC236}">
                <a16:creationId xmlns:a16="http://schemas.microsoft.com/office/drawing/2014/main" id="{DF344D88-4EA9-4E92-ADF7-61B55EE4B848}"/>
              </a:ext>
            </a:extLst>
          </p:cNvPr>
          <p:cNvPicPr>
            <a:picLocks noChangeAspect="1"/>
          </p:cNvPicPr>
          <p:nvPr/>
        </p:nvPicPr>
        <p:blipFill>
          <a:blip r:embed="rId2"/>
          <a:stretch>
            <a:fillRect/>
          </a:stretch>
        </p:blipFill>
        <p:spPr>
          <a:xfrm>
            <a:off x="254148" y="6329579"/>
            <a:ext cx="655342" cy="290146"/>
          </a:xfrm>
          <a:prstGeom prst="rect">
            <a:avLst/>
          </a:prstGeom>
          <a:ln w="12700">
            <a:miter lim="400000"/>
          </a:ln>
        </p:spPr>
      </p:pic>
      <p:sp>
        <p:nvSpPr>
          <p:cNvPr id="6" name="Galaxy A06…">
            <a:extLst>
              <a:ext uri="{FF2B5EF4-FFF2-40B4-BE49-F238E27FC236}">
                <a16:creationId xmlns:a16="http://schemas.microsoft.com/office/drawing/2014/main" id="{D39A8B6E-B46F-4C54-A74E-81AC9F5831FD}"/>
              </a:ext>
            </a:extLst>
          </p:cNvPr>
          <p:cNvSpPr txBox="1"/>
          <p:nvPr/>
        </p:nvSpPr>
        <p:spPr>
          <a:xfrm>
            <a:off x="1538489" y="2903953"/>
            <a:ext cx="9115021" cy="10500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tIns="45719" rIns="45719" bIns="45719" anchor="ctr">
            <a:spAutoFit/>
          </a:bodyPr>
          <a:lstStyle>
            <a:lvl1pPr defTabSz="1828800">
              <a:lnSpc>
                <a:spcPct val="80000"/>
              </a:lnSpc>
              <a:spcBef>
                <a:spcPts val="0"/>
              </a:spcBef>
              <a:defRPr sz="15000" spc="-450">
                <a:solidFill>
                  <a:srgbClr val="FFFFFF"/>
                </a:solidFill>
                <a:latin typeface="SamsungSharpSans-Medium"/>
                <a:ea typeface="SamsungSharpSans-Medium"/>
                <a:cs typeface="SamsungSharpSans-Medium"/>
                <a:sym typeface="SamsungSharpSans-Medium"/>
              </a:defRPr>
            </a:lvl1pPr>
          </a:lstStyle>
          <a:p>
            <a:pPr algn="ctr"/>
            <a:r>
              <a:rPr lang="pt-BR" sz="7500" b="1">
                <a:solidFill>
                  <a:schemeClr val="bg1"/>
                </a:solidFill>
                <a:latin typeface="Roboto" panose="02000000000000000000"/>
              </a:rPr>
              <a:t>THANK YOU!</a:t>
            </a:r>
          </a:p>
        </p:txBody>
      </p:sp>
      <p:sp>
        <p:nvSpPr>
          <p:cNvPr id="2" name="Retângulo 1">
            <a:extLst>
              <a:ext uri="{FF2B5EF4-FFF2-40B4-BE49-F238E27FC236}">
                <a16:creationId xmlns:a16="http://schemas.microsoft.com/office/drawing/2014/main" id="{9FB2DFD7-F61F-4EC8-A913-6670C63EC3B5}"/>
              </a:ext>
            </a:extLst>
          </p:cNvPr>
          <p:cNvSpPr/>
          <p:nvPr/>
        </p:nvSpPr>
        <p:spPr>
          <a:xfrm>
            <a:off x="638175" y="4381500"/>
            <a:ext cx="1504950" cy="50482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442796035"/>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Escritório">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문서" ma:contentTypeID="0x01010056F6796A346F2F46A20E744B051F903B" ma:contentTypeVersion="12" ma:contentTypeDescription="새 문서를 만듭니다." ma:contentTypeScope="" ma:versionID="aeb422d96563a7fd707756fa40e7f7c1">
  <xsd:schema xmlns:xsd="http://www.w3.org/2001/XMLSchema" xmlns:xs="http://www.w3.org/2001/XMLSchema" xmlns:p="http://schemas.microsoft.com/office/2006/metadata/properties" xmlns:ns2="347e83e0-e001-4017-8493-dbd0805aa6e8" xmlns:ns3="58f7b484-6ac0-4bb1-8fa4-a0e5b5d246f1" targetNamespace="http://schemas.microsoft.com/office/2006/metadata/properties" ma:root="true" ma:fieldsID="e3ee312bb1478986c32fb74e18df6f94" ns2:_="" ns3:_="">
    <xsd:import namespace="347e83e0-e001-4017-8493-dbd0805aa6e8"/>
    <xsd:import namespace="58f7b484-6ac0-4bb1-8fa4-a0e5b5d246f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7e83e0-e001-4017-8493-dbd0805aa6e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이미지 태그" ma:readOnly="false" ma:fieldId="{5cf76f15-5ced-4ddc-b409-7134ff3c332f}" ma:taxonomyMulti="true" ma:sspId="4771db62-e625-4a44-9f2e-385d8ff0fc06"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8f7b484-6ac0-4bb1-8fa4-a0e5b5d246f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be7c9f1-6dfd-43ee-ac3c-d3542c5d89a8}" ma:internalName="TaxCatchAll" ma:showField="CatchAllData" ma:web="58f7b484-6ac0-4bb1-8fa4-a0e5b5d246f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58f7b484-6ac0-4bb1-8fa4-a0e5b5d246f1" xsi:nil="true"/>
    <lcf76f155ced4ddcb4097134ff3c332f xmlns="347e83e0-e001-4017-8493-dbd0805aa6e8">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7D68668-B3F8-4030-90FC-3B64D9739C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47e83e0-e001-4017-8493-dbd0805aa6e8"/>
    <ds:schemaRef ds:uri="58f7b484-6ac0-4bb1-8fa4-a0e5b5d246f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9A11F8E-80B9-4255-8F2C-5B9A3FF1F23B}">
  <ds:schemaRefs>
    <ds:schemaRef ds:uri="347e83e0-e001-4017-8493-dbd0805aa6e8"/>
    <ds:schemaRef ds:uri="58f7b484-6ac0-4bb1-8fa4-a0e5b5d246f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60E0E76-1D25-4CF0-8CDA-B84A0B84B82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25</Slides>
  <Notes>8</Notes>
  <HiddenSlides>0</HiddenSlides>
  <ScaleCrop>false</ScaleCrop>
  <HeadingPairs>
    <vt:vector size="4" baseType="variant">
      <vt:variant>
        <vt:lpstr>Tema</vt:lpstr>
      </vt:variant>
      <vt:variant>
        <vt:i4>2</vt:i4>
      </vt:variant>
      <vt:variant>
        <vt:lpstr>Títulos de slides</vt:lpstr>
      </vt:variant>
      <vt:variant>
        <vt:i4>25</vt:i4>
      </vt:variant>
    </vt:vector>
  </HeadingPairs>
  <TitlesOfParts>
    <vt:vector size="27" baseType="lpstr">
      <vt:lpstr>Tema do Office</vt:lpstr>
      <vt:lpstr>1_Tema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Heitor Eugenio</dc:creator>
  <cp:revision>6</cp:revision>
  <dcterms:created xsi:type="dcterms:W3CDTF">2026-03-17T21:20:56Z</dcterms:created>
  <dcterms:modified xsi:type="dcterms:W3CDTF">2026-10-02T19:34:51Z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0x01010056F6796A346F2F46A20E744B051F903B</vt:lpwstr>
  </property>
  <property fmtid="{D5CDD505-2E9C-101B-9397-08002B2CF9AE}" pid="3" name="MediaServiceImageTags">
    <vt:lpwstr/>
  </property>
</Properties>
</file>